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48"/>
  </p:notesMasterIdLst>
  <p:sldIdLst>
    <p:sldId id="922" r:id="rId2"/>
    <p:sldId id="869" r:id="rId3"/>
    <p:sldId id="357" r:id="rId4"/>
    <p:sldId id="367" r:id="rId5"/>
    <p:sldId id="958" r:id="rId6"/>
    <p:sldId id="358" r:id="rId7"/>
    <p:sldId id="359" r:id="rId8"/>
    <p:sldId id="360" r:id="rId9"/>
    <p:sldId id="362" r:id="rId10"/>
    <p:sldId id="363" r:id="rId11"/>
    <p:sldId id="364" r:id="rId12"/>
    <p:sldId id="959" r:id="rId13"/>
    <p:sldId id="923" r:id="rId14"/>
    <p:sldId id="265" r:id="rId15"/>
    <p:sldId id="964" r:id="rId16"/>
    <p:sldId id="369" r:id="rId17"/>
    <p:sldId id="303" r:id="rId18"/>
    <p:sldId id="957" r:id="rId19"/>
    <p:sldId id="287" r:id="rId20"/>
    <p:sldId id="929" r:id="rId21"/>
    <p:sldId id="930" r:id="rId22"/>
    <p:sldId id="310" r:id="rId23"/>
    <p:sldId id="318" r:id="rId24"/>
    <p:sldId id="960" r:id="rId25"/>
    <p:sldId id="317" r:id="rId26"/>
    <p:sldId id="343" r:id="rId27"/>
    <p:sldId id="370" r:id="rId28"/>
    <p:sldId id="320" r:id="rId29"/>
    <p:sldId id="345" r:id="rId30"/>
    <p:sldId id="321" r:id="rId31"/>
    <p:sldId id="322" r:id="rId32"/>
    <p:sldId id="323" r:id="rId33"/>
    <p:sldId id="354" r:id="rId34"/>
    <p:sldId id="355" r:id="rId35"/>
    <p:sldId id="351" r:id="rId36"/>
    <p:sldId id="271" r:id="rId37"/>
    <p:sldId id="326" r:id="rId38"/>
    <p:sldId id="327" r:id="rId39"/>
    <p:sldId id="328" r:id="rId40"/>
    <p:sldId id="947" r:id="rId41"/>
    <p:sldId id="342" r:id="rId42"/>
    <p:sldId id="344" r:id="rId43"/>
    <p:sldId id="961" r:id="rId44"/>
    <p:sldId id="962" r:id="rId45"/>
    <p:sldId id="347" r:id="rId46"/>
    <p:sldId id="348" r:id="rId47"/>
  </p:sldIdLst>
  <p:sldSz cx="12192000" cy="6858000"/>
  <p:notesSz cx="9144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B906DC-7C4F-495A-8FAE-FFE5D54263A2}" v="28" dt="2024-11-25T08:43:13.71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7" autoAdjust="0"/>
    <p:restoredTop sz="95380" autoAdjust="0"/>
  </p:normalViewPr>
  <p:slideViewPr>
    <p:cSldViewPr snapToGrid="0" snapToObjects="1">
      <p:cViewPr varScale="1">
        <p:scale>
          <a:sx n="111" d="100"/>
          <a:sy n="111" d="100"/>
        </p:scale>
        <p:origin x="1074" y="108"/>
      </p:cViewPr>
      <p:guideLst/>
    </p:cSldViewPr>
  </p:slideViewPr>
  <p:notesTextViewPr>
    <p:cViewPr>
      <p:scale>
        <a:sx n="1" d="1"/>
        <a:sy n="1" d="1"/>
      </p:scale>
      <p:origin x="0" y="0"/>
    </p:cViewPr>
  </p:notesTextViewPr>
  <p:sorterViewPr>
    <p:cViewPr varScale="1">
      <p:scale>
        <a:sx n="1" d="1"/>
        <a:sy n="1" d="1"/>
      </p:scale>
      <p:origin x="0" y="-13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ía Elena Fernández Gascueña" userId="8298997d-b71a-4e0a-adff-66140120cb1e" providerId="ADAL" clId="{D9B906DC-7C4F-495A-8FAE-FFE5D54263A2}"/>
    <pc:docChg chg="undo custSel addSld delSld modSld sldOrd">
      <pc:chgData name="María Elena Fernández Gascueña" userId="8298997d-b71a-4e0a-adff-66140120cb1e" providerId="ADAL" clId="{D9B906DC-7C4F-495A-8FAE-FFE5D54263A2}" dt="2024-11-25T08:48:36.578" v="211" actId="12"/>
      <pc:docMkLst>
        <pc:docMk/>
      </pc:docMkLst>
      <pc:sldChg chg="addSp delSp modSp mod">
        <pc:chgData name="María Elena Fernández Gascueña" userId="8298997d-b71a-4e0a-adff-66140120cb1e" providerId="ADAL" clId="{D9B906DC-7C4F-495A-8FAE-FFE5D54263A2}" dt="2024-11-21T08:54:13.676" v="104" actId="6549"/>
        <pc:sldMkLst>
          <pc:docMk/>
          <pc:sldMk cId="3262663451" sldId="265"/>
        </pc:sldMkLst>
        <pc:spChg chg="mod">
          <ac:chgData name="María Elena Fernández Gascueña" userId="8298997d-b71a-4e0a-adff-66140120cb1e" providerId="ADAL" clId="{D9B906DC-7C4F-495A-8FAE-FFE5D54263A2}" dt="2024-11-21T08:54:13.676" v="104" actId="6549"/>
          <ac:spMkLst>
            <pc:docMk/>
            <pc:sldMk cId="3262663451" sldId="265"/>
            <ac:spMk id="8" creationId="{8FD4D6AB-DD22-6B4A-9C5E-92CBAEFFFF1B}"/>
          </ac:spMkLst>
        </pc:spChg>
        <pc:graphicFrameChg chg="add del mod">
          <ac:chgData name="María Elena Fernández Gascueña" userId="8298997d-b71a-4e0a-adff-66140120cb1e" providerId="ADAL" clId="{D9B906DC-7C4F-495A-8FAE-FFE5D54263A2}" dt="2024-11-21T08:53:48.413" v="99" actId="478"/>
          <ac:graphicFrameMkLst>
            <pc:docMk/>
            <pc:sldMk cId="3262663451" sldId="265"/>
            <ac:graphicFrameMk id="3" creationId="{786C7069-1779-135C-48E8-A1E18DFFA7BF}"/>
          </ac:graphicFrameMkLst>
        </pc:graphicFrameChg>
      </pc:sldChg>
      <pc:sldChg chg="modSp mod">
        <pc:chgData name="María Elena Fernández Gascueña" userId="8298997d-b71a-4e0a-adff-66140120cb1e" providerId="ADAL" clId="{D9B906DC-7C4F-495A-8FAE-FFE5D54263A2}" dt="2024-11-21T08:40:27.497" v="2" actId="1076"/>
        <pc:sldMkLst>
          <pc:docMk/>
          <pc:sldMk cId="3292060954" sldId="310"/>
        </pc:sldMkLst>
        <pc:spChg chg="mod">
          <ac:chgData name="María Elena Fernández Gascueña" userId="8298997d-b71a-4e0a-adff-66140120cb1e" providerId="ADAL" clId="{D9B906DC-7C4F-495A-8FAE-FFE5D54263A2}" dt="2024-11-21T08:40:27.497" v="2" actId="1076"/>
          <ac:spMkLst>
            <pc:docMk/>
            <pc:sldMk cId="3292060954" sldId="310"/>
            <ac:spMk id="2" creationId="{3C982DAE-DD41-A64F-D0E8-EB15B661A28C}"/>
          </ac:spMkLst>
        </pc:spChg>
      </pc:sldChg>
      <pc:sldChg chg="mod modShow">
        <pc:chgData name="María Elena Fernández Gascueña" userId="8298997d-b71a-4e0a-adff-66140120cb1e" providerId="ADAL" clId="{D9B906DC-7C4F-495A-8FAE-FFE5D54263A2}" dt="2024-11-21T08:41:11.439" v="5" actId="729"/>
        <pc:sldMkLst>
          <pc:docMk/>
          <pc:sldMk cId="2288111158" sldId="320"/>
        </pc:sldMkLst>
      </pc:sldChg>
      <pc:sldChg chg="addSp modSp mod">
        <pc:chgData name="María Elena Fernández Gascueña" userId="8298997d-b71a-4e0a-adff-66140120cb1e" providerId="ADAL" clId="{D9B906DC-7C4F-495A-8FAE-FFE5D54263A2}" dt="2024-11-25T08:44:16.499" v="180" actId="1076"/>
        <pc:sldMkLst>
          <pc:docMk/>
          <pc:sldMk cId="127569725" sldId="321"/>
        </pc:sldMkLst>
        <pc:spChg chg="mod">
          <ac:chgData name="María Elena Fernández Gascueña" userId="8298997d-b71a-4e0a-adff-66140120cb1e" providerId="ADAL" clId="{D9B906DC-7C4F-495A-8FAE-FFE5D54263A2}" dt="2024-11-25T08:43:40.528" v="168" actId="21"/>
          <ac:spMkLst>
            <pc:docMk/>
            <pc:sldMk cId="127569725" sldId="321"/>
            <ac:spMk id="2" creationId="{00C0E212-E787-EB7A-96FA-217F4FDBE6B9}"/>
          </ac:spMkLst>
        </pc:spChg>
        <pc:spChg chg="add mod">
          <ac:chgData name="María Elena Fernández Gascueña" userId="8298997d-b71a-4e0a-adff-66140120cb1e" providerId="ADAL" clId="{D9B906DC-7C4F-495A-8FAE-FFE5D54263A2}" dt="2024-11-25T08:44:16.499" v="180" actId="1076"/>
          <ac:spMkLst>
            <pc:docMk/>
            <pc:sldMk cId="127569725" sldId="321"/>
            <ac:spMk id="7" creationId="{B9EF02E4-46AA-914F-0DC4-57F9C8C9A548}"/>
          </ac:spMkLst>
        </pc:spChg>
      </pc:sldChg>
      <pc:sldChg chg="modSp mod">
        <pc:chgData name="María Elena Fernández Gascueña" userId="8298997d-b71a-4e0a-adff-66140120cb1e" providerId="ADAL" clId="{D9B906DC-7C4F-495A-8FAE-FFE5D54263A2}" dt="2024-11-25T08:44:58.738" v="189" actId="113"/>
        <pc:sldMkLst>
          <pc:docMk/>
          <pc:sldMk cId="3584924683" sldId="322"/>
        </pc:sldMkLst>
        <pc:spChg chg="mod">
          <ac:chgData name="María Elena Fernández Gascueña" userId="8298997d-b71a-4e0a-adff-66140120cb1e" providerId="ADAL" clId="{D9B906DC-7C4F-495A-8FAE-FFE5D54263A2}" dt="2024-11-25T08:44:58.738" v="189" actId="113"/>
          <ac:spMkLst>
            <pc:docMk/>
            <pc:sldMk cId="3584924683" sldId="322"/>
            <ac:spMk id="2" creationId="{00C0E212-E787-EB7A-96FA-217F4FDBE6B9}"/>
          </ac:spMkLst>
        </pc:spChg>
      </pc:sldChg>
      <pc:sldChg chg="modSp mod">
        <pc:chgData name="María Elena Fernández Gascueña" userId="8298997d-b71a-4e0a-adff-66140120cb1e" providerId="ADAL" clId="{D9B906DC-7C4F-495A-8FAE-FFE5D54263A2}" dt="2024-11-25T08:45:12.123" v="192" actId="1076"/>
        <pc:sldMkLst>
          <pc:docMk/>
          <pc:sldMk cId="3881913695" sldId="323"/>
        </pc:sldMkLst>
        <pc:spChg chg="mod">
          <ac:chgData name="María Elena Fernández Gascueña" userId="8298997d-b71a-4e0a-adff-66140120cb1e" providerId="ADAL" clId="{D9B906DC-7C4F-495A-8FAE-FFE5D54263A2}" dt="2024-11-25T08:45:12.123" v="192" actId="1076"/>
          <ac:spMkLst>
            <pc:docMk/>
            <pc:sldMk cId="3881913695" sldId="323"/>
            <ac:spMk id="2" creationId="{00C0E212-E787-EB7A-96FA-217F4FDBE6B9}"/>
          </ac:spMkLst>
        </pc:spChg>
      </pc:sldChg>
      <pc:sldChg chg="modSp mod">
        <pc:chgData name="María Elena Fernández Gascueña" userId="8298997d-b71a-4e0a-adff-66140120cb1e" providerId="ADAL" clId="{D9B906DC-7C4F-495A-8FAE-FFE5D54263A2}" dt="2024-11-25T08:46:10.418" v="196" actId="1076"/>
        <pc:sldMkLst>
          <pc:docMk/>
          <pc:sldMk cId="617808465" sldId="326"/>
        </pc:sldMkLst>
        <pc:graphicFrameChg chg="mod">
          <ac:chgData name="María Elena Fernández Gascueña" userId="8298997d-b71a-4e0a-adff-66140120cb1e" providerId="ADAL" clId="{D9B906DC-7C4F-495A-8FAE-FFE5D54263A2}" dt="2024-11-25T08:46:10.418" v="196" actId="1076"/>
          <ac:graphicFrameMkLst>
            <pc:docMk/>
            <pc:sldMk cId="617808465" sldId="326"/>
            <ac:graphicFrameMk id="8" creationId="{0E32FD63-5B30-4666-A1D3-2AC4C760AC5D}"/>
          </ac:graphicFrameMkLst>
        </pc:graphicFrameChg>
      </pc:sldChg>
      <pc:sldChg chg="modSp mod">
        <pc:chgData name="María Elena Fernández Gascueña" userId="8298997d-b71a-4e0a-adff-66140120cb1e" providerId="ADAL" clId="{D9B906DC-7C4F-495A-8FAE-FFE5D54263A2}" dt="2024-11-25T08:46:55.062" v="199" actId="1076"/>
        <pc:sldMkLst>
          <pc:docMk/>
          <pc:sldMk cId="824737471" sldId="342"/>
        </pc:sldMkLst>
        <pc:spChg chg="mod">
          <ac:chgData name="María Elena Fernández Gascueña" userId="8298997d-b71a-4e0a-adff-66140120cb1e" providerId="ADAL" clId="{D9B906DC-7C4F-495A-8FAE-FFE5D54263A2}" dt="2024-11-25T08:46:55.062" v="199" actId="1076"/>
          <ac:spMkLst>
            <pc:docMk/>
            <pc:sldMk cId="824737471" sldId="342"/>
            <ac:spMk id="2" creationId="{00C0E212-E787-EB7A-96FA-217F4FDBE6B9}"/>
          </ac:spMkLst>
        </pc:spChg>
      </pc:sldChg>
      <pc:sldChg chg="mod modShow">
        <pc:chgData name="María Elena Fernández Gascueña" userId="8298997d-b71a-4e0a-adff-66140120cb1e" providerId="ADAL" clId="{D9B906DC-7C4F-495A-8FAE-FFE5D54263A2}" dt="2024-11-25T08:38:22.425" v="110" actId="729"/>
        <pc:sldMkLst>
          <pc:docMk/>
          <pc:sldMk cId="2344438535" sldId="343"/>
        </pc:sldMkLst>
      </pc:sldChg>
      <pc:sldChg chg="modSp mod">
        <pc:chgData name="María Elena Fernández Gascueña" userId="8298997d-b71a-4e0a-adff-66140120cb1e" providerId="ADAL" clId="{D9B906DC-7C4F-495A-8FAE-FFE5D54263A2}" dt="2024-11-25T08:47:47.656" v="205" actId="113"/>
        <pc:sldMkLst>
          <pc:docMk/>
          <pc:sldMk cId="3396185381" sldId="344"/>
        </pc:sldMkLst>
        <pc:spChg chg="mod">
          <ac:chgData name="María Elena Fernández Gascueña" userId="8298997d-b71a-4e0a-adff-66140120cb1e" providerId="ADAL" clId="{D9B906DC-7C4F-495A-8FAE-FFE5D54263A2}" dt="2024-11-25T08:47:18.197" v="200" actId="113"/>
          <ac:spMkLst>
            <pc:docMk/>
            <pc:sldMk cId="3396185381" sldId="344"/>
            <ac:spMk id="33" creationId="{1B1786AD-2C25-B330-A701-73C4A7B40952}"/>
          </ac:spMkLst>
        </pc:spChg>
        <pc:spChg chg="mod">
          <ac:chgData name="María Elena Fernández Gascueña" userId="8298997d-b71a-4e0a-adff-66140120cb1e" providerId="ADAL" clId="{D9B906DC-7C4F-495A-8FAE-FFE5D54263A2}" dt="2024-11-25T08:47:22.389" v="201" actId="113"/>
          <ac:spMkLst>
            <pc:docMk/>
            <pc:sldMk cId="3396185381" sldId="344"/>
            <ac:spMk id="37" creationId="{AC706BBD-A9EB-007E-B74E-B769A64D587D}"/>
          </ac:spMkLst>
        </pc:spChg>
        <pc:spChg chg="mod">
          <ac:chgData name="María Elena Fernández Gascueña" userId="8298997d-b71a-4e0a-adff-66140120cb1e" providerId="ADAL" clId="{D9B906DC-7C4F-495A-8FAE-FFE5D54263A2}" dt="2024-11-25T08:47:28.374" v="202" actId="113"/>
          <ac:spMkLst>
            <pc:docMk/>
            <pc:sldMk cId="3396185381" sldId="344"/>
            <ac:spMk id="41" creationId="{EF52B7D5-879F-3CDB-6A51-2D5C9F85828B}"/>
          </ac:spMkLst>
        </pc:spChg>
        <pc:spChg chg="mod">
          <ac:chgData name="María Elena Fernández Gascueña" userId="8298997d-b71a-4e0a-adff-66140120cb1e" providerId="ADAL" clId="{D9B906DC-7C4F-495A-8FAE-FFE5D54263A2}" dt="2024-11-25T08:47:36.537" v="204" actId="113"/>
          <ac:spMkLst>
            <pc:docMk/>
            <pc:sldMk cId="3396185381" sldId="344"/>
            <ac:spMk id="45" creationId="{C895806B-EBD6-58C1-77EB-E3A83571A4FB}"/>
          </ac:spMkLst>
        </pc:spChg>
        <pc:spChg chg="mod">
          <ac:chgData name="María Elena Fernández Gascueña" userId="8298997d-b71a-4e0a-adff-66140120cb1e" providerId="ADAL" clId="{D9B906DC-7C4F-495A-8FAE-FFE5D54263A2}" dt="2024-11-25T08:47:47.656" v="205" actId="113"/>
          <ac:spMkLst>
            <pc:docMk/>
            <pc:sldMk cId="3396185381" sldId="344"/>
            <ac:spMk id="49" creationId="{DE770804-A54C-F228-A16B-3E4345150E8D}"/>
          </ac:spMkLst>
        </pc:spChg>
      </pc:sldChg>
      <pc:sldChg chg="modSp">
        <pc:chgData name="María Elena Fernández Gascueña" userId="8298997d-b71a-4e0a-adff-66140120cb1e" providerId="ADAL" clId="{D9B906DC-7C4F-495A-8FAE-FFE5D54263A2}" dt="2024-11-25T08:43:13.712" v="165" actId="113"/>
        <pc:sldMkLst>
          <pc:docMk/>
          <pc:sldMk cId="0" sldId="345"/>
        </pc:sldMkLst>
        <pc:graphicFrameChg chg="mod">
          <ac:chgData name="María Elena Fernández Gascueña" userId="8298997d-b71a-4e0a-adff-66140120cb1e" providerId="ADAL" clId="{D9B906DC-7C4F-495A-8FAE-FFE5D54263A2}" dt="2024-11-25T08:43:13.712" v="165" actId="113"/>
          <ac:graphicFrameMkLst>
            <pc:docMk/>
            <pc:sldMk cId="0" sldId="345"/>
            <ac:graphicFrameMk id="12292" creationId="{E16D3579-28EB-8164-3BC7-F8B95BFCCB0D}"/>
          </ac:graphicFrameMkLst>
        </pc:graphicFrameChg>
      </pc:sldChg>
      <pc:sldChg chg="modSp mod">
        <pc:chgData name="María Elena Fernández Gascueña" userId="8298997d-b71a-4e0a-adff-66140120cb1e" providerId="ADAL" clId="{D9B906DC-7C4F-495A-8FAE-FFE5D54263A2}" dt="2024-11-25T08:48:22.738" v="208" actId="1076"/>
        <pc:sldMkLst>
          <pc:docMk/>
          <pc:sldMk cId="919742814" sldId="347"/>
        </pc:sldMkLst>
        <pc:spChg chg="mod">
          <ac:chgData name="María Elena Fernández Gascueña" userId="8298997d-b71a-4e0a-adff-66140120cb1e" providerId="ADAL" clId="{D9B906DC-7C4F-495A-8FAE-FFE5D54263A2}" dt="2024-11-25T08:48:22.738" v="208" actId="1076"/>
          <ac:spMkLst>
            <pc:docMk/>
            <pc:sldMk cId="919742814" sldId="347"/>
            <ac:spMk id="2" creationId="{00C0E212-E787-EB7A-96FA-217F4FDBE6B9}"/>
          </ac:spMkLst>
        </pc:spChg>
      </pc:sldChg>
      <pc:sldChg chg="modSp mod">
        <pc:chgData name="María Elena Fernández Gascueña" userId="8298997d-b71a-4e0a-adff-66140120cb1e" providerId="ADAL" clId="{D9B906DC-7C4F-495A-8FAE-FFE5D54263A2}" dt="2024-11-25T08:48:36.578" v="211" actId="12"/>
        <pc:sldMkLst>
          <pc:docMk/>
          <pc:sldMk cId="1988127308" sldId="348"/>
        </pc:sldMkLst>
        <pc:spChg chg="mod">
          <ac:chgData name="María Elena Fernández Gascueña" userId="8298997d-b71a-4e0a-adff-66140120cb1e" providerId="ADAL" clId="{D9B906DC-7C4F-495A-8FAE-FFE5D54263A2}" dt="2024-11-25T08:48:36.578" v="211" actId="12"/>
          <ac:spMkLst>
            <pc:docMk/>
            <pc:sldMk cId="1988127308" sldId="348"/>
            <ac:spMk id="2" creationId="{00C0E212-E787-EB7A-96FA-217F4FDBE6B9}"/>
          </ac:spMkLst>
        </pc:spChg>
      </pc:sldChg>
      <pc:sldChg chg="modSp mod">
        <pc:chgData name="María Elena Fernández Gascueña" userId="8298997d-b71a-4e0a-adff-66140120cb1e" providerId="ADAL" clId="{D9B906DC-7C4F-495A-8FAE-FFE5D54263A2}" dt="2024-11-25T08:45:57.338" v="195" actId="1076"/>
        <pc:sldMkLst>
          <pc:docMk/>
          <pc:sldMk cId="0" sldId="351"/>
        </pc:sldMkLst>
        <pc:spChg chg="mod">
          <ac:chgData name="María Elena Fernández Gascueña" userId="8298997d-b71a-4e0a-adff-66140120cb1e" providerId="ADAL" clId="{D9B906DC-7C4F-495A-8FAE-FFE5D54263A2}" dt="2024-11-25T08:45:57.338" v="195" actId="1076"/>
          <ac:spMkLst>
            <pc:docMk/>
            <pc:sldMk cId="0" sldId="351"/>
            <ac:spMk id="17410" creationId="{00000000-0000-0000-0000-000000000000}"/>
          </ac:spMkLst>
        </pc:spChg>
      </pc:sldChg>
      <pc:sldChg chg="modSp mod">
        <pc:chgData name="María Elena Fernández Gascueña" userId="8298997d-b71a-4e0a-adff-66140120cb1e" providerId="ADAL" clId="{D9B906DC-7C4F-495A-8FAE-FFE5D54263A2}" dt="2024-11-25T08:45:29.939" v="193" actId="1076"/>
        <pc:sldMkLst>
          <pc:docMk/>
          <pc:sldMk cId="3852356696" sldId="355"/>
        </pc:sldMkLst>
        <pc:spChg chg="mod">
          <ac:chgData name="María Elena Fernández Gascueña" userId="8298997d-b71a-4e0a-adff-66140120cb1e" providerId="ADAL" clId="{D9B906DC-7C4F-495A-8FAE-FFE5D54263A2}" dt="2024-11-25T08:45:29.939" v="193" actId="1076"/>
          <ac:spMkLst>
            <pc:docMk/>
            <pc:sldMk cId="3852356696" sldId="355"/>
            <ac:spMk id="2" creationId="{066ACA70-6FE0-6D58-6CEE-D46117765073}"/>
          </ac:spMkLst>
        </pc:spChg>
      </pc:sldChg>
      <pc:sldChg chg="modSp mod">
        <pc:chgData name="María Elena Fernández Gascueña" userId="8298997d-b71a-4e0a-adff-66140120cb1e" providerId="ADAL" clId="{D9B906DC-7C4F-495A-8FAE-FFE5D54263A2}" dt="2024-11-21T08:51:38.876" v="67" actId="20577"/>
        <pc:sldMkLst>
          <pc:docMk/>
          <pc:sldMk cId="2925843697" sldId="364"/>
        </pc:sldMkLst>
        <pc:spChg chg="mod">
          <ac:chgData name="María Elena Fernández Gascueña" userId="8298997d-b71a-4e0a-adff-66140120cb1e" providerId="ADAL" clId="{D9B906DC-7C4F-495A-8FAE-FFE5D54263A2}" dt="2024-11-21T08:51:38.876" v="67" actId="20577"/>
          <ac:spMkLst>
            <pc:docMk/>
            <pc:sldMk cId="2925843697" sldId="364"/>
            <ac:spMk id="8" creationId="{B2CB2163-51D4-AD61-4217-72E532D44834}"/>
          </ac:spMkLst>
        </pc:spChg>
      </pc:sldChg>
      <pc:sldChg chg="modSp mod">
        <pc:chgData name="María Elena Fernández Gascueña" userId="8298997d-b71a-4e0a-adff-66140120cb1e" providerId="ADAL" clId="{D9B906DC-7C4F-495A-8FAE-FFE5D54263A2}" dt="2024-11-21T08:48:25.492" v="6" actId="1076"/>
        <pc:sldMkLst>
          <pc:docMk/>
          <pc:sldMk cId="675876421" sldId="367"/>
        </pc:sldMkLst>
        <pc:picChg chg="mod">
          <ac:chgData name="María Elena Fernández Gascueña" userId="8298997d-b71a-4e0a-adff-66140120cb1e" providerId="ADAL" clId="{D9B906DC-7C4F-495A-8FAE-FFE5D54263A2}" dt="2024-11-21T08:48:25.492" v="6" actId="1076"/>
          <ac:picMkLst>
            <pc:docMk/>
            <pc:sldMk cId="675876421" sldId="367"/>
            <ac:picMk id="13" creationId="{00000000-0000-0000-0000-000000000000}"/>
          </ac:picMkLst>
        </pc:picChg>
      </pc:sldChg>
      <pc:sldChg chg="mod modShow">
        <pc:chgData name="María Elena Fernández Gascueña" userId="8298997d-b71a-4e0a-adff-66140120cb1e" providerId="ADAL" clId="{D9B906DC-7C4F-495A-8FAE-FFE5D54263A2}" dt="2024-11-21T08:39:31.630" v="0" actId="729"/>
        <pc:sldMkLst>
          <pc:docMk/>
          <pc:sldMk cId="2062903710" sldId="369"/>
        </pc:sldMkLst>
      </pc:sldChg>
      <pc:sldChg chg="modSp mod modShow">
        <pc:chgData name="María Elena Fernández Gascueña" userId="8298997d-b71a-4e0a-adff-66140120cb1e" providerId="ADAL" clId="{D9B906DC-7C4F-495A-8FAE-FFE5D54263A2}" dt="2024-11-25T08:41:47.311" v="153" actId="6549"/>
        <pc:sldMkLst>
          <pc:docMk/>
          <pc:sldMk cId="1746390854" sldId="370"/>
        </pc:sldMkLst>
        <pc:graphicFrameChg chg="modGraphic">
          <ac:chgData name="María Elena Fernández Gascueña" userId="8298997d-b71a-4e0a-adff-66140120cb1e" providerId="ADAL" clId="{D9B906DC-7C4F-495A-8FAE-FFE5D54263A2}" dt="2024-11-25T08:41:47.311" v="153" actId="6549"/>
          <ac:graphicFrameMkLst>
            <pc:docMk/>
            <pc:sldMk cId="1746390854" sldId="370"/>
            <ac:graphicFrameMk id="7" creationId="{1B978831-54EF-C40B-C6B5-B2D7A0A8B3B8}"/>
          </ac:graphicFrameMkLst>
        </pc:graphicFrameChg>
      </pc:sldChg>
      <pc:sldChg chg="modSp mod">
        <pc:chgData name="María Elena Fernández Gascueña" userId="8298997d-b71a-4e0a-adff-66140120cb1e" providerId="ADAL" clId="{D9B906DC-7C4F-495A-8FAE-FFE5D54263A2}" dt="2024-11-25T08:46:45.990" v="198" actId="1076"/>
        <pc:sldMkLst>
          <pc:docMk/>
          <pc:sldMk cId="0" sldId="947"/>
        </pc:sldMkLst>
        <pc:spChg chg="mod">
          <ac:chgData name="María Elena Fernández Gascueña" userId="8298997d-b71a-4e0a-adff-66140120cb1e" providerId="ADAL" clId="{D9B906DC-7C4F-495A-8FAE-FFE5D54263A2}" dt="2024-11-25T08:46:45.990" v="198" actId="1076"/>
          <ac:spMkLst>
            <pc:docMk/>
            <pc:sldMk cId="0" sldId="947"/>
            <ac:spMk id="3" creationId="{00000000-0000-0000-0000-000000000000}"/>
          </ac:spMkLst>
        </pc:spChg>
      </pc:sldChg>
      <pc:sldChg chg="modSp mod ord">
        <pc:chgData name="María Elena Fernández Gascueña" userId="8298997d-b71a-4e0a-adff-66140120cb1e" providerId="ADAL" clId="{D9B906DC-7C4F-495A-8FAE-FFE5D54263A2}" dt="2024-11-25T08:42:52.990" v="164" actId="113"/>
        <pc:sldMkLst>
          <pc:docMk/>
          <pc:sldMk cId="2862151687" sldId="960"/>
        </pc:sldMkLst>
        <pc:spChg chg="mod">
          <ac:chgData name="María Elena Fernández Gascueña" userId="8298997d-b71a-4e0a-adff-66140120cb1e" providerId="ADAL" clId="{D9B906DC-7C4F-495A-8FAE-FFE5D54263A2}" dt="2024-11-25T08:42:52.990" v="164" actId="113"/>
          <ac:spMkLst>
            <pc:docMk/>
            <pc:sldMk cId="2862151687" sldId="960"/>
            <ac:spMk id="2" creationId="{00C0E212-E787-EB7A-96FA-217F4FDBE6B9}"/>
          </ac:spMkLst>
        </pc:spChg>
      </pc:sldChg>
      <pc:sldChg chg="addSp delSp modSp add del mod">
        <pc:chgData name="María Elena Fernández Gascueña" userId="8298997d-b71a-4e0a-adff-66140120cb1e" providerId="ADAL" clId="{D9B906DC-7C4F-495A-8FAE-FFE5D54263A2}" dt="2024-11-21T08:54:38.746" v="109" actId="47"/>
        <pc:sldMkLst>
          <pc:docMk/>
          <pc:sldMk cId="1723932460" sldId="963"/>
        </pc:sldMkLst>
        <pc:spChg chg="del mod">
          <ac:chgData name="María Elena Fernández Gascueña" userId="8298997d-b71a-4e0a-adff-66140120cb1e" providerId="ADAL" clId="{D9B906DC-7C4F-495A-8FAE-FFE5D54263A2}" dt="2024-11-21T08:52:31.017" v="70" actId="12084"/>
          <ac:spMkLst>
            <pc:docMk/>
            <pc:sldMk cId="1723932460" sldId="963"/>
            <ac:spMk id="8" creationId="{32A3F427-AAE3-AB19-1976-DC91C217B48D}"/>
          </ac:spMkLst>
        </pc:spChg>
        <pc:graphicFrameChg chg="add mod">
          <ac:chgData name="María Elena Fernández Gascueña" userId="8298997d-b71a-4e0a-adff-66140120cb1e" providerId="ADAL" clId="{D9B906DC-7C4F-495A-8FAE-FFE5D54263A2}" dt="2024-11-21T08:53:09.630" v="93" actId="20577"/>
          <ac:graphicFrameMkLst>
            <pc:docMk/>
            <pc:sldMk cId="1723932460" sldId="963"/>
            <ac:graphicFrameMk id="3" creationId="{7993E1D5-7AB3-95BD-1D6D-9321F346F149}"/>
          </ac:graphicFrameMkLst>
        </pc:graphicFrameChg>
      </pc:sldChg>
      <pc:sldChg chg="delSp modSp add mod">
        <pc:chgData name="María Elena Fernández Gascueña" userId="8298997d-b71a-4e0a-adff-66140120cb1e" providerId="ADAL" clId="{D9B906DC-7C4F-495A-8FAE-FFE5D54263A2}" dt="2024-11-21T08:54:28.468" v="108" actId="1076"/>
        <pc:sldMkLst>
          <pc:docMk/>
          <pc:sldMk cId="1359140327" sldId="964"/>
        </pc:sldMkLst>
        <pc:spChg chg="del">
          <ac:chgData name="María Elena Fernández Gascueña" userId="8298997d-b71a-4e0a-adff-66140120cb1e" providerId="ADAL" clId="{D9B906DC-7C4F-495A-8FAE-FFE5D54263A2}" dt="2024-11-21T08:54:19.786" v="105" actId="478"/>
          <ac:spMkLst>
            <pc:docMk/>
            <pc:sldMk cId="1359140327" sldId="964"/>
            <ac:spMk id="2" creationId="{A61BD3E9-ECBE-93B9-DDA2-FE5F90873EC7}"/>
          </ac:spMkLst>
        </pc:spChg>
        <pc:spChg chg="del">
          <ac:chgData name="María Elena Fernández Gascueña" userId="8298997d-b71a-4e0a-adff-66140120cb1e" providerId="ADAL" clId="{D9B906DC-7C4F-495A-8FAE-FFE5D54263A2}" dt="2024-11-21T08:54:21.665" v="106" actId="478"/>
          <ac:spMkLst>
            <pc:docMk/>
            <pc:sldMk cId="1359140327" sldId="964"/>
            <ac:spMk id="8" creationId="{60846273-374A-4FA5-AF5F-9B85C06391B7}"/>
          </ac:spMkLst>
        </pc:spChg>
        <pc:graphicFrameChg chg="mod">
          <ac:chgData name="María Elena Fernández Gascueña" userId="8298997d-b71a-4e0a-adff-66140120cb1e" providerId="ADAL" clId="{D9B906DC-7C4F-495A-8FAE-FFE5D54263A2}" dt="2024-11-21T08:54:28.468" v="108" actId="1076"/>
          <ac:graphicFrameMkLst>
            <pc:docMk/>
            <pc:sldMk cId="1359140327" sldId="964"/>
            <ac:graphicFrameMk id="3" creationId="{13EB292D-C43A-A444-FB00-B09D3C0D0B3A}"/>
          </ac:graphicFrameMkLst>
        </pc:graphicFrameChg>
      </pc:sldChg>
    </pc:docChg>
  </pc:docChgLst>
  <pc:docChgLst>
    <pc:chgData name="María Elena Fernández Gascueña" userId="8298997d-b71a-4e0a-adff-66140120cb1e" providerId="ADAL" clId="{DC4C7FE0-0566-490B-A4BD-66A7D39AB9CA}"/>
    <pc:docChg chg="modSld">
      <pc:chgData name="María Elena Fernández Gascueña" userId="8298997d-b71a-4e0a-adff-66140120cb1e" providerId="ADAL" clId="{DC4C7FE0-0566-490B-A4BD-66A7D39AB9CA}" dt="2024-09-19T06:12:13.270" v="5" actId="20577"/>
      <pc:docMkLst>
        <pc:docMk/>
      </pc:docMkLst>
      <pc:sldChg chg="modSp mod">
        <pc:chgData name="María Elena Fernández Gascueña" userId="8298997d-b71a-4e0a-adff-66140120cb1e" providerId="ADAL" clId="{DC4C7FE0-0566-490B-A4BD-66A7D39AB9CA}" dt="2024-09-19T06:12:13.270" v="5" actId="20577"/>
        <pc:sldMkLst>
          <pc:docMk/>
          <pc:sldMk cId="0" sldId="922"/>
        </pc:sldMkLst>
        <pc:spChg chg="mod">
          <ac:chgData name="María Elena Fernández Gascueña" userId="8298997d-b71a-4e0a-adff-66140120cb1e" providerId="ADAL" clId="{DC4C7FE0-0566-490B-A4BD-66A7D39AB9CA}" dt="2024-09-19T06:12:13.270" v="5" actId="20577"/>
          <ac:spMkLst>
            <pc:docMk/>
            <pc:sldMk cId="0" sldId="922"/>
            <ac:spMk id="8" creationId="{01DDCBC0-D641-430B-8B76-89970839C917}"/>
          </ac:spMkLst>
        </pc:spChg>
      </pc:sldChg>
    </pc:docChg>
  </pc:docChgLst>
  <pc:docChgLst>
    <pc:chgData name="María Elena Fernández Gascueña" userId="8298997d-b71a-4e0a-adff-66140120cb1e" providerId="ADAL" clId="{30BCD1BC-3864-4991-A705-A2F17A6EFBC0}"/>
    <pc:docChg chg="modSld">
      <pc:chgData name="María Elena Fernández Gascueña" userId="8298997d-b71a-4e0a-adff-66140120cb1e" providerId="ADAL" clId="{30BCD1BC-3864-4991-A705-A2F17A6EFBC0}" dt="2024-11-21T09:58:33.727" v="0" actId="113"/>
      <pc:docMkLst>
        <pc:docMk/>
      </pc:docMkLst>
      <pc:sldChg chg="modSp mod">
        <pc:chgData name="María Elena Fernández Gascueña" userId="8298997d-b71a-4e0a-adff-66140120cb1e" providerId="ADAL" clId="{30BCD1BC-3864-4991-A705-A2F17A6EFBC0}" dt="2024-11-21T09:58:33.727" v="0" actId="113"/>
        <pc:sldMkLst>
          <pc:docMk/>
          <pc:sldMk cId="419627965" sldId="287"/>
        </pc:sldMkLst>
        <pc:spChg chg="mod">
          <ac:chgData name="María Elena Fernández Gascueña" userId="8298997d-b71a-4e0a-adff-66140120cb1e" providerId="ADAL" clId="{30BCD1BC-3864-4991-A705-A2F17A6EFBC0}" dt="2024-11-21T09:58:33.727" v="0" actId="113"/>
          <ac:spMkLst>
            <pc:docMk/>
            <pc:sldMk cId="419627965" sldId="287"/>
            <ac:spMk id="2" creationId="{3C982DAE-DD41-A64F-D0E8-EB15B661A28C}"/>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F82F6D-92CD-47AD-9804-4AA50D54916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028F2309-AB7D-47FE-BC5F-6B6A106E5D01}">
      <dgm:prSet/>
      <dgm:spPr/>
      <dgm:t>
        <a:bodyPr/>
        <a:lstStyle/>
        <a:p>
          <a:r>
            <a:rPr lang="es-ES"/>
            <a:t>Los segmentos deben ser:</a:t>
          </a:r>
        </a:p>
      </dgm:t>
    </dgm:pt>
    <dgm:pt modelId="{3916D788-F38D-4860-ADFD-6C0FE216C716}" type="parTrans" cxnId="{4812BFAD-C50A-4005-BA48-84513F815766}">
      <dgm:prSet/>
      <dgm:spPr/>
      <dgm:t>
        <a:bodyPr/>
        <a:lstStyle/>
        <a:p>
          <a:endParaRPr lang="es-ES"/>
        </a:p>
      </dgm:t>
    </dgm:pt>
    <dgm:pt modelId="{EC5CEB14-065F-4B07-8440-3EECB505A0EE}" type="sibTrans" cxnId="{4812BFAD-C50A-4005-BA48-84513F815766}">
      <dgm:prSet/>
      <dgm:spPr/>
      <dgm:t>
        <a:bodyPr/>
        <a:lstStyle/>
        <a:p>
          <a:endParaRPr lang="es-ES"/>
        </a:p>
      </dgm:t>
    </dgm:pt>
    <dgm:pt modelId="{9C209B91-4F84-4B8E-A34A-2ED6C69EBA86}">
      <dgm:prSet/>
      <dgm:spPr/>
      <dgm:t>
        <a:bodyPr/>
        <a:lstStyle/>
        <a:p>
          <a:r>
            <a:rPr lang="es-ES" dirty="0"/>
            <a:t>Ser </a:t>
          </a:r>
          <a:r>
            <a:rPr lang="es-ES" b="1" i="1" dirty="0"/>
            <a:t>medibles: </a:t>
          </a:r>
          <a:r>
            <a:rPr lang="es-ES" dirty="0"/>
            <a:t>tamaño y capacidad de compra</a:t>
          </a:r>
        </a:p>
      </dgm:t>
    </dgm:pt>
    <dgm:pt modelId="{F7C492BB-0C4E-4342-886A-5F0168C8FB99}" type="parTrans" cxnId="{6AF5390C-9E48-4A7C-9917-E87295CCE68C}">
      <dgm:prSet/>
      <dgm:spPr/>
      <dgm:t>
        <a:bodyPr/>
        <a:lstStyle/>
        <a:p>
          <a:endParaRPr lang="es-ES"/>
        </a:p>
      </dgm:t>
    </dgm:pt>
    <dgm:pt modelId="{13AFC985-8312-4CEC-B2C7-878B7713B031}" type="sibTrans" cxnId="{6AF5390C-9E48-4A7C-9917-E87295CCE68C}">
      <dgm:prSet/>
      <dgm:spPr/>
      <dgm:t>
        <a:bodyPr/>
        <a:lstStyle/>
        <a:p>
          <a:endParaRPr lang="es-ES"/>
        </a:p>
      </dgm:t>
    </dgm:pt>
    <dgm:pt modelId="{E3345E7B-53C7-427A-9999-7D599E52E6C3}">
      <dgm:prSet/>
      <dgm:spPr/>
      <dgm:t>
        <a:bodyPr/>
        <a:lstStyle/>
        <a:p>
          <a:r>
            <a:rPr lang="es-ES" dirty="0"/>
            <a:t>Ser </a:t>
          </a:r>
          <a:r>
            <a:rPr lang="es-ES" b="1" i="1" dirty="0"/>
            <a:t>rentables</a:t>
          </a:r>
          <a:r>
            <a:rPr lang="es-ES" dirty="0"/>
            <a:t>, lo suficientemente grande para obtener beneficios</a:t>
          </a:r>
        </a:p>
      </dgm:t>
    </dgm:pt>
    <dgm:pt modelId="{03D07773-51B6-4F81-9000-8EE3042DB0F3}" type="parTrans" cxnId="{FBBFC442-91CC-4104-8876-8171B6E892E7}">
      <dgm:prSet/>
      <dgm:spPr/>
      <dgm:t>
        <a:bodyPr/>
        <a:lstStyle/>
        <a:p>
          <a:endParaRPr lang="es-ES"/>
        </a:p>
      </dgm:t>
    </dgm:pt>
    <dgm:pt modelId="{5A8EDC03-2874-40E9-9856-0285E096B9A6}" type="sibTrans" cxnId="{FBBFC442-91CC-4104-8876-8171B6E892E7}">
      <dgm:prSet/>
      <dgm:spPr/>
      <dgm:t>
        <a:bodyPr/>
        <a:lstStyle/>
        <a:p>
          <a:endParaRPr lang="es-ES"/>
        </a:p>
      </dgm:t>
    </dgm:pt>
    <dgm:pt modelId="{4B462D60-950C-4BD7-A8ED-8DEE6338F2B4}">
      <dgm:prSet/>
      <dgm:spPr/>
      <dgm:t>
        <a:bodyPr/>
        <a:lstStyle/>
        <a:p>
          <a:r>
            <a:rPr lang="es-ES" b="1" i="1" dirty="0"/>
            <a:t>Homogéneos</a:t>
          </a:r>
          <a:r>
            <a:rPr lang="es-ES" dirty="0"/>
            <a:t>, debe ser el mayor grupo homogéneo al que dirigirse</a:t>
          </a:r>
        </a:p>
      </dgm:t>
    </dgm:pt>
    <dgm:pt modelId="{5130337F-D29A-48BE-A0E1-E571F3669814}" type="parTrans" cxnId="{2C2AD048-1E55-418A-8A4C-612786EA6740}">
      <dgm:prSet/>
      <dgm:spPr/>
      <dgm:t>
        <a:bodyPr/>
        <a:lstStyle/>
        <a:p>
          <a:endParaRPr lang="es-ES"/>
        </a:p>
      </dgm:t>
    </dgm:pt>
    <dgm:pt modelId="{22FD5551-B1E0-463F-906D-0C49B85FC4E4}" type="sibTrans" cxnId="{2C2AD048-1E55-418A-8A4C-612786EA6740}">
      <dgm:prSet/>
      <dgm:spPr/>
      <dgm:t>
        <a:bodyPr/>
        <a:lstStyle/>
        <a:p>
          <a:endParaRPr lang="es-ES"/>
        </a:p>
      </dgm:t>
    </dgm:pt>
    <dgm:pt modelId="{8BFD9FDF-572A-43BF-8E7B-2EAB63DD2B91}">
      <dgm:prSet/>
      <dgm:spPr/>
      <dgm:t>
        <a:bodyPr/>
        <a:lstStyle/>
        <a:p>
          <a:r>
            <a:rPr lang="es-ES" b="1" i="1"/>
            <a:t>Heterogéneos</a:t>
          </a:r>
          <a:r>
            <a:rPr lang="es-ES"/>
            <a:t> respecto a otro segmento</a:t>
          </a:r>
        </a:p>
      </dgm:t>
    </dgm:pt>
    <dgm:pt modelId="{2F338583-8258-470E-AA56-AC8B708C4C8B}" type="parTrans" cxnId="{A66F0318-9FCE-44EC-892F-EC68FCC1998C}">
      <dgm:prSet/>
      <dgm:spPr/>
      <dgm:t>
        <a:bodyPr/>
        <a:lstStyle/>
        <a:p>
          <a:endParaRPr lang="es-ES"/>
        </a:p>
      </dgm:t>
    </dgm:pt>
    <dgm:pt modelId="{CC6205DB-9C8A-40E1-AB54-EFDCAC37E98E}" type="sibTrans" cxnId="{A66F0318-9FCE-44EC-892F-EC68FCC1998C}">
      <dgm:prSet/>
      <dgm:spPr/>
      <dgm:t>
        <a:bodyPr/>
        <a:lstStyle/>
        <a:p>
          <a:endParaRPr lang="es-ES"/>
        </a:p>
      </dgm:t>
    </dgm:pt>
    <dgm:pt modelId="{2E725893-99D1-4498-B99E-96F8EBA40676}">
      <dgm:prSet/>
      <dgm:spPr/>
      <dgm:t>
        <a:bodyPr/>
        <a:lstStyle/>
        <a:p>
          <a:r>
            <a:rPr lang="es-ES" b="1" i="1" dirty="0"/>
            <a:t>Accesibles</a:t>
          </a:r>
          <a:r>
            <a:rPr lang="es-ES" dirty="0"/>
            <a:t> diferencialmente: de fácil acceso y que se puedan tratar de manera distinta al resto</a:t>
          </a:r>
        </a:p>
      </dgm:t>
    </dgm:pt>
    <dgm:pt modelId="{79333207-C645-4790-8C7C-5BA8843554AE}" type="parTrans" cxnId="{499454ED-246D-4F40-A25D-E020AAC5F607}">
      <dgm:prSet/>
      <dgm:spPr/>
      <dgm:t>
        <a:bodyPr/>
        <a:lstStyle/>
        <a:p>
          <a:endParaRPr lang="es-ES"/>
        </a:p>
      </dgm:t>
    </dgm:pt>
    <dgm:pt modelId="{5B1B4871-65B1-406D-820F-5880E8A6DB93}" type="sibTrans" cxnId="{499454ED-246D-4F40-A25D-E020AAC5F607}">
      <dgm:prSet/>
      <dgm:spPr/>
      <dgm:t>
        <a:bodyPr/>
        <a:lstStyle/>
        <a:p>
          <a:endParaRPr lang="es-ES"/>
        </a:p>
      </dgm:t>
    </dgm:pt>
    <dgm:pt modelId="{CC570076-85A5-48C2-A3B6-164D2E5AB606}">
      <dgm:prSet/>
      <dgm:spPr/>
      <dgm:t>
        <a:bodyPr/>
        <a:lstStyle/>
        <a:p>
          <a:r>
            <a:rPr lang="es-ES" b="1" i="1"/>
            <a:t>Operativizables</a:t>
          </a:r>
          <a:r>
            <a:rPr lang="es-ES"/>
            <a:t>, es decir, poder desarrollar programas para atraer y servir a un segmento.</a:t>
          </a:r>
        </a:p>
      </dgm:t>
    </dgm:pt>
    <dgm:pt modelId="{9E8EF910-940C-43AE-A39F-7E331734E087}" type="parTrans" cxnId="{A0900F31-5D5E-4BAE-B0E9-5BF097FC6537}">
      <dgm:prSet/>
      <dgm:spPr/>
      <dgm:t>
        <a:bodyPr/>
        <a:lstStyle/>
        <a:p>
          <a:endParaRPr lang="es-ES"/>
        </a:p>
      </dgm:t>
    </dgm:pt>
    <dgm:pt modelId="{F73AC718-7BD2-4C35-9825-4C785A16EDDE}" type="sibTrans" cxnId="{A0900F31-5D5E-4BAE-B0E9-5BF097FC6537}">
      <dgm:prSet/>
      <dgm:spPr/>
      <dgm:t>
        <a:bodyPr/>
        <a:lstStyle/>
        <a:p>
          <a:endParaRPr lang="es-ES"/>
        </a:p>
      </dgm:t>
    </dgm:pt>
    <dgm:pt modelId="{65261106-3A23-4844-92FF-BC6F08DCBE1D}" type="pres">
      <dgm:prSet presAssocID="{9CF82F6D-92CD-47AD-9804-4AA50D549163}" presName="linear" presStyleCnt="0">
        <dgm:presLayoutVars>
          <dgm:animLvl val="lvl"/>
          <dgm:resizeHandles val="exact"/>
        </dgm:presLayoutVars>
      </dgm:prSet>
      <dgm:spPr/>
    </dgm:pt>
    <dgm:pt modelId="{6F258EDF-ACB9-4F8D-AFFD-4464AEEB5CEA}" type="pres">
      <dgm:prSet presAssocID="{028F2309-AB7D-47FE-BC5F-6B6A106E5D01}" presName="parentText" presStyleLbl="node1" presStyleIdx="0" presStyleCnt="1">
        <dgm:presLayoutVars>
          <dgm:chMax val="0"/>
          <dgm:bulletEnabled val="1"/>
        </dgm:presLayoutVars>
      </dgm:prSet>
      <dgm:spPr/>
    </dgm:pt>
    <dgm:pt modelId="{C8FB5730-E4E7-4E7A-B057-9D73174DAEF6}" type="pres">
      <dgm:prSet presAssocID="{028F2309-AB7D-47FE-BC5F-6B6A106E5D01}" presName="childText" presStyleLbl="revTx" presStyleIdx="0" presStyleCnt="1">
        <dgm:presLayoutVars>
          <dgm:bulletEnabled val="1"/>
        </dgm:presLayoutVars>
      </dgm:prSet>
      <dgm:spPr/>
    </dgm:pt>
  </dgm:ptLst>
  <dgm:cxnLst>
    <dgm:cxn modelId="{6AF5390C-9E48-4A7C-9917-E87295CCE68C}" srcId="{028F2309-AB7D-47FE-BC5F-6B6A106E5D01}" destId="{9C209B91-4F84-4B8E-A34A-2ED6C69EBA86}" srcOrd="0" destOrd="0" parTransId="{F7C492BB-0C4E-4342-886A-5F0168C8FB99}" sibTransId="{13AFC985-8312-4CEC-B2C7-878B7713B031}"/>
    <dgm:cxn modelId="{A66F0318-9FCE-44EC-892F-EC68FCC1998C}" srcId="{028F2309-AB7D-47FE-BC5F-6B6A106E5D01}" destId="{8BFD9FDF-572A-43BF-8E7B-2EAB63DD2B91}" srcOrd="3" destOrd="0" parTransId="{2F338583-8258-470E-AA56-AC8B708C4C8B}" sibTransId="{CC6205DB-9C8A-40E1-AB54-EFDCAC37E98E}"/>
    <dgm:cxn modelId="{A0900F31-5D5E-4BAE-B0E9-5BF097FC6537}" srcId="{028F2309-AB7D-47FE-BC5F-6B6A106E5D01}" destId="{CC570076-85A5-48C2-A3B6-164D2E5AB606}" srcOrd="5" destOrd="0" parTransId="{9E8EF910-940C-43AE-A39F-7E331734E087}" sibTransId="{F73AC718-7BD2-4C35-9825-4C785A16EDDE}"/>
    <dgm:cxn modelId="{2A5CD036-2295-4D01-9647-800F71C4F6ED}" type="presOf" srcId="{8BFD9FDF-572A-43BF-8E7B-2EAB63DD2B91}" destId="{C8FB5730-E4E7-4E7A-B057-9D73174DAEF6}" srcOrd="0" destOrd="3" presId="urn:microsoft.com/office/officeart/2005/8/layout/vList2"/>
    <dgm:cxn modelId="{FBBFC442-91CC-4104-8876-8171B6E892E7}" srcId="{028F2309-AB7D-47FE-BC5F-6B6A106E5D01}" destId="{E3345E7B-53C7-427A-9999-7D599E52E6C3}" srcOrd="1" destOrd="0" parTransId="{03D07773-51B6-4F81-9000-8EE3042DB0F3}" sibTransId="{5A8EDC03-2874-40E9-9856-0285E096B9A6}"/>
    <dgm:cxn modelId="{2C2AD048-1E55-418A-8A4C-612786EA6740}" srcId="{028F2309-AB7D-47FE-BC5F-6B6A106E5D01}" destId="{4B462D60-950C-4BD7-A8ED-8DEE6338F2B4}" srcOrd="2" destOrd="0" parTransId="{5130337F-D29A-48BE-A0E1-E571F3669814}" sibTransId="{22FD5551-B1E0-463F-906D-0C49B85FC4E4}"/>
    <dgm:cxn modelId="{F046EC94-8CF6-4485-ABBA-FB356CE9358D}" type="presOf" srcId="{9C209B91-4F84-4B8E-A34A-2ED6C69EBA86}" destId="{C8FB5730-E4E7-4E7A-B057-9D73174DAEF6}" srcOrd="0" destOrd="0" presId="urn:microsoft.com/office/officeart/2005/8/layout/vList2"/>
    <dgm:cxn modelId="{4812BFAD-C50A-4005-BA48-84513F815766}" srcId="{9CF82F6D-92CD-47AD-9804-4AA50D549163}" destId="{028F2309-AB7D-47FE-BC5F-6B6A106E5D01}" srcOrd="0" destOrd="0" parTransId="{3916D788-F38D-4860-ADFD-6C0FE216C716}" sibTransId="{EC5CEB14-065F-4B07-8440-3EECB505A0EE}"/>
    <dgm:cxn modelId="{AB8A79B4-5CFD-4DBE-8B5B-416561FF62AD}" type="presOf" srcId="{E3345E7B-53C7-427A-9999-7D599E52E6C3}" destId="{C8FB5730-E4E7-4E7A-B057-9D73174DAEF6}" srcOrd="0" destOrd="1" presId="urn:microsoft.com/office/officeart/2005/8/layout/vList2"/>
    <dgm:cxn modelId="{4F9731C4-724E-4D9A-9B11-0D2F07EB15A1}" type="presOf" srcId="{028F2309-AB7D-47FE-BC5F-6B6A106E5D01}" destId="{6F258EDF-ACB9-4F8D-AFFD-4464AEEB5CEA}" srcOrd="0" destOrd="0" presId="urn:microsoft.com/office/officeart/2005/8/layout/vList2"/>
    <dgm:cxn modelId="{5DC163C8-4CA4-4425-BDBB-1E976C342EE6}" type="presOf" srcId="{2E725893-99D1-4498-B99E-96F8EBA40676}" destId="{C8FB5730-E4E7-4E7A-B057-9D73174DAEF6}" srcOrd="0" destOrd="4" presId="urn:microsoft.com/office/officeart/2005/8/layout/vList2"/>
    <dgm:cxn modelId="{86021ED0-00A4-4645-97B9-DCE1894CA174}" type="presOf" srcId="{4B462D60-950C-4BD7-A8ED-8DEE6338F2B4}" destId="{C8FB5730-E4E7-4E7A-B057-9D73174DAEF6}" srcOrd="0" destOrd="2" presId="urn:microsoft.com/office/officeart/2005/8/layout/vList2"/>
    <dgm:cxn modelId="{499454ED-246D-4F40-A25D-E020AAC5F607}" srcId="{028F2309-AB7D-47FE-BC5F-6B6A106E5D01}" destId="{2E725893-99D1-4498-B99E-96F8EBA40676}" srcOrd="4" destOrd="0" parTransId="{79333207-C645-4790-8C7C-5BA8843554AE}" sibTransId="{5B1B4871-65B1-406D-820F-5880E8A6DB93}"/>
    <dgm:cxn modelId="{E07450F5-D28F-43CF-B287-225CC761EF59}" type="presOf" srcId="{CC570076-85A5-48C2-A3B6-164D2E5AB606}" destId="{C8FB5730-E4E7-4E7A-B057-9D73174DAEF6}" srcOrd="0" destOrd="5" presId="urn:microsoft.com/office/officeart/2005/8/layout/vList2"/>
    <dgm:cxn modelId="{7EA233F9-BF08-43DB-8B91-ED08184D8434}" type="presOf" srcId="{9CF82F6D-92CD-47AD-9804-4AA50D549163}" destId="{65261106-3A23-4844-92FF-BC6F08DCBE1D}" srcOrd="0" destOrd="0" presId="urn:microsoft.com/office/officeart/2005/8/layout/vList2"/>
    <dgm:cxn modelId="{11144404-697C-48A9-8D0C-703AB3555CA5}" type="presParOf" srcId="{65261106-3A23-4844-92FF-BC6F08DCBE1D}" destId="{6F258EDF-ACB9-4F8D-AFFD-4464AEEB5CEA}" srcOrd="0" destOrd="0" presId="urn:microsoft.com/office/officeart/2005/8/layout/vList2"/>
    <dgm:cxn modelId="{65DC418B-227E-43FB-B862-D7123FE170A4}" type="presParOf" srcId="{65261106-3A23-4844-92FF-BC6F08DCBE1D}" destId="{C8FB5730-E4E7-4E7A-B057-9D73174DAEF6}"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8A99C3-10A6-407D-95A4-004D513C3E0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73B54E5-5470-417F-B84B-1E0C219329CB}">
      <dgm:prSet custT="1"/>
      <dgm:spPr/>
      <dgm:t>
        <a:bodyPr/>
        <a:lstStyle/>
        <a:p>
          <a:r>
            <a:rPr lang="es-ES" sz="1600" b="0" dirty="0">
              <a:latin typeface="Comic Sans MS" panose="030F0702030302020204" pitchFamily="66" charset="0"/>
            </a:rPr>
            <a:t>Concepto: es la </a:t>
          </a:r>
          <a:r>
            <a:rPr lang="es-ES" sz="1600" b="1" dirty="0">
              <a:latin typeface="Comic Sans MS" panose="030F0702030302020204" pitchFamily="66" charset="0"/>
            </a:rPr>
            <a:t>cantidad de dinero que un consumidor ha de desembolsar </a:t>
          </a:r>
          <a:r>
            <a:rPr lang="es-ES" sz="1600" b="0" dirty="0">
              <a:latin typeface="Comic Sans MS" panose="030F0702030302020204" pitchFamily="66" charset="0"/>
            </a:rPr>
            <a:t>para disfrutar de un bien o servicio que le proporciona una utilidad.</a:t>
          </a:r>
          <a:endParaRPr lang="en-US" sz="1600" b="0" dirty="0">
            <a:latin typeface="Comic Sans MS" panose="030F0702030302020204" pitchFamily="66" charset="0"/>
          </a:endParaRPr>
        </a:p>
      </dgm:t>
    </dgm:pt>
    <dgm:pt modelId="{67B6F26E-0419-4255-96EC-ECD1343B7CB7}" type="parTrans" cxnId="{B44B59A6-6BC1-4E9F-A66D-7DEF82081B1B}">
      <dgm:prSet/>
      <dgm:spPr/>
      <dgm:t>
        <a:bodyPr/>
        <a:lstStyle/>
        <a:p>
          <a:endParaRPr lang="en-US" sz="2400" b="1">
            <a:latin typeface="Comic Sans MS" panose="030F0702030302020204" pitchFamily="66" charset="0"/>
          </a:endParaRPr>
        </a:p>
      </dgm:t>
    </dgm:pt>
    <dgm:pt modelId="{680A8F6A-905F-4C2C-A11B-E630F275EEFC}" type="sibTrans" cxnId="{B44B59A6-6BC1-4E9F-A66D-7DEF82081B1B}">
      <dgm:prSet/>
      <dgm:spPr/>
      <dgm:t>
        <a:bodyPr/>
        <a:lstStyle/>
        <a:p>
          <a:endParaRPr lang="en-US" b="1">
            <a:latin typeface="Comic Sans MS" panose="030F0702030302020204" pitchFamily="66" charset="0"/>
          </a:endParaRPr>
        </a:p>
      </dgm:t>
    </dgm:pt>
    <dgm:pt modelId="{CD638D52-3139-4B38-B4A6-BAA0BE0F0787}">
      <dgm:prSet custT="1"/>
      <dgm:spPr/>
      <dgm:t>
        <a:bodyPr/>
        <a:lstStyle/>
        <a:p>
          <a:r>
            <a:rPr lang="es-ES" sz="1600" b="0" dirty="0">
              <a:latin typeface="Comic Sans MS" panose="030F0702030302020204" pitchFamily="66" charset="0"/>
            </a:rPr>
            <a:t>Distintos nombres que recibe el precio según el tipo de producto o servicio: honorarios, alquiler, interés, tasa, sueldo, etc.</a:t>
          </a:r>
          <a:endParaRPr lang="en-US" sz="1600" b="0" dirty="0">
            <a:latin typeface="Comic Sans MS" panose="030F0702030302020204" pitchFamily="66" charset="0"/>
          </a:endParaRPr>
        </a:p>
      </dgm:t>
    </dgm:pt>
    <dgm:pt modelId="{A2F8C73A-68BE-4619-B82F-4CE2B1B9F8D0}" type="parTrans" cxnId="{82D9648B-B0C8-4461-AD87-5BAA6DEBB792}">
      <dgm:prSet/>
      <dgm:spPr/>
      <dgm:t>
        <a:bodyPr/>
        <a:lstStyle/>
        <a:p>
          <a:endParaRPr lang="en-US" sz="2400" b="1">
            <a:latin typeface="Comic Sans MS" panose="030F0702030302020204" pitchFamily="66" charset="0"/>
          </a:endParaRPr>
        </a:p>
      </dgm:t>
    </dgm:pt>
    <dgm:pt modelId="{FA439659-270A-4D48-B87C-48101CE60D81}" type="sibTrans" cxnId="{82D9648B-B0C8-4461-AD87-5BAA6DEBB792}">
      <dgm:prSet/>
      <dgm:spPr/>
      <dgm:t>
        <a:bodyPr/>
        <a:lstStyle/>
        <a:p>
          <a:endParaRPr lang="en-US" b="1">
            <a:latin typeface="Comic Sans MS" panose="030F0702030302020204" pitchFamily="66" charset="0"/>
          </a:endParaRPr>
        </a:p>
      </dgm:t>
    </dgm:pt>
    <dgm:pt modelId="{0D85EBAD-5032-4696-B2E2-4F3BDD4FF915}" type="pres">
      <dgm:prSet presAssocID="{4D8A99C3-10A6-407D-95A4-004D513C3E0F}" presName="root" presStyleCnt="0">
        <dgm:presLayoutVars>
          <dgm:dir/>
          <dgm:resizeHandles val="exact"/>
        </dgm:presLayoutVars>
      </dgm:prSet>
      <dgm:spPr/>
    </dgm:pt>
    <dgm:pt modelId="{0BA736B5-85A5-4BDD-A0D6-9C8910772B1F}" type="pres">
      <dgm:prSet presAssocID="{773B54E5-5470-417F-B84B-1E0C219329CB}" presName="compNode" presStyleCnt="0"/>
      <dgm:spPr/>
    </dgm:pt>
    <dgm:pt modelId="{1BF8E66D-AC82-4735-9D04-5E170F5B0ADF}" type="pres">
      <dgm:prSet presAssocID="{773B54E5-5470-417F-B84B-1E0C219329C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nero"/>
        </a:ext>
      </dgm:extLst>
    </dgm:pt>
    <dgm:pt modelId="{9072C2FA-0095-4B6C-B9F9-24737BA26CCB}" type="pres">
      <dgm:prSet presAssocID="{773B54E5-5470-417F-B84B-1E0C219329CB}" presName="spaceRect" presStyleCnt="0"/>
      <dgm:spPr/>
    </dgm:pt>
    <dgm:pt modelId="{12B5DA7F-BE6D-4F5A-80CD-E7C6C16C1E4C}" type="pres">
      <dgm:prSet presAssocID="{773B54E5-5470-417F-B84B-1E0C219329CB}" presName="textRect" presStyleLbl="revTx" presStyleIdx="0" presStyleCnt="2">
        <dgm:presLayoutVars>
          <dgm:chMax val="1"/>
          <dgm:chPref val="1"/>
        </dgm:presLayoutVars>
      </dgm:prSet>
      <dgm:spPr/>
    </dgm:pt>
    <dgm:pt modelId="{35CF2D7F-2B1E-479D-963E-7850B168CA6F}" type="pres">
      <dgm:prSet presAssocID="{680A8F6A-905F-4C2C-A11B-E630F275EEFC}" presName="sibTrans" presStyleCnt="0"/>
      <dgm:spPr/>
    </dgm:pt>
    <dgm:pt modelId="{0781AF5C-120C-47F6-ABE9-B500E08F377D}" type="pres">
      <dgm:prSet presAssocID="{CD638D52-3139-4B38-B4A6-BAA0BE0F0787}" presName="compNode" presStyleCnt="0"/>
      <dgm:spPr/>
    </dgm:pt>
    <dgm:pt modelId="{75B825DF-780A-49FA-BC22-87FF9FAA47B9}" type="pres">
      <dgm:prSet presAssocID="{CD638D52-3139-4B38-B4A6-BAA0BE0F078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das"/>
        </a:ext>
      </dgm:extLst>
    </dgm:pt>
    <dgm:pt modelId="{AA536D47-188B-4D48-B3E5-ADAC5A007DA4}" type="pres">
      <dgm:prSet presAssocID="{CD638D52-3139-4B38-B4A6-BAA0BE0F0787}" presName="spaceRect" presStyleCnt="0"/>
      <dgm:spPr/>
    </dgm:pt>
    <dgm:pt modelId="{29E419F0-4FFC-426A-ACCA-6AFD4D8B71B8}" type="pres">
      <dgm:prSet presAssocID="{CD638D52-3139-4B38-B4A6-BAA0BE0F0787}" presName="textRect" presStyleLbl="revTx" presStyleIdx="1" presStyleCnt="2">
        <dgm:presLayoutVars>
          <dgm:chMax val="1"/>
          <dgm:chPref val="1"/>
        </dgm:presLayoutVars>
      </dgm:prSet>
      <dgm:spPr/>
    </dgm:pt>
  </dgm:ptLst>
  <dgm:cxnLst>
    <dgm:cxn modelId="{EBA76D29-3D26-49C7-A929-86BAC9C27A66}" type="presOf" srcId="{773B54E5-5470-417F-B84B-1E0C219329CB}" destId="{12B5DA7F-BE6D-4F5A-80CD-E7C6C16C1E4C}" srcOrd="0" destOrd="0" presId="urn:microsoft.com/office/officeart/2018/2/layout/IconLabelList"/>
    <dgm:cxn modelId="{82D9648B-B0C8-4461-AD87-5BAA6DEBB792}" srcId="{4D8A99C3-10A6-407D-95A4-004D513C3E0F}" destId="{CD638D52-3139-4B38-B4A6-BAA0BE0F0787}" srcOrd="1" destOrd="0" parTransId="{A2F8C73A-68BE-4619-B82F-4CE2B1B9F8D0}" sibTransId="{FA439659-270A-4D48-B87C-48101CE60D81}"/>
    <dgm:cxn modelId="{B44B59A6-6BC1-4E9F-A66D-7DEF82081B1B}" srcId="{4D8A99C3-10A6-407D-95A4-004D513C3E0F}" destId="{773B54E5-5470-417F-B84B-1E0C219329CB}" srcOrd="0" destOrd="0" parTransId="{67B6F26E-0419-4255-96EC-ECD1343B7CB7}" sibTransId="{680A8F6A-905F-4C2C-A11B-E630F275EEFC}"/>
    <dgm:cxn modelId="{A33048A7-08F0-41DD-9C45-5174E31941C7}" type="presOf" srcId="{4D8A99C3-10A6-407D-95A4-004D513C3E0F}" destId="{0D85EBAD-5032-4696-B2E2-4F3BDD4FF915}" srcOrd="0" destOrd="0" presId="urn:microsoft.com/office/officeart/2018/2/layout/IconLabelList"/>
    <dgm:cxn modelId="{6D46A0CF-8FA1-454E-BB24-B6745E55E483}" type="presOf" srcId="{CD638D52-3139-4B38-B4A6-BAA0BE0F0787}" destId="{29E419F0-4FFC-426A-ACCA-6AFD4D8B71B8}" srcOrd="0" destOrd="0" presId="urn:microsoft.com/office/officeart/2018/2/layout/IconLabelList"/>
    <dgm:cxn modelId="{C9CB7056-E5E9-4EB4-89E0-322B14974271}" type="presParOf" srcId="{0D85EBAD-5032-4696-B2E2-4F3BDD4FF915}" destId="{0BA736B5-85A5-4BDD-A0D6-9C8910772B1F}" srcOrd="0" destOrd="0" presId="urn:microsoft.com/office/officeart/2018/2/layout/IconLabelList"/>
    <dgm:cxn modelId="{F71BB2C0-217F-4ACC-B2CF-7304C9108155}" type="presParOf" srcId="{0BA736B5-85A5-4BDD-A0D6-9C8910772B1F}" destId="{1BF8E66D-AC82-4735-9D04-5E170F5B0ADF}" srcOrd="0" destOrd="0" presId="urn:microsoft.com/office/officeart/2018/2/layout/IconLabelList"/>
    <dgm:cxn modelId="{1C06498F-1A97-44C6-AF9A-05AABF221F97}" type="presParOf" srcId="{0BA736B5-85A5-4BDD-A0D6-9C8910772B1F}" destId="{9072C2FA-0095-4B6C-B9F9-24737BA26CCB}" srcOrd="1" destOrd="0" presId="urn:microsoft.com/office/officeart/2018/2/layout/IconLabelList"/>
    <dgm:cxn modelId="{43F902FF-A67D-4893-8082-F60491CB0F19}" type="presParOf" srcId="{0BA736B5-85A5-4BDD-A0D6-9C8910772B1F}" destId="{12B5DA7F-BE6D-4F5A-80CD-E7C6C16C1E4C}" srcOrd="2" destOrd="0" presId="urn:microsoft.com/office/officeart/2018/2/layout/IconLabelList"/>
    <dgm:cxn modelId="{10C96B5F-AF5F-4D15-8837-C108196D7988}" type="presParOf" srcId="{0D85EBAD-5032-4696-B2E2-4F3BDD4FF915}" destId="{35CF2D7F-2B1E-479D-963E-7850B168CA6F}" srcOrd="1" destOrd="0" presId="urn:microsoft.com/office/officeart/2018/2/layout/IconLabelList"/>
    <dgm:cxn modelId="{3F34E069-66B2-4450-B3C5-BCEA6131800F}" type="presParOf" srcId="{0D85EBAD-5032-4696-B2E2-4F3BDD4FF915}" destId="{0781AF5C-120C-47F6-ABE9-B500E08F377D}" srcOrd="2" destOrd="0" presId="urn:microsoft.com/office/officeart/2018/2/layout/IconLabelList"/>
    <dgm:cxn modelId="{0AA40A03-2526-41D6-8723-82F7B470D35B}" type="presParOf" srcId="{0781AF5C-120C-47F6-ABE9-B500E08F377D}" destId="{75B825DF-780A-49FA-BC22-87FF9FAA47B9}" srcOrd="0" destOrd="0" presId="urn:microsoft.com/office/officeart/2018/2/layout/IconLabelList"/>
    <dgm:cxn modelId="{25587E7E-D11D-4622-9A1D-ED326FD8BCCD}" type="presParOf" srcId="{0781AF5C-120C-47F6-ABE9-B500E08F377D}" destId="{AA536D47-188B-4D48-B3E5-ADAC5A007DA4}" srcOrd="1" destOrd="0" presId="urn:microsoft.com/office/officeart/2018/2/layout/IconLabelList"/>
    <dgm:cxn modelId="{3ED58258-C0AC-48C7-9179-E015D1E54ED2}" type="presParOf" srcId="{0781AF5C-120C-47F6-ABE9-B500E08F377D}" destId="{29E419F0-4FFC-426A-ACCA-6AFD4D8B71B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CFBA04-5022-4E2F-97A1-0CD7C0FD411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9585DC48-839F-4AC5-B7E5-1625CD7C54FC}">
      <dgm:prSet/>
      <dgm:spPr/>
      <dgm:t>
        <a:bodyPr/>
        <a:lstStyle/>
        <a:p>
          <a:r>
            <a:rPr lang="es-ES" dirty="0"/>
            <a:t>Métodos de fijación de precios</a:t>
          </a:r>
        </a:p>
      </dgm:t>
    </dgm:pt>
    <dgm:pt modelId="{997399E6-B2C6-4B95-9535-101970B66335}" type="parTrans" cxnId="{71BCA1DF-DEF5-4568-AC47-F48C7E8D2112}">
      <dgm:prSet/>
      <dgm:spPr/>
      <dgm:t>
        <a:bodyPr/>
        <a:lstStyle/>
        <a:p>
          <a:endParaRPr lang="es-ES"/>
        </a:p>
      </dgm:t>
    </dgm:pt>
    <dgm:pt modelId="{DE108002-3DF7-427A-B508-AF0E02C425D8}" type="sibTrans" cxnId="{71BCA1DF-DEF5-4568-AC47-F48C7E8D2112}">
      <dgm:prSet/>
      <dgm:spPr/>
      <dgm:t>
        <a:bodyPr/>
        <a:lstStyle/>
        <a:p>
          <a:endParaRPr lang="es-ES"/>
        </a:p>
      </dgm:t>
    </dgm:pt>
    <dgm:pt modelId="{7BC2E6E3-B676-41A2-B41A-06F3A0749B25}">
      <dgm:prSet/>
      <dgm:spPr/>
      <dgm:t>
        <a:bodyPr/>
        <a:lstStyle/>
        <a:p>
          <a:r>
            <a:rPr lang="es-ES"/>
            <a:t>Métodos basados en los costes</a:t>
          </a:r>
        </a:p>
      </dgm:t>
    </dgm:pt>
    <dgm:pt modelId="{8E27AEEE-2BBF-427D-83E6-EF85CE51018F}" type="parTrans" cxnId="{B97E6F9E-0D61-4AAB-8D15-8A544BF8EF29}">
      <dgm:prSet/>
      <dgm:spPr/>
      <dgm:t>
        <a:bodyPr/>
        <a:lstStyle/>
        <a:p>
          <a:endParaRPr lang="es-ES"/>
        </a:p>
      </dgm:t>
    </dgm:pt>
    <dgm:pt modelId="{52429E56-1CC8-4556-A49C-3418A8676657}" type="sibTrans" cxnId="{B97E6F9E-0D61-4AAB-8D15-8A544BF8EF29}">
      <dgm:prSet/>
      <dgm:spPr/>
      <dgm:t>
        <a:bodyPr/>
        <a:lstStyle/>
        <a:p>
          <a:endParaRPr lang="es-ES"/>
        </a:p>
      </dgm:t>
    </dgm:pt>
    <dgm:pt modelId="{F65C7CC1-D100-4AA7-A858-3A9B3A8B5BD7}">
      <dgm:prSet/>
      <dgm:spPr/>
      <dgm:t>
        <a:bodyPr/>
        <a:lstStyle/>
        <a:p>
          <a:r>
            <a:rPr lang="es-ES"/>
            <a:t>Métodos basados en la competencia</a:t>
          </a:r>
        </a:p>
      </dgm:t>
    </dgm:pt>
    <dgm:pt modelId="{3BDB5561-35C6-4089-9FC0-FCD67F212599}" type="parTrans" cxnId="{78CBE3D8-AEFB-4246-AF62-624386C22ED4}">
      <dgm:prSet/>
      <dgm:spPr/>
      <dgm:t>
        <a:bodyPr/>
        <a:lstStyle/>
        <a:p>
          <a:endParaRPr lang="es-ES"/>
        </a:p>
      </dgm:t>
    </dgm:pt>
    <dgm:pt modelId="{3DCE93F6-EBBE-4E0F-B275-E34F9A673178}" type="sibTrans" cxnId="{78CBE3D8-AEFB-4246-AF62-624386C22ED4}">
      <dgm:prSet/>
      <dgm:spPr/>
      <dgm:t>
        <a:bodyPr/>
        <a:lstStyle/>
        <a:p>
          <a:endParaRPr lang="es-ES"/>
        </a:p>
      </dgm:t>
    </dgm:pt>
    <dgm:pt modelId="{1590DE31-E3B9-445A-BC28-5DD499141EB5}">
      <dgm:prSet/>
      <dgm:spPr/>
      <dgm:t>
        <a:bodyPr/>
        <a:lstStyle/>
        <a:p>
          <a:r>
            <a:rPr lang="es-ES"/>
            <a:t>Métodos basados en la demanda</a:t>
          </a:r>
        </a:p>
      </dgm:t>
    </dgm:pt>
    <dgm:pt modelId="{60AA1A49-8931-4BBF-A436-D7E5149EC409}" type="parTrans" cxnId="{EC7E4A26-649D-4C97-A94B-B1C710C421DE}">
      <dgm:prSet/>
      <dgm:spPr/>
      <dgm:t>
        <a:bodyPr/>
        <a:lstStyle/>
        <a:p>
          <a:endParaRPr lang="es-ES"/>
        </a:p>
      </dgm:t>
    </dgm:pt>
    <dgm:pt modelId="{FF7505C4-DDD3-4376-84CF-E9CBE2E43EBD}" type="sibTrans" cxnId="{EC7E4A26-649D-4C97-A94B-B1C710C421DE}">
      <dgm:prSet/>
      <dgm:spPr/>
      <dgm:t>
        <a:bodyPr/>
        <a:lstStyle/>
        <a:p>
          <a:endParaRPr lang="es-ES"/>
        </a:p>
      </dgm:t>
    </dgm:pt>
    <dgm:pt modelId="{3CEE5DFC-66E6-4B22-897E-9F67F9A54FB7}" type="pres">
      <dgm:prSet presAssocID="{3BCFBA04-5022-4E2F-97A1-0CD7C0FD4117}" presName="linear" presStyleCnt="0">
        <dgm:presLayoutVars>
          <dgm:dir/>
          <dgm:animLvl val="lvl"/>
          <dgm:resizeHandles val="exact"/>
        </dgm:presLayoutVars>
      </dgm:prSet>
      <dgm:spPr/>
    </dgm:pt>
    <dgm:pt modelId="{BD9B53B4-618E-48ED-8CAE-1EEF5D58C732}" type="pres">
      <dgm:prSet presAssocID="{9585DC48-839F-4AC5-B7E5-1625CD7C54FC}" presName="parentLin" presStyleCnt="0"/>
      <dgm:spPr/>
    </dgm:pt>
    <dgm:pt modelId="{EA7BC0F1-2C62-4C24-A211-60A08ED7A4C6}" type="pres">
      <dgm:prSet presAssocID="{9585DC48-839F-4AC5-B7E5-1625CD7C54FC}" presName="parentLeftMargin" presStyleLbl="node1" presStyleIdx="0" presStyleCnt="1"/>
      <dgm:spPr/>
    </dgm:pt>
    <dgm:pt modelId="{2BEC0C3E-5704-4C19-AC70-5B1F1B08DDCB}" type="pres">
      <dgm:prSet presAssocID="{9585DC48-839F-4AC5-B7E5-1625CD7C54FC}" presName="parentText" presStyleLbl="node1" presStyleIdx="0" presStyleCnt="1">
        <dgm:presLayoutVars>
          <dgm:chMax val="0"/>
          <dgm:bulletEnabled val="1"/>
        </dgm:presLayoutVars>
      </dgm:prSet>
      <dgm:spPr/>
    </dgm:pt>
    <dgm:pt modelId="{CC4FCBF4-EEB1-4EB1-B910-6CB993947EB3}" type="pres">
      <dgm:prSet presAssocID="{9585DC48-839F-4AC5-B7E5-1625CD7C54FC}" presName="negativeSpace" presStyleCnt="0"/>
      <dgm:spPr/>
    </dgm:pt>
    <dgm:pt modelId="{2ACD176D-2B35-4F16-8118-4FE9A0C52437}" type="pres">
      <dgm:prSet presAssocID="{9585DC48-839F-4AC5-B7E5-1625CD7C54FC}" presName="childText" presStyleLbl="conFgAcc1" presStyleIdx="0" presStyleCnt="1">
        <dgm:presLayoutVars>
          <dgm:bulletEnabled val="1"/>
        </dgm:presLayoutVars>
      </dgm:prSet>
      <dgm:spPr/>
    </dgm:pt>
  </dgm:ptLst>
  <dgm:cxnLst>
    <dgm:cxn modelId="{79F06122-C045-4DD8-8496-2D66A237EC00}" type="presOf" srcId="{9585DC48-839F-4AC5-B7E5-1625CD7C54FC}" destId="{2BEC0C3E-5704-4C19-AC70-5B1F1B08DDCB}" srcOrd="1" destOrd="0" presId="urn:microsoft.com/office/officeart/2005/8/layout/list1"/>
    <dgm:cxn modelId="{EC7E4A26-649D-4C97-A94B-B1C710C421DE}" srcId="{9585DC48-839F-4AC5-B7E5-1625CD7C54FC}" destId="{1590DE31-E3B9-445A-BC28-5DD499141EB5}" srcOrd="2" destOrd="0" parTransId="{60AA1A49-8931-4BBF-A436-D7E5149EC409}" sibTransId="{FF7505C4-DDD3-4376-84CF-E9CBE2E43EBD}"/>
    <dgm:cxn modelId="{5458463F-23D8-49C5-9753-246DA5964466}" type="presOf" srcId="{1590DE31-E3B9-445A-BC28-5DD499141EB5}" destId="{2ACD176D-2B35-4F16-8118-4FE9A0C52437}" srcOrd="0" destOrd="2" presId="urn:microsoft.com/office/officeart/2005/8/layout/list1"/>
    <dgm:cxn modelId="{BC6C4B5F-CF13-4250-ADB8-ED329B2AFDB9}" type="presOf" srcId="{3BCFBA04-5022-4E2F-97A1-0CD7C0FD4117}" destId="{3CEE5DFC-66E6-4B22-897E-9F67F9A54FB7}" srcOrd="0" destOrd="0" presId="urn:microsoft.com/office/officeart/2005/8/layout/list1"/>
    <dgm:cxn modelId="{30E2646C-270A-4FA4-ACA3-B6E32C7B83B9}" type="presOf" srcId="{F65C7CC1-D100-4AA7-A858-3A9B3A8B5BD7}" destId="{2ACD176D-2B35-4F16-8118-4FE9A0C52437}" srcOrd="0" destOrd="1" presId="urn:microsoft.com/office/officeart/2005/8/layout/list1"/>
    <dgm:cxn modelId="{9580D470-EDA1-459A-9350-429A2CC1C36F}" type="presOf" srcId="{9585DC48-839F-4AC5-B7E5-1625CD7C54FC}" destId="{EA7BC0F1-2C62-4C24-A211-60A08ED7A4C6}" srcOrd="0" destOrd="0" presId="urn:microsoft.com/office/officeart/2005/8/layout/list1"/>
    <dgm:cxn modelId="{2931928E-B269-449C-8386-B895A5435081}" type="presOf" srcId="{7BC2E6E3-B676-41A2-B41A-06F3A0749B25}" destId="{2ACD176D-2B35-4F16-8118-4FE9A0C52437}" srcOrd="0" destOrd="0" presId="urn:microsoft.com/office/officeart/2005/8/layout/list1"/>
    <dgm:cxn modelId="{B97E6F9E-0D61-4AAB-8D15-8A544BF8EF29}" srcId="{9585DC48-839F-4AC5-B7E5-1625CD7C54FC}" destId="{7BC2E6E3-B676-41A2-B41A-06F3A0749B25}" srcOrd="0" destOrd="0" parTransId="{8E27AEEE-2BBF-427D-83E6-EF85CE51018F}" sibTransId="{52429E56-1CC8-4556-A49C-3418A8676657}"/>
    <dgm:cxn modelId="{78CBE3D8-AEFB-4246-AF62-624386C22ED4}" srcId="{9585DC48-839F-4AC5-B7E5-1625CD7C54FC}" destId="{F65C7CC1-D100-4AA7-A858-3A9B3A8B5BD7}" srcOrd="1" destOrd="0" parTransId="{3BDB5561-35C6-4089-9FC0-FCD67F212599}" sibTransId="{3DCE93F6-EBBE-4E0F-B275-E34F9A673178}"/>
    <dgm:cxn modelId="{71BCA1DF-DEF5-4568-AC47-F48C7E8D2112}" srcId="{3BCFBA04-5022-4E2F-97A1-0CD7C0FD4117}" destId="{9585DC48-839F-4AC5-B7E5-1625CD7C54FC}" srcOrd="0" destOrd="0" parTransId="{997399E6-B2C6-4B95-9535-101970B66335}" sibTransId="{DE108002-3DF7-427A-B508-AF0E02C425D8}"/>
    <dgm:cxn modelId="{4B68A2B1-FA92-4D48-9D26-6A36303BE408}" type="presParOf" srcId="{3CEE5DFC-66E6-4B22-897E-9F67F9A54FB7}" destId="{BD9B53B4-618E-48ED-8CAE-1EEF5D58C732}" srcOrd="0" destOrd="0" presId="urn:microsoft.com/office/officeart/2005/8/layout/list1"/>
    <dgm:cxn modelId="{FAE96D2E-AF87-4C5F-A15B-1179B350EB63}" type="presParOf" srcId="{BD9B53B4-618E-48ED-8CAE-1EEF5D58C732}" destId="{EA7BC0F1-2C62-4C24-A211-60A08ED7A4C6}" srcOrd="0" destOrd="0" presId="urn:microsoft.com/office/officeart/2005/8/layout/list1"/>
    <dgm:cxn modelId="{4A505E76-4459-444E-9D2E-FD749C552E70}" type="presParOf" srcId="{BD9B53B4-618E-48ED-8CAE-1EEF5D58C732}" destId="{2BEC0C3E-5704-4C19-AC70-5B1F1B08DDCB}" srcOrd="1" destOrd="0" presId="urn:microsoft.com/office/officeart/2005/8/layout/list1"/>
    <dgm:cxn modelId="{14FF4908-BE50-40EE-B991-B4F5C9EB1CD4}" type="presParOf" srcId="{3CEE5DFC-66E6-4B22-897E-9F67F9A54FB7}" destId="{CC4FCBF4-EEB1-4EB1-B910-6CB993947EB3}" srcOrd="1" destOrd="0" presId="urn:microsoft.com/office/officeart/2005/8/layout/list1"/>
    <dgm:cxn modelId="{B983128B-D7A2-4F55-A7E3-823A4317246A}" type="presParOf" srcId="{3CEE5DFC-66E6-4B22-897E-9F67F9A54FB7}" destId="{2ACD176D-2B35-4F16-8118-4FE9A0C5243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58EDF-ACB9-4F8D-AFFD-4464AEEB5CEA}">
      <dsp:nvSpPr>
        <dsp:cNvPr id="0" name=""/>
        <dsp:cNvSpPr/>
      </dsp:nvSpPr>
      <dsp:spPr>
        <a:xfrm>
          <a:off x="0" y="150844"/>
          <a:ext cx="11443466"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ES" sz="3300" kern="1200"/>
            <a:t>Los segmentos deben ser:</a:t>
          </a:r>
        </a:p>
      </dsp:txBody>
      <dsp:txXfrm>
        <a:off x="38638" y="189482"/>
        <a:ext cx="11366190" cy="714229"/>
      </dsp:txXfrm>
    </dsp:sp>
    <dsp:sp modelId="{C8FB5730-E4E7-4E7A-B057-9D73174DAEF6}">
      <dsp:nvSpPr>
        <dsp:cNvPr id="0" name=""/>
        <dsp:cNvSpPr/>
      </dsp:nvSpPr>
      <dsp:spPr>
        <a:xfrm>
          <a:off x="0" y="942349"/>
          <a:ext cx="11443466" cy="3825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33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s-ES" sz="2600" kern="1200" dirty="0"/>
            <a:t>Ser </a:t>
          </a:r>
          <a:r>
            <a:rPr lang="es-ES" sz="2600" b="1" i="1" kern="1200" dirty="0"/>
            <a:t>medibles: </a:t>
          </a:r>
          <a:r>
            <a:rPr lang="es-ES" sz="2600" kern="1200" dirty="0"/>
            <a:t>tamaño y capacidad de compra</a:t>
          </a:r>
        </a:p>
        <a:p>
          <a:pPr marL="228600" lvl="1" indent="-228600" algn="l" defTabSz="1155700">
            <a:lnSpc>
              <a:spcPct val="90000"/>
            </a:lnSpc>
            <a:spcBef>
              <a:spcPct val="0"/>
            </a:spcBef>
            <a:spcAft>
              <a:spcPct val="20000"/>
            </a:spcAft>
            <a:buChar char="•"/>
          </a:pPr>
          <a:r>
            <a:rPr lang="es-ES" sz="2600" kern="1200" dirty="0"/>
            <a:t>Ser </a:t>
          </a:r>
          <a:r>
            <a:rPr lang="es-ES" sz="2600" b="1" i="1" kern="1200" dirty="0"/>
            <a:t>rentables</a:t>
          </a:r>
          <a:r>
            <a:rPr lang="es-ES" sz="2600" kern="1200" dirty="0"/>
            <a:t>, lo suficientemente grande para obtener beneficios</a:t>
          </a:r>
        </a:p>
        <a:p>
          <a:pPr marL="228600" lvl="1" indent="-228600" algn="l" defTabSz="1155700">
            <a:lnSpc>
              <a:spcPct val="90000"/>
            </a:lnSpc>
            <a:spcBef>
              <a:spcPct val="0"/>
            </a:spcBef>
            <a:spcAft>
              <a:spcPct val="20000"/>
            </a:spcAft>
            <a:buChar char="•"/>
          </a:pPr>
          <a:r>
            <a:rPr lang="es-ES" sz="2600" b="1" i="1" kern="1200" dirty="0"/>
            <a:t>Homogéneos</a:t>
          </a:r>
          <a:r>
            <a:rPr lang="es-ES" sz="2600" kern="1200" dirty="0"/>
            <a:t>, debe ser el mayor grupo homogéneo al que dirigirse</a:t>
          </a:r>
        </a:p>
        <a:p>
          <a:pPr marL="228600" lvl="1" indent="-228600" algn="l" defTabSz="1155700">
            <a:lnSpc>
              <a:spcPct val="90000"/>
            </a:lnSpc>
            <a:spcBef>
              <a:spcPct val="0"/>
            </a:spcBef>
            <a:spcAft>
              <a:spcPct val="20000"/>
            </a:spcAft>
            <a:buChar char="•"/>
          </a:pPr>
          <a:r>
            <a:rPr lang="es-ES" sz="2600" b="1" i="1" kern="1200"/>
            <a:t>Heterogéneos</a:t>
          </a:r>
          <a:r>
            <a:rPr lang="es-ES" sz="2600" kern="1200"/>
            <a:t> respecto a otro segmento</a:t>
          </a:r>
        </a:p>
        <a:p>
          <a:pPr marL="228600" lvl="1" indent="-228600" algn="l" defTabSz="1155700">
            <a:lnSpc>
              <a:spcPct val="90000"/>
            </a:lnSpc>
            <a:spcBef>
              <a:spcPct val="0"/>
            </a:spcBef>
            <a:spcAft>
              <a:spcPct val="20000"/>
            </a:spcAft>
            <a:buChar char="•"/>
          </a:pPr>
          <a:r>
            <a:rPr lang="es-ES" sz="2600" b="1" i="1" kern="1200" dirty="0"/>
            <a:t>Accesibles</a:t>
          </a:r>
          <a:r>
            <a:rPr lang="es-ES" sz="2600" kern="1200" dirty="0"/>
            <a:t> diferencialmente: de fácil acceso y que se puedan tratar de manera distinta al resto</a:t>
          </a:r>
        </a:p>
        <a:p>
          <a:pPr marL="228600" lvl="1" indent="-228600" algn="l" defTabSz="1155700">
            <a:lnSpc>
              <a:spcPct val="90000"/>
            </a:lnSpc>
            <a:spcBef>
              <a:spcPct val="0"/>
            </a:spcBef>
            <a:spcAft>
              <a:spcPct val="20000"/>
            </a:spcAft>
            <a:buChar char="•"/>
          </a:pPr>
          <a:r>
            <a:rPr lang="es-ES" sz="2600" b="1" i="1" kern="1200"/>
            <a:t>Operativizables</a:t>
          </a:r>
          <a:r>
            <a:rPr lang="es-ES" sz="2600" kern="1200"/>
            <a:t>, es decir, poder desarrollar programas para atraer y servir a un segmento.</a:t>
          </a:r>
        </a:p>
      </dsp:txBody>
      <dsp:txXfrm>
        <a:off x="0" y="942349"/>
        <a:ext cx="11443466" cy="3825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8E66D-AC82-4735-9D04-5E170F5B0ADF}">
      <dsp:nvSpPr>
        <dsp:cNvPr id="0" name=""/>
        <dsp:cNvSpPr/>
      </dsp:nvSpPr>
      <dsp:spPr>
        <a:xfrm>
          <a:off x="1747800" y="177122"/>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B5DA7F-BE6D-4F5A-80CD-E7C6C16C1E4C}">
      <dsp:nvSpPr>
        <dsp:cNvPr id="0" name=""/>
        <dsp:cNvSpPr/>
      </dsp:nvSpPr>
      <dsp:spPr>
        <a:xfrm>
          <a:off x="559800" y="2647090"/>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s-ES" sz="1600" b="0" kern="1200" dirty="0">
              <a:latin typeface="Comic Sans MS" panose="030F0702030302020204" pitchFamily="66" charset="0"/>
            </a:rPr>
            <a:t>Concepto: es la </a:t>
          </a:r>
          <a:r>
            <a:rPr lang="es-ES" sz="1600" b="1" kern="1200" dirty="0">
              <a:latin typeface="Comic Sans MS" panose="030F0702030302020204" pitchFamily="66" charset="0"/>
            </a:rPr>
            <a:t>cantidad de dinero que un consumidor ha de desembolsar </a:t>
          </a:r>
          <a:r>
            <a:rPr lang="es-ES" sz="1600" b="0" kern="1200" dirty="0">
              <a:latin typeface="Comic Sans MS" panose="030F0702030302020204" pitchFamily="66" charset="0"/>
            </a:rPr>
            <a:t>para disfrutar de un bien o servicio que le proporciona una utilidad.</a:t>
          </a:r>
          <a:endParaRPr lang="en-US" sz="1600" b="0" kern="1200" dirty="0">
            <a:latin typeface="Comic Sans MS" panose="030F0702030302020204" pitchFamily="66" charset="0"/>
          </a:endParaRPr>
        </a:p>
      </dsp:txBody>
      <dsp:txXfrm>
        <a:off x="559800" y="2647090"/>
        <a:ext cx="4320000" cy="1035000"/>
      </dsp:txXfrm>
    </dsp:sp>
    <dsp:sp modelId="{75B825DF-780A-49FA-BC22-87FF9FAA47B9}">
      <dsp:nvSpPr>
        <dsp:cNvPr id="0" name=""/>
        <dsp:cNvSpPr/>
      </dsp:nvSpPr>
      <dsp:spPr>
        <a:xfrm>
          <a:off x="6823800" y="177122"/>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E419F0-4FFC-426A-ACCA-6AFD4D8B71B8}">
      <dsp:nvSpPr>
        <dsp:cNvPr id="0" name=""/>
        <dsp:cNvSpPr/>
      </dsp:nvSpPr>
      <dsp:spPr>
        <a:xfrm>
          <a:off x="5635800" y="2647090"/>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s-ES" sz="1600" b="0" kern="1200" dirty="0">
              <a:latin typeface="Comic Sans MS" panose="030F0702030302020204" pitchFamily="66" charset="0"/>
            </a:rPr>
            <a:t>Distintos nombres que recibe el precio según el tipo de producto o servicio: honorarios, alquiler, interés, tasa, sueldo, etc.</a:t>
          </a:r>
          <a:endParaRPr lang="en-US" sz="1600" b="0" kern="1200" dirty="0">
            <a:latin typeface="Comic Sans MS" panose="030F0702030302020204" pitchFamily="66" charset="0"/>
          </a:endParaRPr>
        </a:p>
      </dsp:txBody>
      <dsp:txXfrm>
        <a:off x="5635800" y="2647090"/>
        <a:ext cx="4320000" cy="103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CD176D-2B35-4F16-8118-4FE9A0C52437}">
      <dsp:nvSpPr>
        <dsp:cNvPr id="0" name=""/>
        <dsp:cNvSpPr/>
      </dsp:nvSpPr>
      <dsp:spPr>
        <a:xfrm>
          <a:off x="0" y="1358693"/>
          <a:ext cx="5298630" cy="1285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1233" tIns="354076" rIns="411233" bIns="120904" numCol="1" spcCol="1270" anchor="t" anchorCtr="0">
          <a:noAutofit/>
        </a:bodyPr>
        <a:lstStyle/>
        <a:p>
          <a:pPr marL="171450" lvl="1" indent="-171450" algn="l" defTabSz="755650">
            <a:lnSpc>
              <a:spcPct val="90000"/>
            </a:lnSpc>
            <a:spcBef>
              <a:spcPct val="0"/>
            </a:spcBef>
            <a:spcAft>
              <a:spcPct val="15000"/>
            </a:spcAft>
            <a:buChar char="•"/>
          </a:pPr>
          <a:r>
            <a:rPr lang="es-ES" sz="1700" kern="1200"/>
            <a:t>Métodos basados en los costes</a:t>
          </a:r>
        </a:p>
        <a:p>
          <a:pPr marL="171450" lvl="1" indent="-171450" algn="l" defTabSz="755650">
            <a:lnSpc>
              <a:spcPct val="90000"/>
            </a:lnSpc>
            <a:spcBef>
              <a:spcPct val="0"/>
            </a:spcBef>
            <a:spcAft>
              <a:spcPct val="15000"/>
            </a:spcAft>
            <a:buChar char="•"/>
          </a:pPr>
          <a:r>
            <a:rPr lang="es-ES" sz="1700" kern="1200"/>
            <a:t>Métodos basados en la competencia</a:t>
          </a:r>
        </a:p>
        <a:p>
          <a:pPr marL="171450" lvl="1" indent="-171450" algn="l" defTabSz="755650">
            <a:lnSpc>
              <a:spcPct val="90000"/>
            </a:lnSpc>
            <a:spcBef>
              <a:spcPct val="0"/>
            </a:spcBef>
            <a:spcAft>
              <a:spcPct val="15000"/>
            </a:spcAft>
            <a:buChar char="•"/>
          </a:pPr>
          <a:r>
            <a:rPr lang="es-ES" sz="1700" kern="1200"/>
            <a:t>Métodos basados en la demanda</a:t>
          </a:r>
        </a:p>
      </dsp:txBody>
      <dsp:txXfrm>
        <a:off x="0" y="1358693"/>
        <a:ext cx="5298630" cy="1285200"/>
      </dsp:txXfrm>
    </dsp:sp>
    <dsp:sp modelId="{2BEC0C3E-5704-4C19-AC70-5B1F1B08DDCB}">
      <dsp:nvSpPr>
        <dsp:cNvPr id="0" name=""/>
        <dsp:cNvSpPr/>
      </dsp:nvSpPr>
      <dsp:spPr>
        <a:xfrm>
          <a:off x="264931" y="1107773"/>
          <a:ext cx="3709041"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193" tIns="0" rIns="140193" bIns="0" numCol="1" spcCol="1270" anchor="ctr" anchorCtr="0">
          <a:noAutofit/>
        </a:bodyPr>
        <a:lstStyle/>
        <a:p>
          <a:pPr marL="0" lvl="0" indent="0" algn="l" defTabSz="755650">
            <a:lnSpc>
              <a:spcPct val="90000"/>
            </a:lnSpc>
            <a:spcBef>
              <a:spcPct val="0"/>
            </a:spcBef>
            <a:spcAft>
              <a:spcPct val="35000"/>
            </a:spcAft>
            <a:buNone/>
          </a:pPr>
          <a:r>
            <a:rPr lang="es-ES" sz="1700" kern="1200" dirty="0"/>
            <a:t>Métodos de fijación de precios</a:t>
          </a:r>
        </a:p>
      </dsp:txBody>
      <dsp:txXfrm>
        <a:off x="289429" y="1132271"/>
        <a:ext cx="3660045"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EB2A2403-2B68-6B44-A211-FDF544F9438F}" type="datetimeFigureOut">
              <a:rPr lang="es-ES" smtClean="0"/>
              <a:t>25/11/2024</a:t>
            </a:fld>
            <a:endParaRPr lang="es-ES"/>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313B757-38FF-1446-A164-73BB8247F257}" type="slidenum">
              <a:rPr lang="es-ES" smtClean="0"/>
              <a:t>‹Nº›</a:t>
            </a:fld>
            <a:endParaRPr lang="es-ES"/>
          </a:p>
        </p:txBody>
      </p:sp>
    </p:spTree>
    <p:extLst>
      <p:ext uri="{BB962C8B-B14F-4D97-AF65-F5344CB8AC3E}">
        <p14:creationId xmlns:p14="http://schemas.microsoft.com/office/powerpoint/2010/main" val="56510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p:cNvSpPr>
            <a:spLocks noGrp="1" noRot="1" noChangeAspect="1" noTextEdit="1"/>
          </p:cNvSpPr>
          <p:nvPr>
            <p:ph type="sldImg"/>
          </p:nvPr>
        </p:nvSpPr>
        <p:spPr>
          <a:ln/>
        </p:spPr>
      </p:sp>
      <p:sp>
        <p:nvSpPr>
          <p:cNvPr id="16387" name="2 Marcador de notas"/>
          <p:cNvSpPr>
            <a:spLocks noGrp="1"/>
          </p:cNvSpPr>
          <p:nvPr>
            <p:ph type="body" idx="1"/>
          </p:nvPr>
        </p:nvSpPr>
        <p:spPr>
          <a:noFill/>
          <a:ln/>
        </p:spPr>
        <p:txBody>
          <a:bodyPr/>
          <a:lstStyle/>
          <a:p>
            <a:pPr eaLnBrk="1" hangingPunct="1"/>
            <a:endParaRPr lang="es-ES" dirty="0"/>
          </a:p>
        </p:txBody>
      </p:sp>
      <p:sp>
        <p:nvSpPr>
          <p:cNvPr id="16388" name="3 Marcador de número de diapositiva"/>
          <p:cNvSpPr>
            <a:spLocks noGrp="1"/>
          </p:cNvSpPr>
          <p:nvPr>
            <p:ph type="sldNum" sz="quarter" idx="5"/>
          </p:nvPr>
        </p:nvSpPr>
        <p:spPr>
          <a:noFill/>
        </p:spPr>
        <p:txBody>
          <a:bodyPr/>
          <a:lstStyle/>
          <a:p>
            <a:fld id="{E0EBF6CC-C773-4233-ACBC-C86B3B1798DD}" type="slidenum">
              <a:rPr lang="es-ES_tradnl" smtClean="0"/>
              <a:pPr/>
              <a:t>1</a:t>
            </a:fld>
            <a:endParaRPr lang="es-ES_trad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DD3C8B-2054-46E8-AC20-E044424A2701}" type="slidenum">
              <a:rPr lang="es-ES_tradnl"/>
              <a:pPr/>
              <a:t>2</a:t>
            </a:fld>
            <a:endParaRPr lang="es-ES_tradnl"/>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560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25604" name="3 Marcador de número de diapositiva"/>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3AD2205-3DDD-4B85-A970-68FF6C6CC307}" type="slidenum">
              <a:rPr lang="es-ES" smtClean="0"/>
              <a:pPr/>
              <a:t>3</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pPr>
              <a:defRPr/>
            </a:pPr>
            <a:fld id="{77AB8798-F62A-40D0-8954-5D33C944A6B2}" type="slidenum">
              <a:rPr lang="es-ES_tradnl" smtClean="0"/>
              <a:pPr>
                <a:defRPr/>
              </a:pPr>
              <a:t>5</a:t>
            </a:fld>
            <a:endParaRPr lang="es-ES_tradnl"/>
          </a:p>
        </p:txBody>
      </p:sp>
    </p:spTree>
    <p:extLst>
      <p:ext uri="{BB962C8B-B14F-4D97-AF65-F5344CB8AC3E}">
        <p14:creationId xmlns:p14="http://schemas.microsoft.com/office/powerpoint/2010/main" val="3351867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pPr>
              <a:defRPr/>
            </a:pPr>
            <a:fld id="{77AB8798-F62A-40D0-8954-5D33C944A6B2}" type="slidenum">
              <a:rPr lang="es-ES_tradnl" smtClean="0"/>
              <a:pPr>
                <a:defRPr/>
              </a:pPr>
              <a:t>13</a:t>
            </a:fld>
            <a:endParaRPr lang="es-ES_trad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2A80A9-C616-B443-8AA0-649217956563}"/>
              </a:ext>
            </a:extLst>
          </p:cNvPr>
          <p:cNvSpPr>
            <a:spLocks noGrp="1" noChangeArrowheads="1"/>
          </p:cNvSpPr>
          <p:nvPr>
            <p:ph type="sldNum" sz="quarter" idx="5"/>
          </p:nvPr>
        </p:nvSpPr>
        <p:spPr>
          <a:ln/>
        </p:spPr>
        <p:txBody>
          <a:bodyPr/>
          <a:lstStyle/>
          <a:p>
            <a:fld id="{9D906BD7-3A28-914E-B011-8BB88A69CCB9}" type="slidenum">
              <a:rPr lang="es-ES" altLang="es-ES"/>
              <a:pPr/>
              <a:t>14</a:t>
            </a:fld>
            <a:endParaRPr lang="es-ES" altLang="es-ES"/>
          </a:p>
        </p:txBody>
      </p:sp>
      <p:sp>
        <p:nvSpPr>
          <p:cNvPr id="30722" name="Rectangle 2">
            <a:extLst>
              <a:ext uri="{FF2B5EF4-FFF2-40B4-BE49-F238E27FC236}">
                <a16:creationId xmlns:a16="http://schemas.microsoft.com/office/drawing/2014/main" id="{F9355C6C-885C-8A48-B339-BC12B8B3B33A}"/>
              </a:ext>
            </a:extLst>
          </p:cNvPr>
          <p:cNvSpPr>
            <a:spLocks noGrp="1" noRot="1" noChangeAspect="1" noChangeArrowheads="1" noTextEdit="1"/>
          </p:cNvSpPr>
          <p:nvPr>
            <p:ph type="sldImg"/>
          </p:nvPr>
        </p:nvSpPr>
        <p:spPr>
          <a:xfrm>
            <a:off x="2139950" y="544513"/>
            <a:ext cx="4843463" cy="2724150"/>
          </a:xfrm>
          <a:ln/>
        </p:spPr>
      </p:sp>
      <p:sp>
        <p:nvSpPr>
          <p:cNvPr id="30723" name="Rectangle 3">
            <a:extLst>
              <a:ext uri="{FF2B5EF4-FFF2-40B4-BE49-F238E27FC236}">
                <a16:creationId xmlns:a16="http://schemas.microsoft.com/office/drawing/2014/main" id="{7873F61B-1F36-FC4D-9EA1-2829AB226D9E}"/>
              </a:ext>
            </a:extLst>
          </p:cNvPr>
          <p:cNvSpPr>
            <a:spLocks noGrp="1" noChangeArrowheads="1"/>
          </p:cNvSpPr>
          <p:nvPr>
            <p:ph type="body" idx="1"/>
          </p:nvPr>
        </p:nvSpPr>
        <p:spPr/>
        <p:txBody>
          <a:bodyPr/>
          <a:lstStyle/>
          <a:p>
            <a:r>
              <a:rPr lang="es-ES" altLang="es-ES" dirty="0"/>
              <a:t>El primer paso del plan de marketing es la identificación del mercado y del cliente, al que nos vamos a dirigir, que es lo que se conoce como la segmentación del mercado. </a:t>
            </a:r>
          </a:p>
          <a:p>
            <a:r>
              <a:rPr lang="es-ES" altLang="es-ES" dirty="0"/>
              <a:t>El mercado lo van a constituir el conjunto de clientes actuales y potenciales que tienen necesidades deseos y sobre todo medios para satisfacer estas necesidades. </a:t>
            </a:r>
          </a:p>
          <a:p>
            <a:r>
              <a:rPr lang="es-ES" altLang="es-ES" dirty="0"/>
              <a:t>Una cosa tenemos que tener clara. La empresa tiene recursos limitados. Lo ideal sería poder dirigirnos a todo el mercado, lo que conocemos como el </a:t>
            </a:r>
            <a:r>
              <a:rPr lang="es-ES" altLang="es-ES" dirty="0" err="1"/>
              <a:t>mass</a:t>
            </a:r>
            <a:r>
              <a:rPr lang="es-ES" altLang="es-ES" dirty="0"/>
              <a:t> </a:t>
            </a:r>
            <a:r>
              <a:rPr lang="es-ES" altLang="es-ES" dirty="0" err="1"/>
              <a:t>market</a:t>
            </a:r>
            <a:r>
              <a:rPr lang="es-ES" altLang="es-ES" dirty="0"/>
              <a:t>, pero esto es complicado, sobre todo al inicio, cuando </a:t>
            </a:r>
            <a:r>
              <a:rPr lang="es-ES" altLang="es-ES" dirty="0" err="1"/>
              <a:t>nostoros</a:t>
            </a:r>
            <a:r>
              <a:rPr lang="es-ES" altLang="es-ES" dirty="0"/>
              <a:t> queremos poner en marcha nuestro negocio no vamos a tener esa capacidad técnica ni económica. Por eso lo primero que </a:t>
            </a:r>
            <a:r>
              <a:rPr lang="es-ES" altLang="es-ES" dirty="0" err="1"/>
              <a:t>tenermos</a:t>
            </a:r>
            <a:r>
              <a:rPr lang="es-ES" altLang="es-ES" dirty="0"/>
              <a:t> que hacer es decidir a quién nos vamos a dirigir, es decir, quien va a ser mi segmento de mercado. ¿Quién es mi cliente? Por tanto, la segmentación de mercado simplemente es la división de todo el mercado global en grupos homogéneos, con el fin de diseñar estrategias comerciales diferentes para cada segmento de clientes y así conseguir satisfacer en mayor medida las necesidades de los consumidores.</a:t>
            </a:r>
          </a:p>
        </p:txBody>
      </p:sp>
    </p:spTree>
    <p:extLst>
      <p:ext uri="{BB962C8B-B14F-4D97-AF65-F5344CB8AC3E}">
        <p14:creationId xmlns:p14="http://schemas.microsoft.com/office/powerpoint/2010/main" val="2917648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FB921-B265-74C6-4AAD-52D69C504025}"/>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6795720A-2E24-AA37-0C52-E60EB52376DF}"/>
              </a:ext>
            </a:extLst>
          </p:cNvPr>
          <p:cNvSpPr>
            <a:spLocks noGrp="1" noChangeArrowheads="1"/>
          </p:cNvSpPr>
          <p:nvPr>
            <p:ph type="sldNum" sz="quarter" idx="5"/>
          </p:nvPr>
        </p:nvSpPr>
        <p:spPr>
          <a:ln/>
        </p:spPr>
        <p:txBody>
          <a:bodyPr/>
          <a:lstStyle/>
          <a:p>
            <a:fld id="{9D906BD7-3A28-914E-B011-8BB88A69CCB9}" type="slidenum">
              <a:rPr lang="es-ES" altLang="es-ES"/>
              <a:pPr/>
              <a:t>15</a:t>
            </a:fld>
            <a:endParaRPr lang="es-ES" altLang="es-ES"/>
          </a:p>
        </p:txBody>
      </p:sp>
      <p:sp>
        <p:nvSpPr>
          <p:cNvPr id="30722" name="Rectangle 2">
            <a:extLst>
              <a:ext uri="{FF2B5EF4-FFF2-40B4-BE49-F238E27FC236}">
                <a16:creationId xmlns:a16="http://schemas.microsoft.com/office/drawing/2014/main" id="{A284C264-49C4-66D8-3946-2B713E358249}"/>
              </a:ext>
            </a:extLst>
          </p:cNvPr>
          <p:cNvSpPr>
            <a:spLocks noGrp="1" noRot="1" noChangeAspect="1" noChangeArrowheads="1" noTextEdit="1"/>
          </p:cNvSpPr>
          <p:nvPr>
            <p:ph type="sldImg"/>
          </p:nvPr>
        </p:nvSpPr>
        <p:spPr>
          <a:xfrm>
            <a:off x="2139950" y="544513"/>
            <a:ext cx="4843463" cy="2724150"/>
          </a:xfrm>
          <a:ln/>
        </p:spPr>
      </p:sp>
      <p:sp>
        <p:nvSpPr>
          <p:cNvPr id="30723" name="Rectangle 3">
            <a:extLst>
              <a:ext uri="{FF2B5EF4-FFF2-40B4-BE49-F238E27FC236}">
                <a16:creationId xmlns:a16="http://schemas.microsoft.com/office/drawing/2014/main" id="{50FB57BD-E370-F184-CE18-BD2491EEA3C6}"/>
              </a:ext>
            </a:extLst>
          </p:cNvPr>
          <p:cNvSpPr>
            <a:spLocks noGrp="1" noChangeArrowheads="1"/>
          </p:cNvSpPr>
          <p:nvPr>
            <p:ph type="body" idx="1"/>
          </p:nvPr>
        </p:nvSpPr>
        <p:spPr/>
        <p:txBody>
          <a:bodyPr/>
          <a:lstStyle/>
          <a:p>
            <a:r>
              <a:rPr lang="es-ES" altLang="es-ES" dirty="0"/>
              <a:t>El primer paso del plan de marketing es la identificación del mercado y del cliente, al que nos vamos a dirigir, que es lo que se conoce como la segmentación del mercado. </a:t>
            </a:r>
          </a:p>
          <a:p>
            <a:r>
              <a:rPr lang="es-ES" altLang="es-ES" dirty="0"/>
              <a:t>El mercado lo van a constituir el conjunto de clientes actuales y potenciales que tienen necesidades deseos y sobre todo medios para satisfacer estas necesidades. </a:t>
            </a:r>
          </a:p>
          <a:p>
            <a:r>
              <a:rPr lang="es-ES" altLang="es-ES" dirty="0"/>
              <a:t>Una cosa tenemos que tener clara. La empresa tiene recursos limitados. Lo ideal sería poder dirigirnos a todo el mercado, lo que conocemos como el </a:t>
            </a:r>
            <a:r>
              <a:rPr lang="es-ES" altLang="es-ES" dirty="0" err="1"/>
              <a:t>mass</a:t>
            </a:r>
            <a:r>
              <a:rPr lang="es-ES" altLang="es-ES" dirty="0"/>
              <a:t> </a:t>
            </a:r>
            <a:r>
              <a:rPr lang="es-ES" altLang="es-ES" dirty="0" err="1"/>
              <a:t>market</a:t>
            </a:r>
            <a:r>
              <a:rPr lang="es-ES" altLang="es-ES" dirty="0"/>
              <a:t>, pero esto es complicado, sobre todo al inicio, cuando </a:t>
            </a:r>
            <a:r>
              <a:rPr lang="es-ES" altLang="es-ES" dirty="0" err="1"/>
              <a:t>nostoros</a:t>
            </a:r>
            <a:r>
              <a:rPr lang="es-ES" altLang="es-ES" dirty="0"/>
              <a:t> queremos poner en marcha nuestro negocio no vamos a tener esa capacidad técnica ni económica. Por eso lo primero que </a:t>
            </a:r>
            <a:r>
              <a:rPr lang="es-ES" altLang="es-ES" dirty="0" err="1"/>
              <a:t>tenermos</a:t>
            </a:r>
            <a:r>
              <a:rPr lang="es-ES" altLang="es-ES" dirty="0"/>
              <a:t> que hacer es decidir a quién nos vamos a dirigir, es decir, quien va a ser mi segmento de mercado. ¿Quién es mi cliente? Por tanto, la segmentación de mercado simplemente es la división de todo el mercado global en grupos homogéneos, con el fin de diseñar estrategias comerciales diferentes para cada segmento de clientes y así conseguir satisfacer en mayor medida las necesidades de los consumidores.</a:t>
            </a:r>
          </a:p>
        </p:txBody>
      </p:sp>
    </p:spTree>
    <p:extLst>
      <p:ext uri="{BB962C8B-B14F-4D97-AF65-F5344CB8AC3E}">
        <p14:creationId xmlns:p14="http://schemas.microsoft.com/office/powerpoint/2010/main" val="2973171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820F6F-B7C4-4CDA-A770-7058A7551C96}" type="slidenum">
              <a:rPr lang="es-ES_tradnl"/>
              <a:pPr/>
              <a:t>20</a:t>
            </a:fld>
            <a:endParaRPr lang="es-ES_tradnl"/>
          </a:p>
        </p:txBody>
      </p:sp>
      <p:sp>
        <p:nvSpPr>
          <p:cNvPr id="294914" name="Rectangle 2"/>
          <p:cNvSpPr>
            <a:spLocks noGrp="1" noRot="1" noChangeAspect="1" noChangeArrowheads="1" noTextEdit="1"/>
          </p:cNvSpPr>
          <p:nvPr>
            <p:ph type="sldImg"/>
          </p:nvPr>
        </p:nvSpPr>
        <p:spPr>
          <a:xfrm>
            <a:off x="2744788" y="500063"/>
            <a:ext cx="4437062" cy="2497137"/>
          </a:xfrm>
          <a:ln w="12700" cap="flat"/>
        </p:spPr>
      </p:sp>
      <p:sp>
        <p:nvSpPr>
          <p:cNvPr id="294915" name="Rectangle 3"/>
          <p:cNvSpPr>
            <a:spLocks noGrp="1" noChangeArrowheads="1"/>
          </p:cNvSpPr>
          <p:nvPr>
            <p:ph type="body" idx="1"/>
          </p:nvPr>
        </p:nvSpPr>
        <p:spPr>
          <a:xfrm>
            <a:off x="1322931" y="3165230"/>
            <a:ext cx="7280777" cy="2998018"/>
          </a:xfrm>
          <a:ln/>
        </p:spPr>
        <p:txBody>
          <a:bodyPr lIns="90491" tIns="45246" rIns="90491" bIns="45246"/>
          <a:lstStyle/>
          <a:p>
            <a:pPr algn="just"/>
            <a:r>
              <a:rPr lang="es-ES" sz="1000" dirty="0"/>
              <a:t>Ya hemos dicho que la supervivencia de una organización va a depender del mantenimiento de unas relaciones continuas y eficaces de la misma con la sociedad </a:t>
            </a:r>
            <a:r>
              <a:rPr lang="es-ES" sz="1000" dirty="0">
                <a:sym typeface="Wingdings" pitchFamily="2" charset="2"/>
              </a:rPr>
              <a:t> el MK hace de nexo entre la organización y su entorno  mantiene el contacto entre la organización y los consumidores: averigua sus necesidades, desarrolla productos que cubran sus necesidades, diseña la forma de distribuirlos y elabora un plan de comunicación para expresar los propósitos de la organización.</a:t>
            </a:r>
          </a:p>
          <a:p>
            <a:pPr algn="just"/>
            <a:endParaRPr lang="es-ES" sz="1000" dirty="0">
              <a:sym typeface="Wingdings" pitchFamily="2" charset="2"/>
            </a:endParaRPr>
          </a:p>
          <a:p>
            <a:pPr algn="just"/>
            <a:endParaRPr lang="es-E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definición de producto puede ser bastante amplia. ¿Qué vende </a:t>
            </a:r>
            <a:r>
              <a:rPr lang="es-ES" dirty="0" err="1"/>
              <a:t>Seat</a:t>
            </a:r>
            <a:r>
              <a:rPr lang="es-ES" dirty="0"/>
              <a:t>? ¿Un automóvil? Si es así sus competidores son Nissan, Kia, </a:t>
            </a:r>
            <a:r>
              <a:rPr lang="es-ES" dirty="0" err="1"/>
              <a:t>Skoda</a:t>
            </a:r>
            <a:r>
              <a:rPr lang="es-ES" dirty="0"/>
              <a:t>…, pero ¿Y si vende un medio de transporte? </a:t>
            </a:r>
          </a:p>
          <a:p>
            <a:r>
              <a:rPr lang="es-ES" dirty="0"/>
              <a:t>¿Vende sólo un objeto? O vende otras cosas …</a:t>
            </a:r>
          </a:p>
          <a:p>
            <a:r>
              <a:rPr lang="es-ES" dirty="0"/>
              <a:t>Anuncios de cerveza ¿Venden cerveza o venden amistad, reencuentros, </a:t>
            </a:r>
            <a:r>
              <a:rPr lang="es-ES" dirty="0" err="1"/>
              <a:t>etc</a:t>
            </a:r>
            <a:r>
              <a:rPr lang="es-ES" dirty="0"/>
              <a:t>?</a:t>
            </a:r>
          </a:p>
          <a:p>
            <a:r>
              <a:rPr lang="es-ES" dirty="0"/>
              <a:t>¿Qué te vende Amazon?</a:t>
            </a:r>
          </a:p>
        </p:txBody>
      </p:sp>
      <p:sp>
        <p:nvSpPr>
          <p:cNvPr id="4" name="Marcador de número de diapositiva 3"/>
          <p:cNvSpPr>
            <a:spLocks noGrp="1"/>
          </p:cNvSpPr>
          <p:nvPr>
            <p:ph type="sldNum" sz="quarter" idx="5"/>
          </p:nvPr>
        </p:nvSpPr>
        <p:spPr/>
        <p:txBody>
          <a:bodyPr/>
          <a:lstStyle/>
          <a:p>
            <a:fld id="{6313B757-38FF-1446-A164-73BB8247F257}" type="slidenum">
              <a:rPr lang="es-ES" smtClean="0"/>
              <a:t>23</a:t>
            </a:fld>
            <a:endParaRPr lang="es-ES"/>
          </a:p>
        </p:txBody>
      </p:sp>
    </p:spTree>
    <p:extLst>
      <p:ext uri="{BB962C8B-B14F-4D97-AF65-F5344CB8AC3E}">
        <p14:creationId xmlns:p14="http://schemas.microsoft.com/office/powerpoint/2010/main" val="333805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5843"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4" name="3 Marcador de número de diapositiva"/>
          <p:cNvSpPr>
            <a:spLocks noGrp="1"/>
          </p:cNvSpPr>
          <p:nvPr>
            <p:ph type="sldNum" sz="quarter" idx="5"/>
          </p:nvPr>
        </p:nvSpPr>
        <p:spPr/>
        <p:txBody>
          <a:bodyPr/>
          <a:lstStyle/>
          <a:p>
            <a:pPr>
              <a:defRPr/>
            </a:pPr>
            <a:fld id="{032D1A85-45F5-4229-9DD7-1A0842DC7745}" type="slidenum">
              <a:rPr lang="es-ES" smtClean="0"/>
              <a:pPr>
                <a:defRPr/>
              </a:pPr>
              <a:t>29</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6867"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4" name="3 Marcador de número de diapositiva"/>
          <p:cNvSpPr>
            <a:spLocks noGrp="1"/>
          </p:cNvSpPr>
          <p:nvPr>
            <p:ph type="sldNum" sz="quarter" idx="5"/>
          </p:nvPr>
        </p:nvSpPr>
        <p:spPr/>
        <p:txBody>
          <a:bodyPr/>
          <a:lstStyle/>
          <a:p>
            <a:pPr>
              <a:defRPr/>
            </a:pPr>
            <a:fld id="{E4F41D8B-0EBA-4A20-9C0D-E69D2A1E1B03}" type="slidenum">
              <a:rPr lang="es-ES" smtClean="0"/>
              <a:pPr>
                <a:defRPr/>
              </a:pPr>
              <a:t>33</a:t>
            </a:fld>
            <a:endParaRPr lang="es-ES"/>
          </a:p>
        </p:txBody>
      </p:sp>
    </p:spTree>
    <p:extLst>
      <p:ext uri="{BB962C8B-B14F-4D97-AF65-F5344CB8AC3E}">
        <p14:creationId xmlns:p14="http://schemas.microsoft.com/office/powerpoint/2010/main" val="2479365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6867"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4" name="3 Marcador de número de diapositiva"/>
          <p:cNvSpPr>
            <a:spLocks noGrp="1"/>
          </p:cNvSpPr>
          <p:nvPr>
            <p:ph type="sldNum" sz="quarter" idx="5"/>
          </p:nvPr>
        </p:nvSpPr>
        <p:spPr/>
        <p:txBody>
          <a:bodyPr/>
          <a:lstStyle/>
          <a:p>
            <a:pPr>
              <a:defRPr/>
            </a:pPr>
            <a:fld id="{E4F41D8B-0EBA-4A20-9C0D-E69D2A1E1B03}" type="slidenum">
              <a:rPr lang="es-ES" smtClean="0"/>
              <a:pPr>
                <a:defRPr/>
              </a:pPr>
              <a:t>34</a:t>
            </a:fld>
            <a:endParaRPr lang="es-ES"/>
          </a:p>
        </p:txBody>
      </p:sp>
    </p:spTree>
    <p:extLst>
      <p:ext uri="{BB962C8B-B14F-4D97-AF65-F5344CB8AC3E}">
        <p14:creationId xmlns:p14="http://schemas.microsoft.com/office/powerpoint/2010/main" val="3786756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0963"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4" name="3 Marcador de número de diapositiva"/>
          <p:cNvSpPr>
            <a:spLocks noGrp="1"/>
          </p:cNvSpPr>
          <p:nvPr>
            <p:ph type="sldNum" sz="quarter" idx="5"/>
          </p:nvPr>
        </p:nvSpPr>
        <p:spPr/>
        <p:txBody>
          <a:bodyPr/>
          <a:lstStyle/>
          <a:p>
            <a:pPr>
              <a:defRPr/>
            </a:pPr>
            <a:fld id="{8EEE40C9-1A88-4B69-9A2A-C4C052CCECC3}" type="slidenum">
              <a:rPr lang="es-ES" smtClean="0"/>
              <a:pPr>
                <a:defRPr/>
              </a:pPr>
              <a:t>35</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4035"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4" name="3 Marcador de número de diapositiva"/>
          <p:cNvSpPr>
            <a:spLocks noGrp="1"/>
          </p:cNvSpPr>
          <p:nvPr>
            <p:ph type="sldNum" sz="quarter" idx="5"/>
          </p:nvPr>
        </p:nvSpPr>
        <p:spPr/>
        <p:txBody>
          <a:bodyPr/>
          <a:lstStyle/>
          <a:p>
            <a:pPr>
              <a:defRPr/>
            </a:pPr>
            <a:fld id="{C7D06123-E641-4914-947C-213CDAD2AE7D}" type="slidenum">
              <a:rPr lang="es-ES" smtClean="0"/>
              <a:pPr>
                <a:defRPr/>
              </a:pPr>
              <a:t>36</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150000"/>
              </a:lnSpc>
              <a:defRPr/>
            </a:pPr>
            <a:r>
              <a:rPr lang="es-ES" sz="1200" dirty="0"/>
              <a:t>Funciones de los intermediarios:</a:t>
            </a:r>
          </a:p>
          <a:p>
            <a:pPr algn="just" eaLnBrk="1" hangingPunct="1">
              <a:lnSpc>
                <a:spcPct val="150000"/>
              </a:lnSpc>
              <a:buFont typeface="Courier New" panose="02070309020205020404" pitchFamily="49" charset="0"/>
              <a:buChar char="o"/>
              <a:defRPr/>
            </a:pPr>
            <a:r>
              <a:rPr lang="es-ES" sz="1200" dirty="0"/>
              <a:t>Reducen el número de transacciones</a:t>
            </a:r>
          </a:p>
          <a:p>
            <a:pPr algn="just" eaLnBrk="1" hangingPunct="1">
              <a:lnSpc>
                <a:spcPct val="150000"/>
              </a:lnSpc>
              <a:buFont typeface="Courier New" panose="02070309020205020404" pitchFamily="49" charset="0"/>
              <a:buChar char="o"/>
              <a:defRPr/>
            </a:pPr>
            <a:r>
              <a:rPr lang="es-ES" sz="1200" dirty="0"/>
              <a:t>Adecua la oferta a la demanda</a:t>
            </a:r>
          </a:p>
          <a:p>
            <a:pPr lvl="1" algn="just" eaLnBrk="1" hangingPunct="1">
              <a:lnSpc>
                <a:spcPct val="150000"/>
              </a:lnSpc>
              <a:buFont typeface="Courier New" panose="02070309020205020404" pitchFamily="49" charset="0"/>
              <a:buChar char="o"/>
              <a:defRPr/>
            </a:pPr>
            <a:r>
              <a:rPr lang="es-ES" sz="1000" dirty="0"/>
              <a:t>Fracciona la </a:t>
            </a:r>
            <a:r>
              <a:rPr lang="es-ES" sz="1000" dirty="0" err="1"/>
              <a:t>prod</a:t>
            </a:r>
            <a:r>
              <a:rPr lang="es-ES" sz="1000" dirty="0"/>
              <a:t>. del fabricante</a:t>
            </a:r>
          </a:p>
          <a:p>
            <a:pPr lvl="1" algn="just" eaLnBrk="1" hangingPunct="1">
              <a:lnSpc>
                <a:spcPct val="150000"/>
              </a:lnSpc>
              <a:buFont typeface="Courier New" panose="02070309020205020404" pitchFamily="49" charset="0"/>
              <a:buChar char="o"/>
              <a:defRPr/>
            </a:pPr>
            <a:r>
              <a:rPr lang="es-ES" sz="1000" dirty="0"/>
              <a:t>Agrupa muchas producciones pequeñas</a:t>
            </a:r>
          </a:p>
          <a:p>
            <a:pPr algn="just" eaLnBrk="1" hangingPunct="1">
              <a:lnSpc>
                <a:spcPct val="150000"/>
              </a:lnSpc>
              <a:buFont typeface="Courier New" panose="02070309020205020404" pitchFamily="49" charset="0"/>
              <a:buChar char="o"/>
              <a:defRPr/>
            </a:pPr>
            <a:r>
              <a:rPr lang="es-ES" sz="1200" dirty="0"/>
              <a:t>Crea surtido </a:t>
            </a:r>
            <a:r>
              <a:rPr lang="es-ES" sz="1000" dirty="0"/>
              <a:t>compra </a:t>
            </a:r>
            <a:r>
              <a:rPr lang="es-ES" sz="1000" dirty="0" err="1"/>
              <a:t>dif</a:t>
            </a:r>
            <a:r>
              <a:rPr lang="es-ES" sz="1000" dirty="0"/>
              <a:t>. marcas del mismo producto</a:t>
            </a:r>
          </a:p>
          <a:p>
            <a:pPr algn="just" eaLnBrk="1" hangingPunct="1">
              <a:lnSpc>
                <a:spcPct val="150000"/>
              </a:lnSpc>
              <a:buFont typeface="Courier New" panose="02070309020205020404" pitchFamily="49" charset="0"/>
              <a:buChar char="o"/>
              <a:defRPr/>
            </a:pPr>
            <a:r>
              <a:rPr lang="es-ES" sz="1200" dirty="0"/>
              <a:t>Almacena los productos, transporta y entrega</a:t>
            </a:r>
          </a:p>
          <a:p>
            <a:pPr algn="just" eaLnBrk="1" hangingPunct="1">
              <a:lnSpc>
                <a:spcPct val="150000"/>
              </a:lnSpc>
              <a:buFont typeface="Courier New" panose="02070309020205020404" pitchFamily="49" charset="0"/>
              <a:buChar char="o"/>
              <a:defRPr/>
            </a:pPr>
            <a:r>
              <a:rPr lang="es-ES" sz="1200" dirty="0"/>
              <a:t>Financia el proceso </a:t>
            </a:r>
            <a:r>
              <a:rPr lang="es-ES" sz="1000" dirty="0"/>
              <a:t>Al fabricante y al cliente</a:t>
            </a:r>
          </a:p>
          <a:p>
            <a:pPr algn="just" eaLnBrk="1" hangingPunct="1">
              <a:lnSpc>
                <a:spcPct val="150000"/>
              </a:lnSpc>
              <a:buFont typeface="Courier New" panose="02070309020205020404" pitchFamily="49" charset="0"/>
              <a:buChar char="o"/>
              <a:defRPr/>
            </a:pPr>
            <a:r>
              <a:rPr lang="es-ES" sz="1200" dirty="0"/>
              <a:t>Ofrece servicios adicionales </a:t>
            </a:r>
            <a:r>
              <a:rPr lang="es-ES" sz="1000" dirty="0" err="1"/>
              <a:t>inform</a:t>
            </a:r>
            <a:r>
              <a:rPr lang="es-ES" sz="1000" dirty="0"/>
              <a:t>, </a:t>
            </a:r>
            <a:r>
              <a:rPr lang="es-ES" sz="1000" dirty="0" err="1"/>
              <a:t>instalación,reparación</a:t>
            </a:r>
            <a:r>
              <a:rPr lang="es-ES" sz="1000" dirty="0"/>
              <a:t>.</a:t>
            </a:r>
          </a:p>
          <a:p>
            <a:pPr algn="just" eaLnBrk="1" hangingPunct="1">
              <a:lnSpc>
                <a:spcPct val="150000"/>
              </a:lnSpc>
              <a:buFont typeface="Courier New" panose="02070309020205020404" pitchFamily="49" charset="0"/>
              <a:buChar char="o"/>
              <a:defRPr/>
            </a:pPr>
            <a:r>
              <a:rPr lang="es-ES" sz="1200" dirty="0"/>
              <a:t>Asume riesgos. </a:t>
            </a:r>
            <a:r>
              <a:rPr lang="es-ES" sz="1000" dirty="0"/>
              <a:t>Obsolescencia, robo, incendio </a:t>
            </a:r>
            <a:r>
              <a:rPr lang="es-ES" sz="1000" dirty="0" err="1"/>
              <a:t>etc</a:t>
            </a:r>
            <a:endParaRPr lang="es-ES" sz="1000" dirty="0"/>
          </a:p>
          <a:p>
            <a:endParaRPr lang="es-ES" dirty="0"/>
          </a:p>
        </p:txBody>
      </p:sp>
      <p:sp>
        <p:nvSpPr>
          <p:cNvPr id="4" name="Marcador de número de diapositiva 3"/>
          <p:cNvSpPr>
            <a:spLocks noGrp="1"/>
          </p:cNvSpPr>
          <p:nvPr>
            <p:ph type="sldNum" sz="quarter" idx="5"/>
          </p:nvPr>
        </p:nvSpPr>
        <p:spPr/>
        <p:txBody>
          <a:bodyPr/>
          <a:lstStyle/>
          <a:p>
            <a:fld id="{6313B757-38FF-1446-A164-73BB8247F257}" type="slidenum">
              <a:rPr lang="es-ES" smtClean="0"/>
              <a:t>39</a:t>
            </a:fld>
            <a:endParaRPr lang="es-ES"/>
          </a:p>
        </p:txBody>
      </p:sp>
    </p:spTree>
    <p:extLst>
      <p:ext uri="{BB962C8B-B14F-4D97-AF65-F5344CB8AC3E}">
        <p14:creationId xmlns:p14="http://schemas.microsoft.com/office/powerpoint/2010/main" val="3129186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0296FC6-2027-4C31-AD9D-AAFB3A489BA8}" type="slidenum">
              <a:rPr lang="es-ES_tradnl"/>
              <a:pPr/>
              <a:t>40</a:t>
            </a:fld>
            <a:endParaRPr lang="es-ES_tradnl"/>
          </a:p>
        </p:txBody>
      </p:sp>
      <p:sp>
        <p:nvSpPr>
          <p:cNvPr id="434178" name="1 Marcador de imagen de diapositiva"/>
          <p:cNvSpPr>
            <a:spLocks noGrp="1" noRot="1" noChangeAspect="1" noTextEdit="1"/>
          </p:cNvSpPr>
          <p:nvPr>
            <p:ph type="sldImg"/>
          </p:nvPr>
        </p:nvSpPr>
        <p:spPr>
          <a:xfrm>
            <a:off x="2744788" y="500063"/>
            <a:ext cx="4437062" cy="2497137"/>
          </a:xfrm>
          <a:ln/>
        </p:spPr>
      </p:sp>
      <p:sp>
        <p:nvSpPr>
          <p:cNvPr id="434179" name="2 Marcador de notas"/>
          <p:cNvSpPr>
            <a:spLocks noGrp="1"/>
          </p:cNvSpPr>
          <p:nvPr>
            <p:ph type="body" idx="1"/>
          </p:nvPr>
        </p:nvSpPr>
        <p:spPr/>
        <p:txBody>
          <a:bodyPr lIns="89867" tIns="44934" rIns="89867" bIns="44934"/>
          <a:lstStyle/>
          <a:p>
            <a:endParaRPr lang="es-ES"/>
          </a:p>
        </p:txBody>
      </p:sp>
      <p:sp>
        <p:nvSpPr>
          <p:cNvPr id="4" name="3 Marcador de número de diapositiva"/>
          <p:cNvSpPr txBox="1">
            <a:spLocks noGrp="1"/>
          </p:cNvSpPr>
          <p:nvPr/>
        </p:nvSpPr>
        <p:spPr>
          <a:xfrm>
            <a:off x="5622456" y="6328315"/>
            <a:ext cx="4301855" cy="333351"/>
          </a:xfrm>
          <a:prstGeom prst="rect">
            <a:avLst/>
          </a:prstGeom>
          <a:noFill/>
        </p:spPr>
        <p:txBody>
          <a:bodyPr lIns="89867" tIns="44934" rIns="89867" bIns="44934" anchor="b"/>
          <a:lstStyle/>
          <a:p>
            <a:pPr algn="r" fontAlgn="auto">
              <a:spcBef>
                <a:spcPts val="0"/>
              </a:spcBef>
              <a:spcAft>
                <a:spcPts val="0"/>
              </a:spcAft>
              <a:defRPr/>
            </a:pPr>
            <a:fld id="{CC254B16-5203-46A0-AB6A-97651F4DE18A}" type="slidenum">
              <a:rPr lang="es-ES" sz="1200">
                <a:latin typeface="+mn-lt"/>
              </a:rPr>
              <a:pPr algn="r" fontAlgn="auto">
                <a:spcBef>
                  <a:spcPts val="0"/>
                </a:spcBef>
                <a:spcAft>
                  <a:spcPts val="0"/>
                </a:spcAft>
                <a:defRPr/>
              </a:pPr>
              <a:t>40</a:t>
            </a:fld>
            <a:endParaRPr lang="es-ES" sz="1200" dirty="0">
              <a:latin typeface="+mn-l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11/25/2024</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2761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11/25/2024</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8184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8777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805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884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513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5554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346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714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102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11/25/2024</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4721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cap="none" spc="0" baseline="0">
                <a:solidFill>
                  <a:schemeClr val="tx1">
                    <a:tint val="75000"/>
                  </a:schemeClr>
                </a:solidFill>
                <a:latin typeface="+mn-lt"/>
              </a:defRPr>
            </a:lvl1pPr>
          </a:lstStyle>
          <a:p>
            <a:fld id="{82EDB8D0-98ED-4B86-9D5F-E61ADC70144D}" type="datetimeFigureOut">
              <a:rPr lang="en-US" smtClean="0"/>
              <a:pPr/>
              <a:t>11/25/2024</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cap="none" spc="0" baseline="0">
                <a:solidFill>
                  <a:schemeClr val="tx1">
                    <a:tint val="75000"/>
                  </a:schemeClr>
                </a:solidFill>
                <a:latin typeface="+mn-lt"/>
              </a:defRPr>
            </a:lvl1pPr>
          </a:lstStyle>
          <a:p>
            <a:fld id="{4854181D-6920-4594-9A5D-6CE56DC9F8B2}" type="slidenum">
              <a:rPr lang="en-US" smtClean="0"/>
              <a:pPr/>
              <a:t>‹Nº›</a:t>
            </a:fld>
            <a:endParaRPr lang="en-US"/>
          </a:p>
        </p:txBody>
      </p:sp>
    </p:spTree>
    <p:extLst>
      <p:ext uri="{BB962C8B-B14F-4D97-AF65-F5344CB8AC3E}">
        <p14:creationId xmlns:p14="http://schemas.microsoft.com/office/powerpoint/2010/main" val="252927686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emf"/><Relationship Id="rId7"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7.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y1UZ336_P9c" TargetMode="Externa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a:extLst>
              <a:ext uri="{FF2B5EF4-FFF2-40B4-BE49-F238E27FC236}">
                <a16:creationId xmlns:a16="http://schemas.microsoft.com/office/drawing/2014/main" id="{01DDCBC0-D641-430B-8B76-89970839C917}"/>
              </a:ext>
            </a:extLst>
          </p:cNvPr>
          <p:cNvSpPr txBox="1">
            <a:spLocks/>
          </p:cNvSpPr>
          <p:nvPr/>
        </p:nvSpPr>
        <p:spPr bwMode="auto">
          <a:xfrm>
            <a:off x="2209800" y="836713"/>
            <a:ext cx="7772400" cy="1470025"/>
          </a:xfrm>
          <a:prstGeom prst="round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a:solidFill>
                  <a:schemeClr val="tx1"/>
                </a:solidFill>
                <a:latin typeface="Comic Sans MS" pitchFamily="66" charset="0"/>
                <a:ea typeface="+mj-ea"/>
                <a:cs typeface="+mj-cs"/>
              </a:defRPr>
            </a:lvl1pPr>
            <a:lvl2pPr algn="l" rtl="0" eaLnBrk="0" fontAlgn="base" hangingPunct="0">
              <a:spcBef>
                <a:spcPct val="0"/>
              </a:spcBef>
              <a:spcAft>
                <a:spcPct val="0"/>
              </a:spcAft>
              <a:defRPr sz="2800" b="1">
                <a:solidFill>
                  <a:schemeClr val="tx1"/>
                </a:solidFill>
                <a:latin typeface="Arial" charset="0"/>
              </a:defRPr>
            </a:lvl2pPr>
            <a:lvl3pPr algn="l" rtl="0" eaLnBrk="0" fontAlgn="base" hangingPunct="0">
              <a:spcBef>
                <a:spcPct val="0"/>
              </a:spcBef>
              <a:spcAft>
                <a:spcPct val="0"/>
              </a:spcAft>
              <a:defRPr sz="2800" b="1">
                <a:solidFill>
                  <a:schemeClr val="tx1"/>
                </a:solidFill>
                <a:latin typeface="Arial" charset="0"/>
              </a:defRPr>
            </a:lvl3pPr>
            <a:lvl4pPr algn="l" rtl="0" eaLnBrk="0" fontAlgn="base" hangingPunct="0">
              <a:spcBef>
                <a:spcPct val="0"/>
              </a:spcBef>
              <a:spcAft>
                <a:spcPct val="0"/>
              </a:spcAft>
              <a:defRPr sz="2800" b="1">
                <a:solidFill>
                  <a:schemeClr val="tx1"/>
                </a:solidFill>
                <a:latin typeface="Arial" charset="0"/>
              </a:defRPr>
            </a:lvl4pPr>
            <a:lvl5pPr algn="l" rtl="0" eaLnBrk="0" fontAlgn="base" hangingPunct="0">
              <a:spcBef>
                <a:spcPct val="0"/>
              </a:spcBef>
              <a:spcAft>
                <a:spcPct val="0"/>
              </a:spcAft>
              <a:defRPr sz="2800" b="1">
                <a:solidFill>
                  <a:schemeClr val="tx1"/>
                </a:solidFill>
                <a:latin typeface="Arial" charset="0"/>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a:lstStyle>
          <a:p>
            <a:pPr eaLnBrk="1" hangingPunct="1">
              <a:defRPr/>
            </a:pPr>
            <a:r>
              <a:rPr lang="es-ES_tradnl" kern="0" dirty="0">
                <a:solidFill>
                  <a:srgbClr val="DEF6F1"/>
                </a:solidFill>
                <a:latin typeface="Comic Sans MS"/>
              </a:rPr>
              <a:t>EMPRENDIMIENTO E INNOVACIÓN EN ROBÓTICA</a:t>
            </a:r>
            <a:br>
              <a:rPr lang="es-ES_tradnl" kern="0" dirty="0">
                <a:solidFill>
                  <a:srgbClr val="DEF6F1"/>
                </a:solidFill>
                <a:latin typeface="Comic Sans MS"/>
              </a:rPr>
            </a:br>
            <a:r>
              <a:rPr lang="es-ES_tradnl" kern="0">
                <a:solidFill>
                  <a:srgbClr val="DEF6F1"/>
                </a:solidFill>
                <a:latin typeface="Comic Sans MS"/>
              </a:rPr>
              <a:t>Curso 2024-2025</a:t>
            </a:r>
          </a:p>
        </p:txBody>
      </p:sp>
      <p:sp>
        <p:nvSpPr>
          <p:cNvPr id="11" name="2 Subtítulo">
            <a:extLst>
              <a:ext uri="{FF2B5EF4-FFF2-40B4-BE49-F238E27FC236}">
                <a16:creationId xmlns:a16="http://schemas.microsoft.com/office/drawing/2014/main" id="{4ECEE7E4-842C-4E7F-AF45-E07357FEBEE4}"/>
              </a:ext>
            </a:extLst>
          </p:cNvPr>
          <p:cNvSpPr txBox="1">
            <a:spLocks/>
          </p:cNvSpPr>
          <p:nvPr/>
        </p:nvSpPr>
        <p:spPr bwMode="auto">
          <a:xfrm>
            <a:off x="2895600" y="3044552"/>
            <a:ext cx="6400800" cy="1752600"/>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bodyPr>
          <a:lstStyle>
            <a:lvl1pPr marL="0" indent="0" algn="ctr" rtl="0" eaLnBrk="0" fontAlgn="base" hangingPunct="0">
              <a:spcBef>
                <a:spcPct val="20000"/>
              </a:spcBef>
              <a:spcAft>
                <a:spcPct val="0"/>
              </a:spcAft>
              <a:buFontTx/>
              <a:buNone/>
              <a:defRPr sz="2400">
                <a:solidFill>
                  <a:schemeClr val="dk1"/>
                </a:solidFill>
                <a:latin typeface="Comic Sans MS" pitchFamily="66" charset="0"/>
                <a:ea typeface="+mn-ea"/>
                <a:cs typeface="+mn-cs"/>
              </a:defRPr>
            </a:lvl1pPr>
            <a:lvl2pPr marL="742950" indent="-285750" algn="l" rtl="0" eaLnBrk="0" fontAlgn="base" hangingPunct="0">
              <a:spcBef>
                <a:spcPct val="20000"/>
              </a:spcBef>
              <a:spcAft>
                <a:spcPct val="0"/>
              </a:spcAft>
              <a:buChar char="–"/>
              <a:defRPr sz="2000">
                <a:solidFill>
                  <a:schemeClr val="dk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400">
                <a:solidFill>
                  <a:schemeClr val="dk1"/>
                </a:solidFill>
                <a:latin typeface="+mn-lt"/>
                <a:ea typeface="+mn-ea"/>
                <a:cs typeface="+mn-cs"/>
              </a:defRPr>
            </a:lvl5pPr>
            <a:lvl6pPr marL="2514600" indent="-228600" algn="l" rtl="0" eaLnBrk="1" fontAlgn="base" hangingPunct="1">
              <a:spcBef>
                <a:spcPct val="20000"/>
              </a:spcBef>
              <a:spcAft>
                <a:spcPct val="0"/>
              </a:spcAft>
              <a:buChar char="»"/>
              <a:defRPr sz="1400">
                <a:solidFill>
                  <a:schemeClr val="dk1"/>
                </a:solidFill>
                <a:latin typeface="+mn-lt"/>
                <a:ea typeface="+mn-ea"/>
                <a:cs typeface="+mn-cs"/>
              </a:defRPr>
            </a:lvl6pPr>
            <a:lvl7pPr marL="2971800" indent="-228600" algn="l" rtl="0" eaLnBrk="1" fontAlgn="base" hangingPunct="1">
              <a:spcBef>
                <a:spcPct val="20000"/>
              </a:spcBef>
              <a:spcAft>
                <a:spcPct val="0"/>
              </a:spcAft>
              <a:buChar char="»"/>
              <a:defRPr sz="1400">
                <a:solidFill>
                  <a:schemeClr val="dk1"/>
                </a:solidFill>
                <a:latin typeface="+mn-lt"/>
                <a:ea typeface="+mn-ea"/>
                <a:cs typeface="+mn-cs"/>
              </a:defRPr>
            </a:lvl7pPr>
            <a:lvl8pPr marL="3429000" indent="-228600" algn="l" rtl="0" eaLnBrk="1" fontAlgn="base" hangingPunct="1">
              <a:spcBef>
                <a:spcPct val="20000"/>
              </a:spcBef>
              <a:spcAft>
                <a:spcPct val="0"/>
              </a:spcAft>
              <a:buChar char="»"/>
              <a:defRPr sz="1400">
                <a:solidFill>
                  <a:schemeClr val="dk1"/>
                </a:solidFill>
                <a:latin typeface="+mn-lt"/>
                <a:ea typeface="+mn-ea"/>
                <a:cs typeface="+mn-cs"/>
              </a:defRPr>
            </a:lvl8pPr>
            <a:lvl9pPr marL="3886200" indent="-228600" algn="l" rtl="0" eaLnBrk="1" fontAlgn="base" hangingPunct="1">
              <a:spcBef>
                <a:spcPct val="20000"/>
              </a:spcBef>
              <a:spcAft>
                <a:spcPct val="0"/>
              </a:spcAft>
              <a:buChar char="»"/>
              <a:defRPr sz="1400">
                <a:solidFill>
                  <a:schemeClr val="dk1"/>
                </a:solidFill>
                <a:latin typeface="+mn-lt"/>
                <a:ea typeface="+mn-ea"/>
                <a:cs typeface="+mn-cs"/>
              </a:defRPr>
            </a:lvl9pPr>
          </a:lstStyle>
          <a:p>
            <a:pPr eaLnBrk="1" hangingPunct="1">
              <a:defRPr/>
            </a:pPr>
            <a:r>
              <a:rPr lang="es-ES_tradnl" sz="2800" kern="0" dirty="0">
                <a:solidFill>
                  <a:srgbClr val="000000"/>
                </a:solidFill>
              </a:rPr>
              <a:t>TEMA 8:</a:t>
            </a:r>
          </a:p>
          <a:p>
            <a:pPr eaLnBrk="1" hangingPunct="1">
              <a:defRPr/>
            </a:pPr>
            <a:r>
              <a:rPr lang="es-ES_tradnl" sz="2800" kern="0" dirty="0">
                <a:solidFill>
                  <a:srgbClr val="000000"/>
                </a:solidFill>
              </a:rPr>
              <a:t>MARKETING</a:t>
            </a:r>
          </a:p>
        </p:txBody>
      </p:sp>
      <p:sp>
        <p:nvSpPr>
          <p:cNvPr id="12" name="2 Subtítulo">
            <a:extLst>
              <a:ext uri="{FF2B5EF4-FFF2-40B4-BE49-F238E27FC236}">
                <a16:creationId xmlns:a16="http://schemas.microsoft.com/office/drawing/2014/main" id="{6D67F9D1-227A-4FD5-ABFB-D1CF611B6869}"/>
              </a:ext>
            </a:extLst>
          </p:cNvPr>
          <p:cNvSpPr txBox="1">
            <a:spLocks/>
          </p:cNvSpPr>
          <p:nvPr/>
        </p:nvSpPr>
        <p:spPr bwMode="auto">
          <a:xfrm>
            <a:off x="3143672" y="5157192"/>
            <a:ext cx="6120680" cy="1080120"/>
          </a:xfrm>
          <a:prstGeom prst="roundRect">
            <a:avLst/>
          </a:prstGeom>
          <a:noFill/>
          <a:ln w="25400" cap="flat" cmpd="sng" algn="ctr">
            <a:noFill/>
            <a:prstDash val="solid"/>
            <a:miter lim="800000"/>
            <a:headEnd/>
            <a:tailEnd/>
          </a:ln>
          <a:effectLst>
            <a:outerShdw blurRad="76200" dir="18900000" sy="23000" kx="-1200000" algn="bl" rotWithShape="0">
              <a:prstClr val="black">
                <a:alpha val="20000"/>
              </a:prstClr>
            </a:outerShdw>
          </a:effectLst>
        </p:spPr>
        <p:txBody>
          <a:bodyPr vert="horz" wrap="square" lIns="91440" tIns="45720" rIns="91440" bIns="45720" numCol="1" anchor="ctr" anchorCtr="0" compatLnSpc="1">
            <a:prstTxWarp prst="textNoShape">
              <a:avLst/>
            </a:prstTxWarp>
          </a:bodyPr>
          <a:lstStyle/>
          <a:p>
            <a:pPr algn="ctr">
              <a:spcBef>
                <a:spcPct val="20000"/>
              </a:spcBef>
              <a:defRPr/>
            </a:pPr>
            <a:r>
              <a:rPr lang="es-ES_tradnl" sz="2000" kern="0" dirty="0">
                <a:solidFill>
                  <a:srgbClr val="000000"/>
                </a:solidFill>
                <a:latin typeface="Comic Sans MS"/>
              </a:rPr>
              <a:t>Grado en ingeniería de robótica software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12"/>
          </p:nvPr>
        </p:nvSpPr>
        <p:spPr/>
        <p:txBody>
          <a:bodyPr/>
          <a:lstStyle/>
          <a:p>
            <a:fld id="{70AA9B10-D414-4A58-B245-E95240800791}" type="slidenum">
              <a:rPr lang="es-ES" smtClean="0"/>
              <a:pPr/>
              <a:t>2</a:t>
            </a:fld>
            <a:endParaRPr lang="es-ES"/>
          </a:p>
        </p:txBody>
      </p:sp>
      <p:sp>
        <p:nvSpPr>
          <p:cNvPr id="24583" name="Rectangle 7"/>
          <p:cNvSpPr>
            <a:spLocks noGrp="1" noChangeArrowheads="1"/>
          </p:cNvSpPr>
          <p:nvPr>
            <p:ph type="title" idx="4294967295"/>
          </p:nvPr>
        </p:nvSpPr>
        <p:spPr>
          <a:xfrm>
            <a:off x="1054100" y="476251"/>
            <a:ext cx="8928100" cy="720725"/>
          </a:xfrm>
        </p:spPr>
        <p:txBody>
          <a:bodyPr/>
          <a:lstStyle/>
          <a:p>
            <a:r>
              <a:rPr lang="es-ES" dirty="0">
                <a:solidFill>
                  <a:schemeClr val="accent1"/>
                </a:solidFill>
                <a:latin typeface="Comic Sans MS" panose="030F0702030302020204" pitchFamily="66" charset="0"/>
              </a:rPr>
              <a:t>Tema 3: PLAN DE MARKETING</a:t>
            </a:r>
          </a:p>
        </p:txBody>
      </p:sp>
      <p:sp>
        <p:nvSpPr>
          <p:cNvPr id="24585" name="Rectangle 9"/>
          <p:cNvSpPr>
            <a:spLocks noGrp="1" noChangeArrowheads="1"/>
          </p:cNvSpPr>
          <p:nvPr>
            <p:ph type="body" idx="4294967295"/>
          </p:nvPr>
        </p:nvSpPr>
        <p:spPr>
          <a:xfrm>
            <a:off x="1194777" y="1910494"/>
            <a:ext cx="8031285" cy="2720121"/>
          </a:xfrm>
        </p:spPr>
        <p:txBody>
          <a:bodyPr>
            <a:normAutofit/>
          </a:bodyPr>
          <a:lstStyle/>
          <a:p>
            <a:pPr marL="838200" lvl="1" indent="-381000">
              <a:buNone/>
            </a:pPr>
            <a:endParaRPr lang="es-ES" sz="2800" dirty="0">
              <a:solidFill>
                <a:schemeClr val="tx2"/>
              </a:solidFill>
              <a:latin typeface="Comic Sans MS" panose="030F0702030302020204" pitchFamily="66" charset="0"/>
            </a:endParaRPr>
          </a:p>
          <a:p>
            <a:pPr marL="838200" lvl="1" indent="-381000">
              <a:buNone/>
            </a:pPr>
            <a:r>
              <a:rPr lang="es-ES" sz="2800" dirty="0">
                <a:solidFill>
                  <a:schemeClr val="tx2"/>
                </a:solidFill>
                <a:latin typeface="Comic Sans MS" panose="030F0702030302020204" pitchFamily="66" charset="0"/>
              </a:rPr>
              <a:t>1. Conceptos básicos</a:t>
            </a:r>
          </a:p>
          <a:p>
            <a:pPr marL="838200" lvl="1" indent="-381000">
              <a:buNone/>
            </a:pPr>
            <a:r>
              <a:rPr lang="es-ES" sz="2800" dirty="0">
                <a:solidFill>
                  <a:schemeClr val="tx2"/>
                </a:solidFill>
                <a:latin typeface="Comic Sans MS" panose="030F0702030302020204" pitchFamily="66" charset="0"/>
              </a:rPr>
              <a:t>2. Decisiones Marketing Estratégico</a:t>
            </a:r>
          </a:p>
          <a:p>
            <a:pPr marL="838200" lvl="1" indent="-381000">
              <a:buNone/>
            </a:pPr>
            <a:r>
              <a:rPr lang="es-ES" sz="2800" dirty="0">
                <a:solidFill>
                  <a:schemeClr val="tx2"/>
                </a:solidFill>
                <a:latin typeface="Comic Sans MS" panose="030F0702030302020204" pitchFamily="66" charset="0"/>
              </a:rPr>
              <a:t>3. Decisiones Marketing Operativo</a:t>
            </a:r>
          </a:p>
          <a:p>
            <a:pPr marL="838200" lvl="1" indent="-381000">
              <a:buNone/>
            </a:pPr>
            <a:endParaRPr lang="es-ES" sz="2800" dirty="0">
              <a:solidFill>
                <a:schemeClr val="tx2"/>
              </a:solidFill>
              <a:latin typeface="Comic Sans MS" panose="030F0702030302020204" pitchFamily="66" charset="0"/>
            </a:endParaRPr>
          </a:p>
          <a:p>
            <a:pPr marL="1238250" lvl="2" indent="-381000">
              <a:buNone/>
            </a:pPr>
            <a:endParaRPr lang="es-ES" sz="2800" dirty="0">
              <a:solidFill>
                <a:schemeClr val="tx2"/>
              </a:solidFill>
              <a:latin typeface="Comic Sans MS" panose="030F0702030302020204" pitchFamily="66"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919536" y="122566"/>
            <a:ext cx="8229600" cy="638944"/>
          </a:xfrm>
        </p:spPr>
        <p:txBody>
          <a:bodyPr>
            <a:normAutofit/>
          </a:bodyPr>
          <a:lstStyle/>
          <a:p>
            <a:pPr marL="838200" lvl="1" indent="-381000">
              <a:buNone/>
            </a:pPr>
            <a:r>
              <a:rPr lang="es-ES" sz="3200" b="1" dirty="0">
                <a:solidFill>
                  <a:schemeClr val="accent3"/>
                </a:solidFill>
                <a:latin typeface="Comic Sans MS" panose="030F0702030302020204" pitchFamily="66" charset="0"/>
              </a:rPr>
              <a:t>1. Conceptos básicos</a:t>
            </a:r>
          </a:p>
        </p:txBody>
      </p:sp>
      <p:sp>
        <p:nvSpPr>
          <p:cNvPr id="4099" name="Rectangle 3"/>
          <p:cNvSpPr>
            <a:spLocks noGrp="1" noChangeArrowheads="1"/>
          </p:cNvSpPr>
          <p:nvPr>
            <p:ph sz="quarter" idx="1"/>
          </p:nvPr>
        </p:nvSpPr>
        <p:spPr>
          <a:xfrm>
            <a:off x="1192440" y="980729"/>
            <a:ext cx="8412931" cy="5401022"/>
          </a:xfrm>
        </p:spPr>
        <p:txBody>
          <a:bodyPr>
            <a:normAutofit fontScale="92500" lnSpcReduction="10000"/>
          </a:bodyPr>
          <a:lstStyle/>
          <a:p>
            <a:pPr algn="just" eaLnBrk="1" hangingPunct="1">
              <a:lnSpc>
                <a:spcPct val="150000"/>
              </a:lnSpc>
            </a:pPr>
            <a:r>
              <a:rPr lang="es-ES_tradnl" b="1" dirty="0">
                <a:solidFill>
                  <a:schemeClr val="tx2">
                    <a:lumMod val="90000"/>
                    <a:lumOff val="10000"/>
                  </a:schemeClr>
                </a:solidFill>
              </a:rPr>
              <a:t>AMA (1985): </a:t>
            </a:r>
            <a:r>
              <a:rPr lang="es-ES_tradnl" dirty="0"/>
              <a:t>proceso de </a:t>
            </a:r>
            <a:r>
              <a:rPr lang="es-ES_tradnl" b="1" i="1" dirty="0">
                <a:solidFill>
                  <a:schemeClr val="tx2">
                    <a:lumMod val="90000"/>
                    <a:lumOff val="10000"/>
                  </a:schemeClr>
                </a:solidFill>
              </a:rPr>
              <a:t>planificar y ejecutar la concepción del producto, precio, promoción y distribución</a:t>
            </a:r>
            <a:r>
              <a:rPr lang="es-ES_tradnl" dirty="0"/>
              <a:t> de ideas, bienes y servicios, para crear intercambios que satisfagan tanto objetivos individuales como de las organizaciones.</a:t>
            </a:r>
          </a:p>
          <a:p>
            <a:pPr algn="just">
              <a:lnSpc>
                <a:spcPct val="150000"/>
              </a:lnSpc>
            </a:pPr>
            <a:r>
              <a:rPr lang="es-ES_tradnl" b="1" dirty="0">
                <a:solidFill>
                  <a:schemeClr val="tx2">
                    <a:lumMod val="90000"/>
                    <a:lumOff val="10000"/>
                  </a:schemeClr>
                </a:solidFill>
              </a:rPr>
              <a:t>AMA (2004): </a:t>
            </a:r>
            <a:r>
              <a:rPr lang="es-ES" dirty="0"/>
              <a:t>conjunto de procedimientos pensados para </a:t>
            </a:r>
            <a:r>
              <a:rPr lang="es-ES" b="1" i="1" dirty="0">
                <a:solidFill>
                  <a:schemeClr val="tx2">
                    <a:lumMod val="90000"/>
                    <a:lumOff val="10000"/>
                  </a:schemeClr>
                </a:solidFill>
              </a:rPr>
              <a:t>crear, comunicar y transmitir valor </a:t>
            </a:r>
            <a:r>
              <a:rPr lang="es-ES" dirty="0"/>
              <a:t>a los clientes y para gestionar la relación con los clientes de tal forma que se beneficie la organización y sus grupos de interés (consumidores, proveedores, trabajadores, distribuidores, etc.) </a:t>
            </a:r>
            <a:endParaRPr lang="es-ES_tradnl" dirty="0"/>
          </a:p>
          <a:p>
            <a:pPr algn="just" eaLnBrk="1" hangingPunct="1">
              <a:lnSpc>
                <a:spcPct val="150000"/>
              </a:lnSpc>
            </a:pPr>
            <a:endParaRPr lang="es-ES"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ChangeArrowheads="1"/>
          </p:cNvSpPr>
          <p:nvPr/>
        </p:nvSpPr>
        <p:spPr bwMode="auto">
          <a:xfrm>
            <a:off x="1905000" y="1371600"/>
            <a:ext cx="8229600" cy="579438"/>
          </a:xfrm>
          <a:prstGeom prst="rect">
            <a:avLst/>
          </a:prstGeom>
          <a:noFill/>
          <a:ln w="9525">
            <a:noFill/>
            <a:miter lim="800000"/>
            <a:headEnd/>
            <a:tailEnd/>
          </a:ln>
        </p:spPr>
        <p:txBody>
          <a:bodyPr lIns="92075" tIns="46038" rIns="92075" bIns="46038" anchor="b"/>
          <a:lstStyle/>
          <a:p>
            <a:pPr marL="377825" indent="-377825"/>
            <a:br>
              <a:rPr lang="es-ES" sz="2000" b="1" dirty="0">
                <a:solidFill>
                  <a:srgbClr val="003300"/>
                </a:solidFill>
                <a:latin typeface="Verdana" pitchFamily="34" charset="0"/>
              </a:rPr>
            </a:br>
            <a:endParaRPr lang="es-ES" sz="2000" b="1" dirty="0">
              <a:solidFill>
                <a:srgbClr val="003300"/>
              </a:solidFill>
              <a:latin typeface="Verdana" pitchFamily="34" charset="0"/>
            </a:endParaRPr>
          </a:p>
        </p:txBody>
      </p:sp>
      <p:pic>
        <p:nvPicPr>
          <p:cNvPr id="2" name="Imagen 1"/>
          <p:cNvPicPr>
            <a:picLocks noChangeAspect="1"/>
          </p:cNvPicPr>
          <p:nvPr/>
        </p:nvPicPr>
        <p:blipFill>
          <a:blip r:embed="rId2"/>
          <a:stretch>
            <a:fillRect/>
          </a:stretch>
        </p:blipFill>
        <p:spPr>
          <a:xfrm>
            <a:off x="3225800" y="1574800"/>
            <a:ext cx="5727700" cy="3708400"/>
          </a:xfrm>
          <a:prstGeom prst="rect">
            <a:avLst/>
          </a:prstGeom>
        </p:spPr>
      </p:pic>
      <p:pic>
        <p:nvPicPr>
          <p:cNvPr id="3" name="Imagen 2"/>
          <p:cNvPicPr>
            <a:picLocks noChangeAspect="1"/>
          </p:cNvPicPr>
          <p:nvPr/>
        </p:nvPicPr>
        <p:blipFill>
          <a:blip r:embed="rId2"/>
          <a:stretch>
            <a:fillRect/>
          </a:stretch>
        </p:blipFill>
        <p:spPr>
          <a:xfrm>
            <a:off x="3225800" y="1574800"/>
            <a:ext cx="5727700" cy="3708400"/>
          </a:xfrm>
          <a:prstGeom prst="rect">
            <a:avLst/>
          </a:prstGeom>
        </p:spPr>
      </p:pic>
      <p:pic>
        <p:nvPicPr>
          <p:cNvPr id="5" name="Imagen 4"/>
          <p:cNvPicPr>
            <a:picLocks noChangeAspect="1"/>
          </p:cNvPicPr>
          <p:nvPr/>
        </p:nvPicPr>
        <p:blipFill>
          <a:blip r:embed="rId3"/>
          <a:stretch>
            <a:fillRect/>
          </a:stretch>
        </p:blipFill>
        <p:spPr>
          <a:xfrm>
            <a:off x="3225800" y="1574800"/>
            <a:ext cx="5727700" cy="3708400"/>
          </a:xfrm>
          <a:prstGeom prst="rect">
            <a:avLst/>
          </a:prstGeom>
        </p:spPr>
      </p:pic>
      <p:pic>
        <p:nvPicPr>
          <p:cNvPr id="6" name="Imagen 5"/>
          <p:cNvPicPr>
            <a:picLocks noChangeAspect="1"/>
          </p:cNvPicPr>
          <p:nvPr/>
        </p:nvPicPr>
        <p:blipFill>
          <a:blip r:embed="rId3"/>
          <a:stretch>
            <a:fillRect/>
          </a:stretch>
        </p:blipFill>
        <p:spPr>
          <a:xfrm>
            <a:off x="3225800" y="1574800"/>
            <a:ext cx="5727700" cy="3708400"/>
          </a:xfrm>
          <a:prstGeom prst="rect">
            <a:avLst/>
          </a:prstGeom>
        </p:spPr>
      </p:pic>
      <p:pic>
        <p:nvPicPr>
          <p:cNvPr id="7" name="Imagen 6"/>
          <p:cNvPicPr>
            <a:picLocks noChangeAspect="1"/>
          </p:cNvPicPr>
          <p:nvPr/>
        </p:nvPicPr>
        <p:blipFill>
          <a:blip r:embed="rId4"/>
          <a:stretch>
            <a:fillRect/>
          </a:stretch>
        </p:blipFill>
        <p:spPr>
          <a:xfrm>
            <a:off x="3340100" y="1574800"/>
            <a:ext cx="5499100" cy="3695700"/>
          </a:xfrm>
          <a:prstGeom prst="rect">
            <a:avLst/>
          </a:prstGeom>
        </p:spPr>
      </p:pic>
      <p:pic>
        <p:nvPicPr>
          <p:cNvPr id="8" name="Imagen 7"/>
          <p:cNvPicPr>
            <a:picLocks noChangeAspect="1"/>
          </p:cNvPicPr>
          <p:nvPr/>
        </p:nvPicPr>
        <p:blipFill>
          <a:blip r:embed="rId4"/>
          <a:stretch>
            <a:fillRect/>
          </a:stretch>
        </p:blipFill>
        <p:spPr>
          <a:xfrm>
            <a:off x="3340100" y="1574800"/>
            <a:ext cx="5499100" cy="3695700"/>
          </a:xfrm>
          <a:prstGeom prst="rect">
            <a:avLst/>
          </a:prstGeom>
        </p:spPr>
      </p:pic>
      <p:pic>
        <p:nvPicPr>
          <p:cNvPr id="4" name="Imagen 3"/>
          <p:cNvPicPr>
            <a:picLocks noChangeAspect="1"/>
          </p:cNvPicPr>
          <p:nvPr/>
        </p:nvPicPr>
        <p:blipFill>
          <a:blip r:embed="rId5"/>
          <a:stretch>
            <a:fillRect/>
          </a:stretch>
        </p:blipFill>
        <p:spPr>
          <a:xfrm>
            <a:off x="3949700" y="2286000"/>
            <a:ext cx="4292600" cy="2286000"/>
          </a:xfrm>
          <a:prstGeom prst="rect">
            <a:avLst/>
          </a:prstGeom>
        </p:spPr>
      </p:pic>
      <p:sp>
        <p:nvSpPr>
          <p:cNvPr id="12" name="Rectángulo 11"/>
          <p:cNvSpPr/>
          <p:nvPr/>
        </p:nvSpPr>
        <p:spPr>
          <a:xfrm>
            <a:off x="774304" y="1186874"/>
            <a:ext cx="8064896" cy="3970318"/>
          </a:xfrm>
          <a:prstGeom prst="rect">
            <a:avLst/>
          </a:prstGeom>
        </p:spPr>
        <p:txBody>
          <a:bodyPr wrap="square">
            <a:spAutoFit/>
          </a:bodyPr>
          <a:lstStyle/>
          <a:p>
            <a:r>
              <a:rPr lang="es-ES" sz="2800" b="1" dirty="0">
                <a:solidFill>
                  <a:schemeClr val="tx2">
                    <a:lumMod val="90000"/>
                    <a:lumOff val="10000"/>
                  </a:schemeClr>
                </a:solidFill>
                <a:latin typeface="Comic Sans MS" panose="030F0702030302020204" pitchFamily="66" charset="0"/>
              </a:rPr>
              <a:t>Marketing Estratégico </a:t>
            </a:r>
            <a:r>
              <a:rPr lang="es-ES" sz="2800" dirty="0">
                <a:latin typeface="Comic Sans MS" panose="030F0702030302020204" pitchFamily="66" charset="0"/>
              </a:rPr>
              <a:t>nos obliga a reflexionar sobre los valores de la compañía, saber dónde estamos y dónde queremos ir.</a:t>
            </a:r>
          </a:p>
          <a:p>
            <a:pPr algn="ctr"/>
            <a:endParaRPr lang="es-ES" sz="2800" dirty="0">
              <a:latin typeface="Comic Sans MS" panose="030F0702030302020204" pitchFamily="66" charset="0"/>
            </a:endParaRPr>
          </a:p>
          <a:p>
            <a:pPr algn="ctr"/>
            <a:endParaRPr lang="es-ES" sz="2800" dirty="0">
              <a:latin typeface="Comic Sans MS" panose="030F0702030302020204" pitchFamily="66" charset="0"/>
            </a:endParaRPr>
          </a:p>
          <a:p>
            <a:pPr algn="ctr"/>
            <a:endParaRPr lang="es-ES" sz="2800" dirty="0">
              <a:latin typeface="Comic Sans MS" panose="030F0702030302020204" pitchFamily="66" charset="0"/>
            </a:endParaRPr>
          </a:p>
          <a:p>
            <a:r>
              <a:rPr lang="es-ES" sz="2800" b="1" dirty="0">
                <a:solidFill>
                  <a:schemeClr val="tx2">
                    <a:lumMod val="90000"/>
                    <a:lumOff val="10000"/>
                  </a:schemeClr>
                </a:solidFill>
                <a:latin typeface="Comic Sans MS" panose="030F0702030302020204" pitchFamily="66" charset="0"/>
              </a:rPr>
              <a:t>Marketing Operativo </a:t>
            </a:r>
            <a:r>
              <a:rPr lang="es-ES" sz="2800" dirty="0">
                <a:latin typeface="Comic Sans MS" panose="030F0702030302020204" pitchFamily="66" charset="0"/>
              </a:rPr>
              <a:t>o táctico planificar, ejecutar y controlar las acciones de marketing del cómo llegar.</a:t>
            </a:r>
            <a:endParaRPr lang="es-ES" sz="3600" dirty="0">
              <a:latin typeface="Comic Sans MS" panose="030F0702030302020204" pitchFamily="66" charset="0"/>
            </a:endParaRPr>
          </a:p>
        </p:txBody>
      </p:sp>
      <p:pic>
        <p:nvPicPr>
          <p:cNvPr id="13" name="Imagen 12"/>
          <p:cNvPicPr>
            <a:picLocks noChangeAspect="1"/>
          </p:cNvPicPr>
          <p:nvPr/>
        </p:nvPicPr>
        <p:blipFill>
          <a:blip r:embed="rId6"/>
          <a:stretch>
            <a:fillRect/>
          </a:stretch>
        </p:blipFill>
        <p:spPr>
          <a:xfrm>
            <a:off x="9241837" y="1175571"/>
            <a:ext cx="2520280" cy="2088232"/>
          </a:xfrm>
          <a:prstGeom prst="rect">
            <a:avLst/>
          </a:prstGeom>
        </p:spPr>
      </p:pic>
      <p:pic>
        <p:nvPicPr>
          <p:cNvPr id="14" name="Imagen 13"/>
          <p:cNvPicPr>
            <a:picLocks noChangeAspect="1"/>
          </p:cNvPicPr>
          <p:nvPr/>
        </p:nvPicPr>
        <p:blipFill>
          <a:blip r:embed="rId7"/>
          <a:stretch>
            <a:fillRect/>
          </a:stretch>
        </p:blipFill>
        <p:spPr>
          <a:xfrm>
            <a:off x="3359696" y="5157192"/>
            <a:ext cx="1244600" cy="1371600"/>
          </a:xfrm>
          <a:prstGeom prst="rect">
            <a:avLst/>
          </a:prstGeom>
        </p:spPr>
      </p:pic>
      <p:pic>
        <p:nvPicPr>
          <p:cNvPr id="15" name="Imagen 14"/>
          <p:cNvPicPr>
            <a:picLocks noChangeAspect="1"/>
          </p:cNvPicPr>
          <p:nvPr/>
        </p:nvPicPr>
        <p:blipFill>
          <a:blip r:embed="rId8"/>
          <a:stretch>
            <a:fillRect/>
          </a:stretch>
        </p:blipFill>
        <p:spPr>
          <a:xfrm>
            <a:off x="4943872" y="5157192"/>
            <a:ext cx="1244600" cy="1371600"/>
          </a:xfrm>
          <a:prstGeom prst="rect">
            <a:avLst/>
          </a:prstGeom>
        </p:spPr>
      </p:pic>
      <p:pic>
        <p:nvPicPr>
          <p:cNvPr id="16" name="Imagen 15"/>
          <p:cNvPicPr>
            <a:picLocks noChangeAspect="1"/>
          </p:cNvPicPr>
          <p:nvPr/>
        </p:nvPicPr>
        <p:blipFill>
          <a:blip r:embed="rId9"/>
          <a:stretch>
            <a:fillRect/>
          </a:stretch>
        </p:blipFill>
        <p:spPr>
          <a:xfrm>
            <a:off x="6456040" y="5301208"/>
            <a:ext cx="1584176" cy="1121916"/>
          </a:xfrm>
          <a:prstGeom prst="rect">
            <a:avLst/>
          </a:prstGeom>
        </p:spPr>
      </p:pic>
      <p:sp>
        <p:nvSpPr>
          <p:cNvPr id="10" name="CuadroTexto 9">
            <a:extLst>
              <a:ext uri="{FF2B5EF4-FFF2-40B4-BE49-F238E27FC236}">
                <a16:creationId xmlns:a16="http://schemas.microsoft.com/office/drawing/2014/main" id="{AA2B3380-24B2-9EA2-64A1-6CB7CD4D3B96}"/>
              </a:ext>
            </a:extLst>
          </p:cNvPr>
          <p:cNvSpPr txBox="1"/>
          <p:nvPr/>
        </p:nvSpPr>
        <p:spPr>
          <a:xfrm>
            <a:off x="477078" y="355419"/>
            <a:ext cx="6096000" cy="461665"/>
          </a:xfrm>
          <a:prstGeom prst="rect">
            <a:avLst/>
          </a:prstGeom>
          <a:noFill/>
        </p:spPr>
        <p:txBody>
          <a:bodyPr wrap="square">
            <a:spAutoFit/>
          </a:bodyPr>
          <a:lstStyle/>
          <a:p>
            <a:pPr marL="838200" lvl="1" indent="-381000">
              <a:buNone/>
            </a:pPr>
            <a:r>
              <a:rPr lang="es-ES" sz="2400" b="1" dirty="0">
                <a:solidFill>
                  <a:schemeClr val="accent3"/>
                </a:solidFill>
                <a:latin typeface="Comic Sans MS" panose="030F0702030302020204" pitchFamily="66" charset="0"/>
              </a:rPr>
              <a:t>1. Conceptos básicos</a:t>
            </a:r>
            <a:endParaRPr lang="es-ES" sz="2400" dirty="0">
              <a:solidFill>
                <a:schemeClr val="tx2"/>
              </a:solidFill>
              <a:latin typeface="Comic Sans MS" panose="030F0702030302020204" pitchFamily="66" charset="0"/>
            </a:endParaRPr>
          </a:p>
        </p:txBody>
      </p:sp>
    </p:spTree>
    <p:extLst>
      <p:ext uri="{BB962C8B-B14F-4D97-AF65-F5344CB8AC3E}">
        <p14:creationId xmlns:p14="http://schemas.microsoft.com/office/powerpoint/2010/main" val="675876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70AA9B10-D414-4A58-B245-E95240800791}" type="slidenum">
              <a:rPr lang="es-ES" smtClean="0"/>
              <a:pPr/>
              <a:t>5</a:t>
            </a:fld>
            <a:endParaRPr lang="es-ES"/>
          </a:p>
        </p:txBody>
      </p:sp>
      <p:sp>
        <p:nvSpPr>
          <p:cNvPr id="3" name="2 Marcador de contenido"/>
          <p:cNvSpPr txBox="1">
            <a:spLocks/>
          </p:cNvSpPr>
          <p:nvPr/>
        </p:nvSpPr>
        <p:spPr bwMode="auto">
          <a:xfrm>
            <a:off x="643339" y="817563"/>
            <a:ext cx="8640763" cy="59039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r>
              <a:rPr lang="es-ES" sz="2200" dirty="0">
                <a:latin typeface="Comic Sans MS" panose="030F0702030302020204" pitchFamily="66" charset="0"/>
              </a:rPr>
              <a:t>El Plan de Marketing</a:t>
            </a:r>
          </a:p>
          <a:p>
            <a:pPr marL="800100" lvl="1" indent="-342900">
              <a:buFont typeface="Wingdings" panose="05000000000000000000" pitchFamily="2" charset="2"/>
              <a:buChar char="ü"/>
            </a:pPr>
            <a:endParaRPr lang="es-ES" sz="2200" dirty="0">
              <a:latin typeface="Comic Sans MS" panose="030F0702030302020204" pitchFamily="66" charset="0"/>
            </a:endParaRPr>
          </a:p>
          <a:p>
            <a:pPr marL="800100" lvl="1" indent="-342900">
              <a:buFont typeface="Wingdings" panose="05000000000000000000" pitchFamily="2" charset="2"/>
              <a:buChar char="ü"/>
            </a:pPr>
            <a:r>
              <a:rPr lang="es-ES" sz="2200" dirty="0">
                <a:latin typeface="Comic Sans MS" panose="030F0702030302020204" pitchFamily="66" charset="0"/>
              </a:rPr>
              <a:t>Incluye:</a:t>
            </a:r>
          </a:p>
          <a:p>
            <a:pPr marL="800100" lvl="1" indent="-342900">
              <a:buFont typeface="Wingdings" panose="05000000000000000000" pitchFamily="2" charset="2"/>
              <a:buChar char="ü"/>
            </a:pPr>
            <a:endParaRPr lang="es-ES" sz="2200" dirty="0">
              <a:latin typeface="Comic Sans MS" panose="030F0702030302020204" pitchFamily="66" charset="0"/>
            </a:endParaRPr>
          </a:p>
          <a:p>
            <a:pPr marL="1257300" lvl="2" indent="-342900">
              <a:buFont typeface="Arial" panose="020B0604020202020204" pitchFamily="34" charset="0"/>
              <a:buChar char="•"/>
            </a:pPr>
            <a:r>
              <a:rPr lang="es-ES" sz="2200" dirty="0">
                <a:latin typeface="Comic Sans MS" panose="030F0702030302020204" pitchFamily="66" charset="0"/>
              </a:rPr>
              <a:t>Incluimos la definición de nuestros productos o servicios que vamos a comercializar en nuestra empresa, </a:t>
            </a:r>
          </a:p>
          <a:p>
            <a:pPr marL="1257300" lvl="2" indent="-342900">
              <a:buFont typeface="Arial" panose="020B0604020202020204" pitchFamily="34" charset="0"/>
              <a:buChar char="•"/>
            </a:pPr>
            <a:endParaRPr lang="es-ES" sz="2200" dirty="0">
              <a:latin typeface="Comic Sans MS" panose="030F0702030302020204" pitchFamily="66" charset="0"/>
            </a:endParaRPr>
          </a:p>
          <a:p>
            <a:pPr marL="1257300" lvl="2" indent="-342900">
              <a:buFont typeface="Arial" panose="020B0604020202020204" pitchFamily="34" charset="0"/>
              <a:buChar char="•"/>
            </a:pPr>
            <a:r>
              <a:rPr lang="es-ES" sz="2200" dirty="0">
                <a:latin typeface="Comic Sans MS" panose="030F0702030302020204" pitchFamily="66" charset="0"/>
              </a:rPr>
              <a:t>detallamos las ventajas diferenciales de nuestros productos frente a la competencia y cómo vamos a mantenerla; </a:t>
            </a:r>
          </a:p>
          <a:p>
            <a:pPr marL="1257300" lvl="2" indent="-342900">
              <a:buFont typeface="Arial" panose="020B0604020202020204" pitchFamily="34" charset="0"/>
              <a:buChar char="•"/>
            </a:pPr>
            <a:endParaRPr lang="es-ES" sz="2200" dirty="0">
              <a:latin typeface="Comic Sans MS" panose="030F0702030302020204" pitchFamily="66" charset="0"/>
            </a:endParaRPr>
          </a:p>
          <a:p>
            <a:pPr marL="1257300" lvl="2" indent="-342900">
              <a:buFont typeface="Arial" panose="020B0604020202020204" pitchFamily="34" charset="0"/>
              <a:buChar char="•"/>
            </a:pPr>
            <a:r>
              <a:rPr lang="es-ES" sz="2200" dirty="0">
                <a:latin typeface="Comic Sans MS" panose="030F0702030302020204" pitchFamily="66" charset="0"/>
              </a:rPr>
              <a:t>la inversión que vamos a necesitar para llevarlo a cabo, tanto al principio como durante el proceso; </a:t>
            </a:r>
          </a:p>
          <a:p>
            <a:pPr marL="1257300" lvl="2" indent="-342900">
              <a:buFont typeface="Arial" panose="020B0604020202020204" pitchFamily="34" charset="0"/>
              <a:buChar char="•"/>
            </a:pPr>
            <a:endParaRPr lang="es-ES" sz="2200" dirty="0">
              <a:latin typeface="Comic Sans MS" panose="030F0702030302020204" pitchFamily="66" charset="0"/>
            </a:endParaRPr>
          </a:p>
          <a:p>
            <a:pPr marL="1257300" lvl="2" indent="-342900">
              <a:buFont typeface="Arial" panose="020B0604020202020204" pitchFamily="34" charset="0"/>
              <a:buChar char="•"/>
            </a:pPr>
            <a:r>
              <a:rPr lang="es-ES" sz="2200" dirty="0">
                <a:latin typeface="Comic Sans MS" panose="030F0702030302020204" pitchFamily="66" charset="0"/>
              </a:rPr>
              <a:t>y los resultados que esperamos alcanzar.</a:t>
            </a:r>
          </a:p>
          <a:p>
            <a:pPr marL="800100" lvl="1" indent="-342900" algn="just" eaLnBrk="0" hangingPunct="0">
              <a:spcBef>
                <a:spcPct val="20000"/>
              </a:spcBef>
              <a:buFont typeface="Courier New" pitchFamily="49" charset="0"/>
              <a:buChar char="o"/>
              <a:defRPr/>
            </a:pPr>
            <a:endParaRPr lang="es-ES" sz="2000" kern="0" dirty="0">
              <a:latin typeface="Comic Sans MS" panose="030F0702030302020204" pitchFamily="66" charset="0"/>
            </a:endParaRPr>
          </a:p>
        </p:txBody>
      </p:sp>
      <p:sp>
        <p:nvSpPr>
          <p:cNvPr id="4" name="Rectangle 4"/>
          <p:cNvSpPr>
            <a:spLocks noChangeArrowheads="1"/>
          </p:cNvSpPr>
          <p:nvPr/>
        </p:nvSpPr>
        <p:spPr bwMode="auto">
          <a:xfrm>
            <a:off x="1703388" y="272708"/>
            <a:ext cx="8964612" cy="406907"/>
          </a:xfrm>
          <a:prstGeom prst="rect">
            <a:avLst/>
          </a:prstGeom>
          <a:noFill/>
          <a:ln w="9525">
            <a:noFill/>
            <a:miter lim="800000"/>
            <a:headEnd/>
            <a:tailEnd/>
          </a:ln>
          <a:effectLst/>
        </p:spPr>
        <p:txBody>
          <a:bodyPr wrap="square" lIns="92075" tIns="46038" rIns="92075" bIns="46038">
            <a:spAutoFit/>
          </a:bodyPr>
          <a:lstStyle/>
          <a:p>
            <a:pPr eaLnBrk="0" hangingPunct="0">
              <a:lnSpc>
                <a:spcPct val="85000"/>
              </a:lnSpc>
            </a:pPr>
            <a:r>
              <a:rPr lang="es-ES" sz="2400" b="1" dirty="0">
                <a:solidFill>
                  <a:schemeClr val="accent3"/>
                </a:solidFill>
                <a:latin typeface="Comic Sans MS" panose="030F0702030302020204" pitchFamily="66" charset="0"/>
              </a:rPr>
              <a:t>1. Conceptos básicos</a:t>
            </a:r>
            <a:endParaRPr lang="es-ES_tradnl" sz="2200" b="1" dirty="0">
              <a:solidFill>
                <a:srgbClr val="C00000"/>
              </a:solidFill>
              <a:latin typeface="Comic Sans MS" panose="030F0702030302020204" pitchFamily="66" charset="0"/>
            </a:endParaRPr>
          </a:p>
        </p:txBody>
      </p:sp>
      <p:sp>
        <p:nvSpPr>
          <p:cNvPr id="5" name="Globo: línea sin borde 4">
            <a:extLst>
              <a:ext uri="{FF2B5EF4-FFF2-40B4-BE49-F238E27FC236}">
                <a16:creationId xmlns:a16="http://schemas.microsoft.com/office/drawing/2014/main" id="{9CC09755-A742-F32A-EC57-91DFB2438815}"/>
              </a:ext>
            </a:extLst>
          </p:cNvPr>
          <p:cNvSpPr/>
          <p:nvPr/>
        </p:nvSpPr>
        <p:spPr>
          <a:xfrm>
            <a:off x="9303026" y="525098"/>
            <a:ext cx="2050774" cy="1540566"/>
          </a:xfrm>
          <a:prstGeom prst="callout1">
            <a:avLst>
              <a:gd name="adj1" fmla="val 18750"/>
              <a:gd name="adj2" fmla="val -8333"/>
              <a:gd name="adj3" fmla="val 41962"/>
              <a:gd name="adj4" fmla="val -280660"/>
            </a:avLst>
          </a:prstGeom>
        </p:spPr>
        <p:style>
          <a:lnRef idx="1">
            <a:schemeClr val="accent1"/>
          </a:lnRef>
          <a:fillRef idx="2">
            <a:schemeClr val="accent1"/>
          </a:fillRef>
          <a:effectRef idx="1">
            <a:schemeClr val="accent1"/>
          </a:effectRef>
          <a:fontRef idx="minor">
            <a:schemeClr val="dk1"/>
          </a:fontRef>
        </p:style>
        <p:txBody>
          <a:bodyPr rtlCol="0" anchor="ctr"/>
          <a:lstStyle/>
          <a:p>
            <a:pPr lvl="1"/>
            <a:r>
              <a:rPr lang="es-ES" sz="1400" dirty="0">
                <a:latin typeface="Comic Sans MS" panose="030F0702030302020204" pitchFamily="66" charset="0"/>
              </a:rPr>
              <a:t>Acorde con la misión, la visión y los valores de la empresa.</a:t>
            </a:r>
          </a:p>
        </p:txBody>
      </p:sp>
    </p:spTree>
    <p:extLst>
      <p:ext uri="{BB962C8B-B14F-4D97-AF65-F5344CB8AC3E}">
        <p14:creationId xmlns:p14="http://schemas.microsoft.com/office/powerpoint/2010/main" val="288081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1046923" y="65895"/>
            <a:ext cx="9382538" cy="1077218"/>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706582" y="1351508"/>
            <a:ext cx="11222182" cy="4154984"/>
          </a:xfrm>
          <a:prstGeom prst="rect">
            <a:avLst/>
          </a:prstGeom>
          <a:noFill/>
        </p:spPr>
        <p:txBody>
          <a:bodyPr wrap="square" rtlCol="0">
            <a:spAutoFit/>
          </a:bodyPr>
          <a:lstStyle/>
          <a:p>
            <a:pPr marL="457200" indent="-457200">
              <a:buFont typeface="+mj-lt"/>
              <a:buAutoNum type="arabicParenR"/>
            </a:pPr>
            <a:r>
              <a:rPr lang="es-ES" sz="2400" b="1" dirty="0">
                <a:latin typeface="Comic Sans MS" panose="030F0702030302020204" pitchFamily="66" charset="0"/>
              </a:rPr>
              <a:t>Definición del Target</a:t>
            </a:r>
          </a:p>
          <a:p>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dirty="0">
                <a:latin typeface="Comic Sans MS" panose="030F0702030302020204" pitchFamily="66" charset="0"/>
              </a:rPr>
              <a:t>Conocer el </a:t>
            </a:r>
            <a:r>
              <a:rPr lang="es-ES" sz="2400" dirty="0">
                <a:effectLst>
                  <a:outerShdw blurRad="38100" dist="38100" dir="2700000" algn="tl">
                    <a:srgbClr val="000000">
                      <a:alpha val="43137"/>
                    </a:srgbClr>
                  </a:outerShdw>
                </a:effectLst>
                <a:latin typeface="Comic Sans MS" panose="030F0702030302020204" pitchFamily="66" charset="0"/>
              </a:rPr>
              <a:t>target, </a:t>
            </a:r>
            <a:r>
              <a:rPr lang="es-ES" sz="2400" dirty="0" err="1">
                <a:effectLst>
                  <a:outerShdw blurRad="38100" dist="38100" dir="2700000" algn="tl">
                    <a:srgbClr val="000000">
                      <a:alpha val="43137"/>
                    </a:srgbClr>
                  </a:outerShdw>
                </a:effectLst>
                <a:latin typeface="Comic Sans MS" panose="030F0702030302020204" pitchFamily="66" charset="0"/>
              </a:rPr>
              <a:t>buyer</a:t>
            </a:r>
            <a:r>
              <a:rPr lang="es-ES" sz="2400" dirty="0">
                <a:effectLst>
                  <a:outerShdw blurRad="38100" dist="38100" dir="2700000" algn="tl">
                    <a:srgbClr val="000000">
                      <a:alpha val="43137"/>
                    </a:srgbClr>
                  </a:outerShdw>
                </a:effectLst>
                <a:latin typeface="Comic Sans MS" panose="030F0702030302020204" pitchFamily="66" charset="0"/>
              </a:rPr>
              <a:t> persona o público potencial </a:t>
            </a:r>
            <a:r>
              <a:rPr lang="es-ES" sz="2400" dirty="0">
                <a:latin typeface="Comic Sans MS" panose="030F0702030302020204" pitchFamily="66" charset="0"/>
              </a:rPr>
              <a:t>que puede convertirse en consumidor de tu producto, así como su comportamiento, sus gustos y aficiones, su edad, sexo y toda la información que puedas recopilar es especialmente importante para desarrollar tu campaña de marketing enfocada al target en cuestión.</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dirty="0">
                <a:latin typeface="Comic Sans MS" panose="030F0702030302020204" pitchFamily="66" charset="0"/>
              </a:rPr>
              <a:t>El público objetivo, que es quien verdaderamente va a comprar lo que vendemos, pasa a ser nuestra prioridad y algo que tenemos en cuenta por encima de todo.</a:t>
            </a:r>
          </a:p>
        </p:txBody>
      </p:sp>
    </p:spTree>
    <p:extLst>
      <p:ext uri="{BB962C8B-B14F-4D97-AF65-F5344CB8AC3E}">
        <p14:creationId xmlns:p14="http://schemas.microsoft.com/office/powerpoint/2010/main" val="5496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1683026" y="8954"/>
            <a:ext cx="10018644" cy="1077218"/>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189747" y="987604"/>
            <a:ext cx="11790218" cy="5516895"/>
          </a:xfrm>
          <a:prstGeom prst="rect">
            <a:avLst/>
          </a:prstGeom>
          <a:noFill/>
        </p:spPr>
        <p:txBody>
          <a:bodyPr wrap="square" rtlCol="0">
            <a:spAutoFit/>
          </a:bodyPr>
          <a:lstStyle/>
          <a:p>
            <a:pPr marL="457200" indent="-457200">
              <a:buFont typeface="+mj-lt"/>
              <a:buAutoNum type="arabicParenR" startAt="2"/>
            </a:pPr>
            <a:r>
              <a:rPr lang="es-ES" sz="2350" b="1" dirty="0">
                <a:latin typeface="Comic Sans MS" panose="030F0702030302020204" pitchFamily="66" charset="0"/>
              </a:rPr>
              <a:t>Establecimiento de los objetivos</a:t>
            </a:r>
          </a:p>
          <a:p>
            <a:pPr marL="800100" lvl="1" indent="-342900">
              <a:buFont typeface="Wingdings" panose="05000000000000000000" pitchFamily="2" charset="2"/>
              <a:buChar char="ü"/>
            </a:pPr>
            <a:r>
              <a:rPr lang="es-ES" sz="2350" dirty="0">
                <a:latin typeface="Comic Sans MS" panose="030F0702030302020204" pitchFamily="66" charset="0"/>
              </a:rPr>
              <a:t>Los objetivos concretos que se desean alcanzar con el proyecto, incluyendo tanto los objetivos cuantitativos como los objetivos cualitativos.</a:t>
            </a:r>
          </a:p>
          <a:p>
            <a:pPr marL="800100" lvl="1" indent="-342900">
              <a:buFont typeface="Wingdings" panose="05000000000000000000" pitchFamily="2" charset="2"/>
              <a:buChar char="ü"/>
            </a:pPr>
            <a:endParaRPr lang="es-ES" sz="2350" dirty="0">
              <a:latin typeface="Comic Sans MS" panose="030F0702030302020204" pitchFamily="66" charset="0"/>
            </a:endParaRPr>
          </a:p>
          <a:p>
            <a:pPr marL="800100" lvl="1" indent="-342900">
              <a:buFont typeface="Wingdings" panose="05000000000000000000" pitchFamily="2" charset="2"/>
              <a:buChar char="ü"/>
            </a:pPr>
            <a:r>
              <a:rPr lang="es-ES" sz="2350" dirty="0">
                <a:latin typeface="Comic Sans MS" panose="030F0702030302020204" pitchFamily="66" charset="0"/>
              </a:rPr>
              <a:t>Los objetivos deben ser:</a:t>
            </a:r>
          </a:p>
          <a:p>
            <a:pPr marL="800100" lvl="1" indent="-342900">
              <a:buFont typeface="Wingdings" panose="05000000000000000000" pitchFamily="2" charset="2"/>
              <a:buChar char="ü"/>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Realistas (fruto del análisis de la situación)</a:t>
            </a:r>
          </a:p>
          <a:p>
            <a:pPr marL="1257300" lvl="2" indent="-342900">
              <a:buFont typeface="Arial" panose="020B0604020202020204" pitchFamily="34" charset="0"/>
              <a:buChar char="•"/>
            </a:pPr>
            <a:r>
              <a:rPr lang="es-ES" sz="2350" dirty="0">
                <a:latin typeface="Comic Sans MS" panose="030F0702030302020204" pitchFamily="66" charset="0"/>
              </a:rPr>
              <a:t>Coherentes entre sí tanto a corto como medio y largo plazo.</a:t>
            </a:r>
          </a:p>
          <a:p>
            <a:pPr marL="1257300" lvl="2" indent="-342900">
              <a:buFont typeface="Arial" panose="020B0604020202020204" pitchFamily="34" charset="0"/>
              <a:buChar char="•"/>
            </a:pPr>
            <a:r>
              <a:rPr lang="es-ES" sz="2350" dirty="0">
                <a:latin typeface="Comic Sans MS" panose="030F0702030302020204" pitchFamily="66" charset="0"/>
              </a:rPr>
              <a:t>Tener efecto sobre el beneficio económico (cuota de ventas, beneficio, etc.)</a:t>
            </a:r>
          </a:p>
          <a:p>
            <a:pPr marL="1257300" lvl="2" indent="-342900">
              <a:buFont typeface="Arial" panose="020B0604020202020204" pitchFamily="34" charset="0"/>
              <a:buChar char="•"/>
            </a:pPr>
            <a:r>
              <a:rPr lang="es-ES" sz="2350" dirty="0">
                <a:latin typeface="Comic Sans MS" panose="030F0702030302020204" pitchFamily="66" charset="0"/>
              </a:rPr>
              <a:t>Ser cuantificables, incluso los cualitativos son cuantificables</a:t>
            </a:r>
          </a:p>
          <a:p>
            <a:pPr marL="1257300" lvl="2" indent="-342900">
              <a:buFont typeface="Arial" panose="020B0604020202020204" pitchFamily="34" charset="0"/>
              <a:buChar char="•"/>
            </a:pPr>
            <a:r>
              <a:rPr lang="es-ES" sz="2350" dirty="0">
                <a:latin typeface="Comic Sans MS" panose="030F0702030302020204" pitchFamily="66" charset="0"/>
              </a:rPr>
              <a:t>Ser ambiciosos y factibles</a:t>
            </a:r>
          </a:p>
          <a:p>
            <a:pPr marL="1257300" lvl="2" indent="-342900">
              <a:buFont typeface="Arial" panose="020B0604020202020204" pitchFamily="34" charset="0"/>
              <a:buChar char="•"/>
            </a:pPr>
            <a:r>
              <a:rPr lang="es-ES" sz="2350" dirty="0">
                <a:latin typeface="Comic Sans MS" panose="030F0702030302020204" pitchFamily="66" charset="0"/>
              </a:rPr>
              <a:t>Estar consensuado con el resto de los departamentos</a:t>
            </a:r>
          </a:p>
          <a:p>
            <a:pPr marL="1257300" lvl="2" indent="-342900">
              <a:buFont typeface="Arial" panose="020B0604020202020204" pitchFamily="34" charset="0"/>
              <a:buChar char="•"/>
            </a:pPr>
            <a:r>
              <a:rPr lang="es-ES" sz="2350" dirty="0">
                <a:latin typeface="Comic Sans MS" panose="030F0702030302020204" pitchFamily="66" charset="0"/>
              </a:rPr>
              <a:t>Deben tener fecha de cumplimiento (trimestral, semestral, anual) y tener asignado un responsable específico.</a:t>
            </a:r>
          </a:p>
        </p:txBody>
      </p:sp>
    </p:spTree>
    <p:extLst>
      <p:ext uri="{BB962C8B-B14F-4D97-AF65-F5344CB8AC3E}">
        <p14:creationId xmlns:p14="http://schemas.microsoft.com/office/powerpoint/2010/main" val="310845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1046921" y="8954"/>
            <a:ext cx="10177669" cy="1077218"/>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295765" y="1452623"/>
            <a:ext cx="11222182" cy="4154984"/>
          </a:xfrm>
          <a:prstGeom prst="rect">
            <a:avLst/>
          </a:prstGeom>
          <a:noFill/>
        </p:spPr>
        <p:txBody>
          <a:bodyPr wrap="square" rtlCol="0">
            <a:spAutoFit/>
          </a:bodyPr>
          <a:lstStyle/>
          <a:p>
            <a:pPr marL="457200" indent="-457200">
              <a:buFont typeface="+mj-lt"/>
              <a:buAutoNum type="arabicParenR" startAt="2"/>
            </a:pPr>
            <a:r>
              <a:rPr lang="es-ES" sz="2400" b="1" dirty="0">
                <a:latin typeface="Comic Sans MS" panose="030F0702030302020204" pitchFamily="66" charset="0"/>
              </a:rPr>
              <a:t>Establecimiento de los objetivos (cont.)</a:t>
            </a:r>
          </a:p>
          <a:p>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dirty="0">
                <a:effectLst>
                  <a:outerShdw blurRad="38100" dist="38100" dir="2700000" algn="tl">
                    <a:srgbClr val="000000">
                      <a:alpha val="43137"/>
                    </a:srgbClr>
                  </a:outerShdw>
                </a:effectLst>
                <a:latin typeface="Comic Sans MS" panose="030F0702030302020204" pitchFamily="66" charset="0"/>
              </a:rPr>
              <a:t>Objetivos Cualitativos</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dirty="0">
                <a:latin typeface="Comic Sans MS" panose="030F0702030302020204" pitchFamily="66" charset="0"/>
              </a:rPr>
              <a:t>Enunciarlos de forma clara y concreta, de forma que sea posible su cuantificación posterior.</a:t>
            </a: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dirty="0">
                <a:latin typeface="Comic Sans MS" panose="030F0702030302020204" pitchFamily="66" charset="0"/>
              </a:rPr>
              <a:t>Ejemplos:  Aumentar la fidelización de los clientes, mejorar la notoriedad, mejorar la rentabilidad de la empresa, reducir el coste de captación de clientes, mejorar la cuota,  mejorar la cobertura del mercado, etc.</a:t>
            </a:r>
          </a:p>
        </p:txBody>
      </p:sp>
    </p:spTree>
    <p:extLst>
      <p:ext uri="{BB962C8B-B14F-4D97-AF65-F5344CB8AC3E}">
        <p14:creationId xmlns:p14="http://schemas.microsoft.com/office/powerpoint/2010/main" val="531761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556591" y="8954"/>
            <a:ext cx="11621341" cy="584775"/>
          </a:xfrm>
          <a:prstGeom prst="rect">
            <a:avLst/>
          </a:prstGeom>
          <a:noFill/>
        </p:spPr>
        <p:txBody>
          <a:bodyPr wrap="square" rtlCol="0">
            <a:spAutoFit/>
          </a:bodyPr>
          <a:lstStyle/>
          <a:p>
            <a:pPr marL="514350" indent="-514350">
              <a:buFont typeface="+mj-lt"/>
              <a:buAutoNum type="arabicPeriod" startAt="2"/>
            </a:pPr>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556591" y="1351508"/>
            <a:ext cx="11222182" cy="4154984"/>
          </a:xfrm>
          <a:prstGeom prst="rect">
            <a:avLst/>
          </a:prstGeom>
          <a:noFill/>
        </p:spPr>
        <p:txBody>
          <a:bodyPr wrap="square" rtlCol="0">
            <a:spAutoFit/>
          </a:bodyPr>
          <a:lstStyle/>
          <a:p>
            <a:pPr marL="457200" indent="-457200">
              <a:buFont typeface="+mj-lt"/>
              <a:buAutoNum type="arabicParenR" startAt="2"/>
            </a:pPr>
            <a:r>
              <a:rPr lang="es-ES" sz="2400" b="1" dirty="0">
                <a:latin typeface="Comic Sans MS" panose="030F0702030302020204" pitchFamily="66" charset="0"/>
              </a:rPr>
              <a:t>Establecimiento de los objetivos (cont.)</a:t>
            </a:r>
          </a:p>
          <a:p>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dirty="0">
                <a:latin typeface="Comic Sans MS" panose="030F0702030302020204" pitchFamily="66" charset="0"/>
              </a:rPr>
              <a:t>Distintos tipos de objetivos</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b="1" dirty="0">
                <a:latin typeface="Comic Sans MS" panose="030F0702030302020204" pitchFamily="66" charset="0"/>
              </a:rPr>
              <a:t>De venta: </a:t>
            </a:r>
            <a:r>
              <a:rPr lang="es-ES" sz="2400" dirty="0">
                <a:latin typeface="Comic Sans MS" panose="030F0702030302020204" pitchFamily="66" charset="0"/>
              </a:rPr>
              <a:t>pueden ser tasas de crecimiento superiores a la del mercado, tasa de expansión, se definirán en función de si el producto se halle, o no, en una situación de masa crítica. ¿Qué es la masa crítica? La cuota de mercado que nos permite mantener nuestro posicionamiento. </a:t>
            </a: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b="1" dirty="0">
                <a:latin typeface="Comic Sans MS" panose="030F0702030302020204" pitchFamily="66" charset="0"/>
              </a:rPr>
              <a:t>De Margen:</a:t>
            </a:r>
            <a:r>
              <a:rPr lang="es-ES" sz="2400" dirty="0">
                <a:latin typeface="Comic Sans MS" panose="030F0702030302020204" pitchFamily="66" charset="0"/>
              </a:rPr>
              <a:t> buscando que sean rentables</a:t>
            </a:r>
          </a:p>
        </p:txBody>
      </p:sp>
    </p:spTree>
    <p:extLst>
      <p:ext uri="{BB962C8B-B14F-4D97-AF65-F5344CB8AC3E}">
        <p14:creationId xmlns:p14="http://schemas.microsoft.com/office/powerpoint/2010/main" val="1536548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706582" y="8954"/>
            <a:ext cx="11790218" cy="584775"/>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674637" y="882043"/>
            <a:ext cx="11222182" cy="6001643"/>
          </a:xfrm>
          <a:prstGeom prst="rect">
            <a:avLst/>
          </a:prstGeom>
          <a:noFill/>
        </p:spPr>
        <p:txBody>
          <a:bodyPr wrap="square" rtlCol="0">
            <a:spAutoFit/>
          </a:bodyPr>
          <a:lstStyle/>
          <a:p>
            <a:pPr marL="457200" indent="-457200">
              <a:buFont typeface="+mj-lt"/>
              <a:buAutoNum type="arabicParenR" startAt="2"/>
            </a:pPr>
            <a:r>
              <a:rPr lang="es-ES" sz="2400" b="1" dirty="0">
                <a:latin typeface="Comic Sans MS" panose="030F0702030302020204" pitchFamily="66" charset="0"/>
              </a:rPr>
              <a:t>Establecimiento de los objetivos (cont.)</a:t>
            </a:r>
          </a:p>
          <a:p>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dirty="0">
                <a:latin typeface="Comic Sans MS" panose="030F0702030302020204" pitchFamily="66" charset="0"/>
              </a:rPr>
              <a:t>Distintos tipos de objetivos</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b="1" dirty="0">
                <a:latin typeface="Comic Sans MS" panose="030F0702030302020204" pitchFamily="66" charset="0"/>
              </a:rPr>
              <a:t>De producto/servicio:</a:t>
            </a:r>
            <a:r>
              <a:rPr lang="es-ES" sz="2400" dirty="0">
                <a:latin typeface="Comic Sans MS" panose="030F0702030302020204" pitchFamily="66" charset="0"/>
              </a:rPr>
              <a:t> que se deben establecer en función de la etapa del ciclo de vida en la que se encuentren:</a:t>
            </a: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endParaRPr lang="es-ES" sz="2400" dirty="0">
              <a:latin typeface="Comic Sans MS" panose="030F0702030302020204" pitchFamily="66" charset="0"/>
            </a:endParaRPr>
          </a:p>
          <a:p>
            <a:pPr marL="1257300" lvl="2" indent="-342900">
              <a:buFont typeface="Arial" panose="020B0604020202020204" pitchFamily="34" charset="0"/>
              <a:buChar char="•"/>
            </a:pPr>
            <a:r>
              <a:rPr lang="es-ES" sz="2400" b="1" dirty="0">
                <a:latin typeface="Comic Sans MS" panose="030F0702030302020204" pitchFamily="66" charset="0"/>
              </a:rPr>
              <a:t>Comerciales: </a:t>
            </a:r>
            <a:r>
              <a:rPr lang="es-ES" sz="2400" dirty="0">
                <a:latin typeface="Comic Sans MS" panose="030F0702030302020204" pitchFamily="66" charset="0"/>
              </a:rPr>
              <a:t>ventas segmentadas por productos / servicio, número de pedidos.</a:t>
            </a:r>
          </a:p>
        </p:txBody>
      </p:sp>
      <p:graphicFrame>
        <p:nvGraphicFramePr>
          <p:cNvPr id="2" name="Tabla 1">
            <a:extLst>
              <a:ext uri="{FF2B5EF4-FFF2-40B4-BE49-F238E27FC236}">
                <a16:creationId xmlns:a16="http://schemas.microsoft.com/office/drawing/2014/main" id="{4291F0A0-344D-5B5B-77A2-E1073D394154}"/>
              </a:ext>
            </a:extLst>
          </p:cNvPr>
          <p:cNvGraphicFramePr>
            <a:graphicFrameLocks noGrp="1"/>
          </p:cNvGraphicFramePr>
          <p:nvPr/>
        </p:nvGraphicFramePr>
        <p:xfrm>
          <a:off x="2707928" y="3228224"/>
          <a:ext cx="7155600" cy="2165476"/>
        </p:xfrm>
        <a:graphic>
          <a:graphicData uri="http://schemas.openxmlformats.org/drawingml/2006/table">
            <a:tbl>
              <a:tblPr firstRow="1" firstCol="1" bandRow="1">
                <a:tableStyleId>{5C22544A-7EE6-4342-B048-85BDC9FD1C3A}</a:tableStyleId>
              </a:tblPr>
              <a:tblGrid>
                <a:gridCol w="3577800">
                  <a:extLst>
                    <a:ext uri="{9D8B030D-6E8A-4147-A177-3AD203B41FA5}">
                      <a16:colId xmlns:a16="http://schemas.microsoft.com/office/drawing/2014/main" val="3786077385"/>
                    </a:ext>
                  </a:extLst>
                </a:gridCol>
                <a:gridCol w="3577800">
                  <a:extLst>
                    <a:ext uri="{9D8B030D-6E8A-4147-A177-3AD203B41FA5}">
                      <a16:colId xmlns:a16="http://schemas.microsoft.com/office/drawing/2014/main" val="2737001989"/>
                    </a:ext>
                  </a:extLst>
                </a:gridCol>
              </a:tblGrid>
              <a:tr h="382746">
                <a:tc>
                  <a:txBody>
                    <a:bodyPr/>
                    <a:lstStyle/>
                    <a:p>
                      <a:pPr algn="ctr">
                        <a:lnSpc>
                          <a:spcPct val="107000"/>
                        </a:lnSpc>
                        <a:spcAft>
                          <a:spcPts val="800"/>
                        </a:spcAft>
                      </a:pPr>
                      <a:r>
                        <a:rPr lang="es-ES" sz="2000" dirty="0">
                          <a:effectLst/>
                          <a:latin typeface="Comic Sans MS" panose="030F0702030302020204" pitchFamily="66" charset="0"/>
                        </a:rPr>
                        <a:t>ETAPA</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ES" sz="2000" dirty="0">
                          <a:effectLst/>
                          <a:latin typeface="Comic Sans MS" panose="030F0702030302020204" pitchFamily="66" charset="0"/>
                        </a:rPr>
                        <a:t>OBJETIVO</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9454327"/>
                  </a:ext>
                </a:extLst>
              </a:tr>
              <a:tr h="382746">
                <a:tc>
                  <a:txBody>
                    <a:bodyPr/>
                    <a:lstStyle/>
                    <a:p>
                      <a:pPr>
                        <a:lnSpc>
                          <a:spcPct val="107000"/>
                        </a:lnSpc>
                        <a:spcAft>
                          <a:spcPts val="800"/>
                        </a:spcAft>
                      </a:pPr>
                      <a:r>
                        <a:rPr lang="es-ES" sz="2000" dirty="0">
                          <a:effectLst/>
                          <a:latin typeface="Comic Sans MS" panose="030F0702030302020204" pitchFamily="66" charset="0"/>
                        </a:rPr>
                        <a:t>Introducción</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s-ES" sz="2000" dirty="0">
                          <a:effectLst/>
                          <a:latin typeface="Comic Sans MS" panose="030F0702030302020204" pitchFamily="66" charset="0"/>
                        </a:rPr>
                        <a:t>Expandir nuestro mercado</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7302146"/>
                  </a:ext>
                </a:extLst>
              </a:tr>
              <a:tr h="382746">
                <a:tc>
                  <a:txBody>
                    <a:bodyPr/>
                    <a:lstStyle/>
                    <a:p>
                      <a:pPr>
                        <a:lnSpc>
                          <a:spcPct val="107000"/>
                        </a:lnSpc>
                        <a:spcAft>
                          <a:spcPts val="800"/>
                        </a:spcAft>
                      </a:pPr>
                      <a:r>
                        <a:rPr lang="es-ES" sz="2000">
                          <a:effectLst/>
                          <a:latin typeface="Comic Sans MS" panose="030F0702030302020204" pitchFamily="66" charset="0"/>
                        </a:rPr>
                        <a:t>Crecimiento</a:t>
                      </a:r>
                      <a:endParaRPr lang="es-ES" sz="20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s-ES" sz="2000" dirty="0">
                          <a:effectLst/>
                          <a:latin typeface="Comic Sans MS" panose="030F0702030302020204" pitchFamily="66" charset="0"/>
                        </a:rPr>
                        <a:t>Penetrar nuestro mercado</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431339"/>
                  </a:ext>
                </a:extLst>
              </a:tr>
              <a:tr h="382746">
                <a:tc>
                  <a:txBody>
                    <a:bodyPr/>
                    <a:lstStyle/>
                    <a:p>
                      <a:pPr>
                        <a:lnSpc>
                          <a:spcPct val="107000"/>
                        </a:lnSpc>
                        <a:spcAft>
                          <a:spcPts val="800"/>
                        </a:spcAft>
                      </a:pPr>
                      <a:r>
                        <a:rPr lang="es-ES" sz="2000">
                          <a:effectLst/>
                          <a:latin typeface="Comic Sans MS" panose="030F0702030302020204" pitchFamily="66" charset="0"/>
                        </a:rPr>
                        <a:t>Madurez</a:t>
                      </a:r>
                      <a:endParaRPr lang="es-ES" sz="20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s-ES" sz="2000" dirty="0">
                          <a:effectLst/>
                          <a:latin typeface="Comic Sans MS" panose="030F0702030302020204" pitchFamily="66" charset="0"/>
                        </a:rPr>
                        <a:t>Defender nuestra participación </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9263052"/>
                  </a:ext>
                </a:extLst>
              </a:tr>
              <a:tr h="382746">
                <a:tc>
                  <a:txBody>
                    <a:bodyPr/>
                    <a:lstStyle/>
                    <a:p>
                      <a:pPr>
                        <a:lnSpc>
                          <a:spcPct val="107000"/>
                        </a:lnSpc>
                        <a:spcAft>
                          <a:spcPts val="800"/>
                        </a:spcAft>
                      </a:pPr>
                      <a:r>
                        <a:rPr lang="es-ES" sz="2000">
                          <a:effectLst/>
                          <a:latin typeface="Comic Sans MS" panose="030F0702030302020204" pitchFamily="66" charset="0"/>
                        </a:rPr>
                        <a:t>Declive</a:t>
                      </a:r>
                      <a:endParaRPr lang="es-ES" sz="20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s-ES" sz="2000" dirty="0">
                          <a:effectLst/>
                          <a:latin typeface="Comic Sans MS" panose="030F0702030302020204" pitchFamily="66" charset="0"/>
                        </a:rPr>
                        <a:t>Productividad</a:t>
                      </a:r>
                      <a:endParaRPr lang="es-ES" sz="20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8501119"/>
                  </a:ext>
                </a:extLst>
              </a:tr>
            </a:tbl>
          </a:graphicData>
        </a:graphic>
      </p:graphicFrame>
    </p:spTree>
    <p:extLst>
      <p:ext uri="{BB962C8B-B14F-4D97-AF65-F5344CB8AC3E}">
        <p14:creationId xmlns:p14="http://schemas.microsoft.com/office/powerpoint/2010/main" val="3393923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512405" y="65895"/>
            <a:ext cx="11665527" cy="584775"/>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322269" y="1055112"/>
            <a:ext cx="11222182" cy="4431983"/>
          </a:xfrm>
          <a:prstGeom prst="rect">
            <a:avLst/>
          </a:prstGeom>
          <a:noFill/>
        </p:spPr>
        <p:txBody>
          <a:bodyPr wrap="square" rtlCol="0">
            <a:spAutoFit/>
          </a:bodyPr>
          <a:lstStyle/>
          <a:p>
            <a:pPr marL="457200" indent="-457200">
              <a:buFont typeface="+mj-lt"/>
              <a:buAutoNum type="arabicParenR" startAt="3"/>
            </a:pPr>
            <a:r>
              <a:rPr lang="es-ES" sz="2350" b="1" dirty="0">
                <a:latin typeface="Comic Sans MS" panose="030F0702030302020204" pitchFamily="66" charset="0"/>
              </a:rPr>
              <a:t>Estrategias</a:t>
            </a:r>
          </a:p>
          <a:p>
            <a:endParaRPr lang="es-ES" sz="2350" dirty="0">
              <a:latin typeface="Comic Sans MS" panose="030F0702030302020204" pitchFamily="66" charset="0"/>
            </a:endParaRPr>
          </a:p>
          <a:p>
            <a:pPr marL="800100" lvl="1" indent="-342900">
              <a:buFont typeface="Wingdings" panose="05000000000000000000" pitchFamily="2" charset="2"/>
              <a:buChar char="ü"/>
            </a:pPr>
            <a:r>
              <a:rPr lang="es-ES" sz="2350" dirty="0">
                <a:latin typeface="Comic Sans MS" panose="030F0702030302020204" pitchFamily="66" charset="0"/>
              </a:rPr>
              <a:t>Marcan las acciones de marketing recomendadas para alcanzarlos.</a:t>
            </a:r>
          </a:p>
          <a:p>
            <a:pPr marL="800100" lvl="1" indent="-342900">
              <a:buFont typeface="Wingdings" panose="05000000000000000000" pitchFamily="2" charset="2"/>
              <a:buChar char="ü"/>
            </a:pPr>
            <a:endParaRPr lang="es-ES" sz="2350" dirty="0">
              <a:latin typeface="Comic Sans MS" panose="030F0702030302020204" pitchFamily="66" charset="0"/>
            </a:endParaRPr>
          </a:p>
          <a:p>
            <a:pPr marL="800100" lvl="1" indent="-342900">
              <a:buFont typeface="Wingdings" panose="05000000000000000000" pitchFamily="2" charset="2"/>
              <a:buChar char="ü"/>
            </a:pPr>
            <a:r>
              <a:rPr lang="es-ES" sz="2350" dirty="0">
                <a:latin typeface="Comic Sans MS" panose="030F0702030302020204" pitchFamily="66" charset="0"/>
              </a:rPr>
              <a:t>Estrategia es el camino a seguir, las acciones sobre el mercado que pueden ser estratégicas y tácticas.</a:t>
            </a:r>
          </a:p>
          <a:p>
            <a:pPr marL="800100" lvl="1" indent="-342900">
              <a:buFont typeface="Wingdings" panose="05000000000000000000" pitchFamily="2" charset="2"/>
              <a:buChar char="ü"/>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effectLst>
                  <a:outerShdw blurRad="38100" dist="38100" dir="2700000" algn="tl">
                    <a:srgbClr val="000000">
                      <a:alpha val="43137"/>
                    </a:srgbClr>
                  </a:outerShdw>
                </a:effectLst>
                <a:latin typeface="Comic Sans MS" panose="030F0702030302020204" pitchFamily="66" charset="0"/>
              </a:rPr>
              <a:t>Estratégicas</a:t>
            </a:r>
            <a:r>
              <a:rPr lang="es-ES" sz="2350" dirty="0">
                <a:latin typeface="Comic Sans MS" panose="030F0702030302020204" pitchFamily="66" charset="0"/>
              </a:rPr>
              <a:t> son a largo plazo e implica mayor inversión (gastos estructurales)</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effectLst>
                  <a:outerShdw blurRad="38100" dist="38100" dir="2700000" algn="tl">
                    <a:srgbClr val="000000">
                      <a:alpha val="43137"/>
                    </a:srgbClr>
                  </a:outerShdw>
                </a:effectLst>
                <a:latin typeface="Comic Sans MS" panose="030F0702030302020204" pitchFamily="66" charset="0"/>
              </a:rPr>
              <a:t>Tácticas</a:t>
            </a:r>
            <a:r>
              <a:rPr lang="es-ES" sz="2350" dirty="0">
                <a:latin typeface="Comic Sans MS" panose="030F0702030302020204" pitchFamily="66" charset="0"/>
              </a:rPr>
              <a:t> son a corto plazo y conllevan menor inversión (promociones, precio, </a:t>
            </a:r>
            <a:r>
              <a:rPr lang="es-ES" sz="2350" dirty="0" err="1">
                <a:latin typeface="Comic Sans MS" panose="030F0702030302020204" pitchFamily="66" charset="0"/>
              </a:rPr>
              <a:t>etc</a:t>
            </a:r>
            <a:r>
              <a:rPr lang="es-ES" sz="2350" dirty="0">
                <a:latin typeface="Comic Sans MS" panose="030F0702030302020204" pitchFamily="66" charset="0"/>
              </a:rPr>
              <a:t>)</a:t>
            </a:r>
          </a:p>
        </p:txBody>
      </p:sp>
    </p:spTree>
    <p:extLst>
      <p:ext uri="{BB962C8B-B14F-4D97-AF65-F5344CB8AC3E}">
        <p14:creationId xmlns:p14="http://schemas.microsoft.com/office/powerpoint/2010/main" val="292584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706582" y="8954"/>
            <a:ext cx="11222182" cy="584775"/>
          </a:xfrm>
          <a:prstGeom prst="rect">
            <a:avLst/>
          </a:prstGeom>
          <a:noFill/>
        </p:spPr>
        <p:txBody>
          <a:bodyPr wrap="square" rtlCol="0">
            <a:spAutoFit/>
          </a:bodyPr>
          <a:lstStyle/>
          <a:p>
            <a:r>
              <a:rPr lang="es-ES" sz="3200" b="1" dirty="0">
                <a:solidFill>
                  <a:schemeClr val="accent3"/>
                </a:solidFill>
                <a:latin typeface="Comic Sans MS" panose="030F0702030302020204" pitchFamily="66" charset="0"/>
              </a:rPr>
              <a:t>1. Conceptos básicos. Elementos del plan de marketing</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484909" y="869527"/>
            <a:ext cx="11222182" cy="5516895"/>
          </a:xfrm>
          <a:prstGeom prst="rect">
            <a:avLst/>
          </a:prstGeom>
          <a:noFill/>
        </p:spPr>
        <p:txBody>
          <a:bodyPr wrap="square" rtlCol="0">
            <a:spAutoFit/>
          </a:bodyPr>
          <a:lstStyle/>
          <a:p>
            <a:pPr marL="457200" indent="-457200">
              <a:buFont typeface="+mj-lt"/>
              <a:buAutoNum type="arabicParenR" startAt="3"/>
            </a:pPr>
            <a:r>
              <a:rPr lang="es-ES" sz="2350" b="1" dirty="0">
                <a:latin typeface="Comic Sans MS" panose="030F0702030302020204" pitchFamily="66" charset="0"/>
              </a:rPr>
              <a:t>Estrategias</a:t>
            </a:r>
          </a:p>
          <a:p>
            <a:endParaRPr lang="es-ES" sz="2350" dirty="0">
              <a:latin typeface="Comic Sans MS" panose="030F0702030302020204" pitchFamily="66" charset="0"/>
            </a:endParaRPr>
          </a:p>
          <a:p>
            <a:pPr marL="800100" lvl="1" indent="-342900">
              <a:buFont typeface="Wingdings" panose="05000000000000000000" pitchFamily="2" charset="2"/>
              <a:buChar char="ü"/>
            </a:pPr>
            <a:r>
              <a:rPr lang="es-ES" sz="2350" dirty="0">
                <a:latin typeface="Comic Sans MS" panose="030F0702030302020204" pitchFamily="66" charset="0"/>
              </a:rPr>
              <a:t>Con ellas podemos actuar sobre:</a:t>
            </a:r>
          </a:p>
          <a:p>
            <a:pPr marL="800100" lvl="1" indent="-342900">
              <a:buFont typeface="Wingdings" panose="05000000000000000000" pitchFamily="2" charset="2"/>
              <a:buChar char="ü"/>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Productos/servicios</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Niveles de calidad</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Políticas de precios</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Políticas de distribución</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Servicios al cliente y postventa</a:t>
            </a:r>
          </a:p>
          <a:p>
            <a:pPr marL="1257300" lvl="2" indent="-342900">
              <a:buFont typeface="Arial" panose="020B0604020202020204" pitchFamily="34" charset="0"/>
              <a:buChar char="•"/>
            </a:pPr>
            <a:endParaRPr lang="es-ES" sz="2350" dirty="0">
              <a:latin typeface="Comic Sans MS" panose="030F0702030302020204" pitchFamily="66" charset="0"/>
            </a:endParaRPr>
          </a:p>
          <a:p>
            <a:pPr marL="1257300" lvl="2" indent="-342900">
              <a:buFont typeface="Arial" panose="020B0604020202020204" pitchFamily="34" charset="0"/>
              <a:buChar char="•"/>
            </a:pPr>
            <a:r>
              <a:rPr lang="es-ES" sz="2350" dirty="0">
                <a:latin typeface="Comic Sans MS" panose="030F0702030302020204" pitchFamily="66" charset="0"/>
              </a:rPr>
              <a:t>Comunicación, publicidad, </a:t>
            </a:r>
            <a:r>
              <a:rPr lang="es-ES" sz="2350" dirty="0" err="1">
                <a:latin typeface="Comic Sans MS" panose="030F0702030302020204" pitchFamily="66" charset="0"/>
              </a:rPr>
              <a:t>merchandising</a:t>
            </a:r>
            <a:endParaRPr lang="es-ES" sz="2350" dirty="0">
              <a:latin typeface="Comic Sans MS" panose="030F0702030302020204" pitchFamily="66" charset="0"/>
            </a:endParaRPr>
          </a:p>
        </p:txBody>
      </p:sp>
    </p:spTree>
    <p:extLst>
      <p:ext uri="{BB962C8B-B14F-4D97-AF65-F5344CB8AC3E}">
        <p14:creationId xmlns:p14="http://schemas.microsoft.com/office/powerpoint/2010/main" val="2299968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70AA9B10-D414-4A58-B245-E95240800791}" type="slidenum">
              <a:rPr lang="es-ES" smtClean="0"/>
              <a:pPr/>
              <a:t>13</a:t>
            </a:fld>
            <a:endParaRPr lang="es-ES"/>
          </a:p>
        </p:txBody>
      </p:sp>
      <p:sp>
        <p:nvSpPr>
          <p:cNvPr id="3" name="2 Marcador de contenido"/>
          <p:cNvSpPr txBox="1">
            <a:spLocks/>
          </p:cNvSpPr>
          <p:nvPr/>
        </p:nvSpPr>
        <p:spPr bwMode="auto">
          <a:xfrm>
            <a:off x="1703513" y="1124744"/>
            <a:ext cx="8640763" cy="59039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20000"/>
          </a:bodyPr>
          <a:lstStyle/>
          <a:p>
            <a:pPr marL="514350" indent="-514350" algn="just" eaLnBrk="0" fontAlgn="base" hangingPunct="0">
              <a:spcBef>
                <a:spcPct val="20000"/>
              </a:spcBef>
              <a:spcAft>
                <a:spcPct val="0"/>
              </a:spcAft>
              <a:buFont typeface="+mj-lt"/>
              <a:buAutoNum type="arabicParenR" startAt="3"/>
              <a:defRPr/>
            </a:pPr>
            <a:r>
              <a:rPr lang="es-ES" sz="2800" b="1" dirty="0">
                <a:latin typeface="Comic Sans MS" panose="030F0702030302020204" pitchFamily="66" charset="0"/>
              </a:rPr>
              <a:t>Estrategias</a:t>
            </a:r>
          </a:p>
          <a:p>
            <a:pPr marL="342900" indent="-342900" algn="just" eaLnBrk="0" fontAlgn="base" hangingPunct="0">
              <a:spcBef>
                <a:spcPct val="20000"/>
              </a:spcBef>
              <a:spcAft>
                <a:spcPct val="0"/>
              </a:spcAft>
              <a:defRPr/>
            </a:pPr>
            <a:r>
              <a:rPr lang="es-ES" sz="2800" i="1" kern="0" dirty="0">
                <a:solidFill>
                  <a:srgbClr val="C00000"/>
                </a:solidFill>
                <a:latin typeface="Comic Sans MS" panose="030F0702030302020204" pitchFamily="66" charset="0"/>
              </a:rPr>
              <a:t>	</a:t>
            </a:r>
          </a:p>
          <a:p>
            <a:pPr marL="342900" indent="-342900" algn="just" eaLnBrk="0" fontAlgn="base" hangingPunct="0">
              <a:spcBef>
                <a:spcPct val="20000"/>
              </a:spcBef>
              <a:spcAft>
                <a:spcPct val="0"/>
              </a:spcAft>
              <a:defRPr/>
            </a:pPr>
            <a:r>
              <a:rPr lang="es-ES" sz="2000" b="1" u="sng" kern="0" dirty="0">
                <a:solidFill>
                  <a:srgbClr val="C00000"/>
                </a:solidFill>
                <a:latin typeface="Comic Sans MS" panose="030F0702030302020204" pitchFamily="66" charset="0"/>
              </a:rPr>
              <a:t>MARKETING ESTRATÉGICO</a:t>
            </a:r>
            <a:r>
              <a:rPr lang="es-ES" sz="2000" i="1" kern="0" dirty="0">
                <a:latin typeface="Comic Sans MS" panose="030F0702030302020204" pitchFamily="66" charset="0"/>
              </a:rPr>
              <a:t>: </a:t>
            </a:r>
            <a:r>
              <a:rPr lang="es-ES" sz="2000" kern="0" dirty="0">
                <a:latin typeface="Comic Sans MS" panose="030F0702030302020204" pitchFamily="66" charset="0"/>
              </a:rPr>
              <a:t>análisis y comprensión del mercado para identificar las oportunidades que nos permitan satisfacer las necesidades y deseos de los consumidores mejor que la competencia.  </a:t>
            </a:r>
          </a:p>
          <a:p>
            <a:pPr marL="800100" lvl="1" indent="-342900" algn="just" eaLnBrk="0" fontAlgn="base" hangingPunct="0">
              <a:spcBef>
                <a:spcPct val="20000"/>
              </a:spcBef>
              <a:spcAft>
                <a:spcPct val="0"/>
              </a:spcAft>
              <a:defRPr/>
            </a:pPr>
            <a:r>
              <a:rPr lang="es-ES" sz="2200" b="1" kern="0" dirty="0">
                <a:solidFill>
                  <a:srgbClr val="C00000"/>
                </a:solidFill>
                <a:latin typeface="Comic Sans MS" panose="030F0702030302020204" pitchFamily="66" charset="0"/>
              </a:rPr>
              <a:t>Tareas:</a:t>
            </a:r>
            <a:endParaRPr lang="es-ES" sz="2000" b="1" kern="0" dirty="0">
              <a:solidFill>
                <a:srgbClr val="C00000"/>
              </a:solidFill>
              <a:latin typeface="Comic Sans MS" panose="030F0702030302020204" pitchFamily="66" charset="0"/>
            </a:endParaRP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Definición del mercado de referencia: </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Análisis del atractivo del mercado.</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Proceso de segmentación.</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Estudio de la rivalidad existente (quiénes son los competidores y cuál es su ventaja competitiva).</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Análisis de los modelos de cartera de productos para elegir una estrategia. </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rPr>
              <a:t>Selección de la estrategia que contribuya a los objetivos de la empresa.</a:t>
            </a:r>
          </a:p>
          <a:p>
            <a:pPr marL="800100" lvl="1" indent="-342900" algn="just" eaLnBrk="0" hangingPunct="0">
              <a:spcBef>
                <a:spcPct val="20000"/>
              </a:spcBef>
              <a:defRPr/>
            </a:pPr>
            <a:endParaRPr lang="es-ES" sz="2000" kern="0" dirty="0">
              <a:latin typeface="Comic Sans MS" panose="030F0702030302020204" pitchFamily="66" charset="0"/>
            </a:endParaRPr>
          </a:p>
          <a:p>
            <a:pPr marL="342900" indent="-342900" algn="just" eaLnBrk="0" fontAlgn="base" hangingPunct="0">
              <a:spcBef>
                <a:spcPct val="20000"/>
              </a:spcBef>
              <a:spcAft>
                <a:spcPct val="0"/>
              </a:spcAft>
              <a:buFont typeface="Wingdings" pitchFamily="2" charset="2"/>
              <a:buChar char="Ø"/>
              <a:defRPr/>
            </a:pPr>
            <a:r>
              <a:rPr lang="es-ES" sz="2000" b="1" u="sng" kern="0" dirty="0">
                <a:solidFill>
                  <a:srgbClr val="C00000"/>
                </a:solidFill>
                <a:latin typeface="Comic Sans MS" panose="030F0702030302020204" pitchFamily="66" charset="0"/>
              </a:rPr>
              <a:t>MARKETING OPERATIVO</a:t>
            </a:r>
            <a:r>
              <a:rPr lang="es-ES" sz="2000" i="1" kern="0" dirty="0">
                <a:latin typeface="Comic Sans MS" panose="030F0702030302020204" pitchFamily="66" charset="0"/>
              </a:rPr>
              <a:t>: </a:t>
            </a:r>
            <a:r>
              <a:rPr lang="es-ES" sz="2000" kern="0" dirty="0">
                <a:latin typeface="Comic Sans MS" panose="030F0702030302020204" pitchFamily="66" charset="0"/>
              </a:rPr>
              <a:t>establece las acciones concretas a corto y medio plazo necesarias para alcanzar los objetivos a largo plazo fijados </a:t>
            </a:r>
            <a:r>
              <a:rPr lang="es-ES" sz="2000" kern="0" dirty="0">
                <a:latin typeface="Comic Sans MS" panose="030F0702030302020204" pitchFamily="66" charset="0"/>
                <a:sym typeface="Wingdings" pitchFamily="2" charset="2"/>
              </a:rPr>
              <a:t> decisiones sobre: </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sym typeface="Wingdings" pitchFamily="2" charset="2"/>
              </a:rPr>
              <a:t>Producto.</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sym typeface="Wingdings" pitchFamily="2" charset="2"/>
              </a:rPr>
              <a:t>Precio.</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sym typeface="Wingdings" pitchFamily="2" charset="2"/>
              </a:rPr>
              <a:t>Distribución.</a:t>
            </a:r>
          </a:p>
          <a:p>
            <a:pPr marL="800100" lvl="1" indent="-342900" algn="just" eaLnBrk="0" hangingPunct="0">
              <a:spcBef>
                <a:spcPct val="20000"/>
              </a:spcBef>
              <a:buFont typeface="Courier New" pitchFamily="49" charset="0"/>
              <a:buChar char="o"/>
              <a:defRPr/>
            </a:pPr>
            <a:r>
              <a:rPr lang="es-ES" sz="2000" kern="0" dirty="0">
                <a:latin typeface="Comic Sans MS" panose="030F0702030302020204" pitchFamily="66" charset="0"/>
                <a:sym typeface="Wingdings" pitchFamily="2" charset="2"/>
              </a:rPr>
              <a:t>Comunicación.</a:t>
            </a:r>
            <a:endParaRPr lang="es-ES" sz="2000" kern="0" dirty="0">
              <a:latin typeface="Comic Sans MS" panose="030F0702030302020204" pitchFamily="66" charset="0"/>
            </a:endParaRPr>
          </a:p>
        </p:txBody>
      </p:sp>
      <p:sp>
        <p:nvSpPr>
          <p:cNvPr id="4" name="Rectangle 4"/>
          <p:cNvSpPr>
            <a:spLocks noChangeArrowheads="1"/>
          </p:cNvSpPr>
          <p:nvPr/>
        </p:nvSpPr>
        <p:spPr bwMode="auto">
          <a:xfrm>
            <a:off x="1703388" y="272708"/>
            <a:ext cx="8964612" cy="694678"/>
          </a:xfrm>
          <a:prstGeom prst="rect">
            <a:avLst/>
          </a:prstGeom>
          <a:noFill/>
          <a:ln w="9525">
            <a:noFill/>
            <a:miter lim="800000"/>
            <a:headEnd/>
            <a:tailEnd/>
          </a:ln>
          <a:effectLst/>
        </p:spPr>
        <p:txBody>
          <a:bodyPr wrap="square" lIns="92075" tIns="46038" rIns="92075" bIns="46038">
            <a:spAutoFit/>
          </a:bodyPr>
          <a:lstStyle/>
          <a:p>
            <a:pPr eaLnBrk="0" hangingPunct="0">
              <a:lnSpc>
                <a:spcPct val="85000"/>
              </a:lnSpc>
            </a:pPr>
            <a:r>
              <a:rPr lang="es-ES" sz="2400" b="1" dirty="0">
                <a:solidFill>
                  <a:schemeClr val="accent3"/>
                </a:solidFill>
                <a:latin typeface="Comic Sans MS" panose="030F0702030302020204" pitchFamily="66" charset="0"/>
              </a:rPr>
              <a:t>1. Conceptos básicos. Elementos del plan de marketing</a:t>
            </a:r>
            <a:endParaRPr lang="es-ES" sz="2400" dirty="0">
              <a:latin typeface="Comic Sans MS" panose="030F0702030302020204" pitchFamily="66" charset="0"/>
            </a:endParaRPr>
          </a:p>
          <a:p>
            <a:pPr eaLnBrk="0" hangingPunct="0">
              <a:lnSpc>
                <a:spcPct val="85000"/>
              </a:lnSpc>
            </a:pPr>
            <a:endParaRPr lang="es-ES_tradnl" sz="2200" b="1" dirty="0">
              <a:solidFill>
                <a:srgbClr val="C0000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Marcador de número de diapositiva 5">
            <a:extLst>
              <a:ext uri="{FF2B5EF4-FFF2-40B4-BE49-F238E27FC236}">
                <a16:creationId xmlns:a16="http://schemas.microsoft.com/office/drawing/2014/main" id="{851B079A-6916-2D40-A1CC-07C70D654420}"/>
              </a:ext>
            </a:extLst>
          </p:cNvPr>
          <p:cNvSpPr>
            <a:spLocks noGrp="1"/>
          </p:cNvSpPr>
          <p:nvPr>
            <p:ph type="sldNum" sz="quarter" idx="12"/>
          </p:nvPr>
        </p:nvSpPr>
        <p:spPr/>
        <p:txBody>
          <a:bodyPr/>
          <a:lstStyle/>
          <a:p>
            <a:fld id="{7CCF699D-97D8-1746-8756-A6EDFAFDA150}" type="slidenum">
              <a:rPr lang="es-ES" altLang="es-ES"/>
              <a:pPr/>
              <a:t>14</a:t>
            </a:fld>
            <a:endParaRPr lang="es-ES" altLang="es-ES"/>
          </a:p>
        </p:txBody>
      </p:sp>
      <p:sp>
        <p:nvSpPr>
          <p:cNvPr id="21506" name="Rectangle 2">
            <a:extLst>
              <a:ext uri="{FF2B5EF4-FFF2-40B4-BE49-F238E27FC236}">
                <a16:creationId xmlns:a16="http://schemas.microsoft.com/office/drawing/2014/main" id="{13F1AA29-3567-014C-8A83-DC43B02B027D}"/>
              </a:ext>
            </a:extLst>
          </p:cNvPr>
          <p:cNvSpPr>
            <a:spLocks noGrp="1" noChangeArrowheads="1"/>
          </p:cNvSpPr>
          <p:nvPr>
            <p:ph type="title"/>
          </p:nvPr>
        </p:nvSpPr>
        <p:spPr>
          <a:xfrm>
            <a:off x="95250" y="169149"/>
            <a:ext cx="12096750" cy="523220"/>
          </a:xfrm>
        </p:spPr>
        <p:txBody>
          <a:bodyPr anchor="t">
            <a:normAutofit fontScale="90000"/>
          </a:bodyPr>
          <a:lstStyle/>
          <a:p>
            <a:r>
              <a:rPr lang="es-ES" sz="2800" b="1" dirty="0">
                <a:solidFill>
                  <a:schemeClr val="accent3"/>
                </a:solidFill>
                <a:latin typeface="Comic Sans MS" panose="030F0702030302020204" pitchFamily="66" charset="0"/>
              </a:rPr>
              <a:t>2. MARKETING ESTRATÉGICO. </a:t>
            </a:r>
            <a:r>
              <a:rPr lang="es-ES" altLang="es-ES" sz="2800" b="1" dirty="0">
                <a:solidFill>
                  <a:schemeClr val="accent3"/>
                </a:solidFill>
                <a:latin typeface="Comic Sans MS" panose="030F0702030302020204" pitchFamily="66" charset="0"/>
              </a:rPr>
              <a:t>Identificación del mercado y segmentación</a:t>
            </a:r>
          </a:p>
        </p:txBody>
      </p:sp>
      <p:sp>
        <p:nvSpPr>
          <p:cNvPr id="2" name="CuadroTexto 1">
            <a:extLst>
              <a:ext uri="{FF2B5EF4-FFF2-40B4-BE49-F238E27FC236}">
                <a16:creationId xmlns:a16="http://schemas.microsoft.com/office/drawing/2014/main" id="{B68D52CC-2B1B-F644-8B6E-5A9BDB4F53DA}"/>
              </a:ext>
            </a:extLst>
          </p:cNvPr>
          <p:cNvSpPr txBox="1"/>
          <p:nvPr/>
        </p:nvSpPr>
        <p:spPr>
          <a:xfrm>
            <a:off x="495300" y="840651"/>
            <a:ext cx="10858500"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 sz="2400" dirty="0">
                <a:solidFill>
                  <a:schemeClr val="tx1"/>
                </a:solidFill>
                <a:latin typeface="Comic Sans MS" panose="030F0702030302020204" pitchFamily="66" charset="0"/>
              </a:rPr>
              <a:t>El mercado lo constituyen el conjunto de clientes actuales y potenciales que tienen necesidades y medios para satisfacerlas y deseos de satisfacerlas. </a:t>
            </a:r>
          </a:p>
        </p:txBody>
      </p:sp>
      <p:sp>
        <p:nvSpPr>
          <p:cNvPr id="8" name="Rectangle 3">
            <a:extLst>
              <a:ext uri="{FF2B5EF4-FFF2-40B4-BE49-F238E27FC236}">
                <a16:creationId xmlns:a16="http://schemas.microsoft.com/office/drawing/2014/main" id="{8FD4D6AB-DD22-6B4A-9C5E-92CBAEFFFF1B}"/>
              </a:ext>
            </a:extLst>
          </p:cNvPr>
          <p:cNvSpPr txBox="1">
            <a:spLocks noChangeArrowheads="1"/>
          </p:cNvSpPr>
          <p:nvPr/>
        </p:nvSpPr>
        <p:spPr>
          <a:xfrm>
            <a:off x="245326" y="2189765"/>
            <a:ext cx="11417587" cy="2408114"/>
          </a:xfrm>
          <a:prstGeom prst="rect">
            <a:avLst/>
          </a:prstGeom>
          <a:noFill/>
          <a:ln w="76200" cmpd="tri">
            <a:solidFill>
              <a:schemeClr val="accent2">
                <a:lumMod val="75000"/>
              </a:schemeClr>
            </a:solidFill>
            <a:miter lim="800000"/>
            <a:headEnd/>
            <a:tailEnd/>
          </a:ln>
          <a:extLst>
            <a:ext uri="{909E8E84-426E-40DD-AFC4-6F175D3DCCD1}">
              <a14:hiddenFill xmlns:a14="http://schemas.microsoft.com/office/drawing/2010/main">
                <a:solidFill>
                  <a:srgbClr val="0000CC"/>
                </a:solidFill>
              </a14:hiddenFill>
            </a:ext>
          </a:ex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ltLang="es-ES" b="1" dirty="0">
                <a:latin typeface="Comic Sans MS" panose="030F0702030302020204" pitchFamily="66" charset="0"/>
              </a:rPr>
              <a:t>Segmentación del mercado </a:t>
            </a:r>
            <a:r>
              <a:rPr lang="es-ES" altLang="es-ES" dirty="0">
                <a:latin typeface="Comic Sans MS" panose="030F0702030302020204" pitchFamily="66" charset="0"/>
                <a:sym typeface="Wingdings" pitchFamily="2" charset="2"/>
              </a:rPr>
              <a:t> </a:t>
            </a:r>
            <a:r>
              <a:rPr lang="es-ES" altLang="es-ES" sz="2000" dirty="0">
                <a:latin typeface="Comic Sans MS" panose="030F0702030302020204" pitchFamily="66" charset="0"/>
              </a:rPr>
              <a:t>Proceso de división de mercados en grupos homogéneos, con el fin de diseñar una estrategia comercial diferenciada para cada grupo y conseguir mayor satisfacción de las necesidades de los consumidores.</a:t>
            </a:r>
          </a:p>
          <a:p>
            <a:pPr marL="0" indent="0">
              <a:buFont typeface="Arial" panose="020B0604020202020204" pitchFamily="34" charset="0"/>
              <a:buNone/>
            </a:pPr>
            <a:r>
              <a:rPr lang="es-ES" sz="2000" dirty="0"/>
              <a:t>Es necesario identificar las características de estos segmentos (cómo son, qué, cómo, cuándo, cuánto y por qué compran).</a:t>
            </a:r>
            <a:endParaRPr lang="es-ES" altLang="es-ES" sz="2000" dirty="0">
              <a:latin typeface="Comic Sans MS" panose="030F0702030302020204" pitchFamily="66" charset="0"/>
            </a:endParaRPr>
          </a:p>
          <a:p>
            <a:pPr marL="0" indent="0" algn="just">
              <a:buFont typeface="Arial" panose="020B0604020202020204" pitchFamily="34" charset="0"/>
              <a:buNone/>
            </a:pPr>
            <a:endParaRPr lang="es-ES" sz="2000" dirty="0">
              <a:latin typeface="Comic Sans MS" panose="030F0702030302020204" pitchFamily="66" charset="0"/>
            </a:endParaRPr>
          </a:p>
          <a:p>
            <a:pPr marL="914400" lvl="2" indent="0">
              <a:buFont typeface="Arial" panose="020B0604020202020204" pitchFamily="34" charset="0"/>
              <a:buNone/>
            </a:pPr>
            <a:endParaRPr lang="es-ES" altLang="es-ES" sz="2400" dirty="0">
              <a:latin typeface="Comic Sans MS" panose="030F0702030302020204" pitchFamily="66" charset="0"/>
            </a:endParaRPr>
          </a:p>
          <a:p>
            <a:pPr marL="0" indent="0" algn="just">
              <a:buFont typeface="Arial" panose="020B0604020202020204" pitchFamily="34" charset="0"/>
              <a:buNone/>
            </a:pPr>
            <a:endParaRPr lang="es-ES" sz="2000" dirty="0">
              <a:latin typeface="Comic Sans MS" panose="030F0702030302020204" pitchFamily="66" charset="0"/>
            </a:endParaRPr>
          </a:p>
          <a:p>
            <a:pPr marL="0" indent="0" algn="just">
              <a:buFont typeface="Arial" panose="020B0604020202020204" pitchFamily="34" charset="0"/>
              <a:buNone/>
            </a:pPr>
            <a:endParaRPr lang="es-ES" sz="2000" dirty="0">
              <a:latin typeface="Comic Sans MS" panose="030F0702030302020204" pitchFamily="66" charset="0"/>
            </a:endParaRPr>
          </a:p>
          <a:p>
            <a:pPr marL="0" indent="0" algn="just">
              <a:buFont typeface="Arial" panose="020B0604020202020204" pitchFamily="34" charset="0"/>
              <a:buNone/>
            </a:pPr>
            <a:endParaRPr lang="es-ES" sz="2000" dirty="0">
              <a:latin typeface="Comic Sans MS" panose="030F0702030302020204" pitchFamily="66" charset="0"/>
            </a:endParaRPr>
          </a:p>
          <a:p>
            <a:pPr marL="0" indent="0">
              <a:buFont typeface="Arial" panose="020B0604020202020204" pitchFamily="34" charset="0"/>
              <a:buNone/>
            </a:pPr>
            <a:endParaRPr lang="es-ES" altLang="es-ES" dirty="0">
              <a:latin typeface="Comic Sans MS" panose="030F0702030302020204" pitchFamily="66" charset="0"/>
            </a:endParaRPr>
          </a:p>
          <a:p>
            <a:pPr>
              <a:buFont typeface="Wingdings" pitchFamily="2" charset="2"/>
              <a:buChar char="v"/>
            </a:pPr>
            <a:endParaRPr lang="es-ES" altLang="es-ES" dirty="0">
              <a:latin typeface="Comic Sans MS" panose="030F0702030302020204" pitchFamily="66" charset="0"/>
            </a:endParaRPr>
          </a:p>
        </p:txBody>
      </p:sp>
    </p:spTree>
    <p:custDataLst>
      <p:tags r:id="rId1"/>
    </p:custDataLst>
    <p:extLst>
      <p:ext uri="{BB962C8B-B14F-4D97-AF65-F5344CB8AC3E}">
        <p14:creationId xmlns:p14="http://schemas.microsoft.com/office/powerpoint/2010/main" val="3262663451"/>
      </p:ext>
    </p:extLst>
  </p:cSld>
  <p:clrMapOvr>
    <a:masterClrMapping/>
  </p:clrMapOvr>
  <mc:AlternateContent xmlns:mc="http://schemas.openxmlformats.org/markup-compatibility/2006" xmlns:p14="http://schemas.microsoft.com/office/powerpoint/2010/main">
    <mc:Choice Requires="p14">
      <p:transition spd="slow" p14:dur="2000" advTm="79531"/>
    </mc:Choice>
    <mc:Fallback xmlns="">
      <p:transition spd="slow" advTm="7953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9B2804C-A48A-9D8D-CB64-60F028C92609}"/>
            </a:ext>
          </a:extLst>
        </p:cNvPr>
        <p:cNvGrpSpPr/>
        <p:nvPr/>
      </p:nvGrpSpPr>
      <p:grpSpPr>
        <a:xfrm>
          <a:off x="0" y="0"/>
          <a:ext cx="0" cy="0"/>
          <a:chOff x="0" y="0"/>
          <a:chExt cx="0" cy="0"/>
        </a:xfrm>
      </p:grpSpPr>
      <p:sp>
        <p:nvSpPr>
          <p:cNvPr id="5" name="Marcador de número de diapositiva 5">
            <a:extLst>
              <a:ext uri="{FF2B5EF4-FFF2-40B4-BE49-F238E27FC236}">
                <a16:creationId xmlns:a16="http://schemas.microsoft.com/office/drawing/2014/main" id="{E5EA0F01-4742-CEE0-030D-CD7EC4C73DE4}"/>
              </a:ext>
            </a:extLst>
          </p:cNvPr>
          <p:cNvSpPr>
            <a:spLocks noGrp="1"/>
          </p:cNvSpPr>
          <p:nvPr>
            <p:ph type="sldNum" sz="quarter" idx="12"/>
          </p:nvPr>
        </p:nvSpPr>
        <p:spPr/>
        <p:txBody>
          <a:bodyPr/>
          <a:lstStyle/>
          <a:p>
            <a:fld id="{7CCF699D-97D8-1746-8756-A6EDFAFDA150}" type="slidenum">
              <a:rPr lang="es-ES" altLang="es-ES"/>
              <a:pPr/>
              <a:t>15</a:t>
            </a:fld>
            <a:endParaRPr lang="es-ES" altLang="es-ES"/>
          </a:p>
        </p:txBody>
      </p:sp>
      <p:sp>
        <p:nvSpPr>
          <p:cNvPr id="21506" name="Rectangle 2">
            <a:extLst>
              <a:ext uri="{FF2B5EF4-FFF2-40B4-BE49-F238E27FC236}">
                <a16:creationId xmlns:a16="http://schemas.microsoft.com/office/drawing/2014/main" id="{B0DA8856-7A56-297F-E9AE-A74987F69ED3}"/>
              </a:ext>
            </a:extLst>
          </p:cNvPr>
          <p:cNvSpPr>
            <a:spLocks noGrp="1" noChangeArrowheads="1"/>
          </p:cNvSpPr>
          <p:nvPr>
            <p:ph type="title"/>
          </p:nvPr>
        </p:nvSpPr>
        <p:spPr>
          <a:xfrm>
            <a:off x="95250" y="169149"/>
            <a:ext cx="12096750" cy="523220"/>
          </a:xfrm>
        </p:spPr>
        <p:txBody>
          <a:bodyPr anchor="t">
            <a:normAutofit fontScale="90000"/>
          </a:bodyPr>
          <a:lstStyle/>
          <a:p>
            <a:r>
              <a:rPr lang="es-ES" sz="2800" b="1" dirty="0">
                <a:solidFill>
                  <a:schemeClr val="accent3"/>
                </a:solidFill>
                <a:latin typeface="Comic Sans MS" panose="030F0702030302020204" pitchFamily="66" charset="0"/>
              </a:rPr>
              <a:t>2. MARKETING ESTRATÉGICO. </a:t>
            </a:r>
            <a:r>
              <a:rPr lang="es-ES" altLang="es-ES" sz="2800" b="1" dirty="0">
                <a:solidFill>
                  <a:schemeClr val="accent3"/>
                </a:solidFill>
                <a:latin typeface="Comic Sans MS" panose="030F0702030302020204" pitchFamily="66" charset="0"/>
              </a:rPr>
              <a:t>Identificación del mercado y segmentación</a:t>
            </a:r>
          </a:p>
        </p:txBody>
      </p:sp>
      <p:graphicFrame>
        <p:nvGraphicFramePr>
          <p:cNvPr id="3" name="Diagrama 2">
            <a:extLst>
              <a:ext uri="{FF2B5EF4-FFF2-40B4-BE49-F238E27FC236}">
                <a16:creationId xmlns:a16="http://schemas.microsoft.com/office/drawing/2014/main" id="{13EB292D-C43A-A444-FB00-B09D3C0D0B3A}"/>
              </a:ext>
            </a:extLst>
          </p:cNvPr>
          <p:cNvGraphicFramePr/>
          <p:nvPr>
            <p:extLst>
              <p:ext uri="{D42A27DB-BD31-4B8C-83A1-F6EECF244321}">
                <p14:modId xmlns:p14="http://schemas.microsoft.com/office/powerpoint/2010/main" val="2647592390"/>
              </p:ext>
            </p:extLst>
          </p:nvPr>
        </p:nvGraphicFramePr>
        <p:xfrm>
          <a:off x="547250" y="969723"/>
          <a:ext cx="11443466" cy="49185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359140327"/>
      </p:ext>
    </p:extLst>
  </p:cSld>
  <p:clrMapOvr>
    <a:masterClrMapping/>
  </p:clrMapOvr>
  <mc:AlternateContent xmlns:mc="http://schemas.openxmlformats.org/markup-compatibility/2006" xmlns:p14="http://schemas.microsoft.com/office/powerpoint/2010/main">
    <mc:Choice Requires="p14">
      <p:transition spd="slow" p14:dur="2000" advTm="79531"/>
    </mc:Choice>
    <mc:Fallback xmlns="">
      <p:transition spd="slow" advTm="7953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796522" y="8954"/>
            <a:ext cx="11222182" cy="1077218"/>
          </a:xfrm>
          <a:prstGeom prst="rect">
            <a:avLst/>
          </a:prstGeom>
          <a:noFill/>
        </p:spPr>
        <p:txBody>
          <a:bodyPr wrap="square" rtlCol="0">
            <a:spAutoFit/>
          </a:bodyPr>
          <a:lstStyle/>
          <a:p>
            <a:pPr marL="514350" indent="-514350">
              <a:buFont typeface="+mj-lt"/>
              <a:buAutoNum type="arabicPeriod" startAt="2"/>
            </a:pPr>
            <a:r>
              <a:rPr lang="es-ES" sz="3200" b="1" dirty="0">
                <a:solidFill>
                  <a:schemeClr val="accent3"/>
                </a:solidFill>
                <a:latin typeface="Comic Sans MS" panose="030F0702030302020204" pitchFamily="66" charset="0"/>
              </a:rPr>
              <a:t>MARKETING ESTRATÉGICO. </a:t>
            </a:r>
            <a:r>
              <a:rPr lang="es-ES" altLang="es-ES" sz="3200" b="1" dirty="0">
                <a:solidFill>
                  <a:schemeClr val="accent3"/>
                </a:solidFill>
                <a:latin typeface="Comic Sans MS" panose="030F0702030302020204" pitchFamily="66" charset="0"/>
              </a:rPr>
              <a:t>Identificación del mercado y segmentación</a:t>
            </a:r>
            <a:endParaRPr lang="es-ES" sz="32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8" name="CuadroTexto 7">
            <a:extLst>
              <a:ext uri="{FF2B5EF4-FFF2-40B4-BE49-F238E27FC236}">
                <a16:creationId xmlns:a16="http://schemas.microsoft.com/office/drawing/2014/main" id="{B2CB2163-51D4-AD61-4217-72E532D44834}"/>
              </a:ext>
            </a:extLst>
          </p:cNvPr>
          <p:cNvSpPr txBox="1"/>
          <p:nvPr/>
        </p:nvSpPr>
        <p:spPr>
          <a:xfrm>
            <a:off x="610991" y="1112053"/>
            <a:ext cx="11222182" cy="4070345"/>
          </a:xfrm>
          <a:prstGeom prst="rect">
            <a:avLst/>
          </a:prstGeom>
          <a:noFill/>
        </p:spPr>
        <p:txBody>
          <a:bodyPr wrap="square" rtlCol="0">
            <a:spAutoFit/>
          </a:bodyPr>
          <a:lstStyle/>
          <a:p>
            <a:pPr marL="457200" indent="-457200">
              <a:buFont typeface="+mj-lt"/>
              <a:buAutoNum type="arabicParenR" startAt="6"/>
            </a:pPr>
            <a:r>
              <a:rPr lang="es-ES" sz="2350" b="1" dirty="0">
                <a:latin typeface="Comic Sans MS" panose="030F0702030302020204" pitchFamily="66" charset="0"/>
              </a:rPr>
              <a:t>Programas, presupuestos y cuenta de resultados</a:t>
            </a:r>
          </a:p>
          <a:p>
            <a:endParaRPr lang="es-ES" sz="2350" dirty="0">
              <a:latin typeface="Comic Sans MS" panose="030F0702030302020204" pitchFamily="66" charset="0"/>
            </a:endParaRPr>
          </a:p>
          <a:p>
            <a:pPr marL="914400" lvl="1" indent="-457200">
              <a:buFont typeface="+mj-lt"/>
              <a:buAutoNum type="alphaLcParenR"/>
            </a:pPr>
            <a:r>
              <a:rPr lang="es-ES" sz="2350" dirty="0">
                <a:effectLst>
                  <a:outerShdw blurRad="38100" dist="38100" dir="2700000" algn="tl">
                    <a:srgbClr val="000000">
                      <a:alpha val="43137"/>
                    </a:srgbClr>
                  </a:outerShdw>
                </a:effectLst>
                <a:latin typeface="Comic Sans MS" panose="030F0702030302020204" pitchFamily="66" charset="0"/>
              </a:rPr>
              <a:t>Calendarios y plazos</a:t>
            </a:r>
          </a:p>
          <a:p>
            <a:pPr lvl="1"/>
            <a:endParaRPr lang="es-ES" sz="235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350" dirty="0">
                <a:latin typeface="Comic Sans MS" panose="030F0702030302020204" pitchFamily="66" charset="0"/>
              </a:rPr>
              <a:t>Hay que establecer cada una de las acciones a desarrollar con su fecha prevista y orden de prioridad.</a:t>
            </a:r>
          </a:p>
          <a:p>
            <a:pPr marL="1371600" lvl="2" indent="-457200">
              <a:buFont typeface="Arial" panose="020B0604020202020204" pitchFamily="34" charset="0"/>
              <a:buChar char="•"/>
            </a:pPr>
            <a:r>
              <a:rPr lang="es-ES" sz="2350" dirty="0">
                <a:latin typeface="Comic Sans MS" panose="030F0702030302020204" pitchFamily="66" charset="0"/>
              </a:rPr>
              <a:t>Una vez definidas se genera una hoja de programación a cada una de ellas incluyendo: en qué consisten, cuál es su presupuesto y cuáles han de estar finalizadas</a:t>
            </a:r>
          </a:p>
          <a:p>
            <a:pPr marL="1371600" lvl="2" indent="-457200">
              <a:buFont typeface="Arial" panose="020B0604020202020204" pitchFamily="34" charset="0"/>
              <a:buChar char="•"/>
            </a:pPr>
            <a:endParaRPr lang="es-ES" sz="2350" dirty="0">
              <a:latin typeface="Comic Sans MS" panose="030F0702030302020204" pitchFamily="66" charset="0"/>
            </a:endParaRPr>
          </a:p>
          <a:p>
            <a:pPr lvl="2" algn="ctr"/>
            <a:r>
              <a:rPr lang="es-ES" sz="2350" dirty="0">
                <a:effectLst>
                  <a:outerShdw blurRad="38100" dist="38100" dir="2700000" algn="tl">
                    <a:srgbClr val="000000">
                      <a:alpha val="43137"/>
                    </a:srgbClr>
                  </a:outerShdw>
                </a:effectLst>
                <a:latin typeface="Comic Sans MS" panose="030F0702030302020204" pitchFamily="66" charset="0"/>
              </a:rPr>
              <a:t>Hoja de Programación</a:t>
            </a:r>
          </a:p>
        </p:txBody>
      </p:sp>
      <p:graphicFrame>
        <p:nvGraphicFramePr>
          <p:cNvPr id="9" name="Tabla 9">
            <a:extLst>
              <a:ext uri="{FF2B5EF4-FFF2-40B4-BE49-F238E27FC236}">
                <a16:creationId xmlns:a16="http://schemas.microsoft.com/office/drawing/2014/main" id="{7F8EC046-C1E5-FB4A-08F0-4BAEA2D4C436}"/>
              </a:ext>
            </a:extLst>
          </p:cNvPr>
          <p:cNvGraphicFramePr>
            <a:graphicFrameLocks noGrp="1"/>
          </p:cNvGraphicFramePr>
          <p:nvPr>
            <p:extLst>
              <p:ext uri="{D42A27DB-BD31-4B8C-83A1-F6EECF244321}">
                <p14:modId xmlns:p14="http://schemas.microsoft.com/office/powerpoint/2010/main" val="2134787953"/>
              </p:ext>
            </p:extLst>
          </p:nvPr>
        </p:nvGraphicFramePr>
        <p:xfrm>
          <a:off x="2604488" y="5375107"/>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10955993"/>
                    </a:ext>
                  </a:extLst>
                </a:gridCol>
                <a:gridCol w="2032000">
                  <a:extLst>
                    <a:ext uri="{9D8B030D-6E8A-4147-A177-3AD203B41FA5}">
                      <a16:colId xmlns:a16="http://schemas.microsoft.com/office/drawing/2014/main" val="3742036997"/>
                    </a:ext>
                  </a:extLst>
                </a:gridCol>
                <a:gridCol w="2032000">
                  <a:extLst>
                    <a:ext uri="{9D8B030D-6E8A-4147-A177-3AD203B41FA5}">
                      <a16:colId xmlns:a16="http://schemas.microsoft.com/office/drawing/2014/main" val="1104521025"/>
                    </a:ext>
                  </a:extLst>
                </a:gridCol>
                <a:gridCol w="2032000">
                  <a:extLst>
                    <a:ext uri="{9D8B030D-6E8A-4147-A177-3AD203B41FA5}">
                      <a16:colId xmlns:a16="http://schemas.microsoft.com/office/drawing/2014/main" val="1278825596"/>
                    </a:ext>
                  </a:extLst>
                </a:gridCol>
              </a:tblGrid>
              <a:tr h="370840">
                <a:tc>
                  <a:txBody>
                    <a:bodyPr/>
                    <a:lstStyle/>
                    <a:p>
                      <a:pPr algn="ctr"/>
                      <a:r>
                        <a:rPr lang="es-ES" dirty="0">
                          <a:latin typeface="Comic Sans MS" panose="030F0702030302020204" pitchFamily="66" charset="0"/>
                        </a:rPr>
                        <a:t>Tarea</a:t>
                      </a:r>
                    </a:p>
                  </a:txBody>
                  <a:tcPr/>
                </a:tc>
                <a:tc>
                  <a:txBody>
                    <a:bodyPr/>
                    <a:lstStyle/>
                    <a:p>
                      <a:pPr algn="ctr"/>
                      <a:r>
                        <a:rPr lang="es-ES" dirty="0">
                          <a:latin typeface="Comic Sans MS" panose="030F0702030302020204" pitchFamily="66" charset="0"/>
                        </a:rPr>
                        <a:t>Descripción</a:t>
                      </a:r>
                    </a:p>
                  </a:txBody>
                  <a:tcPr/>
                </a:tc>
                <a:tc>
                  <a:txBody>
                    <a:bodyPr/>
                    <a:lstStyle/>
                    <a:p>
                      <a:pPr algn="ctr"/>
                      <a:r>
                        <a:rPr lang="es-ES" dirty="0">
                          <a:latin typeface="Comic Sans MS" panose="030F0702030302020204" pitchFamily="66" charset="0"/>
                        </a:rPr>
                        <a:t>Presupuesto</a:t>
                      </a:r>
                    </a:p>
                  </a:txBody>
                  <a:tcPr/>
                </a:tc>
                <a:tc>
                  <a:txBody>
                    <a:bodyPr/>
                    <a:lstStyle/>
                    <a:p>
                      <a:pPr algn="ctr"/>
                      <a:r>
                        <a:rPr lang="es-ES" dirty="0">
                          <a:latin typeface="Comic Sans MS" panose="030F0702030302020204" pitchFamily="66" charset="0"/>
                        </a:rPr>
                        <a:t>Fecha prevista</a:t>
                      </a:r>
                    </a:p>
                  </a:txBody>
                  <a:tcPr/>
                </a:tc>
                <a:extLst>
                  <a:ext uri="{0D108BD9-81ED-4DB2-BD59-A6C34878D82A}">
                    <a16:rowId xmlns:a16="http://schemas.microsoft.com/office/drawing/2014/main" val="1968698255"/>
                  </a:ext>
                </a:extLst>
              </a:tr>
              <a:tr h="370840">
                <a:tc>
                  <a:txBody>
                    <a:bodyPr/>
                    <a:lstStyle/>
                    <a:p>
                      <a:endParaRPr lang="es-ES">
                        <a:latin typeface="Comic Sans MS" panose="030F0702030302020204" pitchFamily="66" charset="0"/>
                      </a:endParaRPr>
                    </a:p>
                  </a:txBody>
                  <a:tcPr/>
                </a:tc>
                <a:tc>
                  <a:txBody>
                    <a:bodyPr/>
                    <a:lstStyle/>
                    <a:p>
                      <a:endParaRPr lang="es-ES" dirty="0">
                        <a:latin typeface="Comic Sans MS" panose="030F0702030302020204" pitchFamily="66" charset="0"/>
                      </a:endParaRPr>
                    </a:p>
                  </a:txBody>
                  <a:tcPr/>
                </a:tc>
                <a:tc>
                  <a:txBody>
                    <a:bodyPr/>
                    <a:lstStyle/>
                    <a:p>
                      <a:endParaRPr lang="es-ES" dirty="0">
                        <a:latin typeface="Comic Sans MS" panose="030F0702030302020204" pitchFamily="66" charset="0"/>
                      </a:endParaRPr>
                    </a:p>
                  </a:txBody>
                  <a:tcPr/>
                </a:tc>
                <a:tc>
                  <a:txBody>
                    <a:bodyPr/>
                    <a:lstStyle/>
                    <a:p>
                      <a:endParaRPr lang="es-ES" dirty="0">
                        <a:latin typeface="Comic Sans MS" panose="030F0702030302020204" pitchFamily="66" charset="0"/>
                      </a:endParaRPr>
                    </a:p>
                  </a:txBody>
                  <a:tcPr/>
                </a:tc>
                <a:extLst>
                  <a:ext uri="{0D108BD9-81ED-4DB2-BD59-A6C34878D82A}">
                    <a16:rowId xmlns:a16="http://schemas.microsoft.com/office/drawing/2014/main" val="2145048771"/>
                  </a:ext>
                </a:extLst>
              </a:tr>
            </a:tbl>
          </a:graphicData>
        </a:graphic>
      </p:graphicFrame>
    </p:spTree>
    <p:extLst>
      <p:ext uri="{BB962C8B-B14F-4D97-AF65-F5344CB8AC3E}">
        <p14:creationId xmlns:p14="http://schemas.microsoft.com/office/powerpoint/2010/main" val="2062903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3C982DAE-DD41-A64F-D0E8-EB15B661A28C}"/>
              </a:ext>
            </a:extLst>
          </p:cNvPr>
          <p:cNvSpPr txBox="1"/>
          <p:nvPr/>
        </p:nvSpPr>
        <p:spPr>
          <a:xfrm>
            <a:off x="450166" y="1593229"/>
            <a:ext cx="4839780" cy="461665"/>
          </a:xfrm>
          <a:prstGeom prst="rect">
            <a:avLst/>
          </a:prstGeom>
          <a:noFill/>
        </p:spPr>
        <p:txBody>
          <a:bodyPr wrap="square" rtlCol="0">
            <a:spAutoFit/>
          </a:bodyPr>
          <a:lstStyle/>
          <a:p>
            <a:pPr marL="800100" lvl="1" indent="-342900">
              <a:buFont typeface="Wingdings" panose="05000000000000000000" pitchFamily="2" charset="2"/>
              <a:buChar char="ü"/>
            </a:pPr>
            <a:r>
              <a:rPr lang="es-ES" sz="2400" dirty="0">
                <a:effectLst>
                  <a:outerShdw blurRad="38100" dist="38100" dir="2700000" algn="tl">
                    <a:srgbClr val="000000">
                      <a:alpha val="43137"/>
                    </a:srgbClr>
                  </a:outerShdw>
                </a:effectLst>
                <a:latin typeface="Comic Sans MS" panose="030F0702030302020204" pitchFamily="66" charset="0"/>
              </a:rPr>
              <a:t>Criterios de segmentación</a:t>
            </a:r>
            <a:endParaRPr lang="es-ES" sz="2400" dirty="0">
              <a:latin typeface="Comic Sans MS" panose="030F0702030302020204" pitchFamily="66" charset="0"/>
            </a:endParaRPr>
          </a:p>
        </p:txBody>
      </p:sp>
      <p:sp>
        <p:nvSpPr>
          <p:cNvPr id="7" name="CuadroTexto 6">
            <a:extLst>
              <a:ext uri="{FF2B5EF4-FFF2-40B4-BE49-F238E27FC236}">
                <a16:creationId xmlns:a16="http://schemas.microsoft.com/office/drawing/2014/main" id="{BDCADBA6-4DD3-436B-A3CB-B0A2DCB061AB}"/>
              </a:ext>
            </a:extLst>
          </p:cNvPr>
          <p:cNvSpPr txBox="1"/>
          <p:nvPr/>
        </p:nvSpPr>
        <p:spPr>
          <a:xfrm>
            <a:off x="728870" y="29992"/>
            <a:ext cx="11171581" cy="954107"/>
          </a:xfrm>
          <a:prstGeom prst="rect">
            <a:avLst/>
          </a:prstGeom>
          <a:noFill/>
        </p:spPr>
        <p:txBody>
          <a:bodyPr wrap="square" rtlCol="0">
            <a:spAutoFit/>
          </a:bodyPr>
          <a:lstStyle/>
          <a:p>
            <a:pPr marL="514350" indent="-514350">
              <a:buFont typeface="+mj-lt"/>
              <a:buAutoNum type="arabicPeriod" startAt="2"/>
            </a:pPr>
            <a:r>
              <a:rPr lang="es-ES" sz="2800" b="1" dirty="0">
                <a:solidFill>
                  <a:schemeClr val="accent3"/>
                </a:solidFill>
                <a:latin typeface="Comic Sans MS" panose="030F0702030302020204" pitchFamily="66" charset="0"/>
              </a:rPr>
              <a:t>MARKETING ESTRATÉGICO. </a:t>
            </a:r>
            <a:r>
              <a:rPr lang="es-ES" altLang="es-ES" sz="2800" b="1" dirty="0">
                <a:solidFill>
                  <a:schemeClr val="accent3"/>
                </a:solidFill>
                <a:latin typeface="Comic Sans MS" panose="030F0702030302020204" pitchFamily="66" charset="0"/>
              </a:rPr>
              <a:t>Identificación del mercado y segmentación</a:t>
            </a:r>
            <a:endParaRPr lang="es-ES" sz="2800" dirty="0">
              <a:latin typeface="Comic Sans MS" panose="030F0702030302020204" pitchFamily="66" charset="0"/>
            </a:endParaRPr>
          </a:p>
        </p:txBody>
      </p:sp>
      <p:grpSp>
        <p:nvGrpSpPr>
          <p:cNvPr id="35" name="Grupo 34">
            <a:extLst>
              <a:ext uri="{FF2B5EF4-FFF2-40B4-BE49-F238E27FC236}">
                <a16:creationId xmlns:a16="http://schemas.microsoft.com/office/drawing/2014/main" id="{785C7A4A-E862-7E13-E1F2-2221B66A0589}"/>
              </a:ext>
            </a:extLst>
          </p:cNvPr>
          <p:cNvGrpSpPr/>
          <p:nvPr/>
        </p:nvGrpSpPr>
        <p:grpSpPr>
          <a:xfrm>
            <a:off x="1519755" y="1222840"/>
            <a:ext cx="9217025" cy="5443538"/>
            <a:chOff x="1519755" y="1222840"/>
            <a:chExt cx="9217025" cy="5443538"/>
          </a:xfrm>
        </p:grpSpPr>
        <p:sp>
          <p:nvSpPr>
            <p:cNvPr id="5" name="Line 2">
              <a:extLst>
                <a:ext uri="{FF2B5EF4-FFF2-40B4-BE49-F238E27FC236}">
                  <a16:creationId xmlns:a16="http://schemas.microsoft.com/office/drawing/2014/main" id="{503A3135-AE46-38A6-8E07-F718F63587AB}"/>
                </a:ext>
              </a:extLst>
            </p:cNvPr>
            <p:cNvSpPr>
              <a:spLocks noChangeShapeType="1"/>
            </p:cNvSpPr>
            <p:nvPr/>
          </p:nvSpPr>
          <p:spPr bwMode="auto">
            <a:xfrm flipV="1">
              <a:off x="4739205" y="2951702"/>
              <a:ext cx="1893242" cy="12626"/>
            </a:xfrm>
            <a:prstGeom prst="line">
              <a:avLst/>
            </a:prstGeom>
            <a:noFill/>
            <a:ln w="101600">
              <a:solidFill>
                <a:srgbClr val="335C4D"/>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8" name="Line 3">
              <a:extLst>
                <a:ext uri="{FF2B5EF4-FFF2-40B4-BE49-F238E27FC236}">
                  <a16:creationId xmlns:a16="http://schemas.microsoft.com/office/drawing/2014/main" id="{D3670068-8F38-8963-65D5-89BF2CB019D4}"/>
                </a:ext>
              </a:extLst>
            </p:cNvPr>
            <p:cNvSpPr>
              <a:spLocks noChangeShapeType="1"/>
            </p:cNvSpPr>
            <p:nvPr/>
          </p:nvSpPr>
          <p:spPr bwMode="auto">
            <a:xfrm>
              <a:off x="4739205" y="4031128"/>
              <a:ext cx="1965250" cy="694"/>
            </a:xfrm>
            <a:prstGeom prst="line">
              <a:avLst/>
            </a:prstGeom>
            <a:noFill/>
            <a:ln w="101600">
              <a:solidFill>
                <a:srgbClr val="335C4D"/>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9" name="Line 4">
              <a:extLst>
                <a:ext uri="{FF2B5EF4-FFF2-40B4-BE49-F238E27FC236}">
                  <a16:creationId xmlns:a16="http://schemas.microsoft.com/office/drawing/2014/main" id="{18702E8D-33B8-2C07-4F4E-000F1C854A66}"/>
                </a:ext>
              </a:extLst>
            </p:cNvPr>
            <p:cNvSpPr>
              <a:spLocks noChangeShapeType="1"/>
            </p:cNvSpPr>
            <p:nvPr/>
          </p:nvSpPr>
          <p:spPr bwMode="auto">
            <a:xfrm>
              <a:off x="4832247" y="4463870"/>
              <a:ext cx="1872208" cy="648072"/>
            </a:xfrm>
            <a:prstGeom prst="line">
              <a:avLst/>
            </a:prstGeom>
            <a:noFill/>
            <a:ln w="101600">
              <a:solidFill>
                <a:srgbClr val="335C4D"/>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10" name="Line 5">
              <a:extLst>
                <a:ext uri="{FF2B5EF4-FFF2-40B4-BE49-F238E27FC236}">
                  <a16:creationId xmlns:a16="http://schemas.microsoft.com/office/drawing/2014/main" id="{67CB4A7A-AFBF-99B7-2382-CC2D6E47C177}"/>
                </a:ext>
              </a:extLst>
            </p:cNvPr>
            <p:cNvSpPr>
              <a:spLocks noChangeShapeType="1"/>
            </p:cNvSpPr>
            <p:nvPr/>
          </p:nvSpPr>
          <p:spPr bwMode="auto">
            <a:xfrm flipV="1">
              <a:off x="4760239" y="1969536"/>
              <a:ext cx="1898700" cy="694134"/>
            </a:xfrm>
            <a:prstGeom prst="line">
              <a:avLst/>
            </a:prstGeom>
            <a:noFill/>
            <a:ln w="101600">
              <a:solidFill>
                <a:srgbClr val="335C4D"/>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11" name="Rectangle 6">
              <a:extLst>
                <a:ext uri="{FF2B5EF4-FFF2-40B4-BE49-F238E27FC236}">
                  <a16:creationId xmlns:a16="http://schemas.microsoft.com/office/drawing/2014/main" id="{048E61C1-C867-5808-A3AA-7FBAAA91FD10}"/>
                </a:ext>
              </a:extLst>
            </p:cNvPr>
            <p:cNvSpPr>
              <a:spLocks noChangeArrowheads="1"/>
            </p:cNvSpPr>
            <p:nvPr/>
          </p:nvSpPr>
          <p:spPr bwMode="auto">
            <a:xfrm>
              <a:off x="1519755" y="1440328"/>
              <a:ext cx="3219450" cy="3962400"/>
            </a:xfrm>
            <a:prstGeom prst="rect">
              <a:avLst/>
            </a:prstGeom>
            <a:noFill/>
            <a:ln w="9525">
              <a:noFill/>
              <a:miter lim="800000"/>
              <a:headEnd/>
              <a:tailEnd/>
            </a:ln>
            <a:effectLst/>
          </p:spPr>
          <p:txBody>
            <a:bodyPr wrap="none" anchor="ctr"/>
            <a:lstStyle/>
            <a:p>
              <a:endParaRPr lang="es-ES">
                <a:latin typeface="Comic Sans MS" panose="030F0702030302020204" pitchFamily="66" charset="0"/>
              </a:endParaRPr>
            </a:p>
          </p:txBody>
        </p:sp>
        <p:sp>
          <p:nvSpPr>
            <p:cNvPr id="12" name="Line 7">
              <a:extLst>
                <a:ext uri="{FF2B5EF4-FFF2-40B4-BE49-F238E27FC236}">
                  <a16:creationId xmlns:a16="http://schemas.microsoft.com/office/drawing/2014/main" id="{08FC307F-59C3-3087-EEA4-2F281F456FFC}"/>
                </a:ext>
              </a:extLst>
            </p:cNvPr>
            <p:cNvSpPr>
              <a:spLocks noChangeShapeType="1"/>
            </p:cNvSpPr>
            <p:nvPr/>
          </p:nvSpPr>
          <p:spPr bwMode="auto">
            <a:xfrm>
              <a:off x="8122167" y="3197143"/>
              <a:ext cx="0" cy="533400"/>
            </a:xfrm>
            <a:prstGeom prst="line">
              <a:avLst/>
            </a:prstGeom>
            <a:noFill/>
            <a:ln w="127000">
              <a:solidFill>
                <a:srgbClr val="652828"/>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13" name="Line 8">
              <a:extLst>
                <a:ext uri="{FF2B5EF4-FFF2-40B4-BE49-F238E27FC236}">
                  <a16:creationId xmlns:a16="http://schemas.microsoft.com/office/drawing/2014/main" id="{41375C25-509F-AEF2-DED9-B7B89187DEF2}"/>
                </a:ext>
              </a:extLst>
            </p:cNvPr>
            <p:cNvSpPr>
              <a:spLocks noChangeShapeType="1"/>
            </p:cNvSpPr>
            <p:nvPr/>
          </p:nvSpPr>
          <p:spPr bwMode="auto">
            <a:xfrm>
              <a:off x="8122167" y="2108638"/>
              <a:ext cx="0" cy="533400"/>
            </a:xfrm>
            <a:prstGeom prst="line">
              <a:avLst/>
            </a:prstGeom>
            <a:noFill/>
            <a:ln w="127000">
              <a:solidFill>
                <a:srgbClr val="652828"/>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14" name="Rectangle 9">
              <a:extLst>
                <a:ext uri="{FF2B5EF4-FFF2-40B4-BE49-F238E27FC236}">
                  <a16:creationId xmlns:a16="http://schemas.microsoft.com/office/drawing/2014/main" id="{87EFF112-2878-CF67-BE9E-DB1527032ADB}"/>
                </a:ext>
              </a:extLst>
            </p:cNvPr>
            <p:cNvSpPr>
              <a:spLocks noChangeArrowheads="1"/>
            </p:cNvSpPr>
            <p:nvPr/>
          </p:nvSpPr>
          <p:spPr bwMode="auto">
            <a:xfrm>
              <a:off x="6801367" y="4835990"/>
              <a:ext cx="2641600" cy="762000"/>
            </a:xfrm>
            <a:prstGeom prst="rect">
              <a:avLst/>
            </a:prstGeom>
            <a:noFill/>
            <a:ln w="9525">
              <a:noFill/>
              <a:miter lim="800000"/>
              <a:headEnd/>
              <a:tailEnd/>
            </a:ln>
            <a:effectLst/>
          </p:spPr>
          <p:txBody>
            <a:bodyPr wrap="none" anchor="ctr"/>
            <a:lstStyle/>
            <a:p>
              <a:endParaRPr lang="es-ES">
                <a:latin typeface="Comic Sans MS" panose="030F0702030302020204" pitchFamily="66" charset="0"/>
              </a:endParaRPr>
            </a:p>
          </p:txBody>
        </p:sp>
        <p:sp>
          <p:nvSpPr>
            <p:cNvPr id="15" name="Rectangle 10">
              <a:extLst>
                <a:ext uri="{FF2B5EF4-FFF2-40B4-BE49-F238E27FC236}">
                  <a16:creationId xmlns:a16="http://schemas.microsoft.com/office/drawing/2014/main" id="{7ED6AE27-085C-E427-DE84-235263CF6F2E}"/>
                </a:ext>
              </a:extLst>
            </p:cNvPr>
            <p:cNvSpPr>
              <a:spLocks noChangeArrowheads="1"/>
            </p:cNvSpPr>
            <p:nvPr/>
          </p:nvSpPr>
          <p:spPr bwMode="auto">
            <a:xfrm>
              <a:off x="6801367" y="2573803"/>
              <a:ext cx="2641600" cy="762000"/>
            </a:xfrm>
            <a:prstGeom prst="rect">
              <a:avLst/>
            </a:prstGeom>
            <a:noFill/>
            <a:ln w="9525">
              <a:noFill/>
              <a:miter lim="800000"/>
              <a:headEnd/>
              <a:tailEnd/>
            </a:ln>
            <a:effectLst/>
          </p:spPr>
          <p:txBody>
            <a:bodyPr wrap="none" anchor="ctr"/>
            <a:lstStyle/>
            <a:p>
              <a:endParaRPr lang="es-ES">
                <a:latin typeface="Comic Sans MS" panose="030F0702030302020204" pitchFamily="66" charset="0"/>
              </a:endParaRPr>
            </a:p>
          </p:txBody>
        </p:sp>
        <p:sp>
          <p:nvSpPr>
            <p:cNvPr id="16" name="Rectangle 11">
              <a:extLst>
                <a:ext uri="{FF2B5EF4-FFF2-40B4-BE49-F238E27FC236}">
                  <a16:creationId xmlns:a16="http://schemas.microsoft.com/office/drawing/2014/main" id="{47B75F73-CA7D-90F3-6C33-47F68C670056}"/>
                </a:ext>
              </a:extLst>
            </p:cNvPr>
            <p:cNvSpPr>
              <a:spLocks noChangeArrowheads="1"/>
            </p:cNvSpPr>
            <p:nvPr/>
          </p:nvSpPr>
          <p:spPr bwMode="auto">
            <a:xfrm>
              <a:off x="6801367" y="3654890"/>
              <a:ext cx="2641600" cy="762000"/>
            </a:xfrm>
            <a:prstGeom prst="rect">
              <a:avLst/>
            </a:prstGeom>
            <a:noFill/>
            <a:ln w="9525">
              <a:noFill/>
              <a:miter lim="800000"/>
              <a:headEnd/>
              <a:tailEnd/>
            </a:ln>
            <a:effectLst/>
          </p:spPr>
          <p:txBody>
            <a:bodyPr wrap="none" anchor="ctr"/>
            <a:lstStyle/>
            <a:p>
              <a:endParaRPr lang="es-ES">
                <a:latin typeface="Comic Sans MS" panose="030F0702030302020204" pitchFamily="66" charset="0"/>
              </a:endParaRPr>
            </a:p>
          </p:txBody>
        </p:sp>
        <p:sp>
          <p:nvSpPr>
            <p:cNvPr id="17" name="Rectangle 12">
              <a:extLst>
                <a:ext uri="{FF2B5EF4-FFF2-40B4-BE49-F238E27FC236}">
                  <a16:creationId xmlns:a16="http://schemas.microsoft.com/office/drawing/2014/main" id="{7B062B79-9101-1BCA-3F60-C957F0F37038}"/>
                </a:ext>
              </a:extLst>
            </p:cNvPr>
            <p:cNvSpPr>
              <a:spLocks noChangeArrowheads="1"/>
            </p:cNvSpPr>
            <p:nvPr/>
          </p:nvSpPr>
          <p:spPr bwMode="auto">
            <a:xfrm>
              <a:off x="6801367" y="1440328"/>
              <a:ext cx="2641600" cy="762000"/>
            </a:xfrm>
            <a:prstGeom prst="rect">
              <a:avLst/>
            </a:prstGeom>
            <a:noFill/>
            <a:ln w="9525">
              <a:noFill/>
              <a:miter lim="800000"/>
              <a:headEnd/>
              <a:tailEnd/>
            </a:ln>
            <a:effectLst/>
          </p:spPr>
          <p:txBody>
            <a:bodyPr wrap="none" anchor="ctr"/>
            <a:lstStyle/>
            <a:p>
              <a:endParaRPr lang="es-ES">
                <a:latin typeface="Comic Sans MS" panose="030F0702030302020204" pitchFamily="66" charset="0"/>
              </a:endParaRPr>
            </a:p>
          </p:txBody>
        </p:sp>
        <p:sp>
          <p:nvSpPr>
            <p:cNvPr id="18" name="Rectangle 13">
              <a:extLst>
                <a:ext uri="{FF2B5EF4-FFF2-40B4-BE49-F238E27FC236}">
                  <a16:creationId xmlns:a16="http://schemas.microsoft.com/office/drawing/2014/main" id="{4F1A94AC-B11E-BEBD-226F-7E9827EA8B90}"/>
                </a:ext>
              </a:extLst>
            </p:cNvPr>
            <p:cNvSpPr>
              <a:spLocks noChangeArrowheads="1"/>
            </p:cNvSpPr>
            <p:nvPr/>
          </p:nvSpPr>
          <p:spPr bwMode="auto">
            <a:xfrm>
              <a:off x="6783905" y="1653053"/>
              <a:ext cx="2659062" cy="342018"/>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000" b="1">
                  <a:effectLst>
                    <a:outerShdw blurRad="38100" dist="38100" dir="2700000" algn="tl">
                      <a:srgbClr val="C0C0C0"/>
                    </a:outerShdw>
                  </a:effectLst>
                  <a:latin typeface="Comic Sans MS" panose="030F0702030302020204" pitchFamily="66" charset="0"/>
                </a:rPr>
                <a:t>Demográficas</a:t>
              </a:r>
            </a:p>
          </p:txBody>
        </p:sp>
        <p:sp>
          <p:nvSpPr>
            <p:cNvPr id="19" name="Rectangle 14">
              <a:extLst>
                <a:ext uri="{FF2B5EF4-FFF2-40B4-BE49-F238E27FC236}">
                  <a16:creationId xmlns:a16="http://schemas.microsoft.com/office/drawing/2014/main" id="{03B8910E-5D7F-3090-DC70-1FB726B0CA43}"/>
                </a:ext>
              </a:extLst>
            </p:cNvPr>
            <p:cNvSpPr>
              <a:spLocks noChangeArrowheads="1"/>
            </p:cNvSpPr>
            <p:nvPr/>
          </p:nvSpPr>
          <p:spPr bwMode="auto">
            <a:xfrm>
              <a:off x="6783905" y="3853328"/>
              <a:ext cx="2659062" cy="342018"/>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000" b="1">
                  <a:effectLst>
                    <a:outerShdw blurRad="38100" dist="38100" dir="2700000" algn="tl">
                      <a:srgbClr val="C0C0C0"/>
                    </a:outerShdw>
                  </a:effectLst>
                  <a:latin typeface="Comic Sans MS" panose="030F0702030302020204" pitchFamily="66" charset="0"/>
                </a:rPr>
                <a:t>Psicográficas</a:t>
              </a:r>
            </a:p>
          </p:txBody>
        </p:sp>
        <p:sp>
          <p:nvSpPr>
            <p:cNvPr id="20" name="Rectangle 15">
              <a:extLst>
                <a:ext uri="{FF2B5EF4-FFF2-40B4-BE49-F238E27FC236}">
                  <a16:creationId xmlns:a16="http://schemas.microsoft.com/office/drawing/2014/main" id="{6DA1D048-531C-2EF5-A80A-0E6FB67F5AAA}"/>
                </a:ext>
              </a:extLst>
            </p:cNvPr>
            <p:cNvSpPr>
              <a:spLocks noChangeArrowheads="1"/>
            </p:cNvSpPr>
            <p:nvPr/>
          </p:nvSpPr>
          <p:spPr bwMode="auto">
            <a:xfrm>
              <a:off x="6720405" y="4907428"/>
              <a:ext cx="3136900" cy="588239"/>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000" b="1">
                  <a:effectLst>
                    <a:outerShdw blurRad="38100" dist="38100" dir="2700000" algn="tl">
                      <a:srgbClr val="C0C0C0"/>
                    </a:outerShdw>
                  </a:effectLst>
                  <a:latin typeface="Comic Sans MS" panose="030F0702030302020204" pitchFamily="66" charset="0"/>
                </a:rPr>
                <a:t>De</a:t>
              </a:r>
            </a:p>
            <a:p>
              <a:pPr algn="ctr" defTabSz="762000">
                <a:lnSpc>
                  <a:spcPct val="80000"/>
                </a:lnSpc>
              </a:pPr>
              <a:r>
                <a:rPr lang="es-ES_tradnl" sz="2000" b="1">
                  <a:effectLst>
                    <a:outerShdw blurRad="38100" dist="38100" dir="2700000" algn="tl">
                      <a:srgbClr val="C0C0C0"/>
                    </a:outerShdw>
                  </a:effectLst>
                  <a:latin typeface="Comic Sans MS" panose="030F0702030302020204" pitchFamily="66" charset="0"/>
                </a:rPr>
                <a:t>comportamiento</a:t>
              </a:r>
            </a:p>
          </p:txBody>
        </p:sp>
        <p:sp>
          <p:nvSpPr>
            <p:cNvPr id="21" name="Rectangle 16">
              <a:extLst>
                <a:ext uri="{FF2B5EF4-FFF2-40B4-BE49-F238E27FC236}">
                  <a16:creationId xmlns:a16="http://schemas.microsoft.com/office/drawing/2014/main" id="{999C231F-74B5-6B16-1B6B-085B29BC5F94}"/>
                </a:ext>
              </a:extLst>
            </p:cNvPr>
            <p:cNvSpPr>
              <a:spLocks noChangeArrowheads="1"/>
            </p:cNvSpPr>
            <p:nvPr/>
          </p:nvSpPr>
          <p:spPr bwMode="auto">
            <a:xfrm>
              <a:off x="6783905" y="2786528"/>
              <a:ext cx="2659062" cy="342018"/>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000" b="1">
                  <a:effectLst>
                    <a:outerShdw blurRad="38100" dist="38100" dir="2700000" algn="tl">
                      <a:srgbClr val="C0C0C0"/>
                    </a:outerShdw>
                  </a:effectLst>
                  <a:latin typeface="Comic Sans MS" panose="030F0702030302020204" pitchFamily="66" charset="0"/>
                </a:rPr>
                <a:t>Geográficas</a:t>
              </a:r>
            </a:p>
          </p:txBody>
        </p:sp>
        <p:sp>
          <p:nvSpPr>
            <p:cNvPr id="22" name="Rectangle 17">
              <a:extLst>
                <a:ext uri="{FF2B5EF4-FFF2-40B4-BE49-F238E27FC236}">
                  <a16:creationId xmlns:a16="http://schemas.microsoft.com/office/drawing/2014/main" id="{4E0AAA9D-C240-E219-C849-678AF29EE351}"/>
                </a:ext>
              </a:extLst>
            </p:cNvPr>
            <p:cNvSpPr>
              <a:spLocks noChangeArrowheads="1"/>
            </p:cNvSpPr>
            <p:nvPr/>
          </p:nvSpPr>
          <p:spPr bwMode="auto">
            <a:xfrm>
              <a:off x="1519755" y="2348164"/>
              <a:ext cx="3219450" cy="2259722"/>
            </a:xfrm>
            <a:prstGeom prst="rect">
              <a:avLst/>
            </a:prstGeom>
            <a:noFill/>
            <a:ln w="9525">
              <a:solidFill>
                <a:schemeClr val="tx1"/>
              </a:solidFill>
              <a:miter lim="800000"/>
              <a:headEnd/>
              <a:tailEnd/>
            </a:ln>
            <a:effectLst/>
          </p:spPr>
          <p:txBody>
            <a:bodyPr wrap="square" lIns="92075" tIns="46038" rIns="92075" bIns="46038">
              <a:spAutoFit/>
            </a:bodyPr>
            <a:lstStyle/>
            <a:p>
              <a:pPr algn="ctr" defTabSz="762000">
                <a:lnSpc>
                  <a:spcPct val="160000"/>
                </a:lnSpc>
              </a:pPr>
              <a:r>
                <a:rPr lang="es-ES_tradnl" sz="2200" b="1" dirty="0">
                  <a:effectLst>
                    <a:outerShdw blurRad="38100" dist="38100" dir="2700000" algn="tl">
                      <a:srgbClr val="C0C0C0"/>
                    </a:outerShdw>
                  </a:effectLst>
                  <a:latin typeface="Comic Sans MS" panose="030F0702030302020204" pitchFamily="66" charset="0"/>
                </a:rPr>
                <a:t>VARIABLES PARA SEGMENTAR MERCADOS</a:t>
              </a:r>
            </a:p>
            <a:p>
              <a:pPr algn="ctr" defTabSz="762000">
                <a:lnSpc>
                  <a:spcPct val="160000"/>
                </a:lnSpc>
              </a:pPr>
              <a:r>
                <a:rPr lang="es-ES_tradnl" sz="2200" b="1" dirty="0">
                  <a:effectLst>
                    <a:outerShdw blurRad="38100" dist="38100" dir="2700000" algn="tl">
                      <a:srgbClr val="C0C0C0"/>
                    </a:outerShdw>
                  </a:effectLst>
                  <a:latin typeface="Comic Sans MS" panose="030F0702030302020204" pitchFamily="66" charset="0"/>
                </a:rPr>
                <a:t>DE CONSUMO</a:t>
              </a:r>
            </a:p>
          </p:txBody>
        </p:sp>
        <p:sp>
          <p:nvSpPr>
            <p:cNvPr id="23" name="Line 18">
              <a:extLst>
                <a:ext uri="{FF2B5EF4-FFF2-40B4-BE49-F238E27FC236}">
                  <a16:creationId xmlns:a16="http://schemas.microsoft.com/office/drawing/2014/main" id="{6F141CE1-01C5-8E74-4821-13E221010699}"/>
                </a:ext>
              </a:extLst>
            </p:cNvPr>
            <p:cNvSpPr>
              <a:spLocks noChangeShapeType="1"/>
            </p:cNvSpPr>
            <p:nvPr/>
          </p:nvSpPr>
          <p:spPr bwMode="auto">
            <a:xfrm>
              <a:off x="8157092" y="4287418"/>
              <a:ext cx="0" cy="533400"/>
            </a:xfrm>
            <a:prstGeom prst="line">
              <a:avLst/>
            </a:prstGeom>
            <a:noFill/>
            <a:ln w="127000">
              <a:solidFill>
                <a:srgbClr val="652828"/>
              </a:solidFill>
              <a:round/>
              <a:headEnd type="none" w="sm" len="sm"/>
              <a:tailEnd type="stealth" w="med" len="lg"/>
            </a:ln>
            <a:effectLst/>
          </p:spPr>
          <p:txBody>
            <a:bodyPr wrap="none" anchor="ctr"/>
            <a:lstStyle/>
            <a:p>
              <a:endParaRPr lang="es-ES">
                <a:latin typeface="Comic Sans MS" panose="030F0702030302020204" pitchFamily="66" charset="0"/>
              </a:endParaRPr>
            </a:p>
          </p:txBody>
        </p:sp>
        <p:sp>
          <p:nvSpPr>
            <p:cNvPr id="24" name="Rectangle 20">
              <a:extLst>
                <a:ext uri="{FF2B5EF4-FFF2-40B4-BE49-F238E27FC236}">
                  <a16:creationId xmlns:a16="http://schemas.microsoft.com/office/drawing/2014/main" id="{F64DBBD1-06D2-D87C-C4B2-D419AA9007F6}"/>
                </a:ext>
              </a:extLst>
            </p:cNvPr>
            <p:cNvSpPr>
              <a:spLocks noChangeArrowheads="1"/>
            </p:cNvSpPr>
            <p:nvPr/>
          </p:nvSpPr>
          <p:spPr bwMode="auto">
            <a:xfrm rot="5400000">
              <a:off x="9034980" y="2538878"/>
              <a:ext cx="2641600" cy="762000"/>
            </a:xfrm>
            <a:prstGeom prst="rect">
              <a:avLst/>
            </a:prstGeom>
            <a:noFill/>
            <a:ln w="9525">
              <a:solidFill>
                <a:srgbClr val="000099"/>
              </a:solidFill>
              <a:miter lim="800000"/>
              <a:headEnd/>
              <a:tailEnd/>
            </a:ln>
            <a:effectLst/>
          </p:spPr>
          <p:txBody>
            <a:bodyPr wrap="none" anchor="ctr"/>
            <a:lstStyle/>
            <a:p>
              <a:endParaRPr lang="es-ES">
                <a:latin typeface="Comic Sans MS" panose="030F0702030302020204" pitchFamily="66" charset="0"/>
              </a:endParaRPr>
            </a:p>
          </p:txBody>
        </p:sp>
        <p:sp>
          <p:nvSpPr>
            <p:cNvPr id="25" name="Rectangle 21">
              <a:extLst>
                <a:ext uri="{FF2B5EF4-FFF2-40B4-BE49-F238E27FC236}">
                  <a16:creationId xmlns:a16="http://schemas.microsoft.com/office/drawing/2014/main" id="{FA08B9A3-B081-FFE8-81FD-D06F3243E3F6}"/>
                </a:ext>
              </a:extLst>
            </p:cNvPr>
            <p:cNvSpPr>
              <a:spLocks noChangeArrowheads="1"/>
            </p:cNvSpPr>
            <p:nvPr/>
          </p:nvSpPr>
          <p:spPr bwMode="auto">
            <a:xfrm rot="5400000">
              <a:off x="8994498" y="2726451"/>
              <a:ext cx="2659063" cy="388441"/>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400" b="1">
                  <a:latin typeface="Comic Sans MS" panose="030F0702030302020204" pitchFamily="66" charset="0"/>
                </a:rPr>
                <a:t>Genéricas</a:t>
              </a:r>
            </a:p>
          </p:txBody>
        </p:sp>
        <p:sp>
          <p:nvSpPr>
            <p:cNvPr id="26" name="Line 22">
              <a:extLst>
                <a:ext uri="{FF2B5EF4-FFF2-40B4-BE49-F238E27FC236}">
                  <a16:creationId xmlns:a16="http://schemas.microsoft.com/office/drawing/2014/main" id="{740D1D85-4CE1-1837-0823-AAA4CE919FF2}"/>
                </a:ext>
              </a:extLst>
            </p:cNvPr>
            <p:cNvSpPr>
              <a:spLocks noChangeShapeType="1"/>
            </p:cNvSpPr>
            <p:nvPr/>
          </p:nvSpPr>
          <p:spPr bwMode="auto">
            <a:xfrm flipH="1" flipV="1">
              <a:off x="9512817" y="1943565"/>
              <a:ext cx="431800" cy="215900"/>
            </a:xfrm>
            <a:prstGeom prst="line">
              <a:avLst/>
            </a:prstGeom>
            <a:noFill/>
            <a:ln w="9525">
              <a:solidFill>
                <a:schemeClr val="tx1"/>
              </a:solidFill>
              <a:round/>
              <a:headEnd/>
              <a:tailEnd type="triangle" w="med" len="med"/>
            </a:ln>
            <a:effectLst/>
          </p:spPr>
          <p:txBody>
            <a:bodyPr/>
            <a:lstStyle/>
            <a:p>
              <a:endParaRPr lang="es-ES">
                <a:latin typeface="Comic Sans MS" panose="030F0702030302020204" pitchFamily="66" charset="0"/>
              </a:endParaRPr>
            </a:p>
          </p:txBody>
        </p:sp>
        <p:sp>
          <p:nvSpPr>
            <p:cNvPr id="27" name="Line 23">
              <a:extLst>
                <a:ext uri="{FF2B5EF4-FFF2-40B4-BE49-F238E27FC236}">
                  <a16:creationId xmlns:a16="http://schemas.microsoft.com/office/drawing/2014/main" id="{DD039CF5-BAB1-A7D8-2C00-DA659BB4994D}"/>
                </a:ext>
              </a:extLst>
            </p:cNvPr>
            <p:cNvSpPr>
              <a:spLocks noChangeShapeType="1"/>
            </p:cNvSpPr>
            <p:nvPr/>
          </p:nvSpPr>
          <p:spPr bwMode="auto">
            <a:xfrm flipH="1">
              <a:off x="9584255" y="2951628"/>
              <a:ext cx="360362" cy="0"/>
            </a:xfrm>
            <a:prstGeom prst="line">
              <a:avLst/>
            </a:prstGeom>
            <a:noFill/>
            <a:ln w="9525">
              <a:solidFill>
                <a:schemeClr val="tx1"/>
              </a:solidFill>
              <a:round/>
              <a:headEnd/>
              <a:tailEnd type="triangle" w="med" len="med"/>
            </a:ln>
            <a:effectLst/>
          </p:spPr>
          <p:txBody>
            <a:bodyPr/>
            <a:lstStyle/>
            <a:p>
              <a:endParaRPr lang="es-ES">
                <a:latin typeface="Comic Sans MS" panose="030F0702030302020204" pitchFamily="66" charset="0"/>
              </a:endParaRPr>
            </a:p>
          </p:txBody>
        </p:sp>
        <p:sp>
          <p:nvSpPr>
            <p:cNvPr id="28" name="Line 24">
              <a:extLst>
                <a:ext uri="{FF2B5EF4-FFF2-40B4-BE49-F238E27FC236}">
                  <a16:creationId xmlns:a16="http://schemas.microsoft.com/office/drawing/2014/main" id="{456AAA2D-6DEA-0AA3-6D0A-485F4F27E503}"/>
                </a:ext>
              </a:extLst>
            </p:cNvPr>
            <p:cNvSpPr>
              <a:spLocks noChangeShapeType="1"/>
            </p:cNvSpPr>
            <p:nvPr/>
          </p:nvSpPr>
          <p:spPr bwMode="auto">
            <a:xfrm flipH="1">
              <a:off x="9584255" y="3743790"/>
              <a:ext cx="360362" cy="287338"/>
            </a:xfrm>
            <a:prstGeom prst="line">
              <a:avLst/>
            </a:prstGeom>
            <a:noFill/>
            <a:ln w="9525">
              <a:solidFill>
                <a:schemeClr val="tx1"/>
              </a:solidFill>
              <a:round/>
              <a:headEnd/>
              <a:tailEnd type="triangle" w="med" len="med"/>
            </a:ln>
            <a:effectLst/>
          </p:spPr>
          <p:txBody>
            <a:bodyPr/>
            <a:lstStyle/>
            <a:p>
              <a:endParaRPr lang="es-ES">
                <a:latin typeface="Comic Sans MS" panose="030F0702030302020204" pitchFamily="66" charset="0"/>
              </a:endParaRPr>
            </a:p>
          </p:txBody>
        </p:sp>
        <p:sp>
          <p:nvSpPr>
            <p:cNvPr id="29" name="Rectangle 25">
              <a:extLst>
                <a:ext uri="{FF2B5EF4-FFF2-40B4-BE49-F238E27FC236}">
                  <a16:creationId xmlns:a16="http://schemas.microsoft.com/office/drawing/2014/main" id="{FFC0BFCA-8318-7121-CA62-1E157EBA6530}"/>
                </a:ext>
              </a:extLst>
            </p:cNvPr>
            <p:cNvSpPr>
              <a:spLocks noChangeArrowheads="1"/>
            </p:cNvSpPr>
            <p:nvPr/>
          </p:nvSpPr>
          <p:spPr bwMode="auto">
            <a:xfrm>
              <a:off x="6775967" y="5904378"/>
              <a:ext cx="2641600" cy="762000"/>
            </a:xfrm>
            <a:prstGeom prst="rect">
              <a:avLst/>
            </a:prstGeom>
            <a:noFill/>
            <a:ln w="9525">
              <a:solidFill>
                <a:srgbClr val="000099"/>
              </a:solidFill>
              <a:miter lim="800000"/>
              <a:headEnd/>
              <a:tailEnd/>
            </a:ln>
            <a:effectLst/>
          </p:spPr>
          <p:txBody>
            <a:bodyPr wrap="none" anchor="ctr"/>
            <a:lstStyle/>
            <a:p>
              <a:endParaRPr lang="es-ES">
                <a:latin typeface="Comic Sans MS" panose="030F0702030302020204" pitchFamily="66" charset="0"/>
              </a:endParaRPr>
            </a:p>
          </p:txBody>
        </p:sp>
        <p:sp>
          <p:nvSpPr>
            <p:cNvPr id="30" name="Rectangle 26">
              <a:extLst>
                <a:ext uri="{FF2B5EF4-FFF2-40B4-BE49-F238E27FC236}">
                  <a16:creationId xmlns:a16="http://schemas.microsoft.com/office/drawing/2014/main" id="{0357BBFC-E3DF-EE30-4CDB-428F9C830F59}"/>
                </a:ext>
              </a:extLst>
            </p:cNvPr>
            <p:cNvSpPr>
              <a:spLocks noChangeArrowheads="1"/>
            </p:cNvSpPr>
            <p:nvPr/>
          </p:nvSpPr>
          <p:spPr bwMode="auto">
            <a:xfrm>
              <a:off x="6560067" y="6144090"/>
              <a:ext cx="3136900" cy="388441"/>
            </a:xfrm>
            <a:prstGeom prst="rect">
              <a:avLst/>
            </a:prstGeom>
            <a:noFill/>
            <a:ln w="9525">
              <a:noFill/>
              <a:miter lim="800000"/>
              <a:headEnd/>
              <a:tailEnd/>
            </a:ln>
            <a:effectLst/>
          </p:spPr>
          <p:txBody>
            <a:bodyPr lIns="92075" tIns="46038" rIns="92075" bIns="46038">
              <a:spAutoFit/>
            </a:bodyPr>
            <a:lstStyle/>
            <a:p>
              <a:pPr algn="ctr" defTabSz="762000">
                <a:lnSpc>
                  <a:spcPct val="80000"/>
                </a:lnSpc>
              </a:pPr>
              <a:r>
                <a:rPr lang="es-ES_tradnl" sz="2400" b="1">
                  <a:latin typeface="Comic Sans MS" panose="030F0702030302020204" pitchFamily="66" charset="0"/>
                </a:rPr>
                <a:t>Específicas</a:t>
              </a:r>
            </a:p>
          </p:txBody>
        </p:sp>
        <p:sp>
          <p:nvSpPr>
            <p:cNvPr id="31" name="Line 27">
              <a:extLst>
                <a:ext uri="{FF2B5EF4-FFF2-40B4-BE49-F238E27FC236}">
                  <a16:creationId xmlns:a16="http://schemas.microsoft.com/office/drawing/2014/main" id="{C292A86D-751C-6C12-40A0-1347135B4947}"/>
                </a:ext>
              </a:extLst>
            </p:cNvPr>
            <p:cNvSpPr>
              <a:spLocks noChangeShapeType="1"/>
            </p:cNvSpPr>
            <p:nvPr/>
          </p:nvSpPr>
          <p:spPr bwMode="auto">
            <a:xfrm>
              <a:off x="8144392" y="5603975"/>
              <a:ext cx="0" cy="287338"/>
            </a:xfrm>
            <a:prstGeom prst="line">
              <a:avLst/>
            </a:prstGeom>
            <a:noFill/>
            <a:ln w="9525">
              <a:solidFill>
                <a:schemeClr val="tx1"/>
              </a:solidFill>
              <a:round/>
              <a:headEnd/>
              <a:tailEnd type="triangle" w="med" len="med"/>
            </a:ln>
            <a:effectLst/>
          </p:spPr>
          <p:txBody>
            <a:bodyPr/>
            <a:lstStyle/>
            <a:p>
              <a:endParaRPr lang="es-ES">
                <a:latin typeface="Comic Sans MS" panose="030F0702030302020204" pitchFamily="66" charset="0"/>
              </a:endParaRPr>
            </a:p>
          </p:txBody>
        </p:sp>
        <p:sp>
          <p:nvSpPr>
            <p:cNvPr id="32" name="Rectangle 29">
              <a:extLst>
                <a:ext uri="{FF2B5EF4-FFF2-40B4-BE49-F238E27FC236}">
                  <a16:creationId xmlns:a16="http://schemas.microsoft.com/office/drawing/2014/main" id="{2D9C4BAC-DEDF-FFC2-3163-226558590A15}"/>
                </a:ext>
              </a:extLst>
            </p:cNvPr>
            <p:cNvSpPr>
              <a:spLocks noChangeArrowheads="1"/>
            </p:cNvSpPr>
            <p:nvPr/>
          </p:nvSpPr>
          <p:spPr bwMode="auto">
            <a:xfrm>
              <a:off x="6633092" y="1222840"/>
              <a:ext cx="2879725" cy="3313113"/>
            </a:xfrm>
            <a:prstGeom prst="rect">
              <a:avLst/>
            </a:prstGeom>
            <a:noFill/>
            <a:ln w="9525">
              <a:solidFill>
                <a:schemeClr val="tx1"/>
              </a:solidFill>
              <a:miter lim="800000"/>
              <a:headEnd/>
              <a:tailEnd/>
            </a:ln>
            <a:effectLst/>
          </p:spPr>
          <p:txBody>
            <a:bodyPr wrap="none" anchor="ctr"/>
            <a:lstStyle/>
            <a:p>
              <a:endParaRPr lang="es-ES">
                <a:latin typeface="Comic Sans MS" panose="030F0702030302020204" pitchFamily="66" charset="0"/>
              </a:endParaRPr>
            </a:p>
          </p:txBody>
        </p:sp>
        <p:sp>
          <p:nvSpPr>
            <p:cNvPr id="33" name="Rectangle 30">
              <a:extLst>
                <a:ext uri="{FF2B5EF4-FFF2-40B4-BE49-F238E27FC236}">
                  <a16:creationId xmlns:a16="http://schemas.microsoft.com/office/drawing/2014/main" id="{69278055-8909-480A-2764-F6A2E13992E9}"/>
                </a:ext>
              </a:extLst>
            </p:cNvPr>
            <p:cNvSpPr>
              <a:spLocks noChangeArrowheads="1"/>
            </p:cNvSpPr>
            <p:nvPr/>
          </p:nvSpPr>
          <p:spPr bwMode="auto">
            <a:xfrm>
              <a:off x="6633092" y="4751853"/>
              <a:ext cx="2879725" cy="936625"/>
            </a:xfrm>
            <a:prstGeom prst="rect">
              <a:avLst/>
            </a:prstGeom>
            <a:noFill/>
            <a:ln w="9525">
              <a:solidFill>
                <a:schemeClr val="tx1"/>
              </a:solidFill>
              <a:miter lim="800000"/>
              <a:headEnd/>
              <a:tailEnd/>
            </a:ln>
            <a:effectLst/>
          </p:spPr>
          <p:txBody>
            <a:bodyPr wrap="none" anchor="ctr"/>
            <a:lstStyle/>
            <a:p>
              <a:endParaRPr lang="es-ES">
                <a:latin typeface="Comic Sans MS" panose="030F0702030302020204" pitchFamily="66" charset="0"/>
              </a:endParaRPr>
            </a:p>
          </p:txBody>
        </p:sp>
      </p:grpSp>
    </p:spTree>
    <p:extLst>
      <p:ext uri="{BB962C8B-B14F-4D97-AF65-F5344CB8AC3E}">
        <p14:creationId xmlns:p14="http://schemas.microsoft.com/office/powerpoint/2010/main" val="81259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7" name="CuadroTexto 6">
            <a:extLst>
              <a:ext uri="{FF2B5EF4-FFF2-40B4-BE49-F238E27FC236}">
                <a16:creationId xmlns:a16="http://schemas.microsoft.com/office/drawing/2014/main" id="{BDCADBA6-4DD3-436B-A3CB-B0A2DCB061AB}"/>
              </a:ext>
            </a:extLst>
          </p:cNvPr>
          <p:cNvSpPr txBox="1"/>
          <p:nvPr/>
        </p:nvSpPr>
        <p:spPr>
          <a:xfrm>
            <a:off x="556591" y="67618"/>
            <a:ext cx="11621341" cy="954107"/>
          </a:xfrm>
          <a:prstGeom prst="rect">
            <a:avLst/>
          </a:prstGeom>
          <a:noFill/>
        </p:spPr>
        <p:txBody>
          <a:bodyPr wrap="square" rtlCol="0">
            <a:spAutoFit/>
          </a:bodyPr>
          <a:lstStyle/>
          <a:p>
            <a:pPr marL="514350" indent="-514350">
              <a:buFont typeface="+mj-lt"/>
              <a:buAutoNum type="arabicPeriod" startAt="2"/>
            </a:pPr>
            <a:r>
              <a:rPr lang="es-ES" sz="2800" b="1" dirty="0">
                <a:solidFill>
                  <a:schemeClr val="accent3"/>
                </a:solidFill>
                <a:latin typeface="Comic Sans MS" panose="030F0702030302020204" pitchFamily="66" charset="0"/>
              </a:rPr>
              <a:t>MARKETING ESTRATÉGICO. </a:t>
            </a:r>
            <a:r>
              <a:rPr lang="es-ES" altLang="es-ES" sz="2800" b="1" dirty="0">
                <a:solidFill>
                  <a:schemeClr val="accent3"/>
                </a:solidFill>
                <a:latin typeface="Comic Sans MS" panose="030F0702030302020204" pitchFamily="66" charset="0"/>
              </a:rPr>
              <a:t>Identificación del mercado y segmentación</a:t>
            </a:r>
            <a:endParaRPr lang="es-ES" sz="2800" dirty="0">
              <a:latin typeface="Comic Sans MS" panose="030F0702030302020204" pitchFamily="66" charset="0"/>
            </a:endParaRPr>
          </a:p>
        </p:txBody>
      </p:sp>
      <p:sp>
        <p:nvSpPr>
          <p:cNvPr id="34" name="CuadroTexto 33">
            <a:extLst>
              <a:ext uri="{FF2B5EF4-FFF2-40B4-BE49-F238E27FC236}">
                <a16:creationId xmlns:a16="http://schemas.microsoft.com/office/drawing/2014/main" id="{A5BC3594-64A5-4DD0-AB0D-1F2498848B5F}"/>
              </a:ext>
            </a:extLst>
          </p:cNvPr>
          <p:cNvSpPr txBox="1"/>
          <p:nvPr/>
        </p:nvSpPr>
        <p:spPr>
          <a:xfrm>
            <a:off x="1430593" y="982176"/>
            <a:ext cx="9748679" cy="4893647"/>
          </a:xfrm>
          <a:prstGeom prst="rect">
            <a:avLst/>
          </a:prstGeom>
          <a:noFill/>
        </p:spPr>
        <p:txBody>
          <a:bodyPr wrap="square" rtlCol="0">
            <a:spAutoFit/>
          </a:bodyPr>
          <a:lstStyle/>
          <a:p>
            <a:pPr marL="342900" indent="-342900">
              <a:buFont typeface="+mj-lt"/>
              <a:buAutoNum type="arabicPeriod"/>
            </a:pPr>
            <a:r>
              <a:rPr lang="es-ES" sz="2400" b="1" dirty="0">
                <a:latin typeface="Comic Sans MS" panose="030F0702030302020204" pitchFamily="66" charset="0"/>
              </a:rPr>
              <a:t>Estrategia de segmentación de Coca-Cola</a:t>
            </a:r>
            <a:r>
              <a:rPr lang="es-ES" sz="2400" dirty="0">
                <a:latin typeface="Comic Sans MS" panose="030F0702030302020204" pitchFamily="66" charset="0"/>
              </a:rPr>
              <a:t>: se dirige a los distintos segmentos con distintos productos. La tradicional para los más clásicos, la Zero para un público preocupado por la ingesta de calorías y el consumo de azúcar, Zero- Zero para aquellos que, además de lo anterior, no quiere ingerir cafeína.</a:t>
            </a:r>
          </a:p>
          <a:p>
            <a:pPr marL="342900" indent="-342900">
              <a:buFont typeface="+mj-lt"/>
              <a:buAutoNum type="arabicPeriod"/>
            </a:pPr>
            <a:endParaRPr lang="es-ES" sz="2400" dirty="0">
              <a:latin typeface="Comic Sans MS" panose="030F0702030302020204" pitchFamily="66" charset="0"/>
            </a:endParaRPr>
          </a:p>
          <a:p>
            <a:pPr marL="342900" indent="-342900">
              <a:buFont typeface="+mj-lt"/>
              <a:buAutoNum type="arabicPeriod"/>
            </a:pPr>
            <a:r>
              <a:rPr lang="es-ES" sz="2400" b="1" dirty="0">
                <a:latin typeface="Comic Sans MS" panose="030F0702030302020204" pitchFamily="66" charset="0"/>
              </a:rPr>
              <a:t>Estrategia de segmentación de L’Oreal</a:t>
            </a:r>
            <a:r>
              <a:rPr lang="es-ES" sz="2400" dirty="0">
                <a:latin typeface="Comic Sans MS" panose="030F0702030302020204" pitchFamily="66" charset="0"/>
              </a:rPr>
              <a:t>: En función del tipo de cliente y de dónde le gusta a éste realizar la compra de sus productos cosméticos,  L’Oreal  ha creado distintas marcas que comercializa en canales de distribución diferenciados para adaptarse mejor a cada segmento, como puede ser un tipo de cliente que prefiere comprar su crema facial en farmacia, otro en un supermercado y otro en una perfumería. </a:t>
            </a:r>
          </a:p>
        </p:txBody>
      </p:sp>
    </p:spTree>
    <p:extLst>
      <p:ext uri="{BB962C8B-B14F-4D97-AF65-F5344CB8AC3E}">
        <p14:creationId xmlns:p14="http://schemas.microsoft.com/office/powerpoint/2010/main" val="2543739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3C982DAE-DD41-A64F-D0E8-EB15B661A28C}"/>
              </a:ext>
            </a:extLst>
          </p:cNvPr>
          <p:cNvSpPr txBox="1"/>
          <p:nvPr/>
        </p:nvSpPr>
        <p:spPr>
          <a:xfrm>
            <a:off x="706581" y="816799"/>
            <a:ext cx="11270560" cy="6001643"/>
          </a:xfrm>
          <a:prstGeom prst="rect">
            <a:avLst/>
          </a:prstGeom>
          <a:noFill/>
        </p:spPr>
        <p:txBody>
          <a:bodyPr wrap="square" rtlCol="0">
            <a:spAutoFit/>
          </a:bodyPr>
          <a:lstStyle/>
          <a:p>
            <a:pPr marL="800100" lvl="1" indent="-342900">
              <a:buFont typeface="Wingdings" panose="05000000000000000000" pitchFamily="2" charset="2"/>
              <a:buChar char="ü"/>
            </a:pPr>
            <a:r>
              <a:rPr lang="es-ES" sz="2400" dirty="0">
                <a:effectLst>
                  <a:outerShdw blurRad="38100" dist="38100" dir="2700000" algn="tl">
                    <a:srgbClr val="000000">
                      <a:alpha val="43137"/>
                    </a:srgbClr>
                  </a:outerShdw>
                </a:effectLst>
                <a:latin typeface="Comic Sans MS" panose="030F0702030302020204" pitchFamily="66" charset="0"/>
              </a:rPr>
              <a:t>El </a:t>
            </a:r>
            <a:r>
              <a:rPr lang="es-ES" sz="2400" b="1" dirty="0">
                <a:effectLst>
                  <a:outerShdw blurRad="38100" dist="38100" dir="2700000" algn="tl">
                    <a:srgbClr val="000000">
                      <a:alpha val="43137"/>
                    </a:srgbClr>
                  </a:outerShdw>
                </a:effectLst>
                <a:latin typeface="Comic Sans MS" panose="030F0702030302020204" pitchFamily="66" charset="0"/>
              </a:rPr>
              <a:t>Marketing Operativo</a:t>
            </a:r>
            <a:r>
              <a:rPr lang="es-ES" sz="2400" dirty="0">
                <a:latin typeface="Comic Sans MS" panose="030F0702030302020204" pitchFamily="66" charset="0"/>
              </a:rPr>
              <a:t>: desciende al plano de la acción para hacer frente a la puesta en marcha de las estrategias del Marketing Estratégico.</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800100" lvl="1" indent="-342900">
              <a:buFont typeface="Wingdings" panose="05000000000000000000" pitchFamily="2" charset="2"/>
              <a:buChar char="ü"/>
            </a:pPr>
            <a:r>
              <a:rPr lang="es-ES" sz="2400" b="1" dirty="0">
                <a:latin typeface="Comic Sans MS" panose="030F0702030302020204" pitchFamily="66" charset="0"/>
              </a:rPr>
              <a:t>Tareas</a:t>
            </a:r>
            <a:r>
              <a:rPr lang="es-ES" sz="2400" dirty="0">
                <a:latin typeface="Comic Sans MS" panose="030F0702030302020204" pitchFamily="66" charset="0"/>
              </a:rPr>
              <a:t>:</a:t>
            </a:r>
          </a:p>
          <a:p>
            <a:pPr marL="800100" lvl="1" indent="-342900">
              <a:buFont typeface="Wingdings" panose="05000000000000000000" pitchFamily="2" charset="2"/>
              <a:buChar char="ü"/>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Traducir la estrategia de marketing en decisiones tácticas que contemple políticas de producto, precio, distribución y comunicación con las que estimular la demanda y favorecer la aceptación y compra del producto por el segmento</a:t>
            </a: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Asignar un presupuesto a cada una de las acciones comerciales</a:t>
            </a: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Precisar las características del producto ofertado, seleccionar los intermediarios a través de los que se va a distribuir, fijar un precio adecuado y especificar los medios de comunicación que se van a usar.</a:t>
            </a:r>
          </a:p>
        </p:txBody>
      </p:sp>
      <p:sp>
        <p:nvSpPr>
          <p:cNvPr id="7" name="CuadroTexto 6">
            <a:extLst>
              <a:ext uri="{FF2B5EF4-FFF2-40B4-BE49-F238E27FC236}">
                <a16:creationId xmlns:a16="http://schemas.microsoft.com/office/drawing/2014/main" id="{BDCADBA6-4DD3-436B-A3CB-B0A2DCB061AB}"/>
              </a:ext>
            </a:extLst>
          </p:cNvPr>
          <p:cNvSpPr txBox="1"/>
          <p:nvPr/>
        </p:nvSpPr>
        <p:spPr>
          <a:xfrm>
            <a:off x="706581" y="29992"/>
            <a:ext cx="11167367" cy="954107"/>
          </a:xfrm>
          <a:prstGeom prst="rect">
            <a:avLst/>
          </a:prstGeom>
          <a:noFill/>
        </p:spPr>
        <p:txBody>
          <a:bodyPr wrap="square" rtlCol="0">
            <a:spAutoFit/>
          </a:bodyPr>
          <a:lstStyle/>
          <a:p>
            <a:pPr marL="514350" indent="-514350">
              <a:buFont typeface="+mj-lt"/>
              <a:buAutoNum type="arabicPeriod" startAt="2"/>
            </a:pPr>
            <a:r>
              <a:rPr lang="es-ES" sz="2800" b="1" dirty="0">
                <a:solidFill>
                  <a:schemeClr val="accent3"/>
                </a:solidFill>
                <a:latin typeface="Comic Sans MS" panose="030F0702030302020204" pitchFamily="66" charset="0"/>
              </a:rPr>
              <a:t>MARKETING ESTRATÉGICO. </a:t>
            </a:r>
            <a:r>
              <a:rPr lang="es-ES" altLang="es-ES" sz="2800" b="1" dirty="0">
                <a:solidFill>
                  <a:schemeClr val="accent3"/>
                </a:solidFill>
                <a:latin typeface="Comic Sans MS" panose="030F0702030302020204" pitchFamily="66" charset="0"/>
              </a:rPr>
              <a:t>Identificación del mercado y segmentación</a:t>
            </a:r>
            <a:endParaRPr lang="es-ES" sz="2800" dirty="0">
              <a:latin typeface="Comic Sans MS" panose="030F0702030302020204" pitchFamily="66" charset="0"/>
            </a:endParaRPr>
          </a:p>
        </p:txBody>
      </p:sp>
    </p:spTree>
    <p:extLst>
      <p:ext uri="{BB962C8B-B14F-4D97-AF65-F5344CB8AC3E}">
        <p14:creationId xmlns:p14="http://schemas.microsoft.com/office/powerpoint/2010/main" val="419627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1847530" y="1196754"/>
            <a:ext cx="8424935" cy="2554545"/>
          </a:xfrm>
          <a:prstGeom prst="rect">
            <a:avLst/>
          </a:prstGeom>
          <a:noFill/>
        </p:spPr>
        <p:txBody>
          <a:bodyPr wrap="square" rtlCol="0">
            <a:spAutoFit/>
          </a:bodyPr>
          <a:lstStyle/>
          <a:p>
            <a:pPr algn="just"/>
            <a:r>
              <a:rPr lang="es-ES" sz="2000" dirty="0">
                <a:latin typeface="Comic Sans MS" panose="030F0702030302020204" pitchFamily="66" charset="0"/>
              </a:rPr>
              <a:t>El </a:t>
            </a:r>
            <a:r>
              <a:rPr lang="es-ES" sz="2000" b="1" dirty="0">
                <a:solidFill>
                  <a:srgbClr val="C00000"/>
                </a:solidFill>
                <a:latin typeface="Comic Sans MS" panose="030F0702030302020204" pitchFamily="66" charset="0"/>
              </a:rPr>
              <a:t>MARKETING MIX</a:t>
            </a:r>
            <a:r>
              <a:rPr lang="es-ES" sz="2000" b="1" dirty="0">
                <a:latin typeface="Comic Sans MS" panose="030F0702030302020204" pitchFamily="66" charset="0"/>
              </a:rPr>
              <a:t> </a:t>
            </a:r>
            <a:r>
              <a:rPr lang="es-ES" sz="2000" dirty="0">
                <a:latin typeface="Comic Sans MS" panose="030F0702030302020204" pitchFamily="66" charset="0"/>
              </a:rPr>
              <a:t>es un análisis de estrategia de aspectos internos, desarrollada comúnmente por las empresas para analizar cuatros variables básicas de su actividad: producto, precio, distribución y promoción.</a:t>
            </a:r>
          </a:p>
          <a:p>
            <a:pPr algn="just"/>
            <a:br>
              <a:rPr lang="es-ES" sz="2000" dirty="0">
                <a:latin typeface="Comic Sans MS" panose="030F0702030302020204" pitchFamily="66" charset="0"/>
              </a:rPr>
            </a:br>
            <a:r>
              <a:rPr lang="es-ES" sz="2000" dirty="0">
                <a:latin typeface="Comic Sans MS" panose="030F0702030302020204" pitchFamily="66" charset="0"/>
              </a:rPr>
              <a:t>El objetivo de aplicar este análisis es conocer la situación de la empresa y poder desarrollar una estrategia específica de posicionamiento posterior.</a:t>
            </a:r>
          </a:p>
        </p:txBody>
      </p:sp>
      <p:pic>
        <p:nvPicPr>
          <p:cNvPr id="4" name="Picture 6" descr="https://encrypted-tbn2.gstatic.com/images?q=tbn:ANd9GcRVeFzHVqIWDkIRJicdd1ldbAVFi3CrBRBflw3J4hW89Ke2IFkt-g"/>
          <p:cNvPicPr>
            <a:picLocks noChangeAspect="1" noChangeArrowheads="1"/>
          </p:cNvPicPr>
          <p:nvPr/>
        </p:nvPicPr>
        <p:blipFill>
          <a:blip r:embed="rId3" cstate="print"/>
          <a:srcRect/>
          <a:stretch>
            <a:fillRect/>
          </a:stretch>
        </p:blipFill>
        <p:spPr bwMode="auto">
          <a:xfrm>
            <a:off x="6528048" y="3573017"/>
            <a:ext cx="2880320" cy="2893179"/>
          </a:xfrm>
          <a:prstGeom prst="rect">
            <a:avLst/>
          </a:prstGeom>
          <a:noFill/>
        </p:spPr>
      </p:pic>
      <p:sp>
        <p:nvSpPr>
          <p:cNvPr id="5" name="4 Rectángulo"/>
          <p:cNvSpPr/>
          <p:nvPr/>
        </p:nvSpPr>
        <p:spPr>
          <a:xfrm>
            <a:off x="2135560" y="5229201"/>
            <a:ext cx="4248472" cy="1015663"/>
          </a:xfrm>
          <a:prstGeom prst="rect">
            <a:avLst/>
          </a:prstGeom>
        </p:spPr>
        <p:txBody>
          <a:bodyPr wrap="square">
            <a:spAutoFit/>
          </a:bodyPr>
          <a:lstStyle/>
          <a:p>
            <a:pPr algn="just"/>
            <a:r>
              <a:rPr lang="es-ES" sz="2000" dirty="0">
                <a:latin typeface="Comic Sans MS" panose="030F0702030302020204" pitchFamily="66" charset="0"/>
              </a:rPr>
              <a:t>Estrategia es también conocida como </a:t>
            </a:r>
            <a:r>
              <a:rPr lang="es-ES" sz="2000" b="1" dirty="0">
                <a:solidFill>
                  <a:srgbClr val="C00000"/>
                </a:solidFill>
                <a:latin typeface="Comic Sans MS" panose="030F0702030302020204" pitchFamily="66" charset="0"/>
              </a:rPr>
              <a:t>las "4Ps” </a:t>
            </a:r>
            <a:r>
              <a:rPr lang="es-ES" sz="2000" dirty="0">
                <a:latin typeface="Comic Sans MS" panose="030F0702030302020204" pitchFamily="66" charset="0"/>
              </a:rPr>
              <a:t>debido a su origen anglosajón.</a:t>
            </a:r>
          </a:p>
        </p:txBody>
      </p:sp>
      <p:sp>
        <p:nvSpPr>
          <p:cNvPr id="7" name="6 Marcador de número de diapositiva"/>
          <p:cNvSpPr>
            <a:spLocks noGrp="1"/>
          </p:cNvSpPr>
          <p:nvPr>
            <p:ph type="sldNum" sz="quarter" idx="12"/>
          </p:nvPr>
        </p:nvSpPr>
        <p:spPr/>
        <p:txBody>
          <a:bodyPr/>
          <a:lstStyle/>
          <a:p>
            <a:fld id="{70AA9B10-D414-4A58-B245-E95240800791}" type="slidenum">
              <a:rPr lang="es-ES" smtClean="0"/>
              <a:pPr/>
              <a:t>20</a:t>
            </a:fld>
            <a:endParaRPr lang="es-ES"/>
          </a:p>
        </p:txBody>
      </p:sp>
      <p:sp>
        <p:nvSpPr>
          <p:cNvPr id="8" name="Rectangle 4"/>
          <p:cNvSpPr>
            <a:spLocks noChangeArrowheads="1"/>
          </p:cNvSpPr>
          <p:nvPr/>
        </p:nvSpPr>
        <p:spPr bwMode="auto">
          <a:xfrm>
            <a:off x="1703388" y="221030"/>
            <a:ext cx="8964612" cy="459229"/>
          </a:xfrm>
          <a:prstGeom prst="rect">
            <a:avLst/>
          </a:prstGeom>
          <a:noFill/>
          <a:ln w="9525">
            <a:noFill/>
            <a:miter lim="800000"/>
            <a:headEnd/>
            <a:tailEnd/>
          </a:ln>
          <a:effectLst/>
        </p:spPr>
        <p:txBody>
          <a:bodyPr wrap="square" lIns="92075" tIns="46038" rIns="92075" bIns="46038">
            <a:spAutoFit/>
          </a:bodyPr>
          <a:lstStyle/>
          <a:p>
            <a:pPr eaLnBrk="0" hangingPunct="0">
              <a:lnSpc>
                <a:spcPct val="85000"/>
              </a:lnSpc>
            </a:pPr>
            <a:r>
              <a:rPr lang="es-ES" sz="2800" b="1" dirty="0">
                <a:solidFill>
                  <a:schemeClr val="accent3"/>
                </a:solidFill>
                <a:latin typeface="Comic Sans MS" panose="030F0702030302020204" pitchFamily="66" charset="0"/>
              </a:rPr>
              <a:t>3. MARKETING OPERATIVO. </a:t>
            </a:r>
            <a:endParaRPr lang="es-ES_tradnl" sz="2400" b="1" dirty="0">
              <a:solidFill>
                <a:srgbClr val="C00000"/>
              </a:solidFill>
              <a:latin typeface="Comic Sans MS" panose="030F0702030302020204" pitchFamily="66"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redondeado"/>
          <p:cNvSpPr/>
          <p:nvPr/>
        </p:nvSpPr>
        <p:spPr>
          <a:xfrm>
            <a:off x="2135560" y="980728"/>
            <a:ext cx="3744416" cy="26642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es-ES" sz="2000" b="1" dirty="0">
                <a:solidFill>
                  <a:schemeClr val="tx1"/>
                </a:solidFill>
                <a:latin typeface="Comic Sans MS" pitchFamily="66" charset="0"/>
              </a:rPr>
              <a:t>PRODUCTO</a:t>
            </a:r>
          </a:p>
          <a:p>
            <a:pPr lvl="0" algn="just"/>
            <a:r>
              <a:rPr lang="es-ES" sz="1600" dirty="0">
                <a:solidFill>
                  <a:schemeClr val="tx1"/>
                </a:solidFill>
                <a:latin typeface="Comic Sans MS" pitchFamily="66" charset="0"/>
              </a:rPr>
              <a:t>Engloba tanto el producto en sí, que satisface una determinada necesidad, como todos aquellos servicios suplementarios a ese producto: embalaje, atención al cliente, garantía, etc.</a:t>
            </a:r>
          </a:p>
        </p:txBody>
      </p:sp>
      <p:sp>
        <p:nvSpPr>
          <p:cNvPr id="6" name="5 Rectángulo redondeado"/>
          <p:cNvSpPr/>
          <p:nvPr/>
        </p:nvSpPr>
        <p:spPr>
          <a:xfrm>
            <a:off x="6456040" y="980728"/>
            <a:ext cx="3744000" cy="2664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solidFill>
                  <a:schemeClr val="tx1"/>
                </a:solidFill>
                <a:latin typeface="Comic Sans MS" pitchFamily="66" charset="0"/>
              </a:rPr>
              <a:t>PRECIO</a:t>
            </a:r>
          </a:p>
          <a:p>
            <a:pPr algn="just"/>
            <a:r>
              <a:rPr lang="es-ES" sz="1600" dirty="0">
                <a:solidFill>
                  <a:schemeClr val="tx1"/>
                </a:solidFill>
                <a:latin typeface="Comic Sans MS" pitchFamily="66" charset="0"/>
              </a:rPr>
              <a:t>Establece la información sobre el precio del producto al que la empresa lo ofrece en el mercado. Este elemento es muy competitivo en el mercado dado que, tiene un poder esencial sobre el consumidor. Además, es la única variable que genera ingresos.</a:t>
            </a:r>
          </a:p>
        </p:txBody>
      </p:sp>
      <p:sp>
        <p:nvSpPr>
          <p:cNvPr id="7" name="6 Rectángulo redondeado"/>
          <p:cNvSpPr/>
          <p:nvPr/>
        </p:nvSpPr>
        <p:spPr>
          <a:xfrm>
            <a:off x="2208008" y="3861360"/>
            <a:ext cx="3744000" cy="2664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solidFill>
                  <a:schemeClr val="tx1"/>
                </a:solidFill>
                <a:latin typeface="Comic Sans MS" pitchFamily="66" charset="0"/>
              </a:rPr>
              <a:t>DISTRIBUCIÓN</a:t>
            </a:r>
          </a:p>
          <a:p>
            <a:pPr algn="just"/>
            <a:r>
              <a:rPr lang="es-ES" sz="1600" dirty="0">
                <a:solidFill>
                  <a:schemeClr val="tx1"/>
                </a:solidFill>
                <a:latin typeface="Comic Sans MS" pitchFamily="66" charset="0"/>
              </a:rPr>
              <a:t>Analiza los canales que atraviesa un producto desde que se crea hasta que llega a las manos del consumidor. Incluye también la definición del almacenaje, de los puntos de venta, de la relación con los intermediarios, el poder de los mismos, etc.</a:t>
            </a:r>
          </a:p>
        </p:txBody>
      </p:sp>
      <p:sp>
        <p:nvSpPr>
          <p:cNvPr id="8" name="7 Rectángulo redondeado"/>
          <p:cNvSpPr/>
          <p:nvPr/>
        </p:nvSpPr>
        <p:spPr>
          <a:xfrm>
            <a:off x="6456040" y="3861048"/>
            <a:ext cx="3744000" cy="2664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2000" b="1" dirty="0">
                <a:solidFill>
                  <a:schemeClr val="tx1"/>
                </a:solidFill>
                <a:latin typeface="Comic Sans MS" pitchFamily="66" charset="0"/>
              </a:rPr>
              <a:t>PROMOCIÓN</a:t>
            </a:r>
            <a:r>
              <a:rPr lang="es-ES" sz="1400" b="1" dirty="0">
                <a:solidFill>
                  <a:schemeClr val="tx1"/>
                </a:solidFill>
                <a:latin typeface="Comic Sans MS" pitchFamily="66" charset="0"/>
              </a:rPr>
              <a:t> (comunicación)</a:t>
            </a:r>
          </a:p>
          <a:p>
            <a:pPr algn="just" fontAlgn="ctr"/>
            <a:r>
              <a:rPr lang="es-ES" sz="1600" dirty="0">
                <a:solidFill>
                  <a:schemeClr val="tx1"/>
                </a:solidFill>
                <a:latin typeface="Comic Sans MS" pitchFamily="66" charset="0"/>
              </a:rPr>
              <a:t>Analiza todos los esfuerzos que la empresa realiza para dar a conocer el producto y aumentar sus ventas en el público, por ejemplo: la publicidad, las relaciones públicas, la localización del producto, etc.</a:t>
            </a:r>
          </a:p>
          <a:p>
            <a:pPr lvl="0" algn="just"/>
            <a:endParaRPr lang="es-ES" sz="1400" dirty="0">
              <a:solidFill>
                <a:schemeClr val="tx1"/>
              </a:solidFill>
              <a:latin typeface="Comic Sans MS" pitchFamily="66" charset="0"/>
            </a:endParaRPr>
          </a:p>
        </p:txBody>
      </p:sp>
      <p:sp>
        <p:nvSpPr>
          <p:cNvPr id="11" name="10 Marcador de número de diapositiva"/>
          <p:cNvSpPr>
            <a:spLocks noGrp="1"/>
          </p:cNvSpPr>
          <p:nvPr>
            <p:ph type="sldNum" sz="quarter" idx="12"/>
          </p:nvPr>
        </p:nvSpPr>
        <p:spPr/>
        <p:txBody>
          <a:bodyPr/>
          <a:lstStyle/>
          <a:p>
            <a:fld id="{70AA9B10-D414-4A58-B245-E95240800791}" type="slidenum">
              <a:rPr lang="es-ES" smtClean="0"/>
              <a:pPr/>
              <a:t>21</a:t>
            </a:fld>
            <a:endParaRPr lang="es-ES"/>
          </a:p>
        </p:txBody>
      </p:sp>
      <p:sp>
        <p:nvSpPr>
          <p:cNvPr id="9" name="Rectangle 4"/>
          <p:cNvSpPr>
            <a:spLocks noChangeArrowheads="1"/>
          </p:cNvSpPr>
          <p:nvPr/>
        </p:nvSpPr>
        <p:spPr bwMode="auto">
          <a:xfrm>
            <a:off x="1703388" y="272709"/>
            <a:ext cx="8964612" cy="459229"/>
          </a:xfrm>
          <a:prstGeom prst="rect">
            <a:avLst/>
          </a:prstGeom>
          <a:noFill/>
          <a:ln w="9525">
            <a:noFill/>
            <a:miter lim="800000"/>
            <a:headEnd/>
            <a:tailEnd/>
          </a:ln>
          <a:effectLst/>
        </p:spPr>
        <p:txBody>
          <a:bodyPr wrap="square" lIns="92075" tIns="46038" rIns="92075" bIns="46038">
            <a:spAutoFit/>
          </a:bodyPr>
          <a:lstStyle/>
          <a:p>
            <a:pPr eaLnBrk="0" hangingPunct="0">
              <a:lnSpc>
                <a:spcPct val="85000"/>
              </a:lnSpc>
            </a:pPr>
            <a:r>
              <a:rPr lang="es-ES" sz="2800" b="1" dirty="0">
                <a:solidFill>
                  <a:schemeClr val="accent3"/>
                </a:solidFill>
                <a:latin typeface="Comic Sans MS" panose="030F0702030302020204" pitchFamily="66" charset="0"/>
              </a:rPr>
              <a:t>3. MARKETING OPERATIVO</a:t>
            </a:r>
            <a:endParaRPr lang="es-ES_tradnl" sz="2800" b="1" dirty="0">
              <a:solidFill>
                <a:srgbClr val="C00000"/>
              </a:solidFill>
              <a:latin typeface="Comic Sans MS" panose="030F0702030302020204" pitchFamily="66"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6" name="CuadroTexto 5">
            <a:extLst>
              <a:ext uri="{FF2B5EF4-FFF2-40B4-BE49-F238E27FC236}">
                <a16:creationId xmlns:a16="http://schemas.microsoft.com/office/drawing/2014/main" id="{281CB688-B029-B09C-DF71-5992CE2B9CB9}"/>
              </a:ext>
            </a:extLst>
          </p:cNvPr>
          <p:cNvSpPr txBox="1"/>
          <p:nvPr/>
        </p:nvSpPr>
        <p:spPr>
          <a:xfrm>
            <a:off x="9355025" y="243249"/>
            <a:ext cx="2743194" cy="307777"/>
          </a:xfrm>
          <a:prstGeom prst="rect">
            <a:avLst/>
          </a:prstGeom>
          <a:noFill/>
        </p:spPr>
        <p:txBody>
          <a:bodyPr wrap="square" rtlCol="0">
            <a:spAutoFit/>
          </a:bodyPr>
          <a:lstStyle/>
          <a:p>
            <a:pPr algn="r"/>
            <a:r>
              <a:rPr lang="es-ES" sz="1400" b="1" dirty="0">
                <a:solidFill>
                  <a:srgbClr val="FF0000"/>
                </a:solidFill>
                <a:latin typeface="Comic Sans MS" panose="030F0702030302020204" pitchFamily="66" charset="0"/>
              </a:rPr>
              <a:t>DIRECCIÓN MARKETING</a:t>
            </a:r>
          </a:p>
        </p:txBody>
      </p:sp>
      <p:sp>
        <p:nvSpPr>
          <p:cNvPr id="2" name="CuadroTexto 1">
            <a:extLst>
              <a:ext uri="{FF2B5EF4-FFF2-40B4-BE49-F238E27FC236}">
                <a16:creationId xmlns:a16="http://schemas.microsoft.com/office/drawing/2014/main" id="{3C982DAE-DD41-A64F-D0E8-EB15B661A28C}"/>
              </a:ext>
            </a:extLst>
          </p:cNvPr>
          <p:cNvSpPr txBox="1"/>
          <p:nvPr/>
        </p:nvSpPr>
        <p:spPr>
          <a:xfrm>
            <a:off x="611690" y="1889609"/>
            <a:ext cx="11270560" cy="2492990"/>
          </a:xfrm>
          <a:prstGeom prst="rect">
            <a:avLst/>
          </a:prstGeom>
          <a:noFill/>
        </p:spPr>
        <p:txBody>
          <a:bodyPr wrap="square" rtlCol="0">
            <a:spAutoFit/>
          </a:bodyPr>
          <a:lstStyle/>
          <a:p>
            <a:pPr marL="800100" lvl="1" indent="-342900">
              <a:buFont typeface="Wingdings" panose="05000000000000000000" pitchFamily="2" charset="2"/>
              <a:buChar char="ü"/>
            </a:pPr>
            <a:r>
              <a:rPr lang="es-ES" sz="2600" dirty="0">
                <a:effectLst>
                  <a:outerShdw blurRad="38100" dist="38100" dir="2700000" algn="tl">
                    <a:srgbClr val="000000">
                      <a:alpha val="43137"/>
                    </a:srgbClr>
                  </a:outerShdw>
                </a:effectLst>
                <a:latin typeface="Comic Sans MS" panose="030F0702030302020204" pitchFamily="66" charset="0"/>
              </a:rPr>
              <a:t>Definición de Producto</a:t>
            </a:r>
          </a:p>
          <a:p>
            <a:pPr marL="800100" lvl="1" indent="-342900">
              <a:buFont typeface="Wingdings" panose="05000000000000000000" pitchFamily="2" charset="2"/>
              <a:buChar char="ü"/>
            </a:pPr>
            <a:endParaRPr lang="es-ES" sz="2600" dirty="0">
              <a:effectLst>
                <a:outerShdw blurRad="38100" dist="38100" dir="2700000" algn="tl">
                  <a:srgbClr val="000000">
                    <a:alpha val="43137"/>
                  </a:srgbClr>
                </a:outerShdw>
              </a:effectLst>
              <a:latin typeface="Comic Sans MS" panose="030F0702030302020204" pitchFamily="66" charset="0"/>
            </a:endParaRPr>
          </a:p>
          <a:p>
            <a:pPr marL="1257300" lvl="2" indent="-342900">
              <a:buFont typeface="Arial" panose="020B0604020202020204" pitchFamily="34" charset="0"/>
              <a:buChar char="•"/>
            </a:pPr>
            <a:r>
              <a:rPr lang="es-ES" sz="2600" dirty="0">
                <a:latin typeface="Comic Sans MS" panose="030F0702030302020204" pitchFamily="66" charset="0"/>
              </a:rPr>
              <a:t>Conjunto de atributos físicos o psicológicos que el consumidor considera que tiene un determinado bien o servicio para satisfacer sus deseos o necesidades” (E. Ortega).</a:t>
            </a:r>
          </a:p>
          <a:p>
            <a:pPr marL="1257300" lvl="2" indent="-342900">
              <a:buFont typeface="Arial" panose="020B0604020202020204" pitchFamily="34" charset="0"/>
              <a:buChar char="•"/>
            </a:pPr>
            <a:endParaRPr lang="es-ES" sz="2600" dirty="0">
              <a:latin typeface="Comic Sans MS" panose="030F0702030302020204" pitchFamily="66" charset="0"/>
            </a:endParaRPr>
          </a:p>
        </p:txBody>
      </p:sp>
      <p:sp>
        <p:nvSpPr>
          <p:cNvPr id="7" name="CuadroTexto 6">
            <a:extLst>
              <a:ext uri="{FF2B5EF4-FFF2-40B4-BE49-F238E27FC236}">
                <a16:creationId xmlns:a16="http://schemas.microsoft.com/office/drawing/2014/main" id="{BDCADBA6-4DD3-436B-A3CB-B0A2DCB061AB}"/>
              </a:ext>
            </a:extLst>
          </p:cNvPr>
          <p:cNvSpPr txBox="1"/>
          <p:nvPr/>
        </p:nvSpPr>
        <p:spPr>
          <a:xfrm>
            <a:off x="2488367" y="29992"/>
            <a:ext cx="6490741" cy="523220"/>
          </a:xfrm>
          <a:prstGeom prst="rect">
            <a:avLst/>
          </a:prstGeom>
          <a:noFill/>
        </p:spPr>
        <p:txBody>
          <a:bodyPr wrap="square" rtlCol="0">
            <a:spAutoFit/>
          </a:bodyPr>
          <a:lstStyle/>
          <a:p>
            <a:pPr marL="514350" indent="-514350">
              <a:buFont typeface="+mj-lt"/>
              <a:buAutoNum type="arabicPeriod" startAt="3"/>
            </a:pPr>
            <a:r>
              <a:rPr lang="es-ES" sz="2800" b="1" dirty="0">
                <a:solidFill>
                  <a:schemeClr val="accent3"/>
                </a:solidFill>
                <a:latin typeface="Comic Sans MS" panose="030F0702030302020204" pitchFamily="66" charset="0"/>
              </a:rPr>
              <a:t>MARKETING OPERATIVO.</a:t>
            </a:r>
            <a:endParaRPr lang="es-ES" sz="2800" dirty="0">
              <a:latin typeface="Comic Sans MS" panose="030F0702030302020204" pitchFamily="66" charset="0"/>
            </a:endParaRPr>
          </a:p>
        </p:txBody>
      </p:sp>
    </p:spTree>
    <p:extLst>
      <p:ext uri="{BB962C8B-B14F-4D97-AF65-F5344CB8AC3E}">
        <p14:creationId xmlns:p14="http://schemas.microsoft.com/office/powerpoint/2010/main" val="3292060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4BDB439-7741-4A25-A583-190D898F21BC}"/>
              </a:ext>
            </a:extLst>
          </p:cNvPr>
          <p:cNvPicPr>
            <a:picLocks noChangeAspect="1"/>
          </p:cNvPicPr>
          <p:nvPr/>
        </p:nvPicPr>
        <p:blipFill rotWithShape="1">
          <a:blip r:embed="rId3"/>
          <a:srcRect t="14746"/>
          <a:stretch/>
        </p:blipFill>
        <p:spPr>
          <a:xfrm>
            <a:off x="483818" y="986971"/>
            <a:ext cx="11224364" cy="4912024"/>
          </a:xfrm>
          <a:prstGeom prst="rect">
            <a:avLst/>
          </a:prstGeom>
        </p:spPr>
      </p:pic>
      <p:sp>
        <p:nvSpPr>
          <p:cNvPr id="3" name="1 Título">
            <a:extLst>
              <a:ext uri="{FF2B5EF4-FFF2-40B4-BE49-F238E27FC236}">
                <a16:creationId xmlns:a16="http://schemas.microsoft.com/office/drawing/2014/main" id="{44E62C0F-2AFA-4A66-B13F-903EB228218E}"/>
              </a:ext>
            </a:extLst>
          </p:cNvPr>
          <p:cNvSpPr>
            <a:spLocks noGrp="1"/>
          </p:cNvSpPr>
          <p:nvPr>
            <p:ph type="title"/>
          </p:nvPr>
        </p:nvSpPr>
        <p:spPr>
          <a:xfrm>
            <a:off x="700521" y="166895"/>
            <a:ext cx="7239000" cy="566936"/>
          </a:xfrm>
        </p:spPr>
        <p:txBody>
          <a:bodyPr>
            <a:normAutofit/>
          </a:bodyPr>
          <a:lstStyle/>
          <a:p>
            <a:pPr eaLnBrk="0" hangingPunct="0">
              <a:lnSpc>
                <a:spcPct val="85000"/>
              </a:lnSpc>
            </a:pPr>
            <a:r>
              <a:rPr lang="es-ES" sz="2800" b="1" dirty="0">
                <a:solidFill>
                  <a:schemeClr val="accent3"/>
                </a:solidFill>
                <a:latin typeface="Comic Sans MS" panose="030F0702030302020204" pitchFamily="66" charset="0"/>
              </a:rPr>
              <a:t>3. MARKETING OPERATIVO. Producto </a:t>
            </a:r>
            <a:endParaRPr lang="es-ES_tradnl" sz="2800" b="1"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3617310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7" name="CuadroTexto 6">
            <a:extLst>
              <a:ext uri="{FF2B5EF4-FFF2-40B4-BE49-F238E27FC236}">
                <a16:creationId xmlns:a16="http://schemas.microsoft.com/office/drawing/2014/main" id="{BDCADBA6-4DD3-436B-A3CB-B0A2DCB061AB}"/>
              </a:ext>
            </a:extLst>
          </p:cNvPr>
          <p:cNvSpPr txBox="1"/>
          <p:nvPr/>
        </p:nvSpPr>
        <p:spPr>
          <a:xfrm>
            <a:off x="2488367" y="29992"/>
            <a:ext cx="8997054" cy="523220"/>
          </a:xfrm>
          <a:prstGeom prst="rect">
            <a:avLst/>
          </a:prstGeom>
          <a:noFill/>
        </p:spPr>
        <p:txBody>
          <a:bodyPr wrap="square" rtlCol="0">
            <a:spAutoFit/>
          </a:bodyPr>
          <a:lstStyle/>
          <a:p>
            <a:pPr marL="514350" indent="-514350">
              <a:buFont typeface="+mj-lt"/>
              <a:buAutoNum type="arabicPeriod" startAt="3"/>
            </a:pPr>
            <a:r>
              <a:rPr lang="es-ES" sz="2800" b="1" dirty="0">
                <a:solidFill>
                  <a:schemeClr val="accent3"/>
                </a:solidFill>
                <a:latin typeface="Comic Sans MS" panose="030F0702030302020204" pitchFamily="66" charset="0"/>
              </a:rPr>
              <a:t>MARKETING OPERATIVO. Producto</a:t>
            </a:r>
            <a:endParaRPr lang="es-ES" sz="2800" dirty="0">
              <a:latin typeface="Comic Sans MS" panose="030F0702030302020204" pitchFamily="66" charset="0"/>
            </a:endParaRPr>
          </a:p>
        </p:txBody>
      </p:sp>
      <p:sp>
        <p:nvSpPr>
          <p:cNvPr id="2" name="CuadroTexto 1">
            <a:extLst>
              <a:ext uri="{FF2B5EF4-FFF2-40B4-BE49-F238E27FC236}">
                <a16:creationId xmlns:a16="http://schemas.microsoft.com/office/drawing/2014/main" id="{00C0E212-E787-EB7A-96FA-217F4FDBE6B9}"/>
              </a:ext>
            </a:extLst>
          </p:cNvPr>
          <p:cNvSpPr txBox="1"/>
          <p:nvPr/>
        </p:nvSpPr>
        <p:spPr>
          <a:xfrm>
            <a:off x="706579" y="628739"/>
            <a:ext cx="11391639" cy="6001643"/>
          </a:xfrm>
          <a:prstGeom prst="rect">
            <a:avLst/>
          </a:prstGeom>
          <a:noFill/>
        </p:spPr>
        <p:txBody>
          <a:bodyPr wrap="square" rtlCol="0">
            <a:spAutoFit/>
          </a:bodyPr>
          <a:lstStyle/>
          <a:p>
            <a:pPr marL="800100" lvl="1" indent="-342900">
              <a:buFont typeface="Wingdings" panose="05000000000000000000" pitchFamily="2" charset="2"/>
              <a:buChar char="ü"/>
            </a:pPr>
            <a:r>
              <a:rPr lang="es-ES" sz="2400" b="1" dirty="0">
                <a:effectLst>
                  <a:outerShdw blurRad="38100" dist="38100" dir="2700000" algn="tl">
                    <a:srgbClr val="000000">
                      <a:alpha val="43137"/>
                    </a:srgbClr>
                  </a:outerShdw>
                </a:effectLst>
                <a:latin typeface="Comic Sans MS" panose="030F0702030302020204" pitchFamily="66" charset="0"/>
              </a:rPr>
              <a:t>Las decisiones de marca se incluyen con las decisiones del producto</a:t>
            </a:r>
          </a:p>
          <a:p>
            <a:pPr lvl="2"/>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b="1" dirty="0">
                <a:solidFill>
                  <a:schemeClr val="accent3"/>
                </a:solidFill>
                <a:effectLst>
                  <a:outerShdw blurRad="38100" dist="38100" dir="2700000" algn="tl">
                    <a:srgbClr val="000000">
                      <a:alpha val="43137"/>
                    </a:srgbClr>
                  </a:outerShdw>
                </a:effectLst>
                <a:latin typeface="Comic Sans MS" panose="030F0702030302020204" pitchFamily="66" charset="0"/>
              </a:rPr>
              <a:t>Marca</a:t>
            </a:r>
            <a:r>
              <a:rPr lang="es-ES" sz="2400" dirty="0">
                <a:latin typeface="Comic Sans MS" panose="030F0702030302020204" pitchFamily="66" charset="0"/>
              </a:rPr>
              <a:t>: “Nombre, término, símbolo o diseño o una combinación de ellos, cuyo propósito es representar los bienes o servicios de un vendedor, o grupo de vendedores y diferenciarlos de los de la competencia” (AMA).</a:t>
            </a: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La marca incluye dos </a:t>
            </a:r>
            <a:r>
              <a:rPr lang="es-ES" sz="2400" dirty="0">
                <a:effectLst>
                  <a:outerShdw blurRad="38100" dist="38100" dir="2700000" algn="tl">
                    <a:srgbClr val="000000">
                      <a:alpha val="43137"/>
                    </a:srgbClr>
                  </a:outerShdw>
                </a:effectLst>
                <a:latin typeface="Comic Sans MS" panose="030F0702030302020204" pitchFamily="66" charset="0"/>
              </a:rPr>
              <a:t>elementos básicos </a:t>
            </a:r>
            <a:r>
              <a:rPr lang="es-ES" sz="2400" dirty="0">
                <a:latin typeface="Comic Sans MS" panose="030F0702030302020204" pitchFamily="66" charset="0"/>
              </a:rPr>
              <a:t>tradicionales: el nombre de marca y el logotipo.        </a:t>
            </a:r>
          </a:p>
          <a:p>
            <a:pPr marL="1371600" lvl="2" indent="-457200">
              <a:buFont typeface="Arial" panose="020B0604020202020204" pitchFamily="34" charset="0"/>
              <a:buChar char="•"/>
            </a:pPr>
            <a:endParaRPr lang="es-ES" sz="2400" dirty="0">
              <a:latin typeface="Comic Sans MS" panose="030F0702030302020204" pitchFamily="66" charset="0"/>
            </a:endParaRPr>
          </a:p>
          <a:p>
            <a:pPr marL="1828800" lvl="3" indent="-457200">
              <a:buFont typeface="Courier New" panose="02070309020205020404" pitchFamily="49" charset="0"/>
              <a:buChar char="o"/>
            </a:pPr>
            <a:r>
              <a:rPr lang="es-ES" sz="2400" dirty="0">
                <a:effectLst>
                  <a:outerShdw blurRad="38100" dist="38100" dir="2700000" algn="tl">
                    <a:srgbClr val="000000">
                      <a:alpha val="43137"/>
                    </a:srgbClr>
                  </a:outerShdw>
                </a:effectLst>
                <a:latin typeface="Comic Sans MS" panose="030F0702030302020204" pitchFamily="66" charset="0"/>
              </a:rPr>
              <a:t>Nombre de marca</a:t>
            </a:r>
            <a:r>
              <a:rPr lang="es-ES" sz="2400" dirty="0">
                <a:latin typeface="Comic Sans MS" panose="030F0702030302020204" pitchFamily="66" charset="0"/>
              </a:rPr>
              <a:t>: formado por palabras, letras o números susceptibles de vocalizarse.</a:t>
            </a:r>
          </a:p>
          <a:p>
            <a:pPr marL="1828800" lvl="3" indent="-457200">
              <a:buFont typeface="Courier New" panose="02070309020205020404" pitchFamily="49" charset="0"/>
              <a:buChar char="o"/>
            </a:pPr>
            <a:r>
              <a:rPr lang="es-ES" sz="2400" dirty="0">
                <a:effectLst>
                  <a:outerShdw blurRad="38100" dist="38100" dir="2700000" algn="tl">
                    <a:srgbClr val="000000">
                      <a:alpha val="43137"/>
                    </a:srgbClr>
                  </a:outerShdw>
                </a:effectLst>
                <a:latin typeface="Comic Sans MS" panose="030F0702030302020204" pitchFamily="66" charset="0"/>
              </a:rPr>
              <a:t>Logotipo</a:t>
            </a:r>
            <a:r>
              <a:rPr lang="es-ES" sz="2400" dirty="0">
                <a:latin typeface="Comic Sans MS" panose="030F0702030302020204" pitchFamily="66" charset="0"/>
              </a:rPr>
              <a:t>: constituido por dibujos, colores o representaciones gráficas que no tienen pronunciación.</a:t>
            </a:r>
          </a:p>
          <a:p>
            <a:pPr marL="1828800" lvl="3" indent="-457200">
              <a:buFont typeface="Courier New" panose="02070309020205020404" pitchFamily="49" charset="0"/>
              <a:buChar char="o"/>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Existen más elementos como la música, slogan, olores, etc.</a:t>
            </a:r>
          </a:p>
        </p:txBody>
      </p:sp>
    </p:spTree>
    <p:extLst>
      <p:ext uri="{BB962C8B-B14F-4D97-AF65-F5344CB8AC3E}">
        <p14:creationId xmlns:p14="http://schemas.microsoft.com/office/powerpoint/2010/main" val="2862151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3C982DAE-DD41-A64F-D0E8-EB15B661A28C}"/>
              </a:ext>
            </a:extLst>
          </p:cNvPr>
          <p:cNvSpPr txBox="1"/>
          <p:nvPr/>
        </p:nvSpPr>
        <p:spPr>
          <a:xfrm>
            <a:off x="706579" y="628739"/>
            <a:ext cx="11151123" cy="892552"/>
          </a:xfrm>
          <a:prstGeom prst="rect">
            <a:avLst/>
          </a:prstGeom>
          <a:noFill/>
        </p:spPr>
        <p:txBody>
          <a:bodyPr wrap="square" rtlCol="0">
            <a:spAutoFit/>
          </a:bodyPr>
          <a:lstStyle/>
          <a:p>
            <a:pPr marL="800100" lvl="1" indent="-342900">
              <a:buFont typeface="Wingdings" panose="05000000000000000000" pitchFamily="2" charset="2"/>
              <a:buChar char="ü"/>
            </a:pPr>
            <a:r>
              <a:rPr lang="es-ES" sz="2600" dirty="0">
                <a:effectLst>
                  <a:outerShdw blurRad="38100" dist="38100" dir="2700000" algn="tl">
                    <a:srgbClr val="000000">
                      <a:alpha val="43137"/>
                    </a:srgbClr>
                  </a:outerShdw>
                </a:effectLst>
                <a:latin typeface="Comic Sans MS" panose="030F0702030302020204" pitchFamily="66" charset="0"/>
              </a:rPr>
              <a:t>Ciclo de vida del producto: </a:t>
            </a:r>
            <a:r>
              <a:rPr lang="es-ES" sz="2000" dirty="0">
                <a:hlinkClick r:id="rId3"/>
              </a:rPr>
              <a:t>(64) Ciclo de vida de un producto – YouTube</a:t>
            </a:r>
            <a:endParaRPr lang="es-ES" sz="2000" dirty="0"/>
          </a:p>
          <a:p>
            <a:pPr marL="800100" lvl="1" indent="-342900">
              <a:buFont typeface="Wingdings" panose="05000000000000000000" pitchFamily="2" charset="2"/>
              <a:buChar char="ü"/>
            </a:pPr>
            <a:endParaRPr lang="es-ES" sz="2600" dirty="0">
              <a:effectLst>
                <a:outerShdw blurRad="38100" dist="38100" dir="2700000" algn="tl">
                  <a:srgbClr val="000000">
                    <a:alpha val="43137"/>
                  </a:srgbClr>
                </a:outerShdw>
              </a:effectLst>
              <a:latin typeface="Comic Sans MS" panose="030F0702030302020204" pitchFamily="66" charset="0"/>
            </a:endParaRPr>
          </a:p>
        </p:txBody>
      </p:sp>
      <p:sp>
        <p:nvSpPr>
          <p:cNvPr id="7" name="CuadroTexto 6">
            <a:extLst>
              <a:ext uri="{FF2B5EF4-FFF2-40B4-BE49-F238E27FC236}">
                <a16:creationId xmlns:a16="http://schemas.microsoft.com/office/drawing/2014/main" id="{BDCADBA6-4DD3-436B-A3CB-B0A2DCB061AB}"/>
              </a:ext>
            </a:extLst>
          </p:cNvPr>
          <p:cNvSpPr txBox="1"/>
          <p:nvPr/>
        </p:nvSpPr>
        <p:spPr>
          <a:xfrm>
            <a:off x="2488367" y="29992"/>
            <a:ext cx="6490741" cy="523220"/>
          </a:xfrm>
          <a:prstGeom prst="rect">
            <a:avLst/>
          </a:prstGeom>
          <a:noFill/>
        </p:spPr>
        <p:txBody>
          <a:bodyPr wrap="square" rtlCol="0">
            <a:spAutoFit/>
          </a:bodyPr>
          <a:lstStyle/>
          <a:p>
            <a:pPr marL="514350" indent="-514350">
              <a:buFont typeface="+mj-lt"/>
              <a:buAutoNum type="arabicPeriod" startAt="3"/>
            </a:pPr>
            <a:r>
              <a:rPr lang="es-ES" sz="2800" b="1" dirty="0">
                <a:solidFill>
                  <a:schemeClr val="accent3"/>
                </a:solidFill>
                <a:latin typeface="Comic Sans MS" panose="030F0702030302020204" pitchFamily="66" charset="0"/>
              </a:rPr>
              <a:t>MARKETING OPERATIVO.</a:t>
            </a:r>
            <a:endParaRPr lang="es-ES" sz="2800" dirty="0">
              <a:latin typeface="Comic Sans MS" panose="030F0702030302020204" pitchFamily="66" charset="0"/>
            </a:endParaRPr>
          </a:p>
        </p:txBody>
      </p:sp>
      <p:graphicFrame>
        <p:nvGraphicFramePr>
          <p:cNvPr id="5" name="Group 3">
            <a:extLst>
              <a:ext uri="{FF2B5EF4-FFF2-40B4-BE49-F238E27FC236}">
                <a16:creationId xmlns:a16="http://schemas.microsoft.com/office/drawing/2014/main" id="{1647A254-BD36-3F2E-5CBE-9551C2196507}"/>
              </a:ext>
            </a:extLst>
          </p:cNvPr>
          <p:cNvGraphicFramePr>
            <a:graphicFrameLocks noGrp="1"/>
          </p:cNvGraphicFramePr>
          <p:nvPr/>
        </p:nvGraphicFramePr>
        <p:xfrm>
          <a:off x="1437797" y="1239201"/>
          <a:ext cx="9218613" cy="2365490"/>
        </p:xfrm>
        <a:graphic>
          <a:graphicData uri="http://schemas.openxmlformats.org/drawingml/2006/table">
            <a:tbl>
              <a:tblPr/>
              <a:tblGrid>
                <a:gridCol w="2709863">
                  <a:extLst>
                    <a:ext uri="{9D8B030D-6E8A-4147-A177-3AD203B41FA5}">
                      <a16:colId xmlns:a16="http://schemas.microsoft.com/office/drawing/2014/main" val="20000"/>
                    </a:ext>
                  </a:extLst>
                </a:gridCol>
                <a:gridCol w="1128712">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1665288">
                  <a:extLst>
                    <a:ext uri="{9D8B030D-6E8A-4147-A177-3AD203B41FA5}">
                      <a16:colId xmlns:a16="http://schemas.microsoft.com/office/drawing/2014/main" val="20003"/>
                    </a:ext>
                  </a:extLst>
                </a:gridCol>
              </a:tblGrid>
              <a:tr h="51802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00620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8411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a:noFill/>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fr-FR" sz="2800" b="0" i="0" u="none" strike="noStrike" cap="none" normalizeH="0" baseline="0" dirty="0">
                        <a:ln>
                          <a:noFill/>
                        </a:ln>
                        <a:solidFill>
                          <a:schemeClr val="tx1"/>
                        </a:solidFill>
                        <a:effectLst/>
                        <a:latin typeface="Times New Roman" pitchFamily="18" charset="0"/>
                      </a:endParaRPr>
                    </a:p>
                  </a:txBody>
                  <a:tcPr marT="45708" marB="45708" horzOverflow="overflow">
                    <a:lnL w="12700" cap="flat" cmpd="sng" algn="ctr">
                      <a:solidFill>
                        <a:schemeClr val="tx1"/>
                      </a:solidFill>
                      <a:prstDash val="solid"/>
                      <a:round/>
                      <a:headEnd type="none" w="sm" len="sm"/>
                      <a:tailEnd type="none" w="sm" len="sm"/>
                    </a:lnL>
                    <a:lnR cap="flat">
                      <a:noFill/>
                    </a:lnR>
                    <a:lnT>
                      <a:noFill/>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Freeform 28">
            <a:extLst>
              <a:ext uri="{FF2B5EF4-FFF2-40B4-BE49-F238E27FC236}">
                <a16:creationId xmlns:a16="http://schemas.microsoft.com/office/drawing/2014/main" id="{16D6A051-7CCC-CF30-FF56-7423A0758B33}"/>
              </a:ext>
            </a:extLst>
          </p:cNvPr>
          <p:cNvSpPr>
            <a:spLocks/>
          </p:cNvSpPr>
          <p:nvPr/>
        </p:nvSpPr>
        <p:spPr bwMode="auto">
          <a:xfrm>
            <a:off x="1452085" y="1268667"/>
            <a:ext cx="8350250" cy="2305050"/>
          </a:xfrm>
          <a:custGeom>
            <a:avLst/>
            <a:gdLst>
              <a:gd name="T0" fmla="*/ 0 w 4856"/>
              <a:gd name="T1" fmla="*/ 2147483647 h 1452"/>
              <a:gd name="T2" fmla="*/ 2147483647 w 4856"/>
              <a:gd name="T3" fmla="*/ 2147483647 h 1452"/>
              <a:gd name="T4" fmla="*/ 2147483647 w 4856"/>
              <a:gd name="T5" fmla="*/ 2147483647 h 1452"/>
              <a:gd name="T6" fmla="*/ 2147483647 w 4856"/>
              <a:gd name="T7" fmla="*/ 2147483647 h 1452"/>
              <a:gd name="T8" fmla="*/ 2147483647 w 4856"/>
              <a:gd name="T9" fmla="*/ 2147483647 h 1452"/>
              <a:gd name="T10" fmla="*/ 0 60000 65536"/>
              <a:gd name="T11" fmla="*/ 0 60000 65536"/>
              <a:gd name="T12" fmla="*/ 0 60000 65536"/>
              <a:gd name="T13" fmla="*/ 0 60000 65536"/>
              <a:gd name="T14" fmla="*/ 0 60000 65536"/>
              <a:gd name="T15" fmla="*/ 0 w 4856"/>
              <a:gd name="T16" fmla="*/ 0 h 1452"/>
              <a:gd name="T17" fmla="*/ 4856 w 4856"/>
              <a:gd name="T18" fmla="*/ 1452 h 1452"/>
            </a:gdLst>
            <a:ahLst/>
            <a:cxnLst>
              <a:cxn ang="T10">
                <a:pos x="T0" y="T1"/>
              </a:cxn>
              <a:cxn ang="T11">
                <a:pos x="T2" y="T3"/>
              </a:cxn>
              <a:cxn ang="T12">
                <a:pos x="T4" y="T5"/>
              </a:cxn>
              <a:cxn ang="T13">
                <a:pos x="T6" y="T7"/>
              </a:cxn>
              <a:cxn ang="T14">
                <a:pos x="T8" y="T9"/>
              </a:cxn>
            </a:cxnLst>
            <a:rect l="T15" t="T16" r="T17" b="T18"/>
            <a:pathLst>
              <a:path w="4856" h="1452">
                <a:moveTo>
                  <a:pt x="0" y="1452"/>
                </a:moveTo>
                <a:cubicBezTo>
                  <a:pt x="689" y="1325"/>
                  <a:pt x="1379" y="1199"/>
                  <a:pt x="1768" y="988"/>
                </a:cubicBezTo>
                <a:cubicBezTo>
                  <a:pt x="2157" y="777"/>
                  <a:pt x="1983" y="352"/>
                  <a:pt x="2336" y="188"/>
                </a:cubicBezTo>
                <a:cubicBezTo>
                  <a:pt x="2689" y="24"/>
                  <a:pt x="3468" y="8"/>
                  <a:pt x="3888" y="4"/>
                </a:cubicBezTo>
                <a:cubicBezTo>
                  <a:pt x="4308" y="0"/>
                  <a:pt x="4582" y="82"/>
                  <a:pt x="4856" y="164"/>
                </a:cubicBezTo>
              </a:path>
            </a:pathLst>
          </a:custGeom>
          <a:noFill/>
          <a:ln w="38100" cap="flat" cmpd="sng">
            <a:solidFill>
              <a:srgbClr val="008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latin typeface="Comic Sans MS" panose="030F0702030302020204" pitchFamily="66" charset="0"/>
            </a:endParaRPr>
          </a:p>
        </p:txBody>
      </p:sp>
      <p:sp>
        <p:nvSpPr>
          <p:cNvPr id="9" name="Text Box 29">
            <a:extLst>
              <a:ext uri="{FF2B5EF4-FFF2-40B4-BE49-F238E27FC236}">
                <a16:creationId xmlns:a16="http://schemas.microsoft.com/office/drawing/2014/main" id="{E0B79F5E-97ED-FB52-63A1-06D73F58B44C}"/>
              </a:ext>
            </a:extLst>
          </p:cNvPr>
          <p:cNvSpPr txBox="1">
            <a:spLocks noChangeArrowheads="1"/>
          </p:cNvSpPr>
          <p:nvPr/>
        </p:nvSpPr>
        <p:spPr bwMode="auto">
          <a:xfrm>
            <a:off x="1304143" y="4588191"/>
            <a:ext cx="2310136" cy="1661993"/>
          </a:xfrm>
          <a:prstGeom prst="rect">
            <a:avLst/>
          </a:prstGeom>
          <a:solidFill>
            <a:schemeClr val="bg1"/>
          </a:solidFill>
          <a:ln w="12700">
            <a:solidFill>
              <a:srgbClr val="00000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00050" indent="-400050" algn="ctr" eaLnBrk="1" hangingPunct="1">
              <a:spcBef>
                <a:spcPct val="50000"/>
              </a:spcBef>
              <a:buAutoNum type="romanUcPeriod"/>
            </a:pPr>
            <a:r>
              <a:rPr lang="es-ES" altLang="es-ES" sz="1200" b="1" dirty="0">
                <a:solidFill>
                  <a:schemeClr val="accent2"/>
                </a:solidFill>
                <a:latin typeface="Comic Sans MS" panose="030F0702030302020204" pitchFamily="66" charset="0"/>
              </a:rPr>
              <a:t>INTRODUCCIÓN</a:t>
            </a:r>
          </a:p>
          <a:p>
            <a:pPr marL="400050" indent="-4000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Evolución lenta de las ventas</a:t>
            </a:r>
          </a:p>
          <a:p>
            <a:pPr marL="400050" indent="-4000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Bajo conocimiento del producto en el mercado</a:t>
            </a:r>
          </a:p>
          <a:p>
            <a:pPr marL="400050" indent="-4000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Problemas de puesta a punto tecnológico</a:t>
            </a:r>
          </a:p>
        </p:txBody>
      </p:sp>
      <p:sp>
        <p:nvSpPr>
          <p:cNvPr id="10" name="Text Box 30">
            <a:extLst>
              <a:ext uri="{FF2B5EF4-FFF2-40B4-BE49-F238E27FC236}">
                <a16:creationId xmlns:a16="http://schemas.microsoft.com/office/drawing/2014/main" id="{91FC1C5D-365F-A224-83EB-1F2ED59EF96D}"/>
              </a:ext>
            </a:extLst>
          </p:cNvPr>
          <p:cNvSpPr txBox="1">
            <a:spLocks noChangeArrowheads="1"/>
          </p:cNvSpPr>
          <p:nvPr/>
        </p:nvSpPr>
        <p:spPr bwMode="auto">
          <a:xfrm>
            <a:off x="3790823" y="4617048"/>
            <a:ext cx="2180297" cy="1938992"/>
          </a:xfrm>
          <a:prstGeom prst="rect">
            <a:avLst/>
          </a:prstGeom>
          <a:solidFill>
            <a:schemeClr val="bg1"/>
          </a:solidFill>
          <a:ln w="12700">
            <a:solidFill>
              <a:srgbClr val="00000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1200" b="1" dirty="0">
                <a:solidFill>
                  <a:schemeClr val="accent2"/>
                </a:solidFill>
                <a:latin typeface="Comic Sans MS" panose="030F0702030302020204" pitchFamily="66" charset="0"/>
              </a:rPr>
              <a:t>II. CRECIMIENTO</a:t>
            </a:r>
          </a:p>
          <a:p>
            <a:pPr marL="285750" indent="-2857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Alto crecimiento de las ventas</a:t>
            </a:r>
          </a:p>
          <a:p>
            <a:pPr marL="285750" indent="-2857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Progresiva adopción del producto</a:t>
            </a:r>
          </a:p>
          <a:p>
            <a:pPr marL="285750" indent="-2857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Acceso masivo al sistema de distribución</a:t>
            </a:r>
          </a:p>
          <a:p>
            <a:pPr marL="285750" indent="-2857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Reducción del precio</a:t>
            </a:r>
          </a:p>
        </p:txBody>
      </p:sp>
      <p:sp>
        <p:nvSpPr>
          <p:cNvPr id="11" name="Text Box 31">
            <a:extLst>
              <a:ext uri="{FF2B5EF4-FFF2-40B4-BE49-F238E27FC236}">
                <a16:creationId xmlns:a16="http://schemas.microsoft.com/office/drawing/2014/main" id="{312E0CF6-0B79-7E55-8553-A6A23A8E0B90}"/>
              </a:ext>
            </a:extLst>
          </p:cNvPr>
          <p:cNvSpPr txBox="1">
            <a:spLocks noChangeArrowheads="1"/>
          </p:cNvSpPr>
          <p:nvPr/>
        </p:nvSpPr>
        <p:spPr bwMode="auto">
          <a:xfrm>
            <a:off x="6160919" y="4600891"/>
            <a:ext cx="2416803" cy="1938992"/>
          </a:xfrm>
          <a:prstGeom prst="rect">
            <a:avLst/>
          </a:prstGeom>
          <a:solidFill>
            <a:schemeClr val="bg1"/>
          </a:solidFill>
          <a:ln w="12700">
            <a:solidFill>
              <a:srgbClr val="00000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1200" b="1" dirty="0">
                <a:solidFill>
                  <a:schemeClr val="accent2"/>
                </a:solidFill>
                <a:latin typeface="Comic Sans MS" panose="030F0702030302020204" pitchFamily="66" charset="0"/>
              </a:rPr>
              <a:t>III. MADUREZ</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Desaceleración del crecimiento</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Elevadas tasas de ocupación del mercado</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Modificaciones menores del producto</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Elevada competencia</a:t>
            </a:r>
          </a:p>
        </p:txBody>
      </p:sp>
      <p:sp>
        <p:nvSpPr>
          <p:cNvPr id="12" name="Text Box 32">
            <a:extLst>
              <a:ext uri="{FF2B5EF4-FFF2-40B4-BE49-F238E27FC236}">
                <a16:creationId xmlns:a16="http://schemas.microsoft.com/office/drawing/2014/main" id="{7DBB7B5D-E905-CD5B-D388-B237AAF10A30}"/>
              </a:ext>
            </a:extLst>
          </p:cNvPr>
          <p:cNvSpPr txBox="1">
            <a:spLocks noChangeArrowheads="1"/>
          </p:cNvSpPr>
          <p:nvPr/>
        </p:nvSpPr>
        <p:spPr bwMode="auto">
          <a:xfrm>
            <a:off x="8999215" y="4626291"/>
            <a:ext cx="1968500" cy="1754326"/>
          </a:xfrm>
          <a:prstGeom prst="rect">
            <a:avLst/>
          </a:prstGeom>
          <a:solidFill>
            <a:schemeClr val="bg1"/>
          </a:solidFill>
          <a:ln w="12700">
            <a:solidFill>
              <a:srgbClr val="000000"/>
            </a:solidFill>
            <a:miter lim="800000"/>
            <a:headEnd type="none" w="sm" len="sm"/>
            <a:tailEnd type="none" w="sm" len="sm"/>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1200" b="1" dirty="0">
                <a:solidFill>
                  <a:schemeClr val="accent2"/>
                </a:solidFill>
                <a:latin typeface="Comic Sans MS" panose="030F0702030302020204" pitchFamily="66" charset="0"/>
              </a:rPr>
              <a:t>IV. DECLIVE</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Reducción de las ventas en favor de productos sustitutivos</a:t>
            </a:r>
          </a:p>
          <a:p>
            <a:pPr marL="171450" indent="-171450" eaLnBrk="1" hangingPunct="1">
              <a:spcBef>
                <a:spcPct val="50000"/>
              </a:spcBef>
              <a:buFont typeface="Arial" panose="020B0604020202020204" pitchFamily="34" charset="0"/>
              <a:buChar char="•"/>
            </a:pPr>
            <a:r>
              <a:rPr lang="es-ES" altLang="es-ES" sz="1200" dirty="0">
                <a:solidFill>
                  <a:schemeClr val="accent2"/>
                </a:solidFill>
                <a:latin typeface="Comic Sans MS" panose="030F0702030302020204" pitchFamily="66" charset="0"/>
              </a:rPr>
              <a:t>Reducción de la presencia en el sistema de distribución</a:t>
            </a:r>
          </a:p>
        </p:txBody>
      </p:sp>
      <p:sp>
        <p:nvSpPr>
          <p:cNvPr id="13" name="Text Box 33">
            <a:extLst>
              <a:ext uri="{FF2B5EF4-FFF2-40B4-BE49-F238E27FC236}">
                <a16:creationId xmlns:a16="http://schemas.microsoft.com/office/drawing/2014/main" id="{2FD7CDD5-B5EF-BAFA-5932-5BE98EC04164}"/>
              </a:ext>
            </a:extLst>
          </p:cNvPr>
          <p:cNvSpPr txBox="1">
            <a:spLocks noChangeArrowheads="1"/>
          </p:cNvSpPr>
          <p:nvPr/>
        </p:nvSpPr>
        <p:spPr bwMode="auto">
          <a:xfrm>
            <a:off x="9321322" y="957517"/>
            <a:ext cx="1293813"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2000" b="1">
                <a:solidFill>
                  <a:srgbClr val="008000"/>
                </a:solidFill>
                <a:latin typeface="Comic Sans MS" panose="030F0702030302020204" pitchFamily="66" charset="0"/>
              </a:rPr>
              <a:t>Ventas</a:t>
            </a:r>
          </a:p>
        </p:txBody>
      </p:sp>
      <p:sp>
        <p:nvSpPr>
          <p:cNvPr id="14" name="Freeform 34">
            <a:extLst>
              <a:ext uri="{FF2B5EF4-FFF2-40B4-BE49-F238E27FC236}">
                <a16:creationId xmlns:a16="http://schemas.microsoft.com/office/drawing/2014/main" id="{D4B30B52-8103-8A0C-4F03-507070B363A2}"/>
              </a:ext>
            </a:extLst>
          </p:cNvPr>
          <p:cNvSpPr>
            <a:spLocks/>
          </p:cNvSpPr>
          <p:nvPr/>
        </p:nvSpPr>
        <p:spPr bwMode="auto">
          <a:xfrm>
            <a:off x="1493360" y="1409955"/>
            <a:ext cx="7921625" cy="3065462"/>
          </a:xfrm>
          <a:custGeom>
            <a:avLst/>
            <a:gdLst>
              <a:gd name="T0" fmla="*/ 0 w 4848"/>
              <a:gd name="T1" fmla="*/ 2147483647 h 1931"/>
              <a:gd name="T2" fmla="*/ 2147483647 w 4848"/>
              <a:gd name="T3" fmla="*/ 2147483647 h 1931"/>
              <a:gd name="T4" fmla="*/ 2147483647 w 4848"/>
              <a:gd name="T5" fmla="*/ 2147483647 h 1931"/>
              <a:gd name="T6" fmla="*/ 2147483647 w 4848"/>
              <a:gd name="T7" fmla="*/ 2147483647 h 1931"/>
              <a:gd name="T8" fmla="*/ 2147483647 w 4848"/>
              <a:gd name="T9" fmla="*/ 2147483647 h 1931"/>
              <a:gd name="T10" fmla="*/ 0 60000 65536"/>
              <a:gd name="T11" fmla="*/ 0 60000 65536"/>
              <a:gd name="T12" fmla="*/ 0 60000 65536"/>
              <a:gd name="T13" fmla="*/ 0 60000 65536"/>
              <a:gd name="T14" fmla="*/ 0 60000 65536"/>
              <a:gd name="T15" fmla="*/ 0 w 4848"/>
              <a:gd name="T16" fmla="*/ 0 h 1931"/>
              <a:gd name="T17" fmla="*/ 4848 w 4848"/>
              <a:gd name="T18" fmla="*/ 1931 h 1931"/>
            </a:gdLst>
            <a:ahLst/>
            <a:cxnLst>
              <a:cxn ang="T10">
                <a:pos x="T0" y="T1"/>
              </a:cxn>
              <a:cxn ang="T11">
                <a:pos x="T2" y="T3"/>
              </a:cxn>
              <a:cxn ang="T12">
                <a:pos x="T4" y="T5"/>
              </a:cxn>
              <a:cxn ang="T13">
                <a:pos x="T6" y="T7"/>
              </a:cxn>
              <a:cxn ang="T14">
                <a:pos x="T8" y="T9"/>
              </a:cxn>
            </a:cxnLst>
            <a:rect l="T15" t="T16" r="T17" b="T18"/>
            <a:pathLst>
              <a:path w="4848" h="1931">
                <a:moveTo>
                  <a:pt x="0" y="1931"/>
                </a:moveTo>
                <a:cubicBezTo>
                  <a:pt x="688" y="1804"/>
                  <a:pt x="1350" y="1752"/>
                  <a:pt x="1765" y="1467"/>
                </a:cubicBezTo>
                <a:cubicBezTo>
                  <a:pt x="2180" y="1182"/>
                  <a:pt x="2060" y="438"/>
                  <a:pt x="2488" y="219"/>
                </a:cubicBezTo>
                <a:cubicBezTo>
                  <a:pt x="2916" y="0"/>
                  <a:pt x="3943" y="55"/>
                  <a:pt x="4336" y="155"/>
                </a:cubicBezTo>
                <a:cubicBezTo>
                  <a:pt x="4729" y="255"/>
                  <a:pt x="4741" y="681"/>
                  <a:pt x="4848" y="819"/>
                </a:cubicBezTo>
              </a:path>
            </a:pathLst>
          </a:custGeom>
          <a:noFill/>
          <a:ln w="38100" cap="flat" cmpd="sng">
            <a:solidFill>
              <a:srgbClr val="FF0000"/>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latin typeface="Comic Sans MS" panose="030F0702030302020204" pitchFamily="66" charset="0"/>
            </a:endParaRPr>
          </a:p>
        </p:txBody>
      </p:sp>
      <p:sp>
        <p:nvSpPr>
          <p:cNvPr id="15" name="Text Box 35">
            <a:extLst>
              <a:ext uri="{FF2B5EF4-FFF2-40B4-BE49-F238E27FC236}">
                <a16:creationId xmlns:a16="http://schemas.microsoft.com/office/drawing/2014/main" id="{9BF23011-A953-BCA1-7023-6AA83A763EC7}"/>
              </a:ext>
            </a:extLst>
          </p:cNvPr>
          <p:cNvSpPr txBox="1">
            <a:spLocks noChangeArrowheads="1"/>
          </p:cNvSpPr>
          <p:nvPr/>
        </p:nvSpPr>
        <p:spPr bwMode="auto">
          <a:xfrm>
            <a:off x="8964135" y="2773617"/>
            <a:ext cx="1636712"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2000" b="1">
                <a:solidFill>
                  <a:srgbClr val="FF0000"/>
                </a:solidFill>
                <a:latin typeface="Comic Sans MS" panose="030F0702030302020204" pitchFamily="66" charset="0"/>
              </a:rPr>
              <a:t>Beneficios</a:t>
            </a:r>
          </a:p>
        </p:txBody>
      </p:sp>
      <p:sp>
        <p:nvSpPr>
          <p:cNvPr id="16" name="Text Box 36">
            <a:extLst>
              <a:ext uri="{FF2B5EF4-FFF2-40B4-BE49-F238E27FC236}">
                <a16:creationId xmlns:a16="http://schemas.microsoft.com/office/drawing/2014/main" id="{82950A0D-AABC-E7C0-AD8E-6852E4D1A594}"/>
              </a:ext>
            </a:extLst>
          </p:cNvPr>
          <p:cNvSpPr txBox="1">
            <a:spLocks noChangeArrowheads="1"/>
          </p:cNvSpPr>
          <p:nvPr/>
        </p:nvSpPr>
        <p:spPr bwMode="auto">
          <a:xfrm>
            <a:off x="9527697" y="3561017"/>
            <a:ext cx="1335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1600" b="1">
                <a:latin typeface="Comic Sans MS" panose="030F0702030302020204" pitchFamily="66" charset="0"/>
              </a:rPr>
              <a:t>tiempo</a:t>
            </a:r>
          </a:p>
        </p:txBody>
      </p:sp>
    </p:spTree>
    <p:extLst>
      <p:ext uri="{BB962C8B-B14F-4D97-AF65-F5344CB8AC3E}">
        <p14:creationId xmlns:p14="http://schemas.microsoft.com/office/powerpoint/2010/main" val="391361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p:bldP spid="14" grpId="0" animBg="1"/>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6B25736-DB9F-4054-A96C-74C5B172DD99}"/>
              </a:ext>
            </a:extLst>
          </p:cNvPr>
          <p:cNvPicPr>
            <a:picLocks noChangeAspect="1"/>
          </p:cNvPicPr>
          <p:nvPr/>
        </p:nvPicPr>
        <p:blipFill>
          <a:blip r:embed="rId2"/>
          <a:stretch>
            <a:fillRect/>
          </a:stretch>
        </p:blipFill>
        <p:spPr>
          <a:xfrm>
            <a:off x="680336" y="1389143"/>
            <a:ext cx="10831328" cy="4769252"/>
          </a:xfrm>
          <a:prstGeom prst="rect">
            <a:avLst/>
          </a:prstGeom>
        </p:spPr>
      </p:pic>
      <p:sp>
        <p:nvSpPr>
          <p:cNvPr id="7" name="1 Título">
            <a:extLst>
              <a:ext uri="{FF2B5EF4-FFF2-40B4-BE49-F238E27FC236}">
                <a16:creationId xmlns:a16="http://schemas.microsoft.com/office/drawing/2014/main" id="{8C5E52F5-39B5-4D06-8355-0F6979DA07C3}"/>
              </a:ext>
            </a:extLst>
          </p:cNvPr>
          <p:cNvSpPr>
            <a:spLocks noGrp="1"/>
          </p:cNvSpPr>
          <p:nvPr>
            <p:ph type="title"/>
          </p:nvPr>
        </p:nvSpPr>
        <p:spPr>
          <a:xfrm>
            <a:off x="838200" y="365126"/>
            <a:ext cx="10515600" cy="592818"/>
          </a:xfrm>
        </p:spPr>
        <p:txBody>
          <a:bodyPr anchor="t">
            <a:normAutofit fontScale="90000"/>
          </a:bodyPr>
          <a:lstStyle/>
          <a:p>
            <a:pPr>
              <a:defRPr/>
            </a:pPr>
            <a:r>
              <a:rPr lang="es-ES" sz="3200" b="1" dirty="0">
                <a:solidFill>
                  <a:schemeClr val="accent3"/>
                </a:solidFill>
                <a:latin typeface="Comic Sans MS" panose="030F0702030302020204" pitchFamily="66" charset="0"/>
              </a:rPr>
              <a:t>3. MARKETING OPERATIVO. Producto </a:t>
            </a:r>
            <a:br>
              <a:rPr lang="es-ES_tradnl" sz="2800" b="1" dirty="0">
                <a:solidFill>
                  <a:srgbClr val="C00000"/>
                </a:solidFill>
                <a:latin typeface="Comic Sans MS" panose="030F0702030302020204" pitchFamily="66" charset="0"/>
              </a:rPr>
            </a:br>
            <a:br>
              <a:rPr lang="es-ES_tradnl" sz="3200" b="1" dirty="0">
                <a:solidFill>
                  <a:srgbClr val="C00000"/>
                </a:solidFill>
                <a:latin typeface="Comic Sans MS" panose="030F0702030302020204" pitchFamily="66" charset="0"/>
              </a:rPr>
            </a:br>
            <a:endParaRPr lang="es-ES" b="1" dirty="0">
              <a:solidFill>
                <a:schemeClr val="tx2">
                  <a:lumMod val="50000"/>
                  <a:lumOff val="50000"/>
                </a:schemeClr>
              </a:solidFill>
            </a:endParaRPr>
          </a:p>
        </p:txBody>
      </p:sp>
      <p:sp>
        <p:nvSpPr>
          <p:cNvPr id="8" name="CuadroTexto 7">
            <a:extLst>
              <a:ext uri="{FF2B5EF4-FFF2-40B4-BE49-F238E27FC236}">
                <a16:creationId xmlns:a16="http://schemas.microsoft.com/office/drawing/2014/main" id="{64DD9691-3526-4ED7-B55B-A81403B2C3EA}"/>
              </a:ext>
            </a:extLst>
          </p:cNvPr>
          <p:cNvSpPr txBox="1"/>
          <p:nvPr/>
        </p:nvSpPr>
        <p:spPr>
          <a:xfrm>
            <a:off x="838200" y="913204"/>
            <a:ext cx="7624690" cy="369332"/>
          </a:xfrm>
          <a:prstGeom prst="rect">
            <a:avLst/>
          </a:prstGeom>
          <a:noFill/>
        </p:spPr>
        <p:txBody>
          <a:bodyPr wrap="square" rtlCol="0">
            <a:spAutoFit/>
          </a:bodyPr>
          <a:lstStyle/>
          <a:p>
            <a:r>
              <a:rPr lang="es-ES" b="1" dirty="0"/>
              <a:t>Características de la etapa del ciclo de vida del producto</a:t>
            </a:r>
          </a:p>
        </p:txBody>
      </p:sp>
    </p:spTree>
    <p:extLst>
      <p:ext uri="{BB962C8B-B14F-4D97-AF65-F5344CB8AC3E}">
        <p14:creationId xmlns:p14="http://schemas.microsoft.com/office/powerpoint/2010/main" val="2344438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D0612-0F5C-6512-F068-5B482B9EB495}"/>
              </a:ext>
            </a:extLst>
          </p:cNvPr>
          <p:cNvSpPr txBox="1"/>
          <p:nvPr/>
        </p:nvSpPr>
        <p:spPr>
          <a:xfrm>
            <a:off x="561531" y="84808"/>
            <a:ext cx="11053944" cy="400110"/>
          </a:xfrm>
          <a:prstGeom prst="rect">
            <a:avLst/>
          </a:prstGeom>
          <a:noFill/>
        </p:spPr>
        <p:txBody>
          <a:bodyPr wrap="square" rtlCol="0">
            <a:spAutoFit/>
          </a:bodyPr>
          <a:lstStyle/>
          <a:p>
            <a:r>
              <a:rPr lang="es-ES" sz="2000" b="1" dirty="0">
                <a:solidFill>
                  <a:schemeClr val="accent3"/>
                </a:solidFill>
                <a:latin typeface="Comic Sans MS" panose="030F0702030302020204" pitchFamily="66" charset="0"/>
              </a:rPr>
              <a:t>3. MARKETING Operativo. </a:t>
            </a:r>
            <a:r>
              <a:rPr lang="es-ES" altLang="es-ES" sz="2000" b="1" dirty="0">
                <a:solidFill>
                  <a:schemeClr val="accent3"/>
                </a:solidFill>
                <a:latin typeface="Comic Sans MS" panose="030F0702030302020204" pitchFamily="66" charset="0"/>
              </a:rPr>
              <a:t>Estrategias según el ciclo de vida del producto</a:t>
            </a:r>
            <a:endParaRPr lang="es-ES" sz="2000" dirty="0">
              <a:latin typeface="Comic Sans MS" panose="030F0702030302020204" pitchFamily="66" charset="0"/>
            </a:endParaRPr>
          </a:p>
        </p:txBody>
      </p:sp>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0" y="55509"/>
            <a:ext cx="872197" cy="490611"/>
          </a:xfrm>
          <a:prstGeom prst="rect">
            <a:avLst/>
          </a:prstGeom>
        </p:spPr>
      </p:pic>
      <p:graphicFrame>
        <p:nvGraphicFramePr>
          <p:cNvPr id="2" name="Tabla 6">
            <a:extLst>
              <a:ext uri="{FF2B5EF4-FFF2-40B4-BE49-F238E27FC236}">
                <a16:creationId xmlns:a16="http://schemas.microsoft.com/office/drawing/2014/main" id="{A97D7EC2-D8D0-7ED4-3D78-E6E4A1CE7B57}"/>
              </a:ext>
            </a:extLst>
          </p:cNvPr>
          <p:cNvGraphicFramePr>
            <a:graphicFrameLocks noGrp="1"/>
          </p:cNvGraphicFramePr>
          <p:nvPr>
            <p:extLst>
              <p:ext uri="{D42A27DB-BD31-4B8C-83A1-F6EECF244321}">
                <p14:modId xmlns:p14="http://schemas.microsoft.com/office/powerpoint/2010/main" val="2187630676"/>
              </p:ext>
            </p:extLst>
          </p:nvPr>
        </p:nvGraphicFramePr>
        <p:xfrm>
          <a:off x="355223" y="778231"/>
          <a:ext cx="11481554" cy="1193800"/>
        </p:xfrm>
        <a:graphic>
          <a:graphicData uri="http://schemas.openxmlformats.org/drawingml/2006/table">
            <a:tbl>
              <a:tblPr firstRow="1" bandRow="1">
                <a:tableStyleId>{5C22544A-7EE6-4342-B048-85BDC9FD1C3A}</a:tableStyleId>
              </a:tblPr>
              <a:tblGrid>
                <a:gridCol w="1867524">
                  <a:extLst>
                    <a:ext uri="{9D8B030D-6E8A-4147-A177-3AD203B41FA5}">
                      <a16:colId xmlns:a16="http://schemas.microsoft.com/office/drawing/2014/main" val="3968882374"/>
                    </a:ext>
                  </a:extLst>
                </a:gridCol>
                <a:gridCol w="2128057">
                  <a:extLst>
                    <a:ext uri="{9D8B030D-6E8A-4147-A177-3AD203B41FA5}">
                      <a16:colId xmlns:a16="http://schemas.microsoft.com/office/drawing/2014/main" val="2097284408"/>
                    </a:ext>
                  </a:extLst>
                </a:gridCol>
                <a:gridCol w="2927288">
                  <a:extLst>
                    <a:ext uri="{9D8B030D-6E8A-4147-A177-3AD203B41FA5}">
                      <a16:colId xmlns:a16="http://schemas.microsoft.com/office/drawing/2014/main" val="3461048710"/>
                    </a:ext>
                  </a:extLst>
                </a:gridCol>
                <a:gridCol w="2537932">
                  <a:extLst>
                    <a:ext uri="{9D8B030D-6E8A-4147-A177-3AD203B41FA5}">
                      <a16:colId xmlns:a16="http://schemas.microsoft.com/office/drawing/2014/main" val="3703690179"/>
                    </a:ext>
                  </a:extLst>
                </a:gridCol>
                <a:gridCol w="2020753">
                  <a:extLst>
                    <a:ext uri="{9D8B030D-6E8A-4147-A177-3AD203B41FA5}">
                      <a16:colId xmlns:a16="http://schemas.microsoft.com/office/drawing/2014/main" val="2278337970"/>
                    </a:ext>
                  </a:extLst>
                </a:gridCol>
              </a:tblGrid>
              <a:tr h="370840">
                <a:tc>
                  <a:txBody>
                    <a:bodyPr/>
                    <a:lstStyle/>
                    <a:p>
                      <a:pPr algn="ctr"/>
                      <a:r>
                        <a:rPr lang="es-ES" sz="1600" dirty="0">
                          <a:latin typeface="Comic Sans MS" panose="030F0702030302020204" pitchFamily="66" charset="0"/>
                        </a:rPr>
                        <a:t>CICLO DE VIDA</a:t>
                      </a:r>
                    </a:p>
                  </a:txBody>
                  <a:tcPr/>
                </a:tc>
                <a:tc>
                  <a:txBody>
                    <a:bodyPr/>
                    <a:lstStyle/>
                    <a:p>
                      <a:pPr algn="ctr"/>
                      <a:r>
                        <a:rPr lang="es-ES" sz="1600" dirty="0">
                          <a:latin typeface="Comic Sans MS" panose="030F0702030302020204" pitchFamily="66" charset="0"/>
                        </a:rPr>
                        <a:t>INTRODUCCIÓN</a:t>
                      </a:r>
                    </a:p>
                  </a:txBody>
                  <a:tcPr/>
                </a:tc>
                <a:tc>
                  <a:txBody>
                    <a:bodyPr/>
                    <a:lstStyle/>
                    <a:p>
                      <a:pPr algn="ctr"/>
                      <a:r>
                        <a:rPr lang="es-ES" sz="1600" dirty="0">
                          <a:latin typeface="Comic Sans MS" panose="030F0702030302020204" pitchFamily="66" charset="0"/>
                        </a:rPr>
                        <a:t>CRECIMIENTO</a:t>
                      </a:r>
                    </a:p>
                  </a:txBody>
                  <a:tcPr/>
                </a:tc>
                <a:tc>
                  <a:txBody>
                    <a:bodyPr/>
                    <a:lstStyle/>
                    <a:p>
                      <a:pPr algn="ctr"/>
                      <a:r>
                        <a:rPr lang="es-ES" sz="1600" dirty="0">
                          <a:latin typeface="Comic Sans MS" panose="030F0702030302020204" pitchFamily="66" charset="0"/>
                        </a:rPr>
                        <a:t>MADUREZ</a:t>
                      </a:r>
                    </a:p>
                  </a:txBody>
                  <a:tcPr/>
                </a:tc>
                <a:tc>
                  <a:txBody>
                    <a:bodyPr/>
                    <a:lstStyle/>
                    <a:p>
                      <a:pPr algn="ctr"/>
                      <a:r>
                        <a:rPr lang="es-ES" sz="1600" dirty="0">
                          <a:latin typeface="Comic Sans MS" panose="030F0702030302020204" pitchFamily="66" charset="0"/>
                        </a:rPr>
                        <a:t>DECLIVE</a:t>
                      </a:r>
                    </a:p>
                  </a:txBody>
                  <a:tcPr/>
                </a:tc>
                <a:extLst>
                  <a:ext uri="{0D108BD9-81ED-4DB2-BD59-A6C34878D82A}">
                    <a16:rowId xmlns:a16="http://schemas.microsoft.com/office/drawing/2014/main" val="36627905"/>
                  </a:ext>
                </a:extLst>
              </a:tr>
              <a:tr h="370840">
                <a:tc>
                  <a:txBody>
                    <a:bodyPr/>
                    <a:lstStyle/>
                    <a:p>
                      <a:r>
                        <a:rPr lang="es-ES" sz="1600" b="1" dirty="0">
                          <a:latin typeface="Comic Sans MS" panose="030F0702030302020204" pitchFamily="66" charset="0"/>
                        </a:rPr>
                        <a:t>Objetivos de Marketing</a:t>
                      </a:r>
                    </a:p>
                  </a:txBody>
                  <a:tcPr/>
                </a:tc>
                <a:tc>
                  <a:txBody>
                    <a:bodyPr/>
                    <a:lstStyle/>
                    <a:p>
                      <a:r>
                        <a:rPr lang="es-ES" sz="1600" dirty="0">
                          <a:latin typeface="Comic Sans MS" panose="030F0702030302020204" pitchFamily="66" charset="0"/>
                        </a:rPr>
                        <a:t>Crear conciencia y prueba de producto</a:t>
                      </a:r>
                    </a:p>
                  </a:txBody>
                  <a:tcPr/>
                </a:tc>
                <a:tc>
                  <a:txBody>
                    <a:bodyPr/>
                    <a:lstStyle/>
                    <a:p>
                      <a:r>
                        <a:rPr lang="es-ES" sz="1600" dirty="0">
                          <a:latin typeface="Comic Sans MS" panose="030F0702030302020204" pitchFamily="66" charset="0"/>
                        </a:rPr>
                        <a:t>Maximizar la participación en el mercado</a:t>
                      </a:r>
                    </a:p>
                  </a:txBody>
                  <a:tcPr/>
                </a:tc>
                <a:tc>
                  <a:txBody>
                    <a:bodyPr/>
                    <a:lstStyle/>
                    <a:p>
                      <a:r>
                        <a:rPr lang="es-ES" sz="1600" dirty="0">
                          <a:latin typeface="Comic Sans MS" panose="030F0702030302020204" pitchFamily="66" charset="0"/>
                        </a:rPr>
                        <a:t>Maximizar utilidades. </a:t>
                      </a:r>
                    </a:p>
                    <a:p>
                      <a:r>
                        <a:rPr lang="es-ES" sz="1600" dirty="0">
                          <a:latin typeface="Comic Sans MS" panose="030F0702030302020204" pitchFamily="66" charset="0"/>
                        </a:rPr>
                        <a:t>Se frena la participación en el mercado</a:t>
                      </a:r>
                    </a:p>
                  </a:txBody>
                  <a:tcPr/>
                </a:tc>
                <a:tc>
                  <a:txBody>
                    <a:bodyPr/>
                    <a:lstStyle/>
                    <a:p>
                      <a:r>
                        <a:rPr lang="es-ES" sz="1600" dirty="0">
                          <a:latin typeface="Comic Sans MS" panose="030F0702030302020204" pitchFamily="66" charset="0"/>
                        </a:rPr>
                        <a:t>Reducir gastos </a:t>
                      </a:r>
                    </a:p>
                  </a:txBody>
                  <a:tcPr/>
                </a:tc>
                <a:extLst>
                  <a:ext uri="{0D108BD9-81ED-4DB2-BD59-A6C34878D82A}">
                    <a16:rowId xmlns:a16="http://schemas.microsoft.com/office/drawing/2014/main" val="2231878501"/>
                  </a:ext>
                </a:extLst>
              </a:tr>
            </a:tbl>
          </a:graphicData>
        </a:graphic>
      </p:graphicFrame>
      <p:graphicFrame>
        <p:nvGraphicFramePr>
          <p:cNvPr id="7" name="Tabla 8">
            <a:extLst>
              <a:ext uri="{FF2B5EF4-FFF2-40B4-BE49-F238E27FC236}">
                <a16:creationId xmlns:a16="http://schemas.microsoft.com/office/drawing/2014/main" id="{1B978831-54EF-C40B-C6B5-B2D7A0A8B3B8}"/>
              </a:ext>
            </a:extLst>
          </p:cNvPr>
          <p:cNvGraphicFramePr>
            <a:graphicFrameLocks noGrp="1"/>
          </p:cNvGraphicFramePr>
          <p:nvPr>
            <p:extLst>
              <p:ext uri="{D42A27DB-BD31-4B8C-83A1-F6EECF244321}">
                <p14:modId xmlns:p14="http://schemas.microsoft.com/office/powerpoint/2010/main" val="2593125709"/>
              </p:ext>
            </p:extLst>
          </p:nvPr>
        </p:nvGraphicFramePr>
        <p:xfrm>
          <a:off x="355223" y="1966703"/>
          <a:ext cx="11466560" cy="4668520"/>
        </p:xfrm>
        <a:graphic>
          <a:graphicData uri="http://schemas.openxmlformats.org/drawingml/2006/table">
            <a:tbl>
              <a:tblPr firstRow="1" bandRow="1">
                <a:tableStyleId>{5C22544A-7EE6-4342-B048-85BDC9FD1C3A}</a:tableStyleId>
              </a:tblPr>
              <a:tblGrid>
                <a:gridCol w="1878432">
                  <a:extLst>
                    <a:ext uri="{9D8B030D-6E8A-4147-A177-3AD203B41FA5}">
                      <a16:colId xmlns:a16="http://schemas.microsoft.com/office/drawing/2014/main" val="3574221169"/>
                    </a:ext>
                  </a:extLst>
                </a:gridCol>
                <a:gridCol w="2125136">
                  <a:extLst>
                    <a:ext uri="{9D8B030D-6E8A-4147-A177-3AD203B41FA5}">
                      <a16:colId xmlns:a16="http://schemas.microsoft.com/office/drawing/2014/main" val="2502207402"/>
                    </a:ext>
                  </a:extLst>
                </a:gridCol>
                <a:gridCol w="2922955">
                  <a:extLst>
                    <a:ext uri="{9D8B030D-6E8A-4147-A177-3AD203B41FA5}">
                      <a16:colId xmlns:a16="http://schemas.microsoft.com/office/drawing/2014/main" val="3286505139"/>
                    </a:ext>
                  </a:extLst>
                </a:gridCol>
                <a:gridCol w="2523830">
                  <a:extLst>
                    <a:ext uri="{9D8B030D-6E8A-4147-A177-3AD203B41FA5}">
                      <a16:colId xmlns:a16="http://schemas.microsoft.com/office/drawing/2014/main" val="1844161543"/>
                    </a:ext>
                  </a:extLst>
                </a:gridCol>
                <a:gridCol w="2016207">
                  <a:extLst>
                    <a:ext uri="{9D8B030D-6E8A-4147-A177-3AD203B41FA5}">
                      <a16:colId xmlns:a16="http://schemas.microsoft.com/office/drawing/2014/main" val="2264560181"/>
                    </a:ext>
                  </a:extLst>
                </a:gridCol>
              </a:tblGrid>
              <a:tr h="370840">
                <a:tc>
                  <a:txBody>
                    <a:bodyPr/>
                    <a:lstStyle/>
                    <a:p>
                      <a:pPr algn="ctr"/>
                      <a:r>
                        <a:rPr lang="es-ES" dirty="0">
                          <a:latin typeface="Comic Sans MS" panose="030F0702030302020204" pitchFamily="66" charset="0"/>
                        </a:rPr>
                        <a:t>ESTRATEGIA</a:t>
                      </a:r>
                    </a:p>
                  </a:txBody>
                  <a:tcPr/>
                </a:tc>
                <a:tc>
                  <a:txBody>
                    <a:bodyPr/>
                    <a:lstStyle/>
                    <a:p>
                      <a:endParaRPr lang="es-ES" dirty="0">
                        <a:latin typeface="Comic Sans MS" panose="030F0702030302020204" pitchFamily="66" charset="0"/>
                      </a:endParaRPr>
                    </a:p>
                  </a:txBody>
                  <a:tcPr/>
                </a:tc>
                <a:tc>
                  <a:txBody>
                    <a:bodyPr/>
                    <a:lstStyle/>
                    <a:p>
                      <a:endParaRPr lang="es-ES">
                        <a:latin typeface="Comic Sans MS" panose="030F0702030302020204" pitchFamily="66" charset="0"/>
                      </a:endParaRPr>
                    </a:p>
                  </a:txBody>
                  <a:tcPr/>
                </a:tc>
                <a:tc>
                  <a:txBody>
                    <a:bodyPr/>
                    <a:lstStyle/>
                    <a:p>
                      <a:endParaRPr lang="es-ES">
                        <a:latin typeface="Comic Sans MS" panose="030F0702030302020204" pitchFamily="66" charset="0"/>
                      </a:endParaRPr>
                    </a:p>
                  </a:txBody>
                  <a:tcPr/>
                </a:tc>
                <a:tc>
                  <a:txBody>
                    <a:bodyPr/>
                    <a:lstStyle/>
                    <a:p>
                      <a:endParaRPr lang="es-ES">
                        <a:latin typeface="Comic Sans MS" panose="030F0702030302020204" pitchFamily="66" charset="0"/>
                      </a:endParaRPr>
                    </a:p>
                  </a:txBody>
                  <a:tcPr/>
                </a:tc>
                <a:extLst>
                  <a:ext uri="{0D108BD9-81ED-4DB2-BD59-A6C34878D82A}">
                    <a16:rowId xmlns:a16="http://schemas.microsoft.com/office/drawing/2014/main" val="3564177255"/>
                  </a:ext>
                </a:extLst>
              </a:tr>
              <a:tr h="370840">
                <a:tc>
                  <a:txBody>
                    <a:bodyPr/>
                    <a:lstStyle/>
                    <a:p>
                      <a:r>
                        <a:rPr lang="es-ES" sz="1600" b="1" dirty="0">
                          <a:latin typeface="Comic Sans MS" panose="030F0702030302020204" pitchFamily="66" charset="0"/>
                        </a:rPr>
                        <a:t>PRODUCTO</a:t>
                      </a:r>
                    </a:p>
                  </a:txBody>
                  <a:tcPr/>
                </a:tc>
                <a:tc>
                  <a:txBody>
                    <a:bodyPr/>
                    <a:lstStyle/>
                    <a:p>
                      <a:r>
                        <a:rPr lang="es-ES" dirty="0">
                          <a:latin typeface="Comic Sans MS" panose="030F0702030302020204" pitchFamily="66" charset="0"/>
                        </a:rPr>
                        <a:t>Ofrecer un producto básico</a:t>
                      </a:r>
                    </a:p>
                  </a:txBody>
                  <a:tcPr/>
                </a:tc>
                <a:tc>
                  <a:txBody>
                    <a:bodyPr/>
                    <a:lstStyle/>
                    <a:p>
                      <a:r>
                        <a:rPr lang="es-ES" dirty="0">
                          <a:latin typeface="Comic Sans MS" panose="030F0702030302020204" pitchFamily="66" charset="0"/>
                        </a:rPr>
                        <a:t>Ofrecer extensiones del producto: servicio y garantía</a:t>
                      </a:r>
                    </a:p>
                  </a:txBody>
                  <a:tcPr/>
                </a:tc>
                <a:tc>
                  <a:txBody>
                    <a:bodyPr/>
                    <a:lstStyle/>
                    <a:p>
                      <a:r>
                        <a:rPr lang="es-ES" dirty="0">
                          <a:latin typeface="Comic Sans MS" panose="030F0702030302020204" pitchFamily="66" charset="0"/>
                        </a:rPr>
                        <a:t>Diversificar marcas y modelos</a:t>
                      </a:r>
                    </a:p>
                  </a:txBody>
                  <a:tcPr/>
                </a:tc>
                <a:tc>
                  <a:txBody>
                    <a:bodyPr/>
                    <a:lstStyle/>
                    <a:p>
                      <a:r>
                        <a:rPr lang="es-ES" dirty="0">
                          <a:latin typeface="Comic Sans MS" panose="030F0702030302020204" pitchFamily="66" charset="0"/>
                        </a:rPr>
                        <a:t>Limitar artículos débiles</a:t>
                      </a:r>
                    </a:p>
                  </a:txBody>
                  <a:tcPr/>
                </a:tc>
                <a:extLst>
                  <a:ext uri="{0D108BD9-81ED-4DB2-BD59-A6C34878D82A}">
                    <a16:rowId xmlns:a16="http://schemas.microsoft.com/office/drawing/2014/main" val="4149069770"/>
                  </a:ext>
                </a:extLst>
              </a:tr>
              <a:tr h="370840">
                <a:tc>
                  <a:txBody>
                    <a:bodyPr/>
                    <a:lstStyle/>
                    <a:p>
                      <a:r>
                        <a:rPr lang="es-ES" sz="1600" b="1" dirty="0">
                          <a:latin typeface="Comic Sans MS" panose="030F0702030302020204" pitchFamily="66" charset="0"/>
                        </a:rPr>
                        <a:t>PRECIO</a:t>
                      </a:r>
                    </a:p>
                  </a:txBody>
                  <a:tcPr/>
                </a:tc>
                <a:tc>
                  <a:txBody>
                    <a:bodyPr/>
                    <a:lstStyle/>
                    <a:p>
                      <a:r>
                        <a:rPr lang="es-ES" dirty="0">
                          <a:latin typeface="Comic Sans MS" panose="030F0702030302020204" pitchFamily="66" charset="0"/>
                        </a:rPr>
                        <a:t>Usar costo + margen</a:t>
                      </a:r>
                    </a:p>
                  </a:txBody>
                  <a:tcPr/>
                </a:tc>
                <a:tc>
                  <a:txBody>
                    <a:bodyPr/>
                    <a:lstStyle/>
                    <a:p>
                      <a:r>
                        <a:rPr lang="es-ES" dirty="0">
                          <a:latin typeface="Comic Sans MS" panose="030F0702030302020204" pitchFamily="66" charset="0"/>
                        </a:rPr>
                        <a:t>Precio para penetrar en el mercado</a:t>
                      </a:r>
                    </a:p>
                  </a:txBody>
                  <a:tcPr/>
                </a:tc>
                <a:tc>
                  <a:txBody>
                    <a:bodyPr/>
                    <a:lstStyle/>
                    <a:p>
                      <a:r>
                        <a:rPr lang="es-ES" dirty="0">
                          <a:latin typeface="Comic Sans MS" panose="030F0702030302020204" pitchFamily="66" charset="0"/>
                        </a:rPr>
                        <a:t>Precio igual a la competencia</a:t>
                      </a:r>
                    </a:p>
                  </a:txBody>
                  <a:tcPr/>
                </a:tc>
                <a:tc>
                  <a:txBody>
                    <a:bodyPr/>
                    <a:lstStyle/>
                    <a:p>
                      <a:r>
                        <a:rPr lang="es-ES" dirty="0">
                          <a:latin typeface="Comic Sans MS" panose="030F0702030302020204" pitchFamily="66" charset="0"/>
                        </a:rPr>
                        <a:t>Reducción del precio</a:t>
                      </a:r>
                    </a:p>
                  </a:txBody>
                  <a:tcPr/>
                </a:tc>
                <a:extLst>
                  <a:ext uri="{0D108BD9-81ED-4DB2-BD59-A6C34878D82A}">
                    <a16:rowId xmlns:a16="http://schemas.microsoft.com/office/drawing/2014/main" val="2924967288"/>
                  </a:ext>
                </a:extLst>
              </a:tr>
              <a:tr h="370840">
                <a:tc>
                  <a:txBody>
                    <a:bodyPr/>
                    <a:lstStyle/>
                    <a:p>
                      <a:r>
                        <a:rPr lang="es-ES" sz="1600" b="1" dirty="0">
                          <a:latin typeface="Comic Sans MS" panose="030F0702030302020204" pitchFamily="66" charset="0"/>
                        </a:rPr>
                        <a:t>DISTRIBUCIÓN</a:t>
                      </a:r>
                    </a:p>
                  </a:txBody>
                  <a:tcPr/>
                </a:tc>
                <a:tc>
                  <a:txBody>
                    <a:bodyPr/>
                    <a:lstStyle/>
                    <a:p>
                      <a:r>
                        <a:rPr lang="es-ES" dirty="0">
                          <a:latin typeface="Comic Sans MS" panose="030F0702030302020204" pitchFamily="66" charset="0"/>
                        </a:rPr>
                        <a:t>Distribución selectiva</a:t>
                      </a:r>
                    </a:p>
                  </a:txBody>
                  <a:tcPr/>
                </a:tc>
                <a:tc>
                  <a:txBody>
                    <a:bodyPr/>
                    <a:lstStyle/>
                    <a:p>
                      <a:r>
                        <a:rPr lang="es-ES" dirty="0">
                          <a:latin typeface="Comic Sans MS" panose="030F0702030302020204" pitchFamily="66" charset="0"/>
                        </a:rPr>
                        <a:t>Distribución intensiva</a:t>
                      </a:r>
                    </a:p>
                  </a:txBody>
                  <a:tcPr/>
                </a:tc>
                <a:tc>
                  <a:txBody>
                    <a:bodyPr/>
                    <a:lstStyle/>
                    <a:p>
                      <a:r>
                        <a:rPr lang="es-ES" dirty="0">
                          <a:latin typeface="Comic Sans MS" panose="030F0702030302020204" pitchFamily="66" charset="0"/>
                        </a:rPr>
                        <a:t>Distribución más intensiva</a:t>
                      </a:r>
                    </a:p>
                  </a:txBody>
                  <a:tcPr/>
                </a:tc>
                <a:tc>
                  <a:txBody>
                    <a:bodyPr/>
                    <a:lstStyle/>
                    <a:p>
                      <a:r>
                        <a:rPr lang="es-ES" dirty="0">
                          <a:latin typeface="Comic Sans MS" panose="030F0702030302020204" pitchFamily="66" charset="0"/>
                        </a:rPr>
                        <a:t>Salida selectiva.</a:t>
                      </a:r>
                    </a:p>
                  </a:txBody>
                  <a:tcPr/>
                </a:tc>
                <a:extLst>
                  <a:ext uri="{0D108BD9-81ED-4DB2-BD59-A6C34878D82A}">
                    <a16:rowId xmlns:a16="http://schemas.microsoft.com/office/drawing/2014/main" val="3970558239"/>
                  </a:ext>
                </a:extLst>
              </a:tr>
              <a:tr h="370840">
                <a:tc>
                  <a:txBody>
                    <a:bodyPr/>
                    <a:lstStyle/>
                    <a:p>
                      <a:r>
                        <a:rPr lang="es-ES" sz="1600" b="1" dirty="0">
                          <a:latin typeface="Comic Sans MS" panose="030F0702030302020204" pitchFamily="66" charset="0"/>
                        </a:rPr>
                        <a:t>PUBLICIDAD</a:t>
                      </a:r>
                    </a:p>
                  </a:txBody>
                  <a:tcPr/>
                </a:tc>
                <a:tc>
                  <a:txBody>
                    <a:bodyPr/>
                    <a:lstStyle/>
                    <a:p>
                      <a:r>
                        <a:rPr lang="es-ES" dirty="0">
                          <a:latin typeface="Comic Sans MS" panose="030F0702030302020204" pitchFamily="66" charset="0"/>
                        </a:rPr>
                        <a:t>Crear conciencia entre </a:t>
                      </a:r>
                      <a:r>
                        <a:rPr lang="es-ES" dirty="0" err="1">
                          <a:latin typeface="Comic Sans MS" panose="030F0702030302020204" pitchFamily="66" charset="0"/>
                        </a:rPr>
                        <a:t>los”early</a:t>
                      </a:r>
                      <a:r>
                        <a:rPr lang="es-ES" dirty="0">
                          <a:latin typeface="Comic Sans MS" panose="030F0702030302020204" pitchFamily="66" charset="0"/>
                        </a:rPr>
                        <a:t> </a:t>
                      </a:r>
                      <a:r>
                        <a:rPr lang="es-ES" dirty="0" err="1">
                          <a:latin typeface="Comic Sans MS" panose="030F0702030302020204" pitchFamily="66" charset="0"/>
                        </a:rPr>
                        <a:t>adopters</a:t>
                      </a:r>
                      <a:r>
                        <a:rPr lang="es-ES" dirty="0">
                          <a:latin typeface="Comic Sans MS" panose="030F0702030302020204" pitchFamily="66" charset="0"/>
                        </a:rPr>
                        <a:t>” y los distribuidores</a:t>
                      </a:r>
                    </a:p>
                  </a:txBody>
                  <a:tcPr/>
                </a:tc>
                <a:tc>
                  <a:txBody>
                    <a:bodyPr/>
                    <a:lstStyle/>
                    <a:p>
                      <a:r>
                        <a:rPr lang="es-ES" dirty="0">
                          <a:latin typeface="Comic Sans MS" panose="030F0702030302020204" pitchFamily="66" charset="0"/>
                        </a:rPr>
                        <a:t>Crear interés en el mercado masivo</a:t>
                      </a:r>
                    </a:p>
                  </a:txBody>
                  <a:tcPr/>
                </a:tc>
                <a:tc>
                  <a:txBody>
                    <a:bodyPr/>
                    <a:lstStyle/>
                    <a:p>
                      <a:r>
                        <a:rPr lang="es-ES" dirty="0">
                          <a:latin typeface="Comic Sans MS" panose="030F0702030302020204" pitchFamily="66" charset="0"/>
                        </a:rPr>
                        <a:t>Enfatizar beneficios y diferencias de la marca</a:t>
                      </a:r>
                    </a:p>
                  </a:txBody>
                  <a:tcPr/>
                </a:tc>
                <a:tc>
                  <a:txBody>
                    <a:bodyPr/>
                    <a:lstStyle/>
                    <a:p>
                      <a:r>
                        <a:rPr lang="es-ES" dirty="0">
                          <a:latin typeface="Comic Sans MS" panose="030F0702030302020204" pitchFamily="66" charset="0"/>
                        </a:rPr>
                        <a:t>Retener a los fieles</a:t>
                      </a:r>
                    </a:p>
                  </a:txBody>
                  <a:tcPr/>
                </a:tc>
                <a:extLst>
                  <a:ext uri="{0D108BD9-81ED-4DB2-BD59-A6C34878D82A}">
                    <a16:rowId xmlns:a16="http://schemas.microsoft.com/office/drawing/2014/main" val="1509726750"/>
                  </a:ext>
                </a:extLst>
              </a:tr>
              <a:tr h="370840">
                <a:tc>
                  <a:txBody>
                    <a:bodyPr/>
                    <a:lstStyle/>
                    <a:p>
                      <a:r>
                        <a:rPr lang="es-ES" sz="1600" b="1" dirty="0">
                          <a:latin typeface="Comic Sans MS" panose="030F0702030302020204" pitchFamily="66" charset="0"/>
                        </a:rPr>
                        <a:t>PROMOCIÓN DE VENTAS</a:t>
                      </a:r>
                    </a:p>
                  </a:txBody>
                  <a:tcPr/>
                </a:tc>
                <a:tc>
                  <a:txBody>
                    <a:bodyPr/>
                    <a:lstStyle/>
                    <a:p>
                      <a:r>
                        <a:rPr lang="es-ES" dirty="0">
                          <a:latin typeface="Comic Sans MS" panose="030F0702030302020204" pitchFamily="66" charset="0"/>
                        </a:rPr>
                        <a:t>Promoción intensa para inducir a la prueba</a:t>
                      </a:r>
                    </a:p>
                  </a:txBody>
                  <a:tcPr/>
                </a:tc>
                <a:tc>
                  <a:txBody>
                    <a:bodyPr/>
                    <a:lstStyle/>
                    <a:p>
                      <a:r>
                        <a:rPr lang="es-ES" dirty="0">
                          <a:latin typeface="Comic Sans MS" panose="030F0702030302020204" pitchFamily="66" charset="0"/>
                        </a:rPr>
                        <a:t>Reducción para obtener ventaja de la demanda intensa</a:t>
                      </a:r>
                    </a:p>
                  </a:txBody>
                  <a:tcPr/>
                </a:tc>
                <a:tc>
                  <a:txBody>
                    <a:bodyPr/>
                    <a:lstStyle/>
                    <a:p>
                      <a:r>
                        <a:rPr lang="es-ES" dirty="0">
                          <a:latin typeface="Comic Sans MS" panose="030F0702030302020204" pitchFamily="66" charset="0"/>
                        </a:rPr>
                        <a:t>Incremento para estimular el cambio de marca</a:t>
                      </a:r>
                    </a:p>
                  </a:txBody>
                  <a:tcPr/>
                </a:tc>
                <a:tc>
                  <a:txBody>
                    <a:bodyPr/>
                    <a:lstStyle/>
                    <a:p>
                      <a:r>
                        <a:rPr lang="es-ES" dirty="0">
                          <a:latin typeface="Comic Sans MS" panose="030F0702030302020204" pitchFamily="66" charset="0"/>
                        </a:rPr>
                        <a:t>Reducción al mínimo</a:t>
                      </a:r>
                    </a:p>
                  </a:txBody>
                  <a:tcPr/>
                </a:tc>
                <a:extLst>
                  <a:ext uri="{0D108BD9-81ED-4DB2-BD59-A6C34878D82A}">
                    <a16:rowId xmlns:a16="http://schemas.microsoft.com/office/drawing/2014/main" val="1534208678"/>
                  </a:ext>
                </a:extLst>
              </a:tr>
            </a:tbl>
          </a:graphicData>
        </a:graphic>
      </p:graphicFrame>
    </p:spTree>
    <p:extLst>
      <p:ext uri="{BB962C8B-B14F-4D97-AF65-F5344CB8AC3E}">
        <p14:creationId xmlns:p14="http://schemas.microsoft.com/office/powerpoint/2010/main" val="1746390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7" name="CuadroTexto 6">
            <a:extLst>
              <a:ext uri="{FF2B5EF4-FFF2-40B4-BE49-F238E27FC236}">
                <a16:creationId xmlns:a16="http://schemas.microsoft.com/office/drawing/2014/main" id="{BDCADBA6-4DD3-436B-A3CB-B0A2DCB061AB}"/>
              </a:ext>
            </a:extLst>
          </p:cNvPr>
          <p:cNvSpPr txBox="1"/>
          <p:nvPr/>
        </p:nvSpPr>
        <p:spPr>
          <a:xfrm>
            <a:off x="2488367" y="29992"/>
            <a:ext cx="9107285"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Producto </a:t>
            </a:r>
          </a:p>
        </p:txBody>
      </p:sp>
      <p:sp>
        <p:nvSpPr>
          <p:cNvPr id="2" name="CuadroTexto 1">
            <a:extLst>
              <a:ext uri="{FF2B5EF4-FFF2-40B4-BE49-F238E27FC236}">
                <a16:creationId xmlns:a16="http://schemas.microsoft.com/office/drawing/2014/main" id="{00C0E212-E787-EB7A-96FA-217F4FDBE6B9}"/>
              </a:ext>
            </a:extLst>
          </p:cNvPr>
          <p:cNvSpPr txBox="1"/>
          <p:nvPr/>
        </p:nvSpPr>
        <p:spPr>
          <a:xfrm>
            <a:off x="706579" y="628739"/>
            <a:ext cx="11391639" cy="5693866"/>
          </a:xfrm>
          <a:prstGeom prst="rect">
            <a:avLst/>
          </a:prstGeom>
          <a:noFill/>
        </p:spPr>
        <p:txBody>
          <a:bodyPr wrap="square" rtlCol="0">
            <a:spAutoFit/>
          </a:bodyPr>
          <a:lstStyle/>
          <a:p>
            <a:pPr marL="800100" lvl="1" indent="-342900">
              <a:buFont typeface="Wingdings" panose="05000000000000000000" pitchFamily="2" charset="2"/>
              <a:buChar char="ü"/>
            </a:pPr>
            <a:r>
              <a:rPr lang="es-ES" sz="2600" dirty="0">
                <a:effectLst>
                  <a:outerShdw blurRad="38100" dist="38100" dir="2700000" algn="tl">
                    <a:srgbClr val="000000">
                      <a:alpha val="43137"/>
                    </a:srgbClr>
                  </a:outerShdw>
                </a:effectLst>
                <a:latin typeface="Comic Sans MS" panose="030F0702030302020204" pitchFamily="66" charset="0"/>
              </a:rPr>
              <a:t>Marketing de Servicios</a:t>
            </a:r>
          </a:p>
          <a:p>
            <a:pPr lvl="2"/>
            <a:endParaRPr lang="es-ES" sz="2600" dirty="0">
              <a:latin typeface="Comic Sans MS" panose="030F0702030302020204" pitchFamily="66" charset="0"/>
            </a:endParaRPr>
          </a:p>
          <a:p>
            <a:pPr marL="1371600" lvl="2" indent="-457200">
              <a:buFont typeface="Arial" panose="020B0604020202020204" pitchFamily="34" charset="0"/>
              <a:buChar char="•"/>
            </a:pPr>
            <a:r>
              <a:rPr lang="es-ES" sz="2600" dirty="0">
                <a:effectLst>
                  <a:outerShdw blurRad="38100" dist="38100" dir="2700000" algn="tl">
                    <a:srgbClr val="000000">
                      <a:alpha val="43137"/>
                    </a:srgbClr>
                  </a:outerShdw>
                </a:effectLst>
                <a:latin typeface="Comic Sans MS" panose="030F0702030302020204" pitchFamily="66" charset="0"/>
              </a:rPr>
              <a:t>Características diferenciales de los Servicios</a:t>
            </a:r>
          </a:p>
          <a:p>
            <a:pPr marL="1371600" lvl="2" indent="-457200">
              <a:buFont typeface="Arial" panose="020B0604020202020204" pitchFamily="34" charset="0"/>
              <a:buChar char="•"/>
            </a:pPr>
            <a:endParaRPr lang="es-ES" sz="2600" dirty="0">
              <a:latin typeface="Comic Sans MS" panose="030F0702030302020204" pitchFamily="66" charset="0"/>
            </a:endParaRPr>
          </a:p>
          <a:p>
            <a:pPr marL="1828800" lvl="3" indent="-457200">
              <a:buFont typeface="Courier New" panose="02070309020205020404" pitchFamily="49" charset="0"/>
              <a:buChar char="o"/>
            </a:pPr>
            <a:r>
              <a:rPr lang="es-ES" sz="2600" dirty="0">
                <a:effectLst>
                  <a:outerShdw blurRad="38100" dist="38100" dir="2700000" algn="tl">
                    <a:srgbClr val="000000">
                      <a:alpha val="43137"/>
                    </a:srgbClr>
                  </a:outerShdw>
                </a:effectLst>
                <a:latin typeface="Comic Sans MS" panose="030F0702030302020204" pitchFamily="66" charset="0"/>
              </a:rPr>
              <a:t>Intangibilidad: </a:t>
            </a:r>
            <a:r>
              <a:rPr lang="es-ES" sz="2600" dirty="0">
                <a:latin typeface="Comic Sans MS" panose="030F0702030302020204" pitchFamily="66" charset="0"/>
              </a:rPr>
              <a:t>Mayor dificultad de medición y de verificación previa</a:t>
            </a:r>
          </a:p>
          <a:p>
            <a:pPr marL="1828800" lvl="3" indent="-457200">
              <a:buFont typeface="Courier New" panose="02070309020205020404" pitchFamily="49" charset="0"/>
              <a:buChar char="o"/>
            </a:pPr>
            <a:endParaRPr lang="es-ES" sz="2600" dirty="0">
              <a:latin typeface="Comic Sans MS" panose="030F0702030302020204" pitchFamily="66" charset="0"/>
            </a:endParaRPr>
          </a:p>
          <a:p>
            <a:pPr marL="1828800" lvl="3" indent="-457200">
              <a:buFont typeface="Courier New" panose="02070309020205020404" pitchFamily="49" charset="0"/>
              <a:buChar char="o"/>
            </a:pPr>
            <a:r>
              <a:rPr lang="es-ES" sz="2600" dirty="0">
                <a:effectLst>
                  <a:outerShdw blurRad="38100" dist="38100" dir="2700000" algn="tl">
                    <a:srgbClr val="000000">
                      <a:alpha val="43137"/>
                    </a:srgbClr>
                  </a:outerShdw>
                </a:effectLst>
                <a:latin typeface="Comic Sans MS" panose="030F0702030302020204" pitchFamily="66" charset="0"/>
              </a:rPr>
              <a:t>Heterogeneidad: </a:t>
            </a:r>
            <a:r>
              <a:rPr lang="es-ES" sz="2600" dirty="0">
                <a:latin typeface="Comic Sans MS" panose="030F0702030302020204" pitchFamily="66" charset="0"/>
              </a:rPr>
              <a:t>Mayor dependencia de la actuación de los empleados</a:t>
            </a:r>
          </a:p>
          <a:p>
            <a:pPr marL="1828800" lvl="3" indent="-457200">
              <a:buFont typeface="Courier New" panose="02070309020205020404" pitchFamily="49" charset="0"/>
              <a:buChar char="o"/>
            </a:pPr>
            <a:endParaRPr lang="es-ES" sz="2600" dirty="0">
              <a:latin typeface="Comic Sans MS" panose="030F0702030302020204" pitchFamily="66" charset="0"/>
            </a:endParaRPr>
          </a:p>
          <a:p>
            <a:pPr marL="1828800" lvl="3" indent="-457200">
              <a:buFont typeface="Courier New" panose="02070309020205020404" pitchFamily="49" charset="0"/>
              <a:buChar char="o"/>
            </a:pPr>
            <a:r>
              <a:rPr lang="es-ES" sz="2600" dirty="0">
                <a:effectLst>
                  <a:outerShdw blurRad="38100" dist="38100" dir="2700000" algn="tl">
                    <a:srgbClr val="000000">
                      <a:alpha val="43137"/>
                    </a:srgbClr>
                  </a:outerShdw>
                </a:effectLst>
                <a:latin typeface="Comic Sans MS" panose="030F0702030302020204" pitchFamily="66" charset="0"/>
              </a:rPr>
              <a:t>Inseparabilidad: </a:t>
            </a:r>
            <a:r>
              <a:rPr lang="es-ES" sz="2600" dirty="0">
                <a:latin typeface="Comic Sans MS" panose="030F0702030302020204" pitchFamily="66" charset="0"/>
              </a:rPr>
              <a:t>No separación entre elaboración y su entrega al cliente</a:t>
            </a:r>
          </a:p>
          <a:p>
            <a:pPr marL="1828800" lvl="3" indent="-457200">
              <a:buFont typeface="Courier New" panose="02070309020205020404" pitchFamily="49" charset="0"/>
              <a:buChar char="o"/>
            </a:pPr>
            <a:endParaRPr lang="es-ES" sz="2600" dirty="0">
              <a:latin typeface="Comic Sans MS" panose="030F0702030302020204" pitchFamily="66" charset="0"/>
            </a:endParaRPr>
          </a:p>
          <a:p>
            <a:pPr marL="1828800" lvl="3" indent="-457200">
              <a:buFont typeface="Courier New" panose="02070309020205020404" pitchFamily="49" charset="0"/>
              <a:buChar char="o"/>
            </a:pPr>
            <a:r>
              <a:rPr lang="es-ES" sz="2600" dirty="0">
                <a:effectLst>
                  <a:outerShdw blurRad="38100" dist="38100" dir="2700000" algn="tl">
                    <a:srgbClr val="000000">
                      <a:alpha val="43137"/>
                    </a:srgbClr>
                  </a:outerShdw>
                </a:effectLst>
                <a:latin typeface="Comic Sans MS" panose="030F0702030302020204" pitchFamily="66" charset="0"/>
              </a:rPr>
              <a:t>Caducidad: </a:t>
            </a:r>
            <a:r>
              <a:rPr lang="es-ES" sz="2600" dirty="0">
                <a:latin typeface="Comic Sans MS" panose="030F0702030302020204" pitchFamily="66" charset="0"/>
              </a:rPr>
              <a:t>No se pueden almacenar</a:t>
            </a:r>
          </a:p>
        </p:txBody>
      </p:sp>
    </p:spTree>
    <p:extLst>
      <p:ext uri="{BB962C8B-B14F-4D97-AF65-F5344CB8AC3E}">
        <p14:creationId xmlns:p14="http://schemas.microsoft.com/office/powerpoint/2010/main" val="2288111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13" name="Rectangle 12312">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15" name="Arc 12314">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1 Título">
            <a:extLst>
              <a:ext uri="{FF2B5EF4-FFF2-40B4-BE49-F238E27FC236}">
                <a16:creationId xmlns:a16="http://schemas.microsoft.com/office/drawing/2014/main" id="{28690562-D816-0139-9A53-559454CB27B2}"/>
              </a:ext>
            </a:extLst>
          </p:cNvPr>
          <p:cNvSpPr>
            <a:spLocks noGrp="1"/>
          </p:cNvSpPr>
          <p:nvPr>
            <p:ph type="title"/>
          </p:nvPr>
        </p:nvSpPr>
        <p:spPr>
          <a:xfrm>
            <a:off x="838200" y="365125"/>
            <a:ext cx="10515600" cy="1325563"/>
          </a:xfrm>
        </p:spPr>
        <p:txBody>
          <a:bodyPr>
            <a:normAutofit/>
          </a:bodyPr>
          <a:lstStyle/>
          <a:p>
            <a:pPr algn="ctr" eaLnBrk="0" hangingPunct="0"/>
            <a:r>
              <a:rPr lang="es-ES" b="1">
                <a:latin typeface="Comic Sans MS" panose="030F0702030302020204" pitchFamily="66" charset="0"/>
              </a:rPr>
              <a:t>3. MARKETING OPERATIVO. Precio </a:t>
            </a:r>
            <a:endParaRPr lang="es-ES_tradnl" b="1">
              <a:latin typeface="Comic Sans MS" panose="030F0702030302020204" pitchFamily="66" charset="0"/>
            </a:endParaRPr>
          </a:p>
        </p:txBody>
      </p:sp>
      <p:graphicFrame>
        <p:nvGraphicFramePr>
          <p:cNvPr id="12292" name="2 Marcador de contenido">
            <a:extLst>
              <a:ext uri="{FF2B5EF4-FFF2-40B4-BE49-F238E27FC236}">
                <a16:creationId xmlns:a16="http://schemas.microsoft.com/office/drawing/2014/main" id="{E16D3579-28EB-8164-3BC7-F8B95BFCCB0D}"/>
              </a:ext>
            </a:extLst>
          </p:cNvPr>
          <p:cNvGraphicFramePr>
            <a:graphicFrameLocks noGrp="1"/>
          </p:cNvGraphicFramePr>
          <p:nvPr>
            <p:ph idx="1"/>
            <p:extLst>
              <p:ext uri="{D42A27DB-BD31-4B8C-83A1-F6EECF244321}">
                <p14:modId xmlns:p14="http://schemas.microsoft.com/office/powerpoint/2010/main" val="1060083126"/>
              </p:ext>
            </p:extLst>
          </p:nvPr>
        </p:nvGraphicFramePr>
        <p:xfrm>
          <a:off x="838200" y="1825625"/>
          <a:ext cx="10515600" cy="38592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0" y="628739"/>
            <a:ext cx="10940778" cy="4093428"/>
          </a:xfrm>
          <a:prstGeom prst="rect">
            <a:avLst/>
          </a:prstGeom>
          <a:noFill/>
        </p:spPr>
        <p:txBody>
          <a:bodyPr wrap="square" rtlCol="0">
            <a:spAutoFit/>
          </a:bodyPr>
          <a:lstStyle/>
          <a:p>
            <a:pPr marL="800100" lvl="1" indent="-342900">
              <a:buFont typeface="Wingdings" panose="05000000000000000000" pitchFamily="2" charset="2"/>
              <a:buChar char="ü"/>
            </a:pPr>
            <a:r>
              <a:rPr lang="es-ES" sz="2600" dirty="0">
                <a:effectLst>
                  <a:outerShdw blurRad="38100" dist="38100" dir="2700000" algn="tl">
                    <a:srgbClr val="000000">
                      <a:alpha val="43137"/>
                    </a:srgbClr>
                  </a:outerShdw>
                </a:effectLst>
                <a:latin typeface="Comic Sans MS" panose="030F0702030302020204" pitchFamily="66" charset="0"/>
              </a:rPr>
              <a:t>Concepto e importancia del precio</a:t>
            </a:r>
          </a:p>
          <a:p>
            <a:pPr marL="800100" lvl="1" indent="-342900">
              <a:buFont typeface="Wingdings" panose="05000000000000000000" pitchFamily="2" charset="2"/>
              <a:buChar char="ü"/>
            </a:pPr>
            <a:endParaRPr lang="es-ES" sz="2600" dirty="0">
              <a:effectLst>
                <a:outerShdw blurRad="38100" dist="38100" dir="2700000" algn="tl">
                  <a:srgbClr val="000000">
                    <a:alpha val="43137"/>
                  </a:srgbClr>
                </a:outerShdw>
              </a:effectLst>
              <a:latin typeface="Comic Sans MS" panose="030F0702030302020204" pitchFamily="66" charset="0"/>
            </a:endParaRPr>
          </a:p>
          <a:p>
            <a:pPr marL="1257300" lvl="2" indent="-342900">
              <a:buFont typeface="Arial" panose="020B0604020202020204" pitchFamily="34" charset="0"/>
              <a:buChar char="•"/>
            </a:pPr>
            <a:r>
              <a:rPr lang="es-ES" sz="2600" b="1" dirty="0">
                <a:effectLst>
                  <a:outerShdw blurRad="38100" dist="38100" dir="2700000" algn="tl">
                    <a:srgbClr val="000000">
                      <a:alpha val="43137"/>
                    </a:srgbClr>
                  </a:outerShdw>
                </a:effectLst>
                <a:latin typeface="Comic Sans MS" panose="030F0702030302020204" pitchFamily="66" charset="0"/>
              </a:rPr>
              <a:t>Precio</a:t>
            </a:r>
            <a:r>
              <a:rPr lang="es-ES" sz="2600" dirty="0">
                <a:effectLst>
                  <a:outerShdw blurRad="38100" dist="38100" dir="2700000" algn="tl">
                    <a:srgbClr val="000000">
                      <a:alpha val="43137"/>
                    </a:srgbClr>
                  </a:outerShdw>
                </a:effectLst>
                <a:latin typeface="Comic Sans MS" panose="030F0702030302020204" pitchFamily="66" charset="0"/>
              </a:rPr>
              <a:t>: </a:t>
            </a:r>
            <a:r>
              <a:rPr lang="es-ES" sz="2600" dirty="0">
                <a:latin typeface="Comic Sans MS" panose="030F0702030302020204" pitchFamily="66" charset="0"/>
              </a:rPr>
              <a:t>Pago o recompensa que se asigna a la obtención de bienes o servicios o, más en general, a una mercancía cualquiera</a:t>
            </a:r>
          </a:p>
          <a:p>
            <a:pPr marL="1257300" lvl="2" indent="-342900">
              <a:buFont typeface="Arial" panose="020B0604020202020204" pitchFamily="34" charset="0"/>
              <a:buChar char="•"/>
            </a:pPr>
            <a:endParaRPr lang="es-ES" sz="2600" dirty="0">
              <a:latin typeface="Comic Sans MS" panose="030F0702030302020204" pitchFamily="66" charset="0"/>
            </a:endParaRPr>
          </a:p>
          <a:p>
            <a:pPr marL="1257300" lvl="2" indent="-342900">
              <a:buFont typeface="Arial" panose="020B0604020202020204" pitchFamily="34" charset="0"/>
              <a:buChar char="•"/>
            </a:pPr>
            <a:r>
              <a:rPr lang="es-ES" sz="2600" b="1" dirty="0">
                <a:effectLst>
                  <a:outerShdw blurRad="38100" dist="38100" dir="2700000" algn="tl">
                    <a:srgbClr val="000000">
                      <a:alpha val="43137"/>
                    </a:srgbClr>
                  </a:outerShdw>
                </a:effectLst>
                <a:latin typeface="Comic Sans MS" panose="030F0702030302020204" pitchFamily="66" charset="0"/>
              </a:rPr>
              <a:t>Valor percibido</a:t>
            </a:r>
            <a:r>
              <a:rPr lang="es-ES" sz="2600" dirty="0">
                <a:latin typeface="Comic Sans MS" panose="030F0702030302020204" pitchFamily="66" charset="0"/>
              </a:rPr>
              <a:t>: valor que los consumidores se encuentran dispuestos a pagar por un determinado producto o servicio y que va en función de la apreciación que de éstos se tienen.</a:t>
            </a:r>
          </a:p>
          <a:p>
            <a:pPr marL="1257300" lvl="2" indent="-342900">
              <a:buFont typeface="Arial" panose="020B0604020202020204" pitchFamily="34" charset="0"/>
              <a:buChar char="•"/>
            </a:pPr>
            <a:endParaRPr lang="es-ES" sz="2600" dirty="0">
              <a:latin typeface="Comic Sans MS" panose="030F0702030302020204" pitchFamily="66" charset="0"/>
            </a:endParaRPr>
          </a:p>
        </p:txBody>
      </p:sp>
      <p:sp>
        <p:nvSpPr>
          <p:cNvPr id="5" name="CuadroTexto 4">
            <a:extLst>
              <a:ext uri="{FF2B5EF4-FFF2-40B4-BE49-F238E27FC236}">
                <a16:creationId xmlns:a16="http://schemas.microsoft.com/office/drawing/2014/main" id="{84F4F8DF-D20E-B6C4-6D5C-A16279ABAAB4}"/>
              </a:ext>
            </a:extLst>
          </p:cNvPr>
          <p:cNvSpPr txBox="1"/>
          <p:nvPr/>
        </p:nvSpPr>
        <p:spPr>
          <a:xfrm>
            <a:off x="2643847" y="66144"/>
            <a:ext cx="8209683" cy="523220"/>
          </a:xfrm>
          <a:prstGeom prst="rect">
            <a:avLst/>
          </a:prstGeom>
          <a:noFill/>
        </p:spPr>
        <p:txBody>
          <a:bodyPr wrap="square" rtlCol="0">
            <a:spAutoFit/>
          </a:bodyPr>
          <a:lstStyle/>
          <a:p>
            <a:r>
              <a:rPr lang="es-ES" sz="2800" b="1">
                <a:solidFill>
                  <a:schemeClr val="accent3"/>
                </a:solidFill>
                <a:latin typeface="Comic Sans MS" panose="030F0702030302020204" pitchFamily="66" charset="0"/>
              </a:rPr>
              <a:t>3. MARKETING OPERATIVO. Precio</a:t>
            </a:r>
            <a:endParaRPr lang="es-ES" sz="2800" b="1" dirty="0">
              <a:solidFill>
                <a:schemeClr val="accent3"/>
              </a:solidFill>
              <a:latin typeface="Comic Sans MS" panose="030F0702030302020204" pitchFamily="66" charset="0"/>
            </a:endParaRPr>
          </a:p>
        </p:txBody>
      </p:sp>
      <p:sp>
        <p:nvSpPr>
          <p:cNvPr id="7" name="CuadroTexto 6">
            <a:extLst>
              <a:ext uri="{FF2B5EF4-FFF2-40B4-BE49-F238E27FC236}">
                <a16:creationId xmlns:a16="http://schemas.microsoft.com/office/drawing/2014/main" id="{B9EF02E4-46AA-914F-0DC4-57F9C8C9A548}"/>
              </a:ext>
            </a:extLst>
          </p:cNvPr>
          <p:cNvSpPr txBox="1"/>
          <p:nvPr/>
        </p:nvSpPr>
        <p:spPr>
          <a:xfrm>
            <a:off x="1173255" y="4722014"/>
            <a:ext cx="10007428"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s-ES" sz="2800" dirty="0">
                <a:latin typeface="Comic Sans MS" panose="030F0702030302020204" pitchFamily="66" charset="0"/>
              </a:rPr>
              <a:t>Las empresas siempre ofrecen precios considerando el valor percibido que un cliente se muestra dispuesto a pagar.</a:t>
            </a:r>
          </a:p>
        </p:txBody>
      </p:sp>
    </p:spTree>
    <p:extLst>
      <p:ext uri="{BB962C8B-B14F-4D97-AF65-F5344CB8AC3E}">
        <p14:creationId xmlns:p14="http://schemas.microsoft.com/office/powerpoint/2010/main" val="127569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79" y="628739"/>
            <a:ext cx="11391639" cy="446276"/>
          </a:xfrm>
          <a:prstGeom prst="rect">
            <a:avLst/>
          </a:prstGeom>
          <a:noFill/>
        </p:spPr>
        <p:txBody>
          <a:bodyPr wrap="square" rtlCol="0">
            <a:spAutoFit/>
          </a:bodyPr>
          <a:lstStyle/>
          <a:p>
            <a:pPr marL="1371600" lvl="2" indent="-457200">
              <a:buFont typeface="+mj-lt"/>
              <a:buAutoNum type="arabicPeriod"/>
            </a:pPr>
            <a:r>
              <a:rPr lang="es-ES" sz="2300" b="1" dirty="0">
                <a:effectLst>
                  <a:outerShdw blurRad="38100" dist="38100" dir="2700000" algn="tl">
                    <a:srgbClr val="000000">
                      <a:alpha val="43137"/>
                    </a:srgbClr>
                  </a:outerShdw>
                </a:effectLst>
                <a:latin typeface="Comic Sans MS" panose="030F0702030302020204" pitchFamily="66" charset="0"/>
              </a:rPr>
              <a:t>Clave en el Proceso de Decisión de Compra</a:t>
            </a:r>
          </a:p>
        </p:txBody>
      </p:sp>
      <p:sp>
        <p:nvSpPr>
          <p:cNvPr id="5" name="Text Box 7">
            <a:extLst>
              <a:ext uri="{FF2B5EF4-FFF2-40B4-BE49-F238E27FC236}">
                <a16:creationId xmlns:a16="http://schemas.microsoft.com/office/drawing/2014/main" id="{E919FB65-ECD1-ADFE-7EDD-D97FC78F9922}"/>
              </a:ext>
            </a:extLst>
          </p:cNvPr>
          <p:cNvSpPr txBox="1">
            <a:spLocks noChangeArrowheads="1"/>
          </p:cNvSpPr>
          <p:nvPr/>
        </p:nvSpPr>
        <p:spPr bwMode="auto">
          <a:xfrm>
            <a:off x="4646500" y="1808808"/>
            <a:ext cx="3642977" cy="402291"/>
          </a:xfrm>
          <a:prstGeom prst="rect">
            <a:avLst/>
          </a:prstGeom>
          <a:solidFill>
            <a:schemeClr val="accent1">
              <a:lumMod val="20000"/>
              <a:lumOff val="80000"/>
            </a:schemeClr>
          </a:solidFill>
          <a:ln>
            <a:noFill/>
          </a:ln>
        </p:spPr>
        <p:txBody>
          <a:bodyPr wrap="square" lIns="90000" tIns="46800" rIns="90000" bIns="468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s-ES" altLang="es-ES" sz="2000" b="1" dirty="0">
                <a:solidFill>
                  <a:schemeClr val="accent1">
                    <a:lumMod val="50000"/>
                  </a:schemeClr>
                </a:solidFill>
                <a:latin typeface="Comic Sans MS" panose="030F0702030302020204" pitchFamily="66" charset="0"/>
              </a:rPr>
              <a:t>VALOR PERCIBIDO</a:t>
            </a:r>
          </a:p>
        </p:txBody>
      </p:sp>
      <p:sp>
        <p:nvSpPr>
          <p:cNvPr id="8" name="Oval 8">
            <a:extLst>
              <a:ext uri="{FF2B5EF4-FFF2-40B4-BE49-F238E27FC236}">
                <a16:creationId xmlns:a16="http://schemas.microsoft.com/office/drawing/2014/main" id="{567D2EAE-8A15-A73A-985F-A01289F09499}"/>
              </a:ext>
            </a:extLst>
          </p:cNvPr>
          <p:cNvSpPr>
            <a:spLocks noChangeArrowheads="1"/>
          </p:cNvSpPr>
          <p:nvPr/>
        </p:nvSpPr>
        <p:spPr bwMode="auto">
          <a:xfrm>
            <a:off x="2503375" y="2833144"/>
            <a:ext cx="2977612" cy="862101"/>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lIns="90000" tIns="46800" rIns="90000" bIns="468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2400">
                <a:solidFill>
                  <a:schemeClr val="bg1"/>
                </a:solidFill>
                <a:latin typeface="Comic Sans MS" panose="030F0702030302020204" pitchFamily="66" charset="0"/>
              </a:rPr>
              <a:t>Utilidad percibida</a:t>
            </a:r>
          </a:p>
        </p:txBody>
      </p:sp>
      <p:cxnSp>
        <p:nvCxnSpPr>
          <p:cNvPr id="9" name="AutoShape 10">
            <a:extLst>
              <a:ext uri="{FF2B5EF4-FFF2-40B4-BE49-F238E27FC236}">
                <a16:creationId xmlns:a16="http://schemas.microsoft.com/office/drawing/2014/main" id="{BF941E91-E3C0-00A4-9405-DAD4C1ED9BC3}"/>
              </a:ext>
            </a:extLst>
          </p:cNvPr>
          <p:cNvCxnSpPr>
            <a:cxnSpLocks noChangeShapeType="1"/>
          </p:cNvCxnSpPr>
          <p:nvPr/>
        </p:nvCxnSpPr>
        <p:spPr bwMode="auto">
          <a:xfrm flipV="1">
            <a:off x="5949838" y="3192720"/>
            <a:ext cx="1442820" cy="13576"/>
          </a:xfrm>
          <a:prstGeom prst="straightConnector1">
            <a:avLst/>
          </a:prstGeom>
          <a:noFill/>
          <a:ln w="12700">
            <a:solidFill>
              <a:schemeClr val="tx1"/>
            </a:solidFill>
            <a:round/>
            <a:headEnd type="triangle" w="med" len="lg"/>
            <a:tailEnd type="triangle" w="med" len="lg"/>
          </a:ln>
          <a:extLst>
            <a:ext uri="{909E8E84-426E-40DD-AFC4-6F175D3DCCD1}">
              <a14:hiddenFill xmlns:a14="http://schemas.microsoft.com/office/drawing/2010/main">
                <a:noFill/>
              </a14:hiddenFill>
            </a:ext>
          </a:extLst>
        </p:spPr>
      </p:cxnSp>
      <p:sp>
        <p:nvSpPr>
          <p:cNvPr id="10" name="AutoShape 13">
            <a:extLst>
              <a:ext uri="{FF2B5EF4-FFF2-40B4-BE49-F238E27FC236}">
                <a16:creationId xmlns:a16="http://schemas.microsoft.com/office/drawing/2014/main" id="{0CE1184A-12AC-B242-C640-865B7BC54084}"/>
              </a:ext>
            </a:extLst>
          </p:cNvPr>
          <p:cNvSpPr>
            <a:spLocks noChangeArrowheads="1"/>
          </p:cNvSpPr>
          <p:nvPr/>
        </p:nvSpPr>
        <p:spPr bwMode="auto">
          <a:xfrm>
            <a:off x="6535625" y="2431177"/>
            <a:ext cx="260110" cy="616369"/>
          </a:xfrm>
          <a:prstGeom prst="downArrow">
            <a:avLst>
              <a:gd name="adj1" fmla="val 50000"/>
              <a:gd name="adj2" fmla="val 6270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ES" altLang="es-ES" sz="1600">
              <a:latin typeface="Comic Sans MS" panose="030F0702030302020204" pitchFamily="66" charset="0"/>
            </a:endParaRPr>
          </a:p>
        </p:txBody>
      </p:sp>
      <p:sp>
        <p:nvSpPr>
          <p:cNvPr id="11" name="Oval 14">
            <a:extLst>
              <a:ext uri="{FF2B5EF4-FFF2-40B4-BE49-F238E27FC236}">
                <a16:creationId xmlns:a16="http://schemas.microsoft.com/office/drawing/2014/main" id="{07BABB87-AF15-1084-2EB1-92873AE8DCAD}"/>
              </a:ext>
            </a:extLst>
          </p:cNvPr>
          <p:cNvSpPr>
            <a:spLocks noChangeArrowheads="1"/>
          </p:cNvSpPr>
          <p:nvPr/>
        </p:nvSpPr>
        <p:spPr bwMode="auto">
          <a:xfrm>
            <a:off x="7710375" y="2833144"/>
            <a:ext cx="2977612" cy="862101"/>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lIns="90000" tIns="46800" rIns="90000" bIns="468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2400">
                <a:solidFill>
                  <a:schemeClr val="bg1"/>
                </a:solidFill>
                <a:latin typeface="Comic Sans MS" panose="030F0702030302020204" pitchFamily="66" charset="0"/>
              </a:rPr>
              <a:t>Sacrificio</a:t>
            </a:r>
          </a:p>
        </p:txBody>
      </p:sp>
      <p:sp>
        <p:nvSpPr>
          <p:cNvPr id="12" name="Text Box 38">
            <a:extLst>
              <a:ext uri="{FF2B5EF4-FFF2-40B4-BE49-F238E27FC236}">
                <a16:creationId xmlns:a16="http://schemas.microsoft.com/office/drawing/2014/main" id="{5AD21C2B-32D4-1B66-2DDF-5AB390CE1884}"/>
              </a:ext>
            </a:extLst>
          </p:cNvPr>
          <p:cNvSpPr txBox="1">
            <a:spLocks noChangeArrowheads="1"/>
          </p:cNvSpPr>
          <p:nvPr/>
        </p:nvSpPr>
        <p:spPr bwMode="auto">
          <a:xfrm>
            <a:off x="2647839" y="4075899"/>
            <a:ext cx="2933062" cy="1631216"/>
          </a:xfrm>
          <a:prstGeom prst="rect">
            <a:avLst/>
          </a:prstGeom>
          <a:solidFill>
            <a:schemeClr val="accent1">
              <a:lumMod val="20000"/>
              <a:lumOff val="80000"/>
            </a:schemeClr>
          </a:solidFill>
          <a:ln w="9525">
            <a:solidFill>
              <a:srgbClr val="A5002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FontTx/>
              <a:buChar char="•"/>
            </a:pPr>
            <a:r>
              <a:rPr lang="es-ES" altLang="es-ES" sz="2000" dirty="0">
                <a:solidFill>
                  <a:srgbClr val="000099"/>
                </a:solidFill>
                <a:latin typeface="Comic Sans MS" panose="030F0702030302020204" pitchFamily="66" charset="0"/>
              </a:rPr>
              <a:t> Atributos tangibles</a:t>
            </a:r>
          </a:p>
          <a:p>
            <a:pPr>
              <a:spcBef>
                <a:spcPct val="50000"/>
              </a:spcBef>
              <a:buFontTx/>
              <a:buChar char="•"/>
            </a:pPr>
            <a:r>
              <a:rPr lang="es-ES" altLang="es-ES" sz="2000" dirty="0">
                <a:solidFill>
                  <a:srgbClr val="000099"/>
                </a:solidFill>
                <a:latin typeface="Comic Sans MS" panose="030F0702030302020204" pitchFamily="66" charset="0"/>
              </a:rPr>
              <a:t> Atributos de servicio</a:t>
            </a:r>
          </a:p>
          <a:p>
            <a:pPr>
              <a:spcBef>
                <a:spcPct val="50000"/>
              </a:spcBef>
              <a:buFontTx/>
              <a:buChar char="•"/>
            </a:pPr>
            <a:r>
              <a:rPr lang="es-ES" altLang="es-ES" sz="2000" dirty="0">
                <a:solidFill>
                  <a:srgbClr val="000099"/>
                </a:solidFill>
                <a:latin typeface="Comic Sans MS" panose="030F0702030302020204" pitchFamily="66" charset="0"/>
              </a:rPr>
              <a:t> Atributos intangibles o psicológicos</a:t>
            </a:r>
          </a:p>
        </p:txBody>
      </p:sp>
      <p:sp>
        <p:nvSpPr>
          <p:cNvPr id="13" name="Text Box 39">
            <a:extLst>
              <a:ext uri="{FF2B5EF4-FFF2-40B4-BE49-F238E27FC236}">
                <a16:creationId xmlns:a16="http://schemas.microsoft.com/office/drawing/2014/main" id="{60DFE54B-8453-3820-671B-D46B022C95F5}"/>
              </a:ext>
            </a:extLst>
          </p:cNvPr>
          <p:cNvSpPr txBox="1">
            <a:spLocks noChangeArrowheads="1"/>
          </p:cNvSpPr>
          <p:nvPr/>
        </p:nvSpPr>
        <p:spPr bwMode="auto">
          <a:xfrm>
            <a:off x="7688150" y="4026743"/>
            <a:ext cx="2933063" cy="1785104"/>
          </a:xfrm>
          <a:prstGeom prst="rect">
            <a:avLst/>
          </a:prstGeom>
          <a:solidFill>
            <a:schemeClr val="accent1">
              <a:lumMod val="20000"/>
              <a:lumOff val="80000"/>
            </a:schemeClr>
          </a:solidFill>
          <a:ln w="9525">
            <a:solidFill>
              <a:srgbClr val="A5002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FontTx/>
              <a:buChar char="•"/>
            </a:pPr>
            <a:r>
              <a:rPr lang="es-ES" altLang="es-ES" sz="2000">
                <a:solidFill>
                  <a:srgbClr val="000099"/>
                </a:solidFill>
                <a:latin typeface="Comic Sans MS" panose="030F0702030302020204" pitchFamily="66" charset="0"/>
              </a:rPr>
              <a:t> </a:t>
            </a:r>
            <a:r>
              <a:rPr lang="es-ES" altLang="es-ES" sz="2000" b="1">
                <a:solidFill>
                  <a:srgbClr val="000099"/>
                </a:solidFill>
                <a:latin typeface="Comic Sans MS" panose="030F0702030302020204" pitchFamily="66" charset="0"/>
              </a:rPr>
              <a:t>Monetario (Precio)</a:t>
            </a:r>
          </a:p>
          <a:p>
            <a:pPr>
              <a:spcBef>
                <a:spcPct val="50000"/>
              </a:spcBef>
              <a:buFontTx/>
              <a:buChar char="•"/>
            </a:pPr>
            <a:r>
              <a:rPr lang="es-ES" altLang="es-ES" sz="2000">
                <a:solidFill>
                  <a:srgbClr val="000099"/>
                </a:solidFill>
                <a:latin typeface="Comic Sans MS" panose="030F0702030302020204" pitchFamily="66" charset="0"/>
              </a:rPr>
              <a:t> Tiempo</a:t>
            </a:r>
          </a:p>
          <a:p>
            <a:pPr>
              <a:spcBef>
                <a:spcPct val="50000"/>
              </a:spcBef>
              <a:buFontTx/>
              <a:buChar char="•"/>
            </a:pPr>
            <a:r>
              <a:rPr lang="es-ES" altLang="es-ES" sz="2000">
                <a:solidFill>
                  <a:srgbClr val="000099"/>
                </a:solidFill>
                <a:latin typeface="Comic Sans MS" panose="030F0702030302020204" pitchFamily="66" charset="0"/>
              </a:rPr>
              <a:t> Esfuerzo físico</a:t>
            </a:r>
          </a:p>
          <a:p>
            <a:pPr>
              <a:spcBef>
                <a:spcPct val="50000"/>
              </a:spcBef>
              <a:buFontTx/>
              <a:buChar char="•"/>
            </a:pPr>
            <a:r>
              <a:rPr lang="es-ES" altLang="es-ES" sz="2000">
                <a:solidFill>
                  <a:srgbClr val="000099"/>
                </a:solidFill>
                <a:latin typeface="Comic Sans MS" panose="030F0702030302020204" pitchFamily="66" charset="0"/>
              </a:rPr>
              <a:t> Inseguridades</a:t>
            </a:r>
          </a:p>
        </p:txBody>
      </p:sp>
      <p:sp>
        <p:nvSpPr>
          <p:cNvPr id="14" name="CuadroTexto 13">
            <a:extLst>
              <a:ext uri="{FF2B5EF4-FFF2-40B4-BE49-F238E27FC236}">
                <a16:creationId xmlns:a16="http://schemas.microsoft.com/office/drawing/2014/main" id="{8E2D209A-08C1-6C4B-E38F-B342D1758F47}"/>
              </a:ext>
            </a:extLst>
          </p:cNvPr>
          <p:cNvSpPr txBox="1"/>
          <p:nvPr/>
        </p:nvSpPr>
        <p:spPr>
          <a:xfrm>
            <a:off x="2640767" y="182392"/>
            <a:ext cx="8318781" cy="523220"/>
          </a:xfrm>
          <a:prstGeom prst="rect">
            <a:avLst/>
          </a:prstGeom>
          <a:noFill/>
        </p:spPr>
        <p:txBody>
          <a:bodyPr wrap="square" rtlCol="0">
            <a:spAutoFit/>
          </a:bodyPr>
          <a:lstStyle/>
          <a:p>
            <a:r>
              <a:rPr lang="es-ES" sz="2800" b="1">
                <a:solidFill>
                  <a:schemeClr val="accent3"/>
                </a:solidFill>
                <a:latin typeface="Comic Sans MS" panose="030F0702030302020204" pitchFamily="66" charset="0"/>
              </a:rPr>
              <a:t>3. MARKETING OPERATIVO. Precio</a:t>
            </a:r>
            <a:endParaRPr lang="es-ES" sz="2800" b="1" dirty="0">
              <a:solidFill>
                <a:schemeClr val="accent3"/>
              </a:solidFill>
              <a:latin typeface="Comic Sans MS" panose="030F0702030302020204" pitchFamily="66" charset="0"/>
            </a:endParaRPr>
          </a:p>
        </p:txBody>
      </p:sp>
    </p:spTree>
    <p:extLst>
      <p:ext uri="{BB962C8B-B14F-4D97-AF65-F5344CB8AC3E}">
        <p14:creationId xmlns:p14="http://schemas.microsoft.com/office/powerpoint/2010/main" val="358492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11" grpId="0" animBg="1"/>
      <p:bldP spid="12"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542678" y="1580600"/>
            <a:ext cx="11361775" cy="4524315"/>
          </a:xfrm>
          <a:prstGeom prst="rect">
            <a:avLst/>
          </a:prstGeom>
          <a:noFill/>
        </p:spPr>
        <p:txBody>
          <a:bodyPr wrap="square" rtlCol="0">
            <a:spAutoFit/>
          </a:bodyPr>
          <a:lstStyle/>
          <a:p>
            <a:pPr marL="1371600" lvl="2" indent="-457200">
              <a:buFont typeface="+mj-lt"/>
              <a:buAutoNum type="arabicPeriod" startAt="2"/>
            </a:pPr>
            <a:r>
              <a:rPr lang="es-ES" sz="2400" b="1" dirty="0">
                <a:effectLst>
                  <a:outerShdw blurRad="38100" dist="38100" dir="2700000" algn="tl">
                    <a:srgbClr val="000000">
                      <a:alpha val="43137"/>
                    </a:srgbClr>
                  </a:outerShdw>
                </a:effectLst>
                <a:latin typeface="Comic Sans MS" panose="030F0702030302020204" pitchFamily="66" charset="0"/>
              </a:rPr>
              <a:t>Otras razones de la importancia del precio</a:t>
            </a:r>
          </a:p>
          <a:p>
            <a:pPr marL="1371600" lvl="2" indent="-457200">
              <a:buFont typeface="+mj-lt"/>
              <a:buAutoNum type="arabicPeriod" startAt="2"/>
            </a:pPr>
            <a:endParaRPr lang="es-ES" sz="2400" dirty="0">
              <a:effectLst>
                <a:outerShdw blurRad="38100" dist="38100" dir="2700000" algn="tl">
                  <a:srgbClr val="000000">
                    <a:alpha val="43137"/>
                  </a:srgbClr>
                </a:outerShdw>
              </a:effectLst>
              <a:latin typeface="Comic Sans MS" panose="030F0702030302020204" pitchFamily="66" charset="0"/>
            </a:endParaRPr>
          </a:p>
          <a:p>
            <a:pPr marL="1828800" lvl="3" indent="-457200">
              <a:buFont typeface="Wingdings" panose="05000000000000000000" pitchFamily="2" charset="2"/>
              <a:buChar char="ü"/>
            </a:pPr>
            <a:r>
              <a:rPr lang="es-ES" sz="2400" dirty="0">
                <a:latin typeface="Comic Sans MS" panose="030F0702030302020204" pitchFamily="66" charset="0"/>
              </a:rPr>
              <a:t>Genera ingresos e influye sobre los beneficios y la rentabilidad</a:t>
            </a:r>
          </a:p>
          <a:p>
            <a:pPr marL="1828800" lvl="3" indent="-457200">
              <a:buFont typeface="Wingdings" panose="05000000000000000000" pitchFamily="2" charset="2"/>
              <a:buChar char="ü"/>
            </a:pPr>
            <a:endParaRPr lang="es-ES" sz="2400" dirty="0">
              <a:latin typeface="Comic Sans MS" panose="030F0702030302020204" pitchFamily="66" charset="0"/>
            </a:endParaRPr>
          </a:p>
          <a:p>
            <a:pPr marL="1828800" lvl="3" indent="-457200">
              <a:buFont typeface="Wingdings" panose="05000000000000000000" pitchFamily="2" charset="2"/>
              <a:buChar char="ü"/>
            </a:pPr>
            <a:r>
              <a:rPr lang="es-ES" sz="2400" dirty="0">
                <a:latin typeface="Comic Sans MS" panose="030F0702030302020204" pitchFamily="66" charset="0"/>
              </a:rPr>
              <a:t>Importante variable competitiva:</a:t>
            </a:r>
          </a:p>
          <a:p>
            <a:pPr marL="1828800" lvl="3" indent="-457200">
              <a:buFont typeface="Arial" panose="020B0604020202020204" pitchFamily="34" charset="0"/>
              <a:buChar char="•"/>
            </a:pPr>
            <a:endParaRPr lang="es-ES" sz="2400" dirty="0">
              <a:latin typeface="Comic Sans MS" panose="030F0702030302020204" pitchFamily="66" charset="0"/>
            </a:endParaRPr>
          </a:p>
          <a:p>
            <a:pPr marL="2286000" lvl="4" indent="-457200">
              <a:buFont typeface="Arial" panose="020B0604020202020204" pitchFamily="34" charset="0"/>
              <a:buChar char="•"/>
            </a:pPr>
            <a:r>
              <a:rPr lang="es-ES" sz="2400" dirty="0">
                <a:effectLst>
                  <a:outerShdw blurRad="38100" dist="38100" dir="2700000" algn="tl">
                    <a:srgbClr val="000000">
                      <a:alpha val="43137"/>
                    </a:srgbClr>
                  </a:outerShdw>
                </a:effectLst>
                <a:latin typeface="Comic Sans MS" panose="030F0702030302020204" pitchFamily="66" charset="0"/>
              </a:rPr>
              <a:t>Táctica</a:t>
            </a:r>
            <a:r>
              <a:rPr lang="es-ES" sz="2400" dirty="0">
                <a:latin typeface="Comic Sans MS" panose="030F0702030302020204" pitchFamily="66" charset="0"/>
              </a:rPr>
              <a:t>: decisiones rápidas y muy visibles</a:t>
            </a:r>
          </a:p>
          <a:p>
            <a:pPr marL="2286000" lvl="4" indent="-457200">
              <a:buFont typeface="Arial" panose="020B0604020202020204" pitchFamily="34" charset="0"/>
              <a:buChar char="•"/>
            </a:pPr>
            <a:endParaRPr lang="es-ES" sz="2400" dirty="0">
              <a:latin typeface="Comic Sans MS" panose="030F0702030302020204" pitchFamily="66" charset="0"/>
            </a:endParaRPr>
          </a:p>
          <a:p>
            <a:pPr marL="2286000" lvl="4" indent="-457200">
              <a:buFont typeface="Arial" panose="020B0604020202020204" pitchFamily="34" charset="0"/>
              <a:buChar char="•"/>
            </a:pPr>
            <a:r>
              <a:rPr lang="es-ES" sz="2400" dirty="0">
                <a:effectLst>
                  <a:outerShdw blurRad="38100" dist="38100" dir="2700000" algn="tl">
                    <a:srgbClr val="000000">
                      <a:alpha val="43137"/>
                    </a:srgbClr>
                  </a:outerShdw>
                </a:effectLst>
                <a:latin typeface="Comic Sans MS" panose="030F0702030302020204" pitchFamily="66" charset="0"/>
              </a:rPr>
              <a:t>Estratégica</a:t>
            </a:r>
            <a:r>
              <a:rPr lang="es-ES" sz="2400" dirty="0">
                <a:latin typeface="Comic Sans MS" panose="030F0702030302020204" pitchFamily="66" charset="0"/>
              </a:rPr>
              <a:t>: Factor posicionamiento -  fácil comparar</a:t>
            </a:r>
          </a:p>
          <a:p>
            <a:pPr marL="2286000" lvl="4" indent="-457200">
              <a:buFont typeface="Arial" panose="020B0604020202020204" pitchFamily="34" charset="0"/>
              <a:buChar char="•"/>
            </a:pPr>
            <a:endParaRPr lang="es-ES" sz="2400" dirty="0">
              <a:latin typeface="Comic Sans MS" panose="030F0702030302020204" pitchFamily="66" charset="0"/>
            </a:endParaRPr>
          </a:p>
          <a:p>
            <a:pPr marL="1828800" lvl="3" indent="-457200">
              <a:buFont typeface="Wingdings" panose="05000000000000000000" pitchFamily="2" charset="2"/>
              <a:buChar char="ü"/>
            </a:pPr>
            <a:r>
              <a:rPr lang="es-ES" sz="2400" dirty="0">
                <a:latin typeface="Comic Sans MS" panose="030F0702030302020204" pitchFamily="66" charset="0"/>
              </a:rPr>
              <a:t>Influye en la demanda </a:t>
            </a:r>
          </a:p>
          <a:p>
            <a:pPr marL="1828800" lvl="3" indent="-457200">
              <a:buFont typeface="Arial" panose="020B0604020202020204" pitchFamily="34" charset="0"/>
              <a:buChar char="•"/>
            </a:pPr>
            <a:endParaRPr lang="es-ES" sz="2400" dirty="0">
              <a:effectLst>
                <a:outerShdw blurRad="38100" dist="38100" dir="2700000" algn="tl">
                  <a:srgbClr val="000000">
                    <a:alpha val="43137"/>
                  </a:srgbClr>
                </a:outerShdw>
              </a:effectLst>
              <a:latin typeface="Comic Sans MS" panose="030F0702030302020204" pitchFamily="66" charset="0"/>
            </a:endParaRPr>
          </a:p>
        </p:txBody>
      </p:sp>
      <p:sp>
        <p:nvSpPr>
          <p:cNvPr id="5" name="CuadroTexto 4">
            <a:extLst>
              <a:ext uri="{FF2B5EF4-FFF2-40B4-BE49-F238E27FC236}">
                <a16:creationId xmlns:a16="http://schemas.microsoft.com/office/drawing/2014/main" id="{1F18B886-7B2F-92C8-4564-14D8E5CEA581}"/>
              </a:ext>
            </a:extLst>
          </p:cNvPr>
          <p:cNvSpPr txBox="1"/>
          <p:nvPr/>
        </p:nvSpPr>
        <p:spPr>
          <a:xfrm>
            <a:off x="2488367" y="29992"/>
            <a:ext cx="10008433" cy="523220"/>
          </a:xfrm>
          <a:prstGeom prst="rect">
            <a:avLst/>
          </a:prstGeom>
          <a:noFill/>
        </p:spPr>
        <p:txBody>
          <a:bodyPr wrap="square" rtlCol="0">
            <a:spAutoFit/>
          </a:bodyPr>
          <a:lstStyle/>
          <a:p>
            <a:r>
              <a:rPr lang="es-ES" sz="2800" b="1">
                <a:solidFill>
                  <a:schemeClr val="accent3"/>
                </a:solidFill>
                <a:latin typeface="Comic Sans MS" panose="030F0702030302020204" pitchFamily="66" charset="0"/>
              </a:rPr>
              <a:t>3. MARKETING OPERATIVO. Precio</a:t>
            </a:r>
            <a:endParaRPr lang="es-ES" sz="2800" b="1" dirty="0">
              <a:solidFill>
                <a:schemeClr val="accent3"/>
              </a:solidFill>
              <a:latin typeface="Comic Sans MS" panose="030F0702030302020204" pitchFamily="66" charset="0"/>
            </a:endParaRPr>
          </a:p>
        </p:txBody>
      </p:sp>
    </p:spTree>
    <p:extLst>
      <p:ext uri="{BB962C8B-B14F-4D97-AF65-F5344CB8AC3E}">
        <p14:creationId xmlns:p14="http://schemas.microsoft.com/office/powerpoint/2010/main" val="3881913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Arc 3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1 Título"/>
          <p:cNvSpPr>
            <a:spLocks noGrp="1"/>
          </p:cNvSpPr>
          <p:nvPr>
            <p:ph type="title"/>
          </p:nvPr>
        </p:nvSpPr>
        <p:spPr>
          <a:xfrm>
            <a:off x="991662" y="343581"/>
            <a:ext cx="10272132" cy="1325563"/>
          </a:xfrm>
        </p:spPr>
        <p:txBody>
          <a:bodyPr>
            <a:normAutofit/>
          </a:bodyPr>
          <a:lstStyle/>
          <a:p>
            <a:pPr eaLnBrk="0" hangingPunct="0"/>
            <a:r>
              <a:rPr lang="es-ES" b="1" dirty="0">
                <a:latin typeface="Comic Sans MS" panose="030F0702030302020204" pitchFamily="66" charset="0"/>
              </a:rPr>
              <a:t>3. MARKETING OPERATIVO. Precio </a:t>
            </a:r>
            <a:endParaRPr lang="es-ES_tradnl" b="1" dirty="0">
              <a:latin typeface="Comic Sans MS" panose="030F0702030302020204" pitchFamily="66" charset="0"/>
            </a:endParaRPr>
          </a:p>
        </p:txBody>
      </p:sp>
      <p:sp>
        <p:nvSpPr>
          <p:cNvPr id="38" name="Freeform: Shape 3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5F92D4EA-4D2E-4B31-AC08-30A15A419BEF}"/>
              </a:ext>
            </a:extLst>
          </p:cNvPr>
          <p:cNvSpPr>
            <a:spLocks noGrp="1"/>
          </p:cNvSpPr>
          <p:nvPr>
            <p:ph idx="1"/>
          </p:nvPr>
        </p:nvSpPr>
        <p:spPr>
          <a:xfrm>
            <a:off x="693533" y="1855021"/>
            <a:ext cx="9699404" cy="4192520"/>
          </a:xfrm>
        </p:spPr>
        <p:txBody>
          <a:bodyPr>
            <a:normAutofit/>
          </a:bodyPr>
          <a:lstStyle/>
          <a:p>
            <a:r>
              <a:rPr lang="es-ES" sz="3200" dirty="0">
                <a:latin typeface="Comic Sans MS" panose="030F0702030302020204" pitchFamily="66" charset="0"/>
              </a:rPr>
              <a:t>Restricciones a la fijación de precios</a:t>
            </a:r>
          </a:p>
          <a:p>
            <a:pPr lvl="1">
              <a:buFont typeface="Arial" panose="020B0604020202020204" pitchFamily="34" charset="0"/>
              <a:buNone/>
            </a:pPr>
            <a:endParaRPr lang="es-ES" sz="3200" dirty="0">
              <a:latin typeface="Comic Sans MS" panose="030F0702030302020204" pitchFamily="66" charset="0"/>
            </a:endParaRPr>
          </a:p>
          <a:p>
            <a:pPr lvl="1">
              <a:buFont typeface="Arial" panose="020B0604020202020204" pitchFamily="34" charset="0"/>
              <a:buNone/>
            </a:pPr>
            <a:endParaRPr lang="es-ES" sz="3200" dirty="0">
              <a:latin typeface="Comic Sans MS" panose="030F0702030302020204" pitchFamily="66" charset="0"/>
            </a:endParaRPr>
          </a:p>
          <a:p>
            <a:pPr lvl="1">
              <a:buFont typeface="Arial" panose="020B0604020202020204" pitchFamily="34" charset="0"/>
              <a:buNone/>
            </a:pPr>
            <a:endParaRPr lang="es-ES" sz="3200" dirty="0">
              <a:latin typeface="Comic Sans MS" panose="030F0702030302020204" pitchFamily="66" charset="0"/>
            </a:endParaRPr>
          </a:p>
          <a:p>
            <a:pPr lvl="1">
              <a:buFont typeface="Arial" panose="020B0604020202020204" pitchFamily="34" charset="0"/>
              <a:buNone/>
            </a:pPr>
            <a:endParaRPr lang="es-ES" sz="3200" dirty="0">
              <a:latin typeface="Comic Sans MS" panose="030F0702030302020204" pitchFamily="66" charset="0"/>
            </a:endParaRPr>
          </a:p>
          <a:p>
            <a:pPr lvl="1">
              <a:buFont typeface="Arial" panose="020B0604020202020204" pitchFamily="34" charset="0"/>
              <a:buNone/>
            </a:pPr>
            <a:endParaRPr lang="es-ES" sz="3200" dirty="0">
              <a:latin typeface="Comic Sans MS" panose="030F0702030302020204" pitchFamily="66" charset="0"/>
            </a:endParaRPr>
          </a:p>
          <a:p>
            <a:pPr lvl="1">
              <a:buFont typeface="Arial" panose="020B0604020202020204" pitchFamily="34" charset="0"/>
              <a:buNone/>
            </a:pPr>
            <a:endParaRPr lang="es-ES" sz="3200" dirty="0">
              <a:latin typeface="Comic Sans MS" panose="030F0702030302020204" pitchFamily="66" charset="0"/>
            </a:endParaRPr>
          </a:p>
          <a:p>
            <a:endParaRPr lang="es-ES" sz="3200" dirty="0">
              <a:latin typeface="Comic Sans MS" panose="030F0702030302020204" pitchFamily="66" charset="0"/>
            </a:endParaRPr>
          </a:p>
        </p:txBody>
      </p:sp>
      <p:grpSp>
        <p:nvGrpSpPr>
          <p:cNvPr id="14" name="Grupo 13">
            <a:extLst>
              <a:ext uri="{FF2B5EF4-FFF2-40B4-BE49-F238E27FC236}">
                <a16:creationId xmlns:a16="http://schemas.microsoft.com/office/drawing/2014/main" id="{95F00C17-8465-4A5D-BE65-1A18A25C7819}"/>
              </a:ext>
            </a:extLst>
          </p:cNvPr>
          <p:cNvGrpSpPr/>
          <p:nvPr/>
        </p:nvGrpSpPr>
        <p:grpSpPr>
          <a:xfrm>
            <a:off x="829185" y="3375524"/>
            <a:ext cx="4777381" cy="1563595"/>
            <a:chOff x="1915885" y="1484784"/>
            <a:chExt cx="6160335" cy="2016224"/>
          </a:xfrm>
        </p:grpSpPr>
        <p:grpSp>
          <p:nvGrpSpPr>
            <p:cNvPr id="15" name="11 Grupo">
              <a:extLst>
                <a:ext uri="{FF2B5EF4-FFF2-40B4-BE49-F238E27FC236}">
                  <a16:creationId xmlns:a16="http://schemas.microsoft.com/office/drawing/2014/main" id="{1FE72506-9963-4374-9818-870B2FDC55F5}"/>
                </a:ext>
              </a:extLst>
            </p:cNvPr>
            <p:cNvGrpSpPr/>
            <p:nvPr/>
          </p:nvGrpSpPr>
          <p:grpSpPr>
            <a:xfrm>
              <a:off x="4727848" y="1484784"/>
              <a:ext cx="2376264" cy="2016224"/>
              <a:chOff x="4355976" y="1484784"/>
              <a:chExt cx="2376264" cy="1512168"/>
            </a:xfrm>
          </p:grpSpPr>
          <p:cxnSp>
            <p:nvCxnSpPr>
              <p:cNvPr id="26" name="5 Conector recto">
                <a:extLst>
                  <a:ext uri="{FF2B5EF4-FFF2-40B4-BE49-F238E27FC236}">
                    <a16:creationId xmlns:a16="http://schemas.microsoft.com/office/drawing/2014/main" id="{B9AA4CA9-24F7-405E-90F8-A265F57EF403}"/>
                  </a:ext>
                </a:extLst>
              </p:cNvPr>
              <p:cNvCxnSpPr/>
              <p:nvPr/>
            </p:nvCxnSpPr>
            <p:spPr>
              <a:xfrm>
                <a:off x="4355976" y="1484784"/>
                <a:ext cx="0" cy="15121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7 Conector recto">
                <a:extLst>
                  <a:ext uri="{FF2B5EF4-FFF2-40B4-BE49-F238E27FC236}">
                    <a16:creationId xmlns:a16="http://schemas.microsoft.com/office/drawing/2014/main" id="{CB4B7153-DC83-486B-8126-96DF7F29BA01}"/>
                  </a:ext>
                </a:extLst>
              </p:cNvPr>
              <p:cNvCxnSpPr/>
              <p:nvPr/>
            </p:nvCxnSpPr>
            <p:spPr>
              <a:xfrm>
                <a:off x="4355976" y="2996952"/>
                <a:ext cx="2376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9 Conector recto">
                <a:extLst>
                  <a:ext uri="{FF2B5EF4-FFF2-40B4-BE49-F238E27FC236}">
                    <a16:creationId xmlns:a16="http://schemas.microsoft.com/office/drawing/2014/main" id="{57C3BBD8-94A3-4AF1-BD85-157FDDED053E}"/>
                  </a:ext>
                </a:extLst>
              </p:cNvPr>
              <p:cNvCxnSpPr/>
              <p:nvPr/>
            </p:nvCxnSpPr>
            <p:spPr>
              <a:xfrm>
                <a:off x="4788024" y="1628800"/>
                <a:ext cx="18002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10 Conector recto">
                <a:extLst>
                  <a:ext uri="{FF2B5EF4-FFF2-40B4-BE49-F238E27FC236}">
                    <a16:creationId xmlns:a16="http://schemas.microsoft.com/office/drawing/2014/main" id="{B2FF44C7-57A5-4E02-9505-795CB0EBC135}"/>
                  </a:ext>
                </a:extLst>
              </p:cNvPr>
              <p:cNvCxnSpPr/>
              <p:nvPr/>
            </p:nvCxnSpPr>
            <p:spPr>
              <a:xfrm>
                <a:off x="4788024" y="2636912"/>
                <a:ext cx="18002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17" name="12 CuadroTexto">
              <a:extLst>
                <a:ext uri="{FF2B5EF4-FFF2-40B4-BE49-F238E27FC236}">
                  <a16:creationId xmlns:a16="http://schemas.microsoft.com/office/drawing/2014/main" id="{76B3CA3F-05EF-4FA6-AC61-8DF6E57F049B}"/>
                </a:ext>
              </a:extLst>
            </p:cNvPr>
            <p:cNvSpPr txBox="1"/>
            <p:nvPr/>
          </p:nvSpPr>
          <p:spPr>
            <a:xfrm>
              <a:off x="6852084" y="1484784"/>
              <a:ext cx="1224136" cy="369332"/>
            </a:xfrm>
            <a:prstGeom prst="rect">
              <a:avLst/>
            </a:prstGeom>
            <a:noFill/>
          </p:spPr>
          <p:txBody>
            <a:bodyPr wrap="square" rtlCol="0">
              <a:spAutoFit/>
            </a:bodyPr>
            <a:lstStyle/>
            <a:p>
              <a:pPr defTabSz="704088">
                <a:spcAft>
                  <a:spcPts val="600"/>
                </a:spcAft>
              </a:pPr>
              <a:r>
                <a:rPr lang="es-ES" sz="1386" kern="1200">
                  <a:solidFill>
                    <a:schemeClr val="tx1"/>
                  </a:solidFill>
                  <a:latin typeface="+mn-lt"/>
                  <a:ea typeface="+mn-ea"/>
                  <a:cs typeface="+mn-cs"/>
                </a:rPr>
                <a:t>Máximo</a:t>
              </a:r>
              <a:endParaRPr lang="es-ES"/>
            </a:p>
          </p:txBody>
        </p:sp>
        <p:sp>
          <p:nvSpPr>
            <p:cNvPr id="19" name="13 CuadroTexto">
              <a:extLst>
                <a:ext uri="{FF2B5EF4-FFF2-40B4-BE49-F238E27FC236}">
                  <a16:creationId xmlns:a16="http://schemas.microsoft.com/office/drawing/2014/main" id="{3485B6AC-C010-4542-8621-1F1D8E4F4681}"/>
                </a:ext>
              </a:extLst>
            </p:cNvPr>
            <p:cNvSpPr txBox="1"/>
            <p:nvPr/>
          </p:nvSpPr>
          <p:spPr>
            <a:xfrm>
              <a:off x="6852084" y="2790220"/>
              <a:ext cx="1224136" cy="369332"/>
            </a:xfrm>
            <a:prstGeom prst="rect">
              <a:avLst/>
            </a:prstGeom>
            <a:noFill/>
          </p:spPr>
          <p:txBody>
            <a:bodyPr wrap="square" rtlCol="0">
              <a:spAutoFit/>
            </a:bodyPr>
            <a:lstStyle/>
            <a:p>
              <a:pPr defTabSz="704088">
                <a:spcAft>
                  <a:spcPts val="600"/>
                </a:spcAft>
              </a:pPr>
              <a:r>
                <a:rPr lang="es-ES" sz="1386" kern="1200" dirty="0">
                  <a:solidFill>
                    <a:schemeClr val="tx1"/>
                  </a:solidFill>
                  <a:latin typeface="+mn-lt"/>
                  <a:ea typeface="+mn-ea"/>
                  <a:cs typeface="+mn-cs"/>
                </a:rPr>
                <a:t>Mínimo</a:t>
              </a:r>
              <a:endParaRPr lang="es-ES" dirty="0"/>
            </a:p>
          </p:txBody>
        </p:sp>
        <p:sp>
          <p:nvSpPr>
            <p:cNvPr id="21" name="14 Llamada de flecha a la derecha">
              <a:extLst>
                <a:ext uri="{FF2B5EF4-FFF2-40B4-BE49-F238E27FC236}">
                  <a16:creationId xmlns:a16="http://schemas.microsoft.com/office/drawing/2014/main" id="{A93964F5-7575-4A7A-B6CE-2546338E91E8}"/>
                </a:ext>
              </a:extLst>
            </p:cNvPr>
            <p:cNvSpPr/>
            <p:nvPr/>
          </p:nvSpPr>
          <p:spPr>
            <a:xfrm>
              <a:off x="2243572" y="1494076"/>
              <a:ext cx="2448272" cy="360040"/>
            </a:xfrm>
            <a:prstGeom prst="rightArrowCallou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04088">
                <a:spcAft>
                  <a:spcPts val="600"/>
                </a:spcAft>
              </a:pPr>
              <a:r>
                <a:rPr lang="es-ES" sz="1386" kern="1200">
                  <a:solidFill>
                    <a:schemeClr val="tx1"/>
                  </a:solidFill>
                  <a:latin typeface="+mn-lt"/>
                  <a:ea typeface="+mn-ea"/>
                  <a:cs typeface="+mn-cs"/>
                </a:rPr>
                <a:t>Demanda</a:t>
              </a:r>
              <a:endParaRPr lang="es-ES">
                <a:solidFill>
                  <a:schemeClr val="tx1"/>
                </a:solidFill>
              </a:endParaRPr>
            </a:p>
          </p:txBody>
        </p:sp>
        <p:sp>
          <p:nvSpPr>
            <p:cNvPr id="23" name="15 Llamada de flecha a la derecha">
              <a:extLst>
                <a:ext uri="{FF2B5EF4-FFF2-40B4-BE49-F238E27FC236}">
                  <a16:creationId xmlns:a16="http://schemas.microsoft.com/office/drawing/2014/main" id="{C63EB677-4F0E-461A-9883-3B5966BABC9C}"/>
                </a:ext>
              </a:extLst>
            </p:cNvPr>
            <p:cNvSpPr/>
            <p:nvPr/>
          </p:nvSpPr>
          <p:spPr>
            <a:xfrm>
              <a:off x="1915885" y="2214156"/>
              <a:ext cx="2775959" cy="360040"/>
            </a:xfrm>
            <a:prstGeom prst="rightArrowCallou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04088">
                <a:spcAft>
                  <a:spcPts val="600"/>
                </a:spcAft>
              </a:pPr>
              <a:r>
                <a:rPr lang="es-ES" sz="1386" kern="1200">
                  <a:solidFill>
                    <a:schemeClr val="tx1"/>
                  </a:solidFill>
                  <a:latin typeface="+mn-lt"/>
                  <a:ea typeface="+mn-ea"/>
                  <a:cs typeface="+mn-cs"/>
                </a:rPr>
                <a:t>Competencia</a:t>
              </a:r>
              <a:endParaRPr lang="es-ES">
                <a:solidFill>
                  <a:schemeClr val="tx1"/>
                </a:solidFill>
              </a:endParaRPr>
            </a:p>
          </p:txBody>
        </p:sp>
        <p:sp>
          <p:nvSpPr>
            <p:cNvPr id="24" name="16 Llamada de flecha a la derecha">
              <a:extLst>
                <a:ext uri="{FF2B5EF4-FFF2-40B4-BE49-F238E27FC236}">
                  <a16:creationId xmlns:a16="http://schemas.microsoft.com/office/drawing/2014/main" id="{3135C4B9-AA04-475D-80E7-AAEB4D2B403F}"/>
                </a:ext>
              </a:extLst>
            </p:cNvPr>
            <p:cNvSpPr/>
            <p:nvPr/>
          </p:nvSpPr>
          <p:spPr>
            <a:xfrm>
              <a:off x="2243572" y="2862228"/>
              <a:ext cx="2448272" cy="360040"/>
            </a:xfrm>
            <a:prstGeom prst="rightArrowCallou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04088">
                <a:spcAft>
                  <a:spcPts val="600"/>
                </a:spcAft>
              </a:pPr>
              <a:r>
                <a:rPr lang="es-ES" sz="1386" kern="1200">
                  <a:solidFill>
                    <a:schemeClr val="tx1"/>
                  </a:solidFill>
                  <a:latin typeface="+mn-lt"/>
                  <a:ea typeface="+mn-ea"/>
                  <a:cs typeface="+mn-cs"/>
                </a:rPr>
                <a:t>Costes </a:t>
              </a:r>
              <a:endParaRPr lang="es-ES">
                <a:solidFill>
                  <a:schemeClr val="tx1"/>
                </a:solidFill>
              </a:endParaRPr>
            </a:p>
          </p:txBody>
        </p:sp>
        <p:sp>
          <p:nvSpPr>
            <p:cNvPr id="25" name="18 Explosión 1">
              <a:extLst>
                <a:ext uri="{FF2B5EF4-FFF2-40B4-BE49-F238E27FC236}">
                  <a16:creationId xmlns:a16="http://schemas.microsoft.com/office/drawing/2014/main" id="{53F1FAE2-465F-42F5-85FD-C1B0D67468E3}"/>
                </a:ext>
              </a:extLst>
            </p:cNvPr>
            <p:cNvSpPr/>
            <p:nvPr/>
          </p:nvSpPr>
          <p:spPr>
            <a:xfrm>
              <a:off x="5195900" y="2070140"/>
              <a:ext cx="1224136" cy="720080"/>
            </a:xfrm>
            <a:prstGeom prst="irregularSeal1">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aphicFrame>
        <p:nvGraphicFramePr>
          <p:cNvPr id="6" name="Diagrama 5">
            <a:extLst>
              <a:ext uri="{FF2B5EF4-FFF2-40B4-BE49-F238E27FC236}">
                <a16:creationId xmlns:a16="http://schemas.microsoft.com/office/drawing/2014/main" id="{FDBA49F2-33FA-0F75-6DF3-D6ADA8450F1A}"/>
              </a:ext>
            </a:extLst>
          </p:cNvPr>
          <p:cNvGraphicFramePr/>
          <p:nvPr>
            <p:extLst>
              <p:ext uri="{D42A27DB-BD31-4B8C-83A1-F6EECF244321}">
                <p14:modId xmlns:p14="http://schemas.microsoft.com/office/powerpoint/2010/main" val="3729819378"/>
              </p:ext>
            </p:extLst>
          </p:nvPr>
        </p:nvGraphicFramePr>
        <p:xfrm>
          <a:off x="6403503" y="2295874"/>
          <a:ext cx="5298630" cy="375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9407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38200" y="365125"/>
            <a:ext cx="10515600" cy="1325563"/>
          </a:xfrm>
        </p:spPr>
        <p:txBody>
          <a:bodyPr>
            <a:normAutofit/>
          </a:bodyPr>
          <a:lstStyle/>
          <a:p>
            <a:pPr>
              <a:defRPr/>
            </a:pPr>
            <a:r>
              <a:rPr lang="es-ES" sz="3200" b="1" dirty="0">
                <a:solidFill>
                  <a:schemeClr val="accent3"/>
                </a:solidFill>
                <a:latin typeface="Comic Sans MS" panose="030F0702030302020204" pitchFamily="66" charset="0"/>
              </a:rPr>
              <a:t>3. MARKETING OPERATIVO. Precio </a:t>
            </a:r>
            <a:endParaRPr lang="es-ES" dirty="0"/>
          </a:p>
        </p:txBody>
      </p:sp>
      <p:sp>
        <p:nvSpPr>
          <p:cNvPr id="16" name="2 Marcador de contenido"/>
          <p:cNvSpPr>
            <a:spLocks noGrp="1"/>
          </p:cNvSpPr>
          <p:nvPr>
            <p:ph idx="1"/>
          </p:nvPr>
        </p:nvSpPr>
        <p:spPr>
          <a:xfrm>
            <a:off x="838200" y="1825625"/>
            <a:ext cx="8071624" cy="4667250"/>
          </a:xfrm>
        </p:spPr>
        <p:txBody>
          <a:bodyPr>
            <a:normAutofit fontScale="92500" lnSpcReduction="10000"/>
          </a:bodyPr>
          <a:lstStyle/>
          <a:p>
            <a:pPr marL="0" indent="0">
              <a:buNone/>
            </a:pPr>
            <a:r>
              <a:rPr lang="es-ES" sz="2800" b="1" dirty="0">
                <a:solidFill>
                  <a:schemeClr val="accent1"/>
                </a:solidFill>
                <a:latin typeface="Comic Sans MS" panose="030F0702030302020204" pitchFamily="66" charset="0"/>
              </a:rPr>
              <a:t>Métodos basados en los costes</a:t>
            </a:r>
          </a:p>
          <a:p>
            <a:pPr marL="0" indent="0">
              <a:buNone/>
            </a:pPr>
            <a:endParaRPr lang="es-ES" sz="2800" b="1" dirty="0">
              <a:solidFill>
                <a:schemeClr val="accent1"/>
              </a:solidFill>
              <a:latin typeface="Comic Sans MS" panose="030F0702030302020204" pitchFamily="66" charset="0"/>
            </a:endParaRPr>
          </a:p>
          <a:p>
            <a:pPr>
              <a:buFont typeface="Arial" panose="020B0604020202020204" pitchFamily="34" charset="0"/>
              <a:buNone/>
            </a:pPr>
            <a:r>
              <a:rPr lang="es-ES" dirty="0">
                <a:latin typeface="Comic Sans MS" panose="030F0702030302020204" pitchFamily="66" charset="0"/>
              </a:rPr>
              <a:t>CTU= CVU+CF/PE</a:t>
            </a:r>
          </a:p>
          <a:p>
            <a:pPr>
              <a:buFont typeface="Arial" panose="020B0604020202020204" pitchFamily="34" charset="0"/>
              <a:buNone/>
            </a:pPr>
            <a:endParaRPr lang="es-ES" dirty="0">
              <a:latin typeface="Comic Sans MS" panose="030F0702030302020204" pitchFamily="66" charset="0"/>
            </a:endParaRPr>
          </a:p>
          <a:p>
            <a:pPr lvl="2"/>
            <a:r>
              <a:rPr lang="es-ES" sz="2400" dirty="0">
                <a:latin typeface="Comic Sans MS" panose="030F0702030302020204" pitchFamily="66" charset="0"/>
              </a:rPr>
              <a:t>Coste más margen</a:t>
            </a:r>
          </a:p>
          <a:p>
            <a:pPr lvl="2">
              <a:buFont typeface="Arial" panose="020B0604020202020204" pitchFamily="34" charset="0"/>
              <a:buNone/>
            </a:pPr>
            <a:r>
              <a:rPr lang="es-ES" sz="2400" dirty="0">
                <a:latin typeface="Comic Sans MS" panose="030F0702030302020204" pitchFamily="66" charset="0"/>
              </a:rPr>
              <a:t>			PVP = CTU + M x CTU</a:t>
            </a:r>
          </a:p>
          <a:p>
            <a:pPr>
              <a:buFont typeface="Wingdings 2" pitchFamily="18" charset="2"/>
              <a:buNone/>
            </a:pPr>
            <a:endParaRPr lang="es-ES" dirty="0">
              <a:latin typeface="Comic Sans MS" panose="030F0702030302020204" pitchFamily="66" charset="0"/>
            </a:endParaRPr>
          </a:p>
          <a:p>
            <a:pPr lvl="2"/>
            <a:r>
              <a:rPr lang="es-ES" sz="2400" dirty="0">
                <a:latin typeface="Comic Sans MS" panose="030F0702030302020204" pitchFamily="66" charset="0"/>
              </a:rPr>
              <a:t>Margen en el precio</a:t>
            </a:r>
          </a:p>
          <a:p>
            <a:pPr>
              <a:buFont typeface="Wingdings 2" pitchFamily="18" charset="2"/>
              <a:buNone/>
            </a:pPr>
            <a:r>
              <a:rPr lang="es-ES" dirty="0">
                <a:latin typeface="Comic Sans MS" panose="030F0702030302020204" pitchFamily="66" charset="0"/>
              </a:rPr>
              <a:t>			PVP = CTU + (M x PVP)</a:t>
            </a:r>
          </a:p>
          <a:p>
            <a:pPr lvl="2"/>
            <a:endParaRPr lang="es-ES" sz="2400" dirty="0">
              <a:latin typeface="Comic Sans MS" panose="030F0702030302020204" pitchFamily="66" charset="0"/>
            </a:endParaRPr>
          </a:p>
          <a:p>
            <a:pPr lvl="2"/>
            <a:r>
              <a:rPr lang="es-ES" sz="2400" dirty="0">
                <a:latin typeface="Comic Sans MS" panose="030F0702030302020204" pitchFamily="66" charset="0"/>
              </a:rPr>
              <a:t>Precio objetivo</a:t>
            </a:r>
          </a:p>
          <a:p>
            <a:pPr>
              <a:buFont typeface="Wingdings 2" pitchFamily="18" charset="2"/>
              <a:buNone/>
            </a:pPr>
            <a:r>
              <a:rPr lang="es-ES" dirty="0">
                <a:latin typeface="Comic Sans MS" panose="030F0702030302020204" pitchFamily="66" charset="0"/>
              </a:rPr>
              <a:t>			PVP = CTU + B/PE</a:t>
            </a:r>
          </a:p>
        </p:txBody>
      </p:sp>
      <p:sp>
        <p:nvSpPr>
          <p:cNvPr id="2" name="CuadroTexto 1">
            <a:extLst>
              <a:ext uri="{FF2B5EF4-FFF2-40B4-BE49-F238E27FC236}">
                <a16:creationId xmlns:a16="http://schemas.microsoft.com/office/drawing/2014/main" id="{066ACA70-6FE0-6D58-6CEE-D46117765073}"/>
              </a:ext>
            </a:extLst>
          </p:cNvPr>
          <p:cNvSpPr txBox="1"/>
          <p:nvPr/>
        </p:nvSpPr>
        <p:spPr>
          <a:xfrm>
            <a:off x="8552987" y="2734484"/>
            <a:ext cx="3278458" cy="1200329"/>
          </a:xfrm>
          <a:prstGeom prst="rect">
            <a:avLst/>
          </a:prstGeom>
          <a:noFill/>
        </p:spPr>
        <p:txBody>
          <a:bodyPr wrap="square" rtlCol="0">
            <a:spAutoFit/>
          </a:bodyPr>
          <a:lstStyle/>
          <a:p>
            <a:r>
              <a:rPr lang="es-ES" dirty="0">
                <a:latin typeface="Comic Sans MS" panose="030F0702030302020204" pitchFamily="66" charset="0"/>
              </a:rPr>
              <a:t>CTU – coste total unitario</a:t>
            </a:r>
          </a:p>
          <a:p>
            <a:r>
              <a:rPr lang="es-ES" dirty="0">
                <a:latin typeface="Comic Sans MS" panose="030F0702030302020204" pitchFamily="66" charset="0"/>
              </a:rPr>
              <a:t>CVU – coste variable unitario</a:t>
            </a:r>
          </a:p>
          <a:p>
            <a:r>
              <a:rPr lang="es-ES" dirty="0">
                <a:latin typeface="Comic Sans MS" panose="030F0702030302020204" pitchFamily="66" charset="0"/>
              </a:rPr>
              <a:t>CF – costes fijos</a:t>
            </a:r>
          </a:p>
          <a:p>
            <a:r>
              <a:rPr lang="es-ES" dirty="0">
                <a:latin typeface="Comic Sans MS" panose="030F0702030302020204" pitchFamily="66" charset="0"/>
              </a:rPr>
              <a:t>PE – producción estimada</a:t>
            </a:r>
          </a:p>
        </p:txBody>
      </p:sp>
    </p:spTree>
    <p:extLst>
      <p:ext uri="{BB962C8B-B14F-4D97-AF65-F5344CB8AC3E}">
        <p14:creationId xmlns:p14="http://schemas.microsoft.com/office/powerpoint/2010/main" val="3852356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38200" y="365125"/>
            <a:ext cx="10515600" cy="1325563"/>
          </a:xfrm>
        </p:spPr>
        <p:txBody>
          <a:bodyPr>
            <a:normAutofit/>
          </a:bodyPr>
          <a:lstStyle/>
          <a:p>
            <a:pPr>
              <a:defRPr/>
            </a:pPr>
            <a:r>
              <a:rPr lang="es-ES" sz="3200" b="1" dirty="0">
                <a:solidFill>
                  <a:schemeClr val="accent3"/>
                </a:solidFill>
                <a:latin typeface="Comic Sans MS" panose="030F0702030302020204" pitchFamily="66" charset="0"/>
              </a:rPr>
              <a:t>3. MARKETING OPERATIVO. Precio </a:t>
            </a:r>
            <a:endParaRPr lang="es-ES" dirty="0"/>
          </a:p>
        </p:txBody>
      </p:sp>
      <p:sp>
        <p:nvSpPr>
          <p:cNvPr id="17410" name="2 Marcador de contenido"/>
          <p:cNvSpPr>
            <a:spLocks noGrp="1"/>
          </p:cNvSpPr>
          <p:nvPr>
            <p:ph idx="1"/>
          </p:nvPr>
        </p:nvSpPr>
        <p:spPr>
          <a:xfrm>
            <a:off x="838200" y="2115749"/>
            <a:ext cx="10515600" cy="2870320"/>
          </a:xfrm>
        </p:spPr>
        <p:txBody>
          <a:bodyPr>
            <a:normAutofit/>
          </a:bodyPr>
          <a:lstStyle/>
          <a:p>
            <a:pPr eaLnBrk="1" hangingPunct="1"/>
            <a:r>
              <a:rPr lang="es-ES" b="1" dirty="0">
                <a:solidFill>
                  <a:schemeClr val="accent1"/>
                </a:solidFill>
                <a:latin typeface="Comic Sans MS" panose="030F0702030302020204" pitchFamily="66" charset="0"/>
              </a:rPr>
              <a:t>Métodos basados en la competencia</a:t>
            </a:r>
          </a:p>
          <a:p>
            <a:pPr eaLnBrk="1" hangingPunct="1">
              <a:buFont typeface="Wingdings 2" pitchFamily="18" charset="2"/>
              <a:buNone/>
            </a:pPr>
            <a:r>
              <a:rPr lang="es-ES" dirty="0">
                <a:latin typeface="Comic Sans MS" panose="030F0702030302020204" pitchFamily="66" charset="0"/>
              </a:rPr>
              <a:t>		Se basan en el carácter competitivo de un mercado, donde la presión que ejercen los competidores para fijar el precio no puede obviarse.</a:t>
            </a:r>
          </a:p>
          <a:p>
            <a:pPr eaLnBrk="1" hangingPunct="1">
              <a:buFont typeface="Wingdings 2" pitchFamily="18" charset="2"/>
              <a:buNone/>
            </a:pPr>
            <a:r>
              <a:rPr lang="es-ES" dirty="0">
                <a:latin typeface="Comic Sans MS" panose="030F0702030302020204" pitchFamily="66" charset="0"/>
              </a:rPr>
              <a:t>		Para una empresa que inicia una subida o una reducción de precios es importante prever la posible respuesta de los competidores.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38200" y="365125"/>
            <a:ext cx="10515600" cy="1325563"/>
          </a:xfrm>
        </p:spPr>
        <p:txBody>
          <a:bodyPr>
            <a:normAutofit/>
          </a:bodyPr>
          <a:lstStyle/>
          <a:p>
            <a:pPr>
              <a:defRPr/>
            </a:pPr>
            <a:r>
              <a:rPr lang="es-ES" sz="3200" b="1" dirty="0">
                <a:solidFill>
                  <a:schemeClr val="accent3"/>
                </a:solidFill>
                <a:latin typeface="Comic Sans MS" panose="030F0702030302020204" pitchFamily="66" charset="0"/>
              </a:rPr>
              <a:t>3. MARKETING OPERATIVO. Precio </a:t>
            </a:r>
            <a:endParaRPr lang="es-ES" dirty="0"/>
          </a:p>
        </p:txBody>
      </p:sp>
      <p:sp>
        <p:nvSpPr>
          <p:cNvPr id="20482" name="2 Marcador de contenido"/>
          <p:cNvSpPr>
            <a:spLocks noGrp="1"/>
          </p:cNvSpPr>
          <p:nvPr>
            <p:ph idx="1"/>
          </p:nvPr>
        </p:nvSpPr>
        <p:spPr>
          <a:xfrm>
            <a:off x="838200" y="1825625"/>
            <a:ext cx="10515600" cy="3859742"/>
          </a:xfrm>
        </p:spPr>
        <p:txBody>
          <a:bodyPr>
            <a:normAutofit/>
          </a:bodyPr>
          <a:lstStyle/>
          <a:p>
            <a:pPr eaLnBrk="1" hangingPunct="1"/>
            <a:r>
              <a:rPr lang="es-ES" b="1" dirty="0">
                <a:solidFill>
                  <a:schemeClr val="accent1"/>
                </a:solidFill>
                <a:latin typeface="Comic Sans MS" panose="030F0702030302020204" pitchFamily="66" charset="0"/>
              </a:rPr>
              <a:t>Métodos basados en la demanda</a:t>
            </a:r>
          </a:p>
          <a:p>
            <a:pPr eaLnBrk="1" hangingPunct="1">
              <a:buFont typeface="Wingdings 2" pitchFamily="18" charset="2"/>
              <a:buNone/>
            </a:pPr>
            <a:r>
              <a:rPr lang="es-ES" dirty="0">
                <a:latin typeface="Comic Sans MS" panose="030F0702030302020204" pitchFamily="66" charset="0"/>
              </a:rPr>
              <a:t>	Los precios se pueden fijar inicialmente considerando la elasticidad de la demanda:</a:t>
            </a:r>
          </a:p>
          <a:p>
            <a:pPr eaLnBrk="1" hangingPunct="1">
              <a:buFont typeface="Wingdings 2" pitchFamily="18" charset="2"/>
              <a:buNone/>
            </a:pPr>
            <a:r>
              <a:rPr lang="es-ES" dirty="0">
                <a:latin typeface="Comic Sans MS" panose="030F0702030302020204" pitchFamily="66" charset="0"/>
              </a:rPr>
              <a:t>		             E= </a:t>
            </a:r>
            <a:r>
              <a:rPr lang="es-ES" dirty="0" err="1">
                <a:latin typeface="Comic Sans MS" panose="030F0702030302020204" pitchFamily="66" charset="0"/>
              </a:rPr>
              <a:t>dQ</a:t>
            </a:r>
            <a:r>
              <a:rPr lang="es-ES" dirty="0">
                <a:latin typeface="Comic Sans MS" panose="030F0702030302020204" pitchFamily="66" charset="0"/>
              </a:rPr>
              <a:t>/</a:t>
            </a:r>
            <a:r>
              <a:rPr lang="es-ES" dirty="0" err="1">
                <a:latin typeface="Comic Sans MS" panose="030F0702030302020204" pitchFamily="66" charset="0"/>
              </a:rPr>
              <a:t>dP</a:t>
            </a:r>
            <a:r>
              <a:rPr lang="es-ES" dirty="0">
                <a:latin typeface="Comic Sans MS" panose="030F0702030302020204" pitchFamily="66" charset="0"/>
              </a:rPr>
              <a:t> X  P/Q</a:t>
            </a:r>
          </a:p>
          <a:p>
            <a:pPr lvl="1" eaLnBrk="1" hangingPunct="1"/>
            <a:r>
              <a:rPr lang="el-GR" dirty="0">
                <a:latin typeface="Comic Sans MS" panose="030F0702030302020204" pitchFamily="66" charset="0"/>
              </a:rPr>
              <a:t>Ε</a:t>
            </a:r>
            <a:r>
              <a:rPr lang="es-ES" dirty="0">
                <a:latin typeface="Comic Sans MS" panose="030F0702030302020204" pitchFamily="66" charset="0"/>
              </a:rPr>
              <a:t> &gt;0 Ante un incremento del precio, crece la demanda</a:t>
            </a:r>
          </a:p>
          <a:p>
            <a:pPr lvl="1" eaLnBrk="1" hangingPunct="1"/>
            <a:r>
              <a:rPr lang="es-ES" dirty="0">
                <a:latin typeface="Comic Sans MS" panose="030F0702030302020204" pitchFamily="66" charset="0"/>
              </a:rPr>
              <a:t>E&lt;0 Ante un incremento del precio, disminuye la demanda</a:t>
            </a:r>
          </a:p>
          <a:p>
            <a:pPr lvl="1" eaLnBrk="1" hangingPunct="1"/>
            <a:r>
              <a:rPr lang="es-ES" dirty="0">
                <a:latin typeface="Comic Sans MS" panose="030F0702030302020204" pitchFamily="66" charset="0"/>
              </a:rPr>
              <a:t>E=0  Ante un incremento del precio, la demanda no varia</a:t>
            </a:r>
          </a:p>
          <a:p>
            <a:pPr eaLnBrk="1" hangingPunct="1">
              <a:buFont typeface="Wingdings 2" pitchFamily="18" charset="2"/>
              <a:buNone/>
            </a:pPr>
            <a:endParaRPr lang="es-ES" dirty="0">
              <a:latin typeface="Comic Sans MS" panose="030F0702030302020204" pitchFamily="66"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1" y="674827"/>
            <a:ext cx="4354518" cy="461665"/>
          </a:xfrm>
          <a:prstGeom prst="rect">
            <a:avLst/>
          </a:prstGeom>
          <a:noFill/>
        </p:spPr>
        <p:txBody>
          <a:bodyPr wrap="square" rtlCol="0">
            <a:spAutoFit/>
          </a:bodyPr>
          <a:lstStyle/>
          <a:p>
            <a:pPr marL="914400" lvl="1" indent="-457200">
              <a:buFont typeface="+mj-lt"/>
              <a:buAutoNum type="arabicPeriod" startAt="4"/>
            </a:pPr>
            <a:r>
              <a:rPr lang="es-ES" sz="2400" dirty="0">
                <a:effectLst>
                  <a:outerShdw blurRad="38100" dist="38100" dir="2700000" algn="tl">
                    <a:srgbClr val="000000">
                      <a:alpha val="43137"/>
                    </a:srgbClr>
                  </a:outerShdw>
                </a:effectLst>
                <a:latin typeface="Comic Sans MS" panose="030F0702030302020204" pitchFamily="66" charset="0"/>
              </a:rPr>
              <a:t>Estrategias de precios</a:t>
            </a:r>
          </a:p>
        </p:txBody>
      </p:sp>
      <p:graphicFrame>
        <p:nvGraphicFramePr>
          <p:cNvPr id="8" name="Group 47">
            <a:extLst>
              <a:ext uri="{FF2B5EF4-FFF2-40B4-BE49-F238E27FC236}">
                <a16:creationId xmlns:a16="http://schemas.microsoft.com/office/drawing/2014/main" id="{0E32FD63-5B30-4666-A1D3-2AC4C760AC5D}"/>
              </a:ext>
            </a:extLst>
          </p:cNvPr>
          <p:cNvGraphicFramePr>
            <a:graphicFrameLocks noGrp="1"/>
          </p:cNvGraphicFramePr>
          <p:nvPr>
            <p:extLst>
              <p:ext uri="{D42A27DB-BD31-4B8C-83A1-F6EECF244321}">
                <p14:modId xmlns:p14="http://schemas.microsoft.com/office/powerpoint/2010/main" val="1597114835"/>
              </p:ext>
            </p:extLst>
          </p:nvPr>
        </p:nvGraphicFramePr>
        <p:xfrm>
          <a:off x="2153340" y="1220480"/>
          <a:ext cx="9217025" cy="5511969"/>
        </p:xfrm>
        <a:graphic>
          <a:graphicData uri="http://schemas.openxmlformats.org/drawingml/2006/table">
            <a:tbl>
              <a:tblPr/>
              <a:tblGrid>
                <a:gridCol w="2662237">
                  <a:extLst>
                    <a:ext uri="{9D8B030D-6E8A-4147-A177-3AD203B41FA5}">
                      <a16:colId xmlns:a16="http://schemas.microsoft.com/office/drawing/2014/main" val="20000"/>
                    </a:ext>
                  </a:extLst>
                </a:gridCol>
                <a:gridCol w="6554788">
                  <a:extLst>
                    <a:ext uri="{9D8B030D-6E8A-4147-A177-3AD203B41FA5}">
                      <a16:colId xmlns:a16="http://schemas.microsoft.com/office/drawing/2014/main" val="20001"/>
                    </a:ext>
                  </a:extLst>
                </a:gridCol>
              </a:tblGrid>
              <a:tr h="3658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Estrategia</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Comic Sans MS" panose="030F0702030302020204" pitchFamily="66" charset="0"/>
                        </a:rPr>
                        <a:t>Descripción</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29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Comic Sans MS" panose="030F0702030302020204" pitchFamily="66" charset="0"/>
                        </a:rPr>
                        <a:t>Precio variable o negociado</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Precio objeto de negociación.</a:t>
                      </a:r>
                    </a:p>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flexibiliza el precio u otras condiciones de la compra.</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5743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Descuentos aleatorios (ofertas)</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2000"/>
                        </a:lnSpc>
                        <a:spcBef>
                          <a:spcPct val="1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reduce el precio en un momento o lugar determinado.</a:t>
                      </a:r>
                    </a:p>
                    <a:p>
                      <a:pPr marL="179388" marR="0" lvl="0" indent="-179388" algn="just" defTabSz="914400" rtl="0" eaLnBrk="0" fontAlgn="base" latinLnBrk="0" hangingPunct="0">
                        <a:lnSpc>
                          <a:spcPts val="2000"/>
                        </a:lnSpc>
                        <a:spcBef>
                          <a:spcPct val="1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No conocido por el consumidor antes de su inicio.</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098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Descuentos periódicos (rebajas)</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reduce el precio en un momento y lugar determinado.</a:t>
                      </a:r>
                    </a:p>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Conocido por el consumidor antes de su inicio.</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4939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Descuentos en segundo mercado</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Reducción de precio.</a:t>
                      </a:r>
                    </a:p>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Afecta a aquellos consumidores que cumplen unas condiciones.</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0842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Precios de profesionales</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establecen unos precios estandarizados.</a:t>
                      </a:r>
                    </a:p>
                    <a:p>
                      <a:pPr marL="179388" marR="0" lvl="0" indent="-179388"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En ocasiones, el precio depende de la relevancia del problema a tratar.</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809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Precios éticos</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ts val="20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fija el precio según el fin social del producto o la capacidad de pago del cliente.</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CuadroTexto 4">
            <a:extLst>
              <a:ext uri="{FF2B5EF4-FFF2-40B4-BE49-F238E27FC236}">
                <a16:creationId xmlns:a16="http://schemas.microsoft.com/office/drawing/2014/main" id="{3ABFA4A0-8886-6741-A25A-1DDDD0387165}"/>
              </a:ext>
            </a:extLst>
          </p:cNvPr>
          <p:cNvSpPr txBox="1"/>
          <p:nvPr/>
        </p:nvSpPr>
        <p:spPr>
          <a:xfrm>
            <a:off x="2488367" y="29992"/>
            <a:ext cx="8881998" cy="523220"/>
          </a:xfrm>
          <a:prstGeom prst="rect">
            <a:avLst/>
          </a:prstGeom>
          <a:noFill/>
        </p:spPr>
        <p:txBody>
          <a:bodyPr wrap="square" rtlCol="0">
            <a:spAutoFit/>
          </a:bodyPr>
          <a:lstStyle/>
          <a:p>
            <a:r>
              <a:rPr lang="es-ES" sz="2800" b="1">
                <a:solidFill>
                  <a:schemeClr val="accent3"/>
                </a:solidFill>
                <a:latin typeface="Comic Sans MS" panose="030F0702030302020204" pitchFamily="66" charset="0"/>
              </a:rPr>
              <a:t>3. MARKETING OPERATIVO. Precio</a:t>
            </a:r>
            <a:endParaRPr lang="es-ES" sz="2800" b="1" dirty="0">
              <a:solidFill>
                <a:schemeClr val="accent3"/>
              </a:solidFill>
              <a:latin typeface="Comic Sans MS" panose="030F0702030302020204" pitchFamily="66" charset="0"/>
            </a:endParaRPr>
          </a:p>
        </p:txBody>
      </p:sp>
    </p:spTree>
    <p:extLst>
      <p:ext uri="{BB962C8B-B14F-4D97-AF65-F5344CB8AC3E}">
        <p14:creationId xmlns:p14="http://schemas.microsoft.com/office/powerpoint/2010/main" val="617808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1" y="674827"/>
            <a:ext cx="4354518" cy="461665"/>
          </a:xfrm>
          <a:prstGeom prst="rect">
            <a:avLst/>
          </a:prstGeom>
          <a:noFill/>
        </p:spPr>
        <p:txBody>
          <a:bodyPr wrap="square" rtlCol="0">
            <a:spAutoFit/>
          </a:bodyPr>
          <a:lstStyle/>
          <a:p>
            <a:pPr marL="914400" lvl="1" indent="-457200">
              <a:buFont typeface="+mj-lt"/>
              <a:buAutoNum type="arabicPeriod" startAt="4"/>
            </a:pPr>
            <a:r>
              <a:rPr lang="es-ES" sz="2400" dirty="0">
                <a:effectLst>
                  <a:outerShdw blurRad="38100" dist="38100" dir="2700000" algn="tl">
                    <a:srgbClr val="000000">
                      <a:alpha val="43137"/>
                    </a:srgbClr>
                  </a:outerShdw>
                </a:effectLst>
                <a:latin typeface="Comic Sans MS" panose="030F0702030302020204" pitchFamily="66" charset="0"/>
              </a:rPr>
              <a:t>Estrategias de precios</a:t>
            </a:r>
          </a:p>
        </p:txBody>
      </p:sp>
      <p:graphicFrame>
        <p:nvGraphicFramePr>
          <p:cNvPr id="9" name="Group 48">
            <a:extLst>
              <a:ext uri="{FF2B5EF4-FFF2-40B4-BE49-F238E27FC236}">
                <a16:creationId xmlns:a16="http://schemas.microsoft.com/office/drawing/2014/main" id="{6C4F6793-E20C-4BC7-A656-3288F2D33F46}"/>
              </a:ext>
            </a:extLst>
          </p:cNvPr>
          <p:cNvGraphicFramePr>
            <a:graphicFrameLocks noGrp="1"/>
          </p:cNvGraphicFramePr>
          <p:nvPr/>
        </p:nvGraphicFramePr>
        <p:xfrm>
          <a:off x="2104139" y="1222740"/>
          <a:ext cx="9272698" cy="5538476"/>
        </p:xfrm>
        <a:graphic>
          <a:graphicData uri="http://schemas.openxmlformats.org/drawingml/2006/table">
            <a:tbl>
              <a:tblPr/>
              <a:tblGrid>
                <a:gridCol w="3054169">
                  <a:extLst>
                    <a:ext uri="{9D8B030D-6E8A-4147-A177-3AD203B41FA5}">
                      <a16:colId xmlns:a16="http://schemas.microsoft.com/office/drawing/2014/main" val="20000"/>
                    </a:ext>
                  </a:extLst>
                </a:gridCol>
                <a:gridCol w="6218529">
                  <a:extLst>
                    <a:ext uri="{9D8B030D-6E8A-4147-A177-3AD203B41FA5}">
                      <a16:colId xmlns:a16="http://schemas.microsoft.com/office/drawing/2014/main" val="20001"/>
                    </a:ext>
                  </a:extLst>
                </a:gridCol>
              </a:tblGrid>
              <a:tr h="35621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Comic Sans MS" panose="030F0702030302020204" pitchFamily="66" charset="0"/>
                        </a:rPr>
                        <a:t>Estrategia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Comic Sans MS" panose="030F0702030302020204" pitchFamily="66" charset="0"/>
                        </a:rPr>
                        <a:t>Descripción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35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Precio similar al de la competencia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Fuerte competencia y productos semejantes.</a:t>
                      </a:r>
                    </a:p>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fija un precio parecido al del resto de los competidores.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515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Precios primados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Productos de calidad superior o prestación de servicios complementarios.</a:t>
                      </a:r>
                    </a:p>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fija un precio más elevado que el resto de competidores.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3515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Precios descontados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Productos de inferior calidad o menor prestación de servicios complementarios.</a:t>
                      </a:r>
                    </a:p>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fija un precio más bajo que el resto de competidores.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366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Venta a pérdida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intenta promocionar el producto, vender saldos o liquidar intereses.</a:t>
                      </a:r>
                    </a:p>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a:ln>
                            <a:noFill/>
                          </a:ln>
                          <a:solidFill>
                            <a:schemeClr val="tx1"/>
                          </a:solidFill>
                          <a:effectLst/>
                          <a:latin typeface="Comic Sans MS" panose="030F0702030302020204" pitchFamily="66" charset="0"/>
                        </a:rPr>
                        <a:t>Se fija un precio por debajo del coste de producción.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4218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s-ES" sz="1800" b="1" i="0" u="none" strike="noStrike" cap="none" normalizeH="0" baseline="0">
                          <a:ln>
                            <a:noFill/>
                          </a:ln>
                          <a:solidFill>
                            <a:schemeClr val="tx1"/>
                          </a:solidFill>
                          <a:effectLst/>
                          <a:latin typeface="Comic Sans MS" panose="030F0702030302020204" pitchFamily="66" charset="0"/>
                        </a:rPr>
                        <a:t>Licitaciones y concursos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da en mercados como el de la contratación pública o la construcción.</a:t>
                      </a:r>
                    </a:p>
                    <a:p>
                      <a:pPr marL="179388" marR="0" lvl="0" indent="-179388" algn="just" defTabSz="914400" rtl="0" eaLnBrk="0" fontAlgn="base" latinLnBrk="0" hangingPunct="0">
                        <a:lnSpc>
                          <a:spcPts val="1700"/>
                        </a:lnSpc>
                        <a:spcBef>
                          <a:spcPct val="20000"/>
                        </a:spcBef>
                        <a:spcAft>
                          <a:spcPct val="0"/>
                        </a:spcAft>
                        <a:buClrTx/>
                        <a:buSzTx/>
                        <a:buFontTx/>
                        <a:buChar char="•"/>
                        <a:tabLst/>
                      </a:pPr>
                      <a:r>
                        <a:rPr kumimoji="0" lang="es-ES" sz="1800" b="0" i="0" u="none" strike="noStrike" cap="none" normalizeH="0" baseline="0" dirty="0">
                          <a:ln>
                            <a:noFill/>
                          </a:ln>
                          <a:solidFill>
                            <a:schemeClr val="tx1"/>
                          </a:solidFill>
                          <a:effectLst/>
                          <a:latin typeface="Comic Sans MS" panose="030F0702030302020204" pitchFamily="66" charset="0"/>
                        </a:rPr>
                        <a:t>Se fija el precio en función de los precios ofrecidos por las empresas interesadas.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CuadroTexto 4">
            <a:extLst>
              <a:ext uri="{FF2B5EF4-FFF2-40B4-BE49-F238E27FC236}">
                <a16:creationId xmlns:a16="http://schemas.microsoft.com/office/drawing/2014/main" id="{76216EC1-E7DA-6940-6969-A306F1F06C13}"/>
              </a:ext>
            </a:extLst>
          </p:cNvPr>
          <p:cNvSpPr txBox="1"/>
          <p:nvPr/>
        </p:nvSpPr>
        <p:spPr>
          <a:xfrm>
            <a:off x="2488367" y="29992"/>
            <a:ext cx="6490741"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a:t>
            </a:r>
          </a:p>
        </p:txBody>
      </p:sp>
      <p:sp>
        <p:nvSpPr>
          <p:cNvPr id="8" name="CuadroTexto 7">
            <a:extLst>
              <a:ext uri="{FF2B5EF4-FFF2-40B4-BE49-F238E27FC236}">
                <a16:creationId xmlns:a16="http://schemas.microsoft.com/office/drawing/2014/main" id="{41528FC7-A5A7-F2EB-9D5E-AB84B41D2374}"/>
              </a:ext>
            </a:extLst>
          </p:cNvPr>
          <p:cNvSpPr txBox="1"/>
          <p:nvPr/>
        </p:nvSpPr>
        <p:spPr>
          <a:xfrm>
            <a:off x="2488367" y="29992"/>
            <a:ext cx="8997052"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Precio</a:t>
            </a:r>
          </a:p>
        </p:txBody>
      </p:sp>
    </p:spTree>
    <p:extLst>
      <p:ext uri="{BB962C8B-B14F-4D97-AF65-F5344CB8AC3E}">
        <p14:creationId xmlns:p14="http://schemas.microsoft.com/office/powerpoint/2010/main" val="3456479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C7D8BDD-D9CC-4D0C-9CCC-E069365430A5}"/>
              </a:ext>
            </a:extLst>
          </p:cNvPr>
          <p:cNvPicPr>
            <a:picLocks noChangeAspect="1"/>
          </p:cNvPicPr>
          <p:nvPr/>
        </p:nvPicPr>
        <p:blipFill rotWithShape="1">
          <a:blip r:embed="rId3"/>
          <a:srcRect l="1" t="11527" r="1" b="1744"/>
          <a:stretch/>
        </p:blipFill>
        <p:spPr>
          <a:xfrm>
            <a:off x="261682" y="870858"/>
            <a:ext cx="11668636" cy="5642024"/>
          </a:xfrm>
          <a:custGeom>
            <a:avLst/>
            <a:gdLst/>
            <a:ahLst/>
            <a:cxnLst/>
            <a:rect l="l" t="t" r="r" b="b"/>
            <a:pathLst>
              <a:path w="11668636" h="6391879">
                <a:moveTo>
                  <a:pt x="82200" y="0"/>
                </a:moveTo>
                <a:lnTo>
                  <a:pt x="11586436" y="0"/>
                </a:lnTo>
                <a:cubicBezTo>
                  <a:pt x="11631834" y="0"/>
                  <a:pt x="11668636" y="36802"/>
                  <a:pt x="11668636" y="82200"/>
                </a:cubicBezTo>
                <a:lnTo>
                  <a:pt x="11668636" y="6309679"/>
                </a:lnTo>
                <a:cubicBezTo>
                  <a:pt x="11668636" y="6355077"/>
                  <a:pt x="11631834" y="6391879"/>
                  <a:pt x="11586436" y="6391879"/>
                </a:cubicBezTo>
                <a:lnTo>
                  <a:pt x="82200" y="6391879"/>
                </a:lnTo>
                <a:cubicBezTo>
                  <a:pt x="36802" y="6391879"/>
                  <a:pt x="0" y="6355077"/>
                  <a:pt x="0" y="6309679"/>
                </a:cubicBezTo>
                <a:lnTo>
                  <a:pt x="0" y="82200"/>
                </a:lnTo>
                <a:cubicBezTo>
                  <a:pt x="0" y="36802"/>
                  <a:pt x="36802" y="0"/>
                  <a:pt x="82200" y="0"/>
                </a:cubicBezTo>
                <a:close/>
              </a:path>
            </a:pathLst>
          </a:custGeom>
        </p:spPr>
      </p:pic>
      <p:sp>
        <p:nvSpPr>
          <p:cNvPr id="2" name="Título 1">
            <a:extLst>
              <a:ext uri="{FF2B5EF4-FFF2-40B4-BE49-F238E27FC236}">
                <a16:creationId xmlns:a16="http://schemas.microsoft.com/office/drawing/2014/main" id="{5BD83A3F-52AC-4E22-B2D5-F859681269B5}"/>
              </a:ext>
            </a:extLst>
          </p:cNvPr>
          <p:cNvSpPr>
            <a:spLocks noGrp="1"/>
          </p:cNvSpPr>
          <p:nvPr>
            <p:ph type="title" idx="4294967295"/>
          </p:nvPr>
        </p:nvSpPr>
        <p:spPr>
          <a:xfrm>
            <a:off x="0" y="238125"/>
            <a:ext cx="10515600" cy="487363"/>
          </a:xfrm>
        </p:spPr>
        <p:txBody>
          <a:bodyPr anchor="t">
            <a:normAutofit fontScale="90000"/>
          </a:bodyPr>
          <a:lstStyle/>
          <a:p>
            <a:r>
              <a:rPr lang="es-ES" sz="3200" b="1" dirty="0">
                <a:solidFill>
                  <a:schemeClr val="accent3"/>
                </a:solidFill>
                <a:latin typeface="Comic Sans MS" panose="030F0702030302020204" pitchFamily="66" charset="0"/>
              </a:rPr>
              <a:t>3. MARKETING OPERATIVO. Distribución</a:t>
            </a:r>
            <a:endParaRPr lang="es-ES" b="1" dirty="0">
              <a:solidFill>
                <a:schemeClr val="tx2">
                  <a:lumMod val="50000"/>
                  <a:lumOff val="50000"/>
                </a:schemeClr>
              </a:solidFill>
            </a:endParaRPr>
          </a:p>
        </p:txBody>
      </p:sp>
    </p:spTree>
    <p:extLst>
      <p:ext uri="{BB962C8B-B14F-4D97-AF65-F5344CB8AC3E}">
        <p14:creationId xmlns:p14="http://schemas.microsoft.com/office/powerpoint/2010/main" val="1887231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70AA9B10-D414-4A58-B245-E95240800791}" type="slidenum">
              <a:rPr lang="es-ES" smtClean="0"/>
              <a:pPr/>
              <a:t>40</a:t>
            </a:fld>
            <a:endParaRPr lang="es-ES"/>
          </a:p>
        </p:txBody>
      </p:sp>
      <p:sp>
        <p:nvSpPr>
          <p:cNvPr id="3" name="2 Marcador de contenido"/>
          <p:cNvSpPr>
            <a:spLocks noGrp="1"/>
          </p:cNvSpPr>
          <p:nvPr>
            <p:ph idx="4294967295"/>
          </p:nvPr>
        </p:nvSpPr>
        <p:spPr>
          <a:xfrm>
            <a:off x="1109933" y="1052514"/>
            <a:ext cx="10397705" cy="5113337"/>
          </a:xfrm>
        </p:spPr>
        <p:txBody>
          <a:bodyPr/>
          <a:lstStyle/>
          <a:p>
            <a:pPr marL="0" indent="0" algn="just">
              <a:lnSpc>
                <a:spcPct val="150000"/>
              </a:lnSpc>
              <a:buNone/>
            </a:pPr>
            <a:r>
              <a:rPr lang="es-ES" sz="2000" b="1" dirty="0">
                <a:solidFill>
                  <a:schemeClr val="accent1"/>
                </a:solidFill>
                <a:latin typeface="Comic Sans MS" pitchFamily="66" charset="0"/>
              </a:rPr>
              <a:t>FUNCIONES BÁSICAS DE LOS INTERMEDIARIOS:</a:t>
            </a:r>
          </a:p>
          <a:p>
            <a:pPr lvl="1" algn="just">
              <a:spcBef>
                <a:spcPts val="1200"/>
              </a:spcBef>
              <a:buFont typeface="Wingdings" panose="05000000000000000000" pitchFamily="2" charset="2"/>
              <a:buChar char="Ø"/>
            </a:pPr>
            <a:r>
              <a:rPr lang="es-ES" dirty="0">
                <a:latin typeface="Comic Sans MS" pitchFamily="66" charset="0"/>
              </a:rPr>
              <a:t>Reducen el número de transacciones.</a:t>
            </a:r>
          </a:p>
          <a:p>
            <a:pPr lvl="1" algn="just">
              <a:spcBef>
                <a:spcPts val="1200"/>
              </a:spcBef>
              <a:buFont typeface="Wingdings" panose="05000000000000000000" pitchFamily="2" charset="2"/>
              <a:buChar char="Ø"/>
            </a:pPr>
            <a:r>
              <a:rPr lang="es-ES" dirty="0">
                <a:latin typeface="Comic Sans MS" pitchFamily="66" charset="0"/>
              </a:rPr>
              <a:t>Adecúan la oferta a la demanda:</a:t>
            </a:r>
          </a:p>
          <a:p>
            <a:pPr lvl="2" algn="just">
              <a:spcBef>
                <a:spcPts val="1200"/>
              </a:spcBef>
              <a:buFont typeface="Wingdings" panose="05000000000000000000" pitchFamily="2" charset="2"/>
              <a:buChar char="Ø"/>
            </a:pPr>
            <a:r>
              <a:rPr lang="es-ES" sz="2000" dirty="0">
                <a:latin typeface="Comic Sans MS" pitchFamily="66" charset="0"/>
              </a:rPr>
              <a:t>Porque compran grandes cantidades al fabricante que fracciona en partes más pequeñas para vender al consumidor.</a:t>
            </a:r>
          </a:p>
          <a:p>
            <a:pPr lvl="2" algn="just">
              <a:spcBef>
                <a:spcPts val="1200"/>
              </a:spcBef>
              <a:buFont typeface="Wingdings" panose="05000000000000000000" pitchFamily="2" charset="2"/>
              <a:buChar char="Ø"/>
            </a:pPr>
            <a:r>
              <a:rPr lang="es-ES" sz="2000" dirty="0">
                <a:latin typeface="Comic Sans MS" pitchFamily="66" charset="0"/>
              </a:rPr>
              <a:t>Porque agrupa la producción de muchos pequeños fabricantes.</a:t>
            </a:r>
          </a:p>
          <a:p>
            <a:pPr lvl="1" algn="just">
              <a:spcBef>
                <a:spcPts val="1200"/>
              </a:spcBef>
              <a:buFont typeface="Wingdings" panose="05000000000000000000" pitchFamily="2" charset="2"/>
              <a:buChar char="Ø"/>
            </a:pPr>
            <a:r>
              <a:rPr lang="es-ES" dirty="0">
                <a:latin typeface="Comic Sans MS" pitchFamily="66" charset="0"/>
              </a:rPr>
              <a:t>Crean surtido.</a:t>
            </a:r>
          </a:p>
          <a:p>
            <a:pPr lvl="1" algn="just">
              <a:spcBef>
                <a:spcPts val="1200"/>
              </a:spcBef>
              <a:buFont typeface="Wingdings" panose="05000000000000000000" pitchFamily="2" charset="2"/>
              <a:buChar char="Ø"/>
            </a:pPr>
            <a:r>
              <a:rPr lang="es-ES" dirty="0">
                <a:latin typeface="Comic Sans MS" pitchFamily="66" charset="0"/>
              </a:rPr>
              <a:t>Almacenan los productos, los transporta y los entrega.</a:t>
            </a:r>
          </a:p>
          <a:p>
            <a:pPr lvl="1" algn="just">
              <a:spcBef>
                <a:spcPts val="1200"/>
              </a:spcBef>
              <a:buFont typeface="Wingdings" panose="05000000000000000000" pitchFamily="2" charset="2"/>
              <a:buChar char="Ø"/>
            </a:pPr>
            <a:r>
              <a:rPr lang="es-ES" dirty="0">
                <a:latin typeface="Comic Sans MS" pitchFamily="66" charset="0"/>
              </a:rPr>
              <a:t>Financian el proceso, tanto al fabricante como al consumidor.</a:t>
            </a:r>
          </a:p>
          <a:p>
            <a:pPr lvl="1" algn="just">
              <a:spcBef>
                <a:spcPts val="1200"/>
              </a:spcBef>
              <a:buFont typeface="Wingdings" panose="05000000000000000000" pitchFamily="2" charset="2"/>
              <a:buChar char="Ø"/>
            </a:pPr>
            <a:r>
              <a:rPr lang="es-ES" dirty="0">
                <a:latin typeface="Comic Sans MS" pitchFamily="66" charset="0"/>
              </a:rPr>
              <a:t>Ofrecen servicios adicionales.</a:t>
            </a:r>
          </a:p>
          <a:p>
            <a:pPr lvl="1" algn="just">
              <a:spcBef>
                <a:spcPts val="1200"/>
              </a:spcBef>
              <a:buFont typeface="Wingdings" panose="05000000000000000000" pitchFamily="2" charset="2"/>
              <a:buChar char="Ø"/>
            </a:pPr>
            <a:r>
              <a:rPr lang="es-ES" dirty="0">
                <a:latin typeface="Comic Sans MS" pitchFamily="66" charset="0"/>
              </a:rPr>
              <a:t>Asumen riesgos: de no venta de los productos, de robo, incendio, de impago…</a:t>
            </a:r>
          </a:p>
        </p:txBody>
      </p:sp>
      <p:sp>
        <p:nvSpPr>
          <p:cNvPr id="5" name="Rectangle 4"/>
          <p:cNvSpPr>
            <a:spLocks noChangeArrowheads="1"/>
          </p:cNvSpPr>
          <p:nvPr/>
        </p:nvSpPr>
        <p:spPr bwMode="auto">
          <a:xfrm>
            <a:off x="1703388" y="272709"/>
            <a:ext cx="8964612" cy="406907"/>
          </a:xfrm>
          <a:prstGeom prst="rect">
            <a:avLst/>
          </a:prstGeom>
          <a:noFill/>
          <a:ln w="9525">
            <a:noFill/>
            <a:miter lim="800000"/>
            <a:headEnd/>
            <a:tailEnd/>
          </a:ln>
          <a:effectLst/>
        </p:spPr>
        <p:txBody>
          <a:bodyPr wrap="square" lIns="92075" tIns="46038" rIns="92075" bIns="46038">
            <a:spAutoFit/>
          </a:bodyPr>
          <a:lstStyle/>
          <a:p>
            <a:pPr eaLnBrk="0" hangingPunct="0">
              <a:lnSpc>
                <a:spcPct val="85000"/>
              </a:lnSpc>
            </a:pPr>
            <a:r>
              <a:rPr lang="es-ES" sz="2400" b="1" dirty="0">
                <a:solidFill>
                  <a:schemeClr val="accent3"/>
                </a:solidFill>
                <a:latin typeface="Comic Sans MS" panose="030F0702030302020204" pitchFamily="66" charset="0"/>
              </a:rPr>
              <a:t>6.3. MARKETING OPERATIVO. Distribución</a:t>
            </a:r>
            <a:endParaRPr lang="es-ES_tradnl" sz="2300" b="1" dirty="0">
              <a:solidFill>
                <a:srgbClr val="C00000"/>
              </a:solidFill>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886265" y="1597853"/>
            <a:ext cx="11053028" cy="4524315"/>
          </a:xfrm>
          <a:prstGeom prst="rect">
            <a:avLst/>
          </a:prstGeom>
          <a:noFill/>
        </p:spPr>
        <p:txBody>
          <a:bodyPr wrap="square" rtlCol="0">
            <a:spAutoFit/>
          </a:bodyPr>
          <a:lstStyle/>
          <a:p>
            <a:pPr lvl="1"/>
            <a:r>
              <a:rPr lang="es-ES" sz="2400" dirty="0">
                <a:effectLst>
                  <a:outerShdw blurRad="38100" dist="38100" dir="2700000" algn="tl">
                    <a:srgbClr val="000000">
                      <a:alpha val="43137"/>
                    </a:srgbClr>
                  </a:outerShdw>
                </a:effectLst>
                <a:latin typeface="Comic Sans MS" panose="030F0702030302020204" pitchFamily="66" charset="0"/>
              </a:rPr>
              <a:t>Comunicación comercial</a:t>
            </a:r>
          </a:p>
          <a:p>
            <a:pPr marL="914400" lvl="1" indent="-457200">
              <a:buFont typeface="+mj-lt"/>
              <a:buAutoNum type="arabicPeriod" startAt="6"/>
            </a:pPr>
            <a:endParaRPr lang="es-ES" sz="240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Proceso de comunicación en el que la empresa (el emisor) desea transmitir determinada información sobre sí misma, principalmente, sobre su oferta (el mensaje) a sus principales públicos, fundamentalmente compradores potenciales (el receptor)</a:t>
            </a: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r>
              <a:rPr lang="es-ES" sz="2400" b="1" dirty="0">
                <a:latin typeface="Comic Sans MS" panose="030F0702030302020204" pitchFamily="66" charset="0"/>
              </a:rPr>
              <a:t>Objetivos</a:t>
            </a:r>
            <a:r>
              <a:rPr lang="es-ES" sz="2400" dirty="0">
                <a:latin typeface="Comic Sans MS" panose="030F0702030302020204" pitchFamily="66" charset="0"/>
              </a:rPr>
              <a:t>: </a:t>
            </a:r>
          </a:p>
          <a:p>
            <a:pPr marL="1371600" lvl="2" indent="-457200">
              <a:buFont typeface="Arial" panose="020B0604020202020204" pitchFamily="34" charset="0"/>
              <a:buChar char="•"/>
            </a:pPr>
            <a:endParaRPr lang="es-ES" sz="2400" dirty="0">
              <a:latin typeface="Comic Sans MS" panose="030F0702030302020204" pitchFamily="66" charset="0"/>
            </a:endParaRPr>
          </a:p>
          <a:p>
            <a:pPr marL="1828800" lvl="3" indent="-457200">
              <a:buFont typeface="+mj-lt"/>
              <a:buAutoNum type="alphaLcParenR"/>
            </a:pPr>
            <a:r>
              <a:rPr lang="es-ES" sz="2400" dirty="0">
                <a:latin typeface="Comic Sans MS" panose="030F0702030302020204" pitchFamily="66" charset="0"/>
              </a:rPr>
              <a:t>Informar</a:t>
            </a:r>
          </a:p>
          <a:p>
            <a:pPr marL="1828800" lvl="3" indent="-457200">
              <a:buFont typeface="+mj-lt"/>
              <a:buAutoNum type="alphaLcParenR"/>
            </a:pPr>
            <a:r>
              <a:rPr lang="es-ES" sz="2400" dirty="0">
                <a:latin typeface="Comic Sans MS" panose="030F0702030302020204" pitchFamily="66" charset="0"/>
              </a:rPr>
              <a:t>Persuadir</a:t>
            </a:r>
          </a:p>
          <a:p>
            <a:pPr marL="1828800" lvl="3" indent="-457200">
              <a:buFont typeface="+mj-lt"/>
              <a:buAutoNum type="alphaLcParenR"/>
            </a:pPr>
            <a:r>
              <a:rPr lang="es-ES" sz="2400" dirty="0">
                <a:latin typeface="Comic Sans MS" panose="030F0702030302020204" pitchFamily="66" charset="0"/>
              </a:rPr>
              <a:t>Recordar</a:t>
            </a:r>
          </a:p>
        </p:txBody>
      </p:sp>
      <p:sp>
        <p:nvSpPr>
          <p:cNvPr id="5" name="CuadroTexto 4">
            <a:extLst>
              <a:ext uri="{FF2B5EF4-FFF2-40B4-BE49-F238E27FC236}">
                <a16:creationId xmlns:a16="http://schemas.microsoft.com/office/drawing/2014/main" id="{F73834E6-5E3E-A911-78F0-BA22ABC99B89}"/>
              </a:ext>
            </a:extLst>
          </p:cNvPr>
          <p:cNvSpPr txBox="1"/>
          <p:nvPr/>
        </p:nvSpPr>
        <p:spPr>
          <a:xfrm>
            <a:off x="2488367" y="29992"/>
            <a:ext cx="6490741"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a:t>
            </a:r>
          </a:p>
        </p:txBody>
      </p:sp>
      <p:sp>
        <p:nvSpPr>
          <p:cNvPr id="8" name="CuadroTexto 7">
            <a:extLst>
              <a:ext uri="{FF2B5EF4-FFF2-40B4-BE49-F238E27FC236}">
                <a16:creationId xmlns:a16="http://schemas.microsoft.com/office/drawing/2014/main" id="{5B7AAF06-2AF9-8322-8047-6B4FE70CB29B}"/>
              </a:ext>
            </a:extLst>
          </p:cNvPr>
          <p:cNvSpPr txBox="1"/>
          <p:nvPr/>
        </p:nvSpPr>
        <p:spPr>
          <a:xfrm>
            <a:off x="2488367" y="29992"/>
            <a:ext cx="9491598"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8247374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1" y="674827"/>
            <a:ext cx="11053028" cy="830997"/>
          </a:xfrm>
          <a:prstGeom prst="rect">
            <a:avLst/>
          </a:prstGeom>
          <a:noFill/>
        </p:spPr>
        <p:txBody>
          <a:bodyPr wrap="square" rtlCol="0">
            <a:spAutoFit/>
          </a:bodyPr>
          <a:lstStyle/>
          <a:p>
            <a:pPr lvl="1"/>
            <a:endParaRPr lang="es-ES" sz="240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Herramientas de comunicación</a:t>
            </a:r>
          </a:p>
        </p:txBody>
      </p:sp>
      <p:sp>
        <p:nvSpPr>
          <p:cNvPr id="30" name="AutoShape 3">
            <a:extLst>
              <a:ext uri="{FF2B5EF4-FFF2-40B4-BE49-F238E27FC236}">
                <a16:creationId xmlns:a16="http://schemas.microsoft.com/office/drawing/2014/main" id="{600A9A7C-38F6-46CD-8B75-F0F3DBB5700D}"/>
              </a:ext>
            </a:extLst>
          </p:cNvPr>
          <p:cNvSpPr>
            <a:spLocks noChangeArrowheads="1"/>
          </p:cNvSpPr>
          <p:nvPr/>
        </p:nvSpPr>
        <p:spPr bwMode="auto">
          <a:xfrm rot="5400000">
            <a:off x="3003538" y="883614"/>
            <a:ext cx="688975" cy="2840038"/>
          </a:xfrm>
          <a:prstGeom prst="cube">
            <a:avLst>
              <a:gd name="adj" fmla="val 11657"/>
            </a:avLst>
          </a:prstGeom>
          <a:solidFill>
            <a:srgbClr val="FFFFCC"/>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a:latin typeface="Comic Sans MS" panose="030F0702030302020204" pitchFamily="66" charset="0"/>
              </a:rPr>
              <a:t>Publicidad</a:t>
            </a:r>
          </a:p>
        </p:txBody>
      </p:sp>
      <p:grpSp>
        <p:nvGrpSpPr>
          <p:cNvPr id="31" name="Group 4">
            <a:extLst>
              <a:ext uri="{FF2B5EF4-FFF2-40B4-BE49-F238E27FC236}">
                <a16:creationId xmlns:a16="http://schemas.microsoft.com/office/drawing/2014/main" id="{0F5941A6-3F33-F160-2BAE-5E5B91B80943}"/>
              </a:ext>
            </a:extLst>
          </p:cNvPr>
          <p:cNvGrpSpPr>
            <a:grpSpLocks/>
          </p:cNvGrpSpPr>
          <p:nvPr/>
        </p:nvGrpSpPr>
        <p:grpSpPr bwMode="auto">
          <a:xfrm>
            <a:off x="4760107" y="1959146"/>
            <a:ext cx="6248400" cy="735013"/>
            <a:chOff x="2132" y="1075"/>
            <a:chExt cx="3372" cy="463"/>
          </a:xfrm>
        </p:grpSpPr>
        <p:sp>
          <p:nvSpPr>
            <p:cNvPr id="32" name="AutoShape 5">
              <a:extLst>
                <a:ext uri="{FF2B5EF4-FFF2-40B4-BE49-F238E27FC236}">
                  <a16:creationId xmlns:a16="http://schemas.microsoft.com/office/drawing/2014/main" id="{551A53AD-2556-52F4-7676-A55A727ED444}"/>
                </a:ext>
              </a:extLst>
            </p:cNvPr>
            <p:cNvSpPr>
              <a:spLocks noChangeArrowheads="1"/>
            </p:cNvSpPr>
            <p:nvPr/>
          </p:nvSpPr>
          <p:spPr bwMode="auto">
            <a:xfrm>
              <a:off x="2132" y="1113"/>
              <a:ext cx="330" cy="368"/>
            </a:xfrm>
            <a:prstGeom prst="rightArrow">
              <a:avLst>
                <a:gd name="adj1" fmla="val 50000"/>
                <a:gd name="adj2" fmla="val 50014"/>
              </a:avLst>
            </a:prstGeom>
            <a:solidFill>
              <a:srgbClr val="FFFFCC"/>
            </a:solid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33" name="Rectangle 6">
              <a:extLst>
                <a:ext uri="{FF2B5EF4-FFF2-40B4-BE49-F238E27FC236}">
                  <a16:creationId xmlns:a16="http://schemas.microsoft.com/office/drawing/2014/main" id="{1B1786AD-2C25-B330-A701-73C4A7B40952}"/>
                </a:ext>
              </a:extLst>
            </p:cNvPr>
            <p:cNvSpPr>
              <a:spLocks noChangeArrowheads="1"/>
            </p:cNvSpPr>
            <p:nvPr/>
          </p:nvSpPr>
          <p:spPr bwMode="auto">
            <a:xfrm>
              <a:off x="2490" y="1075"/>
              <a:ext cx="3014" cy="463"/>
            </a:xfrm>
            <a:prstGeom prst="rect">
              <a:avLst/>
            </a:prstGeom>
            <a:solidFill>
              <a:srgbClr val="FFFFCC"/>
            </a:solid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lnSpc>
                  <a:spcPct val="140000"/>
                </a:lnSpc>
                <a:spcBef>
                  <a:spcPct val="50000"/>
                </a:spcBef>
                <a:defRPr/>
              </a:pPr>
              <a:r>
                <a:rPr lang="es-ES" sz="1600" dirty="0">
                  <a:latin typeface="Comic Sans MS" panose="030F0702030302020204" pitchFamily="66" charset="0"/>
                </a:rPr>
                <a:t>Comunicación </a:t>
              </a:r>
              <a:r>
                <a:rPr lang="es-ES" sz="1600" b="1" dirty="0">
                  <a:latin typeface="Comic Sans MS" panose="030F0702030302020204" pitchFamily="66" charset="0"/>
                </a:rPr>
                <a:t>no personal </a:t>
              </a:r>
              <a:r>
                <a:rPr lang="es-ES" sz="1600" dirty="0">
                  <a:latin typeface="Comic Sans MS" panose="030F0702030302020204" pitchFamily="66" charset="0"/>
                </a:rPr>
                <a:t>pagada, utiliza medios masivos y controla el mensaje (producto/ empresa)</a:t>
              </a:r>
            </a:p>
          </p:txBody>
        </p:sp>
      </p:grpSp>
      <p:sp>
        <p:nvSpPr>
          <p:cNvPr id="34" name="AutoShape 7">
            <a:extLst>
              <a:ext uri="{FF2B5EF4-FFF2-40B4-BE49-F238E27FC236}">
                <a16:creationId xmlns:a16="http://schemas.microsoft.com/office/drawing/2014/main" id="{4BDF9CE1-4502-5237-7F45-F7BAD960B33E}"/>
              </a:ext>
            </a:extLst>
          </p:cNvPr>
          <p:cNvSpPr>
            <a:spLocks noChangeArrowheads="1"/>
          </p:cNvSpPr>
          <p:nvPr/>
        </p:nvSpPr>
        <p:spPr bwMode="auto">
          <a:xfrm rot="5400000">
            <a:off x="3003538" y="1798014"/>
            <a:ext cx="688975" cy="2840038"/>
          </a:xfrm>
          <a:prstGeom prst="cube">
            <a:avLst>
              <a:gd name="adj" fmla="val 11657"/>
            </a:avLst>
          </a:prstGeom>
          <a:solidFill>
            <a:srgbClr val="99CCFF"/>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a:latin typeface="Comic Sans MS" panose="030F0702030302020204" pitchFamily="66" charset="0"/>
              </a:rPr>
              <a:t>Promoción de ventas</a:t>
            </a:r>
          </a:p>
        </p:txBody>
      </p:sp>
      <p:grpSp>
        <p:nvGrpSpPr>
          <p:cNvPr id="35" name="Group 8">
            <a:extLst>
              <a:ext uri="{FF2B5EF4-FFF2-40B4-BE49-F238E27FC236}">
                <a16:creationId xmlns:a16="http://schemas.microsoft.com/office/drawing/2014/main" id="{E0667444-E4FC-C254-1825-FA1E285F843D}"/>
              </a:ext>
            </a:extLst>
          </p:cNvPr>
          <p:cNvGrpSpPr>
            <a:grpSpLocks/>
          </p:cNvGrpSpPr>
          <p:nvPr/>
        </p:nvGrpSpPr>
        <p:grpSpPr bwMode="auto">
          <a:xfrm>
            <a:off x="4769632" y="2892597"/>
            <a:ext cx="6238875" cy="735013"/>
            <a:chOff x="2132" y="1647"/>
            <a:chExt cx="3372" cy="463"/>
          </a:xfrm>
        </p:grpSpPr>
        <p:sp>
          <p:nvSpPr>
            <p:cNvPr id="36" name="AutoShape 9">
              <a:extLst>
                <a:ext uri="{FF2B5EF4-FFF2-40B4-BE49-F238E27FC236}">
                  <a16:creationId xmlns:a16="http://schemas.microsoft.com/office/drawing/2014/main" id="{EEFD5CB8-572E-4D9F-3B73-306AC8B997AC}"/>
                </a:ext>
              </a:extLst>
            </p:cNvPr>
            <p:cNvSpPr>
              <a:spLocks noChangeArrowheads="1"/>
            </p:cNvSpPr>
            <p:nvPr/>
          </p:nvSpPr>
          <p:spPr bwMode="auto">
            <a:xfrm>
              <a:off x="2132" y="1685"/>
              <a:ext cx="330" cy="369"/>
            </a:xfrm>
            <a:prstGeom prst="rightArrow">
              <a:avLst>
                <a:gd name="adj1" fmla="val 50000"/>
                <a:gd name="adj2" fmla="val 50014"/>
              </a:avLst>
            </a:prstGeom>
            <a:solidFill>
              <a:srgbClr val="99CCFF"/>
            </a:solid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37" name="Rectangle 10">
              <a:extLst>
                <a:ext uri="{FF2B5EF4-FFF2-40B4-BE49-F238E27FC236}">
                  <a16:creationId xmlns:a16="http://schemas.microsoft.com/office/drawing/2014/main" id="{AC706BBD-A9EB-007E-B74E-B769A64D587D}"/>
                </a:ext>
              </a:extLst>
            </p:cNvPr>
            <p:cNvSpPr>
              <a:spLocks noChangeArrowheads="1"/>
            </p:cNvSpPr>
            <p:nvPr/>
          </p:nvSpPr>
          <p:spPr bwMode="auto">
            <a:xfrm>
              <a:off x="2490" y="1647"/>
              <a:ext cx="3014" cy="463"/>
            </a:xfrm>
            <a:prstGeom prst="rect">
              <a:avLst/>
            </a:prstGeom>
            <a:solidFill>
              <a:srgbClr val="99CCFF"/>
            </a:solid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lnSpc>
                  <a:spcPct val="140000"/>
                </a:lnSpc>
                <a:spcBef>
                  <a:spcPct val="50000"/>
                </a:spcBef>
                <a:defRPr/>
              </a:pPr>
              <a:r>
                <a:rPr lang="es-ES" sz="1600" b="1" dirty="0">
                  <a:latin typeface="Comic Sans MS" panose="030F0702030302020204" pitchFamily="66" charset="0"/>
                </a:rPr>
                <a:t>Incentivos</a:t>
              </a:r>
              <a:r>
                <a:rPr lang="es-ES" sz="1600" dirty="0">
                  <a:latin typeface="Comic Sans MS" panose="030F0702030302020204" pitchFamily="66" charset="0"/>
                </a:rPr>
                <a:t> materiales o económicos a corto, para aumentar la prueba y/o compras del producto</a:t>
              </a:r>
            </a:p>
          </p:txBody>
        </p:sp>
      </p:grpSp>
      <p:sp>
        <p:nvSpPr>
          <p:cNvPr id="38" name="AutoShape 11">
            <a:extLst>
              <a:ext uri="{FF2B5EF4-FFF2-40B4-BE49-F238E27FC236}">
                <a16:creationId xmlns:a16="http://schemas.microsoft.com/office/drawing/2014/main" id="{CA2FA296-589E-42AE-AFEB-4B0D9A270CAB}"/>
              </a:ext>
            </a:extLst>
          </p:cNvPr>
          <p:cNvSpPr>
            <a:spLocks noChangeArrowheads="1"/>
          </p:cNvSpPr>
          <p:nvPr/>
        </p:nvSpPr>
        <p:spPr bwMode="auto">
          <a:xfrm rot="5400000">
            <a:off x="3003538" y="2802901"/>
            <a:ext cx="688975" cy="2840038"/>
          </a:xfrm>
          <a:prstGeom prst="cube">
            <a:avLst>
              <a:gd name="adj" fmla="val 11657"/>
            </a:avLst>
          </a:prstGeom>
          <a:solidFill>
            <a:srgbClr val="FFCC99"/>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a:latin typeface="Comic Sans MS" panose="030F0702030302020204" pitchFamily="66" charset="0"/>
              </a:rPr>
              <a:t>Relaciones públicas</a:t>
            </a:r>
          </a:p>
        </p:txBody>
      </p:sp>
      <p:grpSp>
        <p:nvGrpSpPr>
          <p:cNvPr id="39" name="Group 12">
            <a:extLst>
              <a:ext uri="{FF2B5EF4-FFF2-40B4-BE49-F238E27FC236}">
                <a16:creationId xmlns:a16="http://schemas.microsoft.com/office/drawing/2014/main" id="{49BE3790-CF94-75BD-A21D-1156FB046E83}"/>
              </a:ext>
            </a:extLst>
          </p:cNvPr>
          <p:cNvGrpSpPr>
            <a:grpSpLocks/>
          </p:cNvGrpSpPr>
          <p:nvPr/>
        </p:nvGrpSpPr>
        <p:grpSpPr bwMode="auto">
          <a:xfrm>
            <a:off x="4769632" y="3897482"/>
            <a:ext cx="6238875" cy="812800"/>
            <a:chOff x="2132" y="2280"/>
            <a:chExt cx="3372" cy="512"/>
          </a:xfrm>
        </p:grpSpPr>
        <p:sp>
          <p:nvSpPr>
            <p:cNvPr id="40" name="AutoShape 13">
              <a:extLst>
                <a:ext uri="{FF2B5EF4-FFF2-40B4-BE49-F238E27FC236}">
                  <a16:creationId xmlns:a16="http://schemas.microsoft.com/office/drawing/2014/main" id="{F6EFB5E6-459D-18F8-B4C3-10B2755CEB3D}"/>
                </a:ext>
              </a:extLst>
            </p:cNvPr>
            <p:cNvSpPr>
              <a:spLocks noChangeArrowheads="1"/>
            </p:cNvSpPr>
            <p:nvPr/>
          </p:nvSpPr>
          <p:spPr bwMode="auto">
            <a:xfrm>
              <a:off x="2132" y="2318"/>
              <a:ext cx="330" cy="369"/>
            </a:xfrm>
            <a:prstGeom prst="rightArrow">
              <a:avLst>
                <a:gd name="adj1" fmla="val 50000"/>
                <a:gd name="adj2" fmla="val 50014"/>
              </a:avLst>
            </a:prstGeom>
            <a:solidFill>
              <a:srgbClr val="FFCC99"/>
            </a:solid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41" name="Rectangle 14">
              <a:extLst>
                <a:ext uri="{FF2B5EF4-FFF2-40B4-BE49-F238E27FC236}">
                  <a16:creationId xmlns:a16="http://schemas.microsoft.com/office/drawing/2014/main" id="{EF52B7D5-879F-3CDB-6A51-2D5C9F85828B}"/>
                </a:ext>
              </a:extLst>
            </p:cNvPr>
            <p:cNvSpPr>
              <a:spLocks noChangeArrowheads="1"/>
            </p:cNvSpPr>
            <p:nvPr/>
          </p:nvSpPr>
          <p:spPr bwMode="auto">
            <a:xfrm>
              <a:off x="2490" y="2280"/>
              <a:ext cx="3014" cy="512"/>
            </a:xfrm>
            <a:prstGeom prst="rect">
              <a:avLst/>
            </a:prstGeom>
            <a:solidFill>
              <a:srgbClr val="FFCC99"/>
            </a:solid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spcBef>
                  <a:spcPct val="50000"/>
                </a:spcBef>
                <a:defRPr/>
              </a:pPr>
              <a:r>
                <a:rPr lang="es-ES" sz="1600" dirty="0">
                  <a:latin typeface="Comic Sans MS" panose="030F0702030302020204" pitchFamily="66" charset="0"/>
                </a:rPr>
                <a:t>Comunicaciones para proteger y/o promover la </a:t>
              </a:r>
              <a:r>
                <a:rPr lang="es-ES" sz="1600" b="1" dirty="0">
                  <a:latin typeface="Comic Sans MS" panose="030F0702030302020204" pitchFamily="66" charset="0"/>
                </a:rPr>
                <a:t>imagen</a:t>
              </a:r>
              <a:r>
                <a:rPr lang="es-ES" sz="1600" dirty="0">
                  <a:latin typeface="Comic Sans MS" panose="030F0702030302020204" pitchFamily="66" charset="0"/>
                </a:rPr>
                <a:t> de  la empresa, creando un clima de confianza entre empresa y sus públicos</a:t>
              </a:r>
            </a:p>
          </p:txBody>
        </p:sp>
      </p:grpSp>
      <p:sp>
        <p:nvSpPr>
          <p:cNvPr id="42" name="AutoShape 15">
            <a:extLst>
              <a:ext uri="{FF2B5EF4-FFF2-40B4-BE49-F238E27FC236}">
                <a16:creationId xmlns:a16="http://schemas.microsoft.com/office/drawing/2014/main" id="{B1F720D7-73F6-6A8D-B209-420E99337D51}"/>
              </a:ext>
            </a:extLst>
          </p:cNvPr>
          <p:cNvSpPr>
            <a:spLocks noChangeArrowheads="1"/>
          </p:cNvSpPr>
          <p:nvPr/>
        </p:nvSpPr>
        <p:spPr bwMode="auto">
          <a:xfrm rot="5400000">
            <a:off x="3003538" y="3755401"/>
            <a:ext cx="688975" cy="2840038"/>
          </a:xfrm>
          <a:prstGeom prst="cube">
            <a:avLst>
              <a:gd name="adj" fmla="val 11657"/>
            </a:avLst>
          </a:prstGeom>
          <a:solidFill>
            <a:srgbClr val="CCFFCC"/>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a:latin typeface="Comic Sans MS" panose="030F0702030302020204" pitchFamily="66" charset="0"/>
              </a:rPr>
              <a:t>Marketing directo</a:t>
            </a:r>
          </a:p>
        </p:txBody>
      </p:sp>
      <p:grpSp>
        <p:nvGrpSpPr>
          <p:cNvPr id="43" name="Group 16">
            <a:extLst>
              <a:ext uri="{FF2B5EF4-FFF2-40B4-BE49-F238E27FC236}">
                <a16:creationId xmlns:a16="http://schemas.microsoft.com/office/drawing/2014/main" id="{F84F83D2-97A8-4A74-87E8-83F0FC19631D}"/>
              </a:ext>
            </a:extLst>
          </p:cNvPr>
          <p:cNvGrpSpPr>
            <a:grpSpLocks/>
          </p:cNvGrpSpPr>
          <p:nvPr/>
        </p:nvGrpSpPr>
        <p:grpSpPr bwMode="auto">
          <a:xfrm>
            <a:off x="4769632" y="4856332"/>
            <a:ext cx="6238875" cy="812800"/>
            <a:chOff x="2132" y="2848"/>
            <a:chExt cx="3372" cy="512"/>
          </a:xfrm>
        </p:grpSpPr>
        <p:sp>
          <p:nvSpPr>
            <p:cNvPr id="44" name="AutoShape 17">
              <a:extLst>
                <a:ext uri="{FF2B5EF4-FFF2-40B4-BE49-F238E27FC236}">
                  <a16:creationId xmlns:a16="http://schemas.microsoft.com/office/drawing/2014/main" id="{44911238-7925-93AF-D009-FDAEEAC74D7A}"/>
                </a:ext>
              </a:extLst>
            </p:cNvPr>
            <p:cNvSpPr>
              <a:spLocks noChangeArrowheads="1"/>
            </p:cNvSpPr>
            <p:nvPr/>
          </p:nvSpPr>
          <p:spPr bwMode="auto">
            <a:xfrm>
              <a:off x="2132" y="2886"/>
              <a:ext cx="330" cy="369"/>
            </a:xfrm>
            <a:prstGeom prst="rightArrow">
              <a:avLst>
                <a:gd name="adj1" fmla="val 50000"/>
                <a:gd name="adj2" fmla="val 50014"/>
              </a:avLst>
            </a:prstGeom>
            <a:solidFill>
              <a:srgbClr val="CCFFCC"/>
            </a:solid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45" name="Rectangle 18">
              <a:extLst>
                <a:ext uri="{FF2B5EF4-FFF2-40B4-BE49-F238E27FC236}">
                  <a16:creationId xmlns:a16="http://schemas.microsoft.com/office/drawing/2014/main" id="{C895806B-EBD6-58C1-77EB-E3A83571A4FB}"/>
                </a:ext>
              </a:extLst>
            </p:cNvPr>
            <p:cNvSpPr>
              <a:spLocks noChangeArrowheads="1"/>
            </p:cNvSpPr>
            <p:nvPr/>
          </p:nvSpPr>
          <p:spPr bwMode="auto">
            <a:xfrm>
              <a:off x="2490" y="2848"/>
              <a:ext cx="3014" cy="512"/>
            </a:xfrm>
            <a:prstGeom prst="rect">
              <a:avLst/>
            </a:prstGeom>
            <a:solidFill>
              <a:srgbClr val="CCFFCC"/>
            </a:solid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spcBef>
                  <a:spcPct val="50000"/>
                </a:spcBef>
                <a:defRPr/>
              </a:pPr>
              <a:r>
                <a:rPr lang="es-ES" sz="1600" dirty="0">
                  <a:latin typeface="Comic Sans MS" panose="030F0702030302020204" pitchFamily="66" charset="0"/>
                </a:rPr>
                <a:t>Comunicaciones </a:t>
              </a:r>
              <a:r>
                <a:rPr lang="es-ES" sz="1600" b="1" dirty="0">
                  <a:latin typeface="Comic Sans MS" panose="030F0702030302020204" pitchFamily="66" charset="0"/>
                </a:rPr>
                <a:t>directas</a:t>
              </a:r>
              <a:r>
                <a:rPr lang="es-ES" sz="1600" dirty="0">
                  <a:latin typeface="Comic Sans MS" panose="030F0702030302020204" pitchFamily="66" charset="0"/>
                </a:rPr>
                <a:t> </a:t>
              </a:r>
              <a:r>
                <a:rPr lang="es-ES" sz="1600" b="1" dirty="0">
                  <a:latin typeface="Comic Sans MS" panose="030F0702030302020204" pitchFamily="66" charset="0"/>
                </a:rPr>
                <a:t>personalizadas</a:t>
              </a:r>
              <a:r>
                <a:rPr lang="es-ES" sz="1600" dirty="0">
                  <a:latin typeface="Comic Sans MS" panose="030F0702030302020204" pitchFamily="66" charset="0"/>
                </a:rPr>
                <a:t> hacia determinados públicos o individuos, a través de uno/ más medios impersonales o personales</a:t>
              </a:r>
            </a:p>
          </p:txBody>
        </p:sp>
      </p:grpSp>
      <p:sp>
        <p:nvSpPr>
          <p:cNvPr id="46" name="AutoShape 19">
            <a:extLst>
              <a:ext uri="{FF2B5EF4-FFF2-40B4-BE49-F238E27FC236}">
                <a16:creationId xmlns:a16="http://schemas.microsoft.com/office/drawing/2014/main" id="{ABC515C9-12A4-73F3-824F-6BA71F938456}"/>
              </a:ext>
            </a:extLst>
          </p:cNvPr>
          <p:cNvSpPr>
            <a:spLocks noChangeArrowheads="1"/>
          </p:cNvSpPr>
          <p:nvPr/>
        </p:nvSpPr>
        <p:spPr bwMode="auto">
          <a:xfrm rot="5400000">
            <a:off x="3003538" y="4803151"/>
            <a:ext cx="688975" cy="2840038"/>
          </a:xfrm>
          <a:prstGeom prst="cube">
            <a:avLst>
              <a:gd name="adj" fmla="val 11657"/>
            </a:avLst>
          </a:prstGeom>
          <a:solidFill>
            <a:srgbClr val="FFD5FF"/>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a:latin typeface="Comic Sans MS" panose="030F0702030302020204" pitchFamily="66" charset="0"/>
              </a:rPr>
              <a:t>Venta personal</a:t>
            </a:r>
          </a:p>
        </p:txBody>
      </p:sp>
      <p:grpSp>
        <p:nvGrpSpPr>
          <p:cNvPr id="47" name="Group 20">
            <a:extLst>
              <a:ext uri="{FF2B5EF4-FFF2-40B4-BE49-F238E27FC236}">
                <a16:creationId xmlns:a16="http://schemas.microsoft.com/office/drawing/2014/main" id="{E664EEDD-D23C-79BA-2F39-97F6E55B29E5}"/>
              </a:ext>
            </a:extLst>
          </p:cNvPr>
          <p:cNvGrpSpPr>
            <a:grpSpLocks/>
          </p:cNvGrpSpPr>
          <p:nvPr/>
        </p:nvGrpSpPr>
        <p:grpSpPr bwMode="auto">
          <a:xfrm>
            <a:off x="4780745" y="5802486"/>
            <a:ext cx="6227762" cy="735013"/>
            <a:chOff x="2139" y="3564"/>
            <a:chExt cx="3348" cy="463"/>
          </a:xfrm>
        </p:grpSpPr>
        <p:sp>
          <p:nvSpPr>
            <p:cNvPr id="48" name="AutoShape 21">
              <a:extLst>
                <a:ext uri="{FF2B5EF4-FFF2-40B4-BE49-F238E27FC236}">
                  <a16:creationId xmlns:a16="http://schemas.microsoft.com/office/drawing/2014/main" id="{4C179243-BCF8-7509-0D86-BAB77C40C673}"/>
                </a:ext>
              </a:extLst>
            </p:cNvPr>
            <p:cNvSpPr>
              <a:spLocks noChangeArrowheads="1"/>
            </p:cNvSpPr>
            <p:nvPr/>
          </p:nvSpPr>
          <p:spPr bwMode="auto">
            <a:xfrm>
              <a:off x="2139" y="3602"/>
              <a:ext cx="328" cy="369"/>
            </a:xfrm>
            <a:prstGeom prst="rightArrow">
              <a:avLst>
                <a:gd name="adj1" fmla="val 50000"/>
                <a:gd name="adj2" fmla="val 50014"/>
              </a:avLst>
            </a:prstGeom>
            <a:solidFill>
              <a:srgbClr val="FFD5FF"/>
            </a:solid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49" name="Rectangle 22">
              <a:extLst>
                <a:ext uri="{FF2B5EF4-FFF2-40B4-BE49-F238E27FC236}">
                  <a16:creationId xmlns:a16="http://schemas.microsoft.com/office/drawing/2014/main" id="{DE770804-A54C-F228-A16B-3E4345150E8D}"/>
                </a:ext>
              </a:extLst>
            </p:cNvPr>
            <p:cNvSpPr>
              <a:spLocks noChangeArrowheads="1"/>
            </p:cNvSpPr>
            <p:nvPr/>
          </p:nvSpPr>
          <p:spPr bwMode="auto">
            <a:xfrm>
              <a:off x="2490" y="3564"/>
              <a:ext cx="2997" cy="463"/>
            </a:xfrm>
            <a:prstGeom prst="rect">
              <a:avLst/>
            </a:prstGeom>
            <a:solidFill>
              <a:srgbClr val="FFD5FF"/>
            </a:solid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lnSpc>
                  <a:spcPct val="140000"/>
                </a:lnSpc>
                <a:spcBef>
                  <a:spcPct val="50000"/>
                </a:spcBef>
                <a:defRPr/>
              </a:pPr>
              <a:r>
                <a:rPr lang="es-ES" sz="1600" dirty="0">
                  <a:latin typeface="Comic Sans MS" panose="030F0702030302020204" pitchFamily="66" charset="0"/>
                </a:rPr>
                <a:t>Comunicación personal directa (</a:t>
              </a:r>
              <a:r>
                <a:rPr lang="es-ES" sz="1600" b="1" dirty="0">
                  <a:latin typeface="Comic Sans MS" panose="030F0702030302020204" pitchFamily="66" charset="0"/>
                </a:rPr>
                <a:t>cara a cara</a:t>
              </a:r>
              <a:r>
                <a:rPr lang="es-ES" sz="1600" dirty="0">
                  <a:latin typeface="Comic Sans MS" panose="030F0702030302020204" pitchFamily="66" charset="0"/>
                </a:rPr>
                <a:t>), adaptando el mensaje y de respuesta simultánea</a:t>
              </a:r>
            </a:p>
          </p:txBody>
        </p:sp>
      </p:grpSp>
      <p:sp>
        <p:nvSpPr>
          <p:cNvPr id="5" name="CuadroTexto 4">
            <a:extLst>
              <a:ext uri="{FF2B5EF4-FFF2-40B4-BE49-F238E27FC236}">
                <a16:creationId xmlns:a16="http://schemas.microsoft.com/office/drawing/2014/main" id="{6D1D3DDD-A20A-0C42-9C6B-2FD39D54600D}"/>
              </a:ext>
            </a:extLst>
          </p:cNvPr>
          <p:cNvSpPr txBox="1"/>
          <p:nvPr/>
        </p:nvSpPr>
        <p:spPr>
          <a:xfrm>
            <a:off x="2488367" y="29992"/>
            <a:ext cx="6490741"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a:t>
            </a:r>
          </a:p>
        </p:txBody>
      </p:sp>
      <p:sp>
        <p:nvSpPr>
          <p:cNvPr id="8" name="CuadroTexto 7">
            <a:extLst>
              <a:ext uri="{FF2B5EF4-FFF2-40B4-BE49-F238E27FC236}">
                <a16:creationId xmlns:a16="http://schemas.microsoft.com/office/drawing/2014/main" id="{4B3C5271-1978-BF38-F9A2-C8AC3A7DF1C1}"/>
              </a:ext>
            </a:extLst>
          </p:cNvPr>
          <p:cNvSpPr txBox="1"/>
          <p:nvPr/>
        </p:nvSpPr>
        <p:spPr>
          <a:xfrm>
            <a:off x="2488367" y="29992"/>
            <a:ext cx="9491598"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339618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animBg="1"/>
      <p:bldP spid="38" grpId="0" animBg="1"/>
      <p:bldP spid="42" grpId="0" animBg="1"/>
      <p:bldP spid="4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1" y="674827"/>
            <a:ext cx="11053028" cy="830997"/>
          </a:xfrm>
          <a:prstGeom prst="rect">
            <a:avLst/>
          </a:prstGeom>
          <a:noFill/>
        </p:spPr>
        <p:txBody>
          <a:bodyPr wrap="square" rtlCol="0">
            <a:spAutoFit/>
          </a:bodyPr>
          <a:lstStyle/>
          <a:p>
            <a:pPr lvl="1"/>
            <a:endParaRPr lang="es-ES" sz="240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Herramientas de comunicación</a:t>
            </a:r>
          </a:p>
        </p:txBody>
      </p:sp>
      <p:sp>
        <p:nvSpPr>
          <p:cNvPr id="5" name="AutoShape 19">
            <a:extLst>
              <a:ext uri="{FF2B5EF4-FFF2-40B4-BE49-F238E27FC236}">
                <a16:creationId xmlns:a16="http://schemas.microsoft.com/office/drawing/2014/main" id="{F5E79887-3D52-1830-42D3-6B590B58D539}"/>
              </a:ext>
            </a:extLst>
          </p:cNvPr>
          <p:cNvSpPr>
            <a:spLocks noChangeArrowheads="1"/>
          </p:cNvSpPr>
          <p:nvPr/>
        </p:nvSpPr>
        <p:spPr bwMode="auto">
          <a:xfrm rot="5400000">
            <a:off x="2688744" y="4211013"/>
            <a:ext cx="688975" cy="2840038"/>
          </a:xfrm>
          <a:prstGeom prst="cube">
            <a:avLst>
              <a:gd name="adj" fmla="val 11657"/>
            </a:avLst>
          </a:prstGeom>
          <a:solidFill>
            <a:srgbClr val="FFFF00"/>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dirty="0" err="1">
                <a:latin typeface="Comic Sans MS" panose="030F0702030302020204" pitchFamily="66" charset="0"/>
              </a:rPr>
              <a:t>Engagement</a:t>
            </a:r>
            <a:endParaRPr lang="es-ES" sz="2000" dirty="0">
              <a:latin typeface="Comic Sans MS" panose="030F0702030302020204" pitchFamily="66" charset="0"/>
            </a:endParaRPr>
          </a:p>
        </p:txBody>
      </p:sp>
      <p:grpSp>
        <p:nvGrpSpPr>
          <p:cNvPr id="8" name="Group 20">
            <a:extLst>
              <a:ext uri="{FF2B5EF4-FFF2-40B4-BE49-F238E27FC236}">
                <a16:creationId xmlns:a16="http://schemas.microsoft.com/office/drawing/2014/main" id="{5F3123DB-AE10-D023-7B49-9CC492469A31}"/>
              </a:ext>
            </a:extLst>
          </p:cNvPr>
          <p:cNvGrpSpPr>
            <a:grpSpLocks/>
          </p:cNvGrpSpPr>
          <p:nvPr/>
        </p:nvGrpSpPr>
        <p:grpSpPr bwMode="auto">
          <a:xfrm>
            <a:off x="4465951" y="5287164"/>
            <a:ext cx="6227762" cy="819151"/>
            <a:chOff x="2139" y="3564"/>
            <a:chExt cx="3348" cy="516"/>
          </a:xfrm>
          <a:solidFill>
            <a:srgbClr val="FFFF00"/>
          </a:solidFill>
        </p:grpSpPr>
        <p:sp>
          <p:nvSpPr>
            <p:cNvPr id="9" name="AutoShape 21">
              <a:extLst>
                <a:ext uri="{FF2B5EF4-FFF2-40B4-BE49-F238E27FC236}">
                  <a16:creationId xmlns:a16="http://schemas.microsoft.com/office/drawing/2014/main" id="{A2E2C33D-A019-4389-F861-0B5C57345F17}"/>
                </a:ext>
              </a:extLst>
            </p:cNvPr>
            <p:cNvSpPr>
              <a:spLocks noChangeArrowheads="1"/>
            </p:cNvSpPr>
            <p:nvPr/>
          </p:nvSpPr>
          <p:spPr bwMode="auto">
            <a:xfrm>
              <a:off x="2139" y="3602"/>
              <a:ext cx="328" cy="369"/>
            </a:xfrm>
            <a:prstGeom prst="rightArrow">
              <a:avLst>
                <a:gd name="adj1" fmla="val 50000"/>
                <a:gd name="adj2" fmla="val 50014"/>
              </a:avLst>
            </a:prstGeom>
            <a:grp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10" name="Rectangle 22">
              <a:extLst>
                <a:ext uri="{FF2B5EF4-FFF2-40B4-BE49-F238E27FC236}">
                  <a16:creationId xmlns:a16="http://schemas.microsoft.com/office/drawing/2014/main" id="{81C952D7-21AD-77C1-2B22-29A8CDBB4688}"/>
                </a:ext>
              </a:extLst>
            </p:cNvPr>
            <p:cNvSpPr>
              <a:spLocks noChangeArrowheads="1"/>
            </p:cNvSpPr>
            <p:nvPr/>
          </p:nvSpPr>
          <p:spPr bwMode="auto">
            <a:xfrm>
              <a:off x="2490" y="3564"/>
              <a:ext cx="2997" cy="516"/>
            </a:xfrm>
            <a:prstGeom prst="rect">
              <a:avLst/>
            </a:prstGeom>
            <a:grp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spcBef>
                  <a:spcPts val="0"/>
                </a:spcBef>
                <a:defRPr/>
              </a:pPr>
              <a:r>
                <a:rPr lang="es-ES" sz="1600" dirty="0">
                  <a:latin typeface="Comic Sans MS" panose="030F0702030302020204" pitchFamily="66" charset="0"/>
                </a:rPr>
                <a:t>Marketing Viral/ </a:t>
              </a:r>
              <a:r>
                <a:rPr lang="es-ES" sz="1600" dirty="0" err="1">
                  <a:latin typeface="Comic Sans MS" panose="030F0702030302020204" pitchFamily="66" charset="0"/>
                </a:rPr>
                <a:t>Buzz</a:t>
              </a:r>
              <a:r>
                <a:rPr lang="es-ES" sz="1600" dirty="0">
                  <a:latin typeface="Comic Sans MS" panose="030F0702030302020204" pitchFamily="66" charset="0"/>
                </a:rPr>
                <a:t> Marketing</a:t>
              </a:r>
            </a:p>
            <a:p>
              <a:pPr defTabSz="820738">
                <a:spcBef>
                  <a:spcPts val="0"/>
                </a:spcBef>
                <a:defRPr/>
              </a:pPr>
              <a:r>
                <a:rPr lang="es-ES" sz="1600" dirty="0" err="1">
                  <a:latin typeface="Comic Sans MS" panose="030F0702030302020204" pitchFamily="66" charset="0"/>
                </a:rPr>
                <a:t>Street</a:t>
              </a:r>
              <a:r>
                <a:rPr lang="es-ES" sz="1600" dirty="0">
                  <a:latin typeface="Comic Sans MS" panose="030F0702030302020204" pitchFamily="66" charset="0"/>
                </a:rPr>
                <a:t> Marketing</a:t>
              </a:r>
            </a:p>
            <a:p>
              <a:pPr defTabSz="820738">
                <a:spcBef>
                  <a:spcPts val="0"/>
                </a:spcBef>
                <a:defRPr/>
              </a:pPr>
              <a:r>
                <a:rPr lang="es-ES" sz="1600" dirty="0">
                  <a:latin typeface="Comic Sans MS" panose="030F0702030302020204" pitchFamily="66" charset="0"/>
                </a:rPr>
                <a:t>Marketing de Experiencias</a:t>
              </a:r>
            </a:p>
          </p:txBody>
        </p:sp>
      </p:grpSp>
      <p:sp>
        <p:nvSpPr>
          <p:cNvPr id="11" name="AutoShape 19">
            <a:extLst>
              <a:ext uri="{FF2B5EF4-FFF2-40B4-BE49-F238E27FC236}">
                <a16:creationId xmlns:a16="http://schemas.microsoft.com/office/drawing/2014/main" id="{952B4100-47E6-6CA4-E469-97574F1D8CF1}"/>
              </a:ext>
            </a:extLst>
          </p:cNvPr>
          <p:cNvSpPr>
            <a:spLocks noChangeArrowheads="1"/>
          </p:cNvSpPr>
          <p:nvPr/>
        </p:nvSpPr>
        <p:spPr bwMode="auto">
          <a:xfrm rot="5400000">
            <a:off x="2706207" y="3060076"/>
            <a:ext cx="688975" cy="2840037"/>
          </a:xfrm>
          <a:prstGeom prst="cube">
            <a:avLst>
              <a:gd name="adj" fmla="val 11657"/>
            </a:avLst>
          </a:prstGeom>
          <a:solidFill>
            <a:srgbClr val="FFC000"/>
          </a:solidFill>
          <a:ln w="12700">
            <a:solidFill>
              <a:schemeClr val="tx1"/>
            </a:solidFill>
            <a:miter lim="800000"/>
            <a:headEnd/>
            <a:tailEnd/>
          </a:ln>
          <a:effectLst>
            <a:outerShdw dist="89803" dir="2700000" algn="ctr" rotWithShape="0">
              <a:schemeClr val="tx1"/>
            </a:outerShdw>
          </a:effectLst>
        </p:spPr>
        <p:txBody>
          <a:bodyPr rot="10800000" vert="eaVert" wrap="none" lIns="84052" tIns="41315" rIns="84052" bIns="41315" anchor="ctr"/>
          <a:lstStyle/>
          <a:p>
            <a:pPr algn="ctr" defTabSz="831850">
              <a:defRPr/>
            </a:pPr>
            <a:r>
              <a:rPr lang="es-ES" sz="2000" dirty="0">
                <a:latin typeface="Comic Sans MS" panose="030F0702030302020204" pitchFamily="66" charset="0"/>
              </a:rPr>
              <a:t>Internet</a:t>
            </a:r>
          </a:p>
        </p:txBody>
      </p:sp>
      <p:grpSp>
        <p:nvGrpSpPr>
          <p:cNvPr id="12" name="Group 20">
            <a:extLst>
              <a:ext uri="{FF2B5EF4-FFF2-40B4-BE49-F238E27FC236}">
                <a16:creationId xmlns:a16="http://schemas.microsoft.com/office/drawing/2014/main" id="{9FF9354F-9FDD-C8EC-1E7D-41AAF1145F0F}"/>
              </a:ext>
            </a:extLst>
          </p:cNvPr>
          <p:cNvGrpSpPr>
            <a:grpSpLocks/>
          </p:cNvGrpSpPr>
          <p:nvPr/>
        </p:nvGrpSpPr>
        <p:grpSpPr bwMode="auto">
          <a:xfrm>
            <a:off x="4483508" y="4135037"/>
            <a:ext cx="6227762" cy="819151"/>
            <a:chOff x="2139" y="3564"/>
            <a:chExt cx="3348" cy="516"/>
          </a:xfrm>
          <a:solidFill>
            <a:srgbClr val="FFC000"/>
          </a:solidFill>
        </p:grpSpPr>
        <p:sp>
          <p:nvSpPr>
            <p:cNvPr id="13" name="AutoShape 21">
              <a:extLst>
                <a:ext uri="{FF2B5EF4-FFF2-40B4-BE49-F238E27FC236}">
                  <a16:creationId xmlns:a16="http://schemas.microsoft.com/office/drawing/2014/main" id="{91197A9B-2A48-B513-0F52-AC182CB24744}"/>
                </a:ext>
              </a:extLst>
            </p:cNvPr>
            <p:cNvSpPr>
              <a:spLocks noChangeArrowheads="1"/>
            </p:cNvSpPr>
            <p:nvPr/>
          </p:nvSpPr>
          <p:spPr bwMode="auto">
            <a:xfrm>
              <a:off x="2139" y="3602"/>
              <a:ext cx="328" cy="369"/>
            </a:xfrm>
            <a:prstGeom prst="rightArrow">
              <a:avLst>
                <a:gd name="adj1" fmla="val 50000"/>
                <a:gd name="adj2" fmla="val 50014"/>
              </a:avLst>
            </a:prstGeom>
            <a:grpFill/>
            <a:ln w="12700">
              <a:noFill/>
              <a:miter lim="800000"/>
              <a:headEnd/>
              <a:tailEnd/>
            </a:ln>
            <a:effectLst>
              <a:outerShdw dist="107763" dir="2700000" algn="ctr" rotWithShape="0">
                <a:schemeClr val="tx1"/>
              </a:outerShdw>
            </a:effectLst>
          </p:spPr>
          <p:txBody>
            <a:bodyPr wrap="none" anchor="ctr"/>
            <a:lstStyle/>
            <a:p>
              <a:pPr>
                <a:defRPr/>
              </a:pPr>
              <a:endParaRPr lang="es-ES">
                <a:latin typeface="Comic Sans MS" panose="030F0702030302020204" pitchFamily="66" charset="0"/>
              </a:endParaRPr>
            </a:p>
          </p:txBody>
        </p:sp>
        <p:sp>
          <p:nvSpPr>
            <p:cNvPr id="14" name="Rectangle 22">
              <a:extLst>
                <a:ext uri="{FF2B5EF4-FFF2-40B4-BE49-F238E27FC236}">
                  <a16:creationId xmlns:a16="http://schemas.microsoft.com/office/drawing/2014/main" id="{1616A1E2-7A4E-0B05-DB29-ACAB971783A3}"/>
                </a:ext>
              </a:extLst>
            </p:cNvPr>
            <p:cNvSpPr>
              <a:spLocks noChangeArrowheads="1"/>
            </p:cNvSpPr>
            <p:nvPr/>
          </p:nvSpPr>
          <p:spPr bwMode="auto">
            <a:xfrm>
              <a:off x="2490" y="3564"/>
              <a:ext cx="2997" cy="516"/>
            </a:xfrm>
            <a:prstGeom prst="rect">
              <a:avLst/>
            </a:prstGeom>
            <a:grpFill/>
            <a:ln w="12700">
              <a:noFill/>
              <a:miter lim="800000"/>
              <a:headEnd/>
              <a:tailEnd/>
            </a:ln>
            <a:effectLst>
              <a:outerShdw dist="107763" dir="2700000" algn="ctr" rotWithShape="0">
                <a:schemeClr val="tx1"/>
              </a:outerShdw>
            </a:effectLst>
          </p:spPr>
          <p:txBody>
            <a:bodyPr lIns="81204" tIns="39889" rIns="81204" bIns="39889">
              <a:spAutoFit/>
            </a:bodyPr>
            <a:lstStyle/>
            <a:p>
              <a:pPr defTabSz="820738">
                <a:spcBef>
                  <a:spcPts val="0"/>
                </a:spcBef>
                <a:defRPr/>
              </a:pPr>
              <a:r>
                <a:rPr lang="es-ES" sz="1600" dirty="0">
                  <a:latin typeface="Comic Sans MS" panose="030F0702030302020204" pitchFamily="66" charset="0"/>
                </a:rPr>
                <a:t>Marketing on-line</a:t>
              </a:r>
            </a:p>
            <a:p>
              <a:pPr defTabSz="820738">
                <a:spcBef>
                  <a:spcPts val="0"/>
                </a:spcBef>
                <a:defRPr/>
              </a:pPr>
              <a:r>
                <a:rPr lang="es-ES" sz="1600" dirty="0">
                  <a:latin typeface="Comic Sans MS" panose="030F0702030302020204" pitchFamily="66" charset="0"/>
                </a:rPr>
                <a:t>Marketing en redes sociales</a:t>
              </a:r>
            </a:p>
            <a:p>
              <a:pPr defTabSz="820738">
                <a:spcBef>
                  <a:spcPts val="0"/>
                </a:spcBef>
                <a:defRPr/>
              </a:pPr>
              <a:r>
                <a:rPr lang="es-ES" sz="1600" dirty="0">
                  <a:latin typeface="Comic Sans MS" panose="030F0702030302020204" pitchFamily="66" charset="0"/>
                </a:rPr>
                <a:t>Marketing móvil</a:t>
              </a:r>
            </a:p>
          </p:txBody>
        </p:sp>
      </p:grpSp>
      <p:sp>
        <p:nvSpPr>
          <p:cNvPr id="15" name="Text Box 103">
            <a:extLst>
              <a:ext uri="{FF2B5EF4-FFF2-40B4-BE49-F238E27FC236}">
                <a16:creationId xmlns:a16="http://schemas.microsoft.com/office/drawing/2014/main" id="{EB36B8A9-2922-46F6-F0CB-662EF9DF7AB7}"/>
              </a:ext>
            </a:extLst>
          </p:cNvPr>
          <p:cNvSpPr txBox="1">
            <a:spLocks noChangeArrowheads="1"/>
          </p:cNvSpPr>
          <p:nvPr/>
        </p:nvSpPr>
        <p:spPr bwMode="auto">
          <a:xfrm>
            <a:off x="3258905" y="2013442"/>
            <a:ext cx="5360440" cy="461665"/>
          </a:xfrm>
          <a:prstGeom prst="rect">
            <a:avLst/>
          </a:prstGeom>
          <a:noFill/>
          <a:ln w="9525">
            <a:solidFill>
              <a:srgbClr val="002060"/>
            </a:solidFill>
            <a:miter lim="800000"/>
            <a:headEnd/>
            <a:tailEnd/>
          </a:ln>
        </p:spPr>
        <p:txBody>
          <a:bodyPr wrap="square">
            <a:spAutoFit/>
          </a:bodyPr>
          <a:lstStyle/>
          <a:p>
            <a:pPr algn="ctr" eaLnBrk="1" hangingPunct="1">
              <a:spcBef>
                <a:spcPct val="50000"/>
              </a:spcBef>
            </a:pPr>
            <a:r>
              <a:rPr lang="es-ES" sz="2400" b="1">
                <a:solidFill>
                  <a:srgbClr val="002060"/>
                </a:solidFill>
                <a:latin typeface="Comic Sans MS" panose="030F0702030302020204" pitchFamily="66" charset="0"/>
              </a:rPr>
              <a:t>Nuevas formas de comunicación </a:t>
            </a:r>
            <a:endParaRPr lang="es-ES" sz="2400" b="1" u="sng">
              <a:solidFill>
                <a:srgbClr val="002060"/>
              </a:solidFill>
              <a:latin typeface="Comic Sans MS" panose="030F0702030302020204" pitchFamily="66" charset="0"/>
            </a:endParaRPr>
          </a:p>
        </p:txBody>
      </p:sp>
      <p:sp>
        <p:nvSpPr>
          <p:cNvPr id="16" name="AutoShape 3">
            <a:extLst>
              <a:ext uri="{FF2B5EF4-FFF2-40B4-BE49-F238E27FC236}">
                <a16:creationId xmlns:a16="http://schemas.microsoft.com/office/drawing/2014/main" id="{38EDDC41-C648-7336-CC6A-D6BE859EB4D1}"/>
              </a:ext>
            </a:extLst>
          </p:cNvPr>
          <p:cNvSpPr>
            <a:spLocks noChangeArrowheads="1"/>
          </p:cNvSpPr>
          <p:nvPr/>
        </p:nvSpPr>
        <p:spPr bwMode="auto">
          <a:xfrm>
            <a:off x="2335526" y="2767182"/>
            <a:ext cx="3273425" cy="1152525"/>
          </a:xfrm>
          <a:prstGeom prst="downArrowCallout">
            <a:avLst>
              <a:gd name="adj1" fmla="val 60644"/>
              <a:gd name="adj2" fmla="val 76370"/>
              <a:gd name="adj3" fmla="val 9667"/>
              <a:gd name="adj4" fmla="val 78787"/>
            </a:avLst>
          </a:prstGeom>
          <a:solidFill>
            <a:srgbClr val="FFFFCC"/>
          </a:solidFill>
          <a:ln w="9525">
            <a:solidFill>
              <a:srgbClr val="99CC00"/>
            </a:solidFill>
            <a:miter lim="800000"/>
            <a:headEnd/>
            <a:tailEnd/>
          </a:ln>
          <a:effectLst>
            <a:outerShdw dist="107763" dir="13500000" algn="ctr" rotWithShape="0">
              <a:srgbClr val="669900"/>
            </a:outerShdw>
          </a:effectLst>
        </p:spPr>
        <p:txBody>
          <a:bodyPr/>
          <a:lstStyle/>
          <a:p>
            <a:pPr algn="ctr">
              <a:lnSpc>
                <a:spcPct val="90000"/>
              </a:lnSpc>
              <a:defRPr/>
            </a:pPr>
            <a:r>
              <a:rPr lang="es-ES" sz="2000" b="1" dirty="0">
                <a:solidFill>
                  <a:srgbClr val="669900"/>
                </a:solidFill>
                <a:latin typeface="Comic Sans MS" panose="030F0702030302020204" pitchFamily="66" charset="0"/>
              </a:rPr>
              <a:t>Explosión de Internet y de los Social Media (blogs, redes sociales, etc.)</a:t>
            </a:r>
          </a:p>
        </p:txBody>
      </p:sp>
      <p:sp>
        <p:nvSpPr>
          <p:cNvPr id="17" name="AutoShape 4">
            <a:extLst>
              <a:ext uri="{FF2B5EF4-FFF2-40B4-BE49-F238E27FC236}">
                <a16:creationId xmlns:a16="http://schemas.microsoft.com/office/drawing/2014/main" id="{E5E14B18-28BA-DDC2-9E28-433309BDAC00}"/>
              </a:ext>
            </a:extLst>
          </p:cNvPr>
          <p:cNvSpPr>
            <a:spLocks noChangeArrowheads="1"/>
          </p:cNvSpPr>
          <p:nvPr/>
        </p:nvSpPr>
        <p:spPr bwMode="auto">
          <a:xfrm>
            <a:off x="6232838" y="2767182"/>
            <a:ext cx="3835400" cy="1152525"/>
          </a:xfrm>
          <a:prstGeom prst="downArrowCallout">
            <a:avLst>
              <a:gd name="adj1" fmla="val 71055"/>
              <a:gd name="adj2" fmla="val 89482"/>
              <a:gd name="adj3" fmla="val 9667"/>
              <a:gd name="adj4" fmla="val 78787"/>
            </a:avLst>
          </a:prstGeom>
          <a:solidFill>
            <a:srgbClr val="FFFFCC"/>
          </a:solidFill>
          <a:ln w="9525">
            <a:solidFill>
              <a:srgbClr val="99CC00"/>
            </a:solidFill>
            <a:miter lim="800000"/>
            <a:headEnd/>
            <a:tailEnd/>
          </a:ln>
          <a:effectLst>
            <a:outerShdw dist="107763" dir="13500000" algn="ctr" rotWithShape="0">
              <a:srgbClr val="669900"/>
            </a:outerShdw>
          </a:effectLst>
        </p:spPr>
        <p:txBody>
          <a:bodyPr/>
          <a:lstStyle/>
          <a:p>
            <a:pPr algn="ctr">
              <a:lnSpc>
                <a:spcPct val="90000"/>
              </a:lnSpc>
              <a:buClr>
                <a:srgbClr val="00CC66"/>
              </a:buClr>
              <a:buFont typeface="Symbol" pitchFamily="18" charset="2"/>
              <a:buNone/>
              <a:defRPr/>
            </a:pPr>
            <a:r>
              <a:rPr lang="es-ES" sz="2000" b="1" dirty="0">
                <a:solidFill>
                  <a:srgbClr val="669900"/>
                </a:solidFill>
                <a:latin typeface="Comic Sans MS" panose="030F0702030302020204" pitchFamily="66" charset="0"/>
              </a:rPr>
              <a:t>Consumidor saturado de impactos publicitarios  medios tradicionales</a:t>
            </a:r>
          </a:p>
        </p:txBody>
      </p:sp>
      <p:sp>
        <p:nvSpPr>
          <p:cNvPr id="18" name="CuadroTexto 17">
            <a:extLst>
              <a:ext uri="{FF2B5EF4-FFF2-40B4-BE49-F238E27FC236}">
                <a16:creationId xmlns:a16="http://schemas.microsoft.com/office/drawing/2014/main" id="{2C8707FE-9728-4C7A-5608-1F4F04AD3B01}"/>
              </a:ext>
            </a:extLst>
          </p:cNvPr>
          <p:cNvSpPr txBox="1"/>
          <p:nvPr/>
        </p:nvSpPr>
        <p:spPr>
          <a:xfrm>
            <a:off x="2488367" y="29992"/>
            <a:ext cx="6490741"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a:t>
            </a:r>
          </a:p>
        </p:txBody>
      </p:sp>
      <p:sp>
        <p:nvSpPr>
          <p:cNvPr id="19" name="CuadroTexto 18">
            <a:extLst>
              <a:ext uri="{FF2B5EF4-FFF2-40B4-BE49-F238E27FC236}">
                <a16:creationId xmlns:a16="http://schemas.microsoft.com/office/drawing/2014/main" id="{CE4404B6-2898-3E85-DDA0-E5E8150C6CD5}"/>
              </a:ext>
            </a:extLst>
          </p:cNvPr>
          <p:cNvSpPr txBox="1"/>
          <p:nvPr/>
        </p:nvSpPr>
        <p:spPr>
          <a:xfrm>
            <a:off x="2488367" y="29992"/>
            <a:ext cx="9491598"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1885800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706581" y="674827"/>
            <a:ext cx="11053028" cy="4154984"/>
          </a:xfrm>
          <a:prstGeom prst="rect">
            <a:avLst/>
          </a:prstGeom>
          <a:noFill/>
        </p:spPr>
        <p:txBody>
          <a:bodyPr wrap="square" rtlCol="0">
            <a:spAutoFit/>
          </a:bodyPr>
          <a:lstStyle/>
          <a:p>
            <a:pPr marL="914400" lvl="1" indent="-457200">
              <a:buFont typeface="Arial" panose="020B0604020202020204" pitchFamily="34" charset="0"/>
              <a:buChar char="•"/>
            </a:pPr>
            <a:r>
              <a:rPr lang="es-ES" sz="2400" dirty="0">
                <a:effectLst>
                  <a:outerShdw blurRad="38100" dist="38100" dir="2700000" algn="tl">
                    <a:srgbClr val="000000">
                      <a:alpha val="43137"/>
                    </a:srgbClr>
                  </a:outerShdw>
                </a:effectLst>
                <a:latin typeface="Comic Sans MS" panose="030F0702030302020204" pitchFamily="66" charset="0"/>
              </a:rPr>
              <a:t>Comunicación comercial</a:t>
            </a:r>
          </a:p>
          <a:p>
            <a:pPr marL="914400" lvl="1" indent="-457200">
              <a:buFont typeface="+mj-lt"/>
              <a:buAutoNum type="arabicPeriod" startAt="6"/>
            </a:pPr>
            <a:endParaRPr lang="es-ES" sz="240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400" dirty="0">
                <a:latin typeface="Comic Sans MS" panose="030F0702030302020204" pitchFamily="66" charset="0"/>
              </a:rPr>
              <a:t>Etapas de la comunicación eficaz</a:t>
            </a:r>
          </a:p>
          <a:p>
            <a:pPr marL="1371600" lvl="2" indent="-457200">
              <a:buFont typeface="Arial" panose="020B0604020202020204" pitchFamily="34" charset="0"/>
              <a:buChar char="•"/>
            </a:pPr>
            <a:endParaRPr lang="es-ES" sz="2400" dirty="0">
              <a:latin typeface="Comic Sans MS" panose="030F0702030302020204" pitchFamily="66" charset="0"/>
            </a:endParaRPr>
          </a:p>
          <a:p>
            <a:pPr marL="1828800" lvl="3" indent="-457200">
              <a:buFont typeface="+mj-lt"/>
              <a:buAutoNum type="alphaLcParenR"/>
            </a:pPr>
            <a:r>
              <a:rPr lang="es-ES" sz="2400" dirty="0">
                <a:latin typeface="Comic Sans MS" panose="030F0702030302020204" pitchFamily="66" charset="0"/>
              </a:rPr>
              <a:t>Partiendo de los objetivos de Marketing: </a:t>
            </a:r>
          </a:p>
          <a:p>
            <a:pPr marL="1828800" lvl="3" indent="-457200">
              <a:buFont typeface="+mj-lt"/>
              <a:buAutoNum type="alphaLcParenR"/>
            </a:pPr>
            <a:r>
              <a:rPr lang="es-ES" sz="2400" dirty="0">
                <a:latin typeface="Comic Sans MS" panose="030F0702030302020204" pitchFamily="66" charset="0"/>
              </a:rPr>
              <a:t>Identificar el público objetivo.</a:t>
            </a:r>
          </a:p>
          <a:p>
            <a:pPr marL="1828800" lvl="3" indent="-457200">
              <a:buFont typeface="+mj-lt"/>
              <a:buAutoNum type="alphaLcParenR"/>
            </a:pPr>
            <a:r>
              <a:rPr lang="es-ES" sz="2400" dirty="0">
                <a:latin typeface="Comic Sans MS" panose="030F0702030302020204" pitchFamily="66" charset="0"/>
              </a:rPr>
              <a:t>Fijar los objetivos de la comunicación.</a:t>
            </a:r>
          </a:p>
          <a:p>
            <a:pPr marL="1828800" lvl="3" indent="-457200">
              <a:buFont typeface="+mj-lt"/>
              <a:buAutoNum type="alphaLcParenR"/>
            </a:pPr>
            <a:r>
              <a:rPr lang="es-ES" sz="2400" dirty="0">
                <a:latin typeface="Comic Sans MS" panose="030F0702030302020204" pitchFamily="66" charset="0"/>
              </a:rPr>
              <a:t>Diseñar el mensaje.</a:t>
            </a:r>
          </a:p>
          <a:p>
            <a:pPr marL="1828800" lvl="3" indent="-457200">
              <a:buFont typeface="+mj-lt"/>
              <a:buAutoNum type="alphaLcParenR"/>
            </a:pPr>
            <a:r>
              <a:rPr lang="es-ES" sz="2400" dirty="0">
                <a:latin typeface="Comic Sans MS" panose="030F0702030302020204" pitchFamily="66" charset="0"/>
              </a:rPr>
              <a:t>Seleccionar los medios de comunicación y distribuir el presupuesto entre ellos.</a:t>
            </a:r>
          </a:p>
          <a:p>
            <a:pPr marL="1828800" lvl="3" indent="-457200">
              <a:buFont typeface="+mj-lt"/>
              <a:buAutoNum type="alphaLcParenR"/>
            </a:pPr>
            <a:r>
              <a:rPr lang="es-ES" sz="2400" dirty="0">
                <a:latin typeface="Comic Sans MS" panose="030F0702030302020204" pitchFamily="66" charset="0"/>
              </a:rPr>
              <a:t>Medir los resultados.</a:t>
            </a:r>
          </a:p>
        </p:txBody>
      </p:sp>
      <p:sp>
        <p:nvSpPr>
          <p:cNvPr id="5" name="CuadroTexto 4">
            <a:extLst>
              <a:ext uri="{FF2B5EF4-FFF2-40B4-BE49-F238E27FC236}">
                <a16:creationId xmlns:a16="http://schemas.microsoft.com/office/drawing/2014/main" id="{BA950232-C710-15A0-BCAF-66832560CFF5}"/>
              </a:ext>
            </a:extLst>
          </p:cNvPr>
          <p:cNvSpPr txBox="1"/>
          <p:nvPr/>
        </p:nvSpPr>
        <p:spPr>
          <a:xfrm>
            <a:off x="2488367" y="29992"/>
            <a:ext cx="8997052"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842156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1138972" y="702022"/>
            <a:ext cx="11053028" cy="4524315"/>
          </a:xfrm>
          <a:prstGeom prst="rect">
            <a:avLst/>
          </a:prstGeom>
          <a:noFill/>
        </p:spPr>
        <p:txBody>
          <a:bodyPr wrap="square" rtlCol="0">
            <a:spAutoFit/>
          </a:bodyPr>
          <a:lstStyle/>
          <a:p>
            <a:pPr lvl="1"/>
            <a:endParaRPr lang="es-ES" sz="2400" dirty="0">
              <a:effectLst>
                <a:outerShdw blurRad="38100" dist="38100" dir="2700000" algn="tl">
                  <a:srgbClr val="000000">
                    <a:alpha val="43137"/>
                  </a:srgbClr>
                </a:outerShdw>
              </a:effectLst>
              <a:latin typeface="Comic Sans MS" panose="030F0702030302020204" pitchFamily="66" charset="0"/>
            </a:endParaRPr>
          </a:p>
          <a:p>
            <a:pPr marL="1371600" lvl="2" indent="-457200">
              <a:buFont typeface="Arial" panose="020B0604020202020204" pitchFamily="34" charset="0"/>
              <a:buChar char="•"/>
            </a:pPr>
            <a:r>
              <a:rPr lang="es-ES" sz="2400" dirty="0" err="1">
                <a:latin typeface="Comic Sans MS" panose="030F0702030302020204" pitchFamily="66" charset="0"/>
              </a:rPr>
              <a:t>Mix</a:t>
            </a:r>
            <a:r>
              <a:rPr lang="es-ES" sz="2400" dirty="0">
                <a:latin typeface="Comic Sans MS" panose="030F0702030302020204" pitchFamily="66" charset="0"/>
              </a:rPr>
              <a:t> de comunicación</a:t>
            </a: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marL="1371600" lvl="2" indent="-457200">
              <a:buFont typeface="Arial" panose="020B0604020202020204" pitchFamily="34" charset="0"/>
              <a:buChar char="•"/>
            </a:pPr>
            <a:endParaRPr lang="es-ES" sz="2400" dirty="0">
              <a:latin typeface="Comic Sans MS" panose="030F0702030302020204" pitchFamily="66" charset="0"/>
            </a:endParaRPr>
          </a:p>
          <a:p>
            <a:pPr lvl="2"/>
            <a:endParaRPr lang="es-ES" sz="2400" dirty="0">
              <a:latin typeface="Comic Sans MS" panose="030F0702030302020204" pitchFamily="66" charset="0"/>
            </a:endParaRPr>
          </a:p>
          <a:p>
            <a:pPr marL="1828800" lvl="3" indent="-457200">
              <a:buFont typeface="+mj-lt"/>
              <a:buAutoNum type="alphaLcParenR"/>
            </a:pPr>
            <a:endParaRPr lang="es-ES" sz="2400" dirty="0">
              <a:latin typeface="Comic Sans MS" panose="030F0702030302020204" pitchFamily="66" charset="0"/>
            </a:endParaRPr>
          </a:p>
        </p:txBody>
      </p:sp>
      <p:sp>
        <p:nvSpPr>
          <p:cNvPr id="5" name="Oval 11">
            <a:extLst>
              <a:ext uri="{FF2B5EF4-FFF2-40B4-BE49-F238E27FC236}">
                <a16:creationId xmlns:a16="http://schemas.microsoft.com/office/drawing/2014/main" id="{D45EFE78-C17E-95A6-C450-4D1BE1F25383}"/>
              </a:ext>
            </a:extLst>
          </p:cNvPr>
          <p:cNvSpPr>
            <a:spLocks noChangeArrowheads="1"/>
          </p:cNvSpPr>
          <p:nvPr/>
        </p:nvSpPr>
        <p:spPr bwMode="auto">
          <a:xfrm>
            <a:off x="1795463" y="3507105"/>
            <a:ext cx="2384425" cy="650875"/>
          </a:xfrm>
          <a:prstGeom prst="ellipse">
            <a:avLst/>
          </a:prstGeom>
          <a:solidFill>
            <a:srgbClr val="333399"/>
          </a:solidFill>
          <a:ln w="9525">
            <a:solidFill>
              <a:schemeClr val="tx1"/>
            </a:solidFill>
            <a:miter lim="800000"/>
            <a:headEnd/>
            <a:tailEnd/>
          </a:ln>
          <a:effectLst>
            <a:prstShdw prst="shdw13" dist="53882" dir="13500000">
              <a:schemeClr val="bg2"/>
            </a:prst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sp>
        <p:nvSpPr>
          <p:cNvPr id="8" name="Text Box 12">
            <a:extLst>
              <a:ext uri="{FF2B5EF4-FFF2-40B4-BE49-F238E27FC236}">
                <a16:creationId xmlns:a16="http://schemas.microsoft.com/office/drawing/2014/main" id="{ED6959DB-B5E6-7F25-C5E2-7BE3F01FFCBC}"/>
              </a:ext>
            </a:extLst>
          </p:cNvPr>
          <p:cNvSpPr txBox="1">
            <a:spLocks noChangeArrowheads="1"/>
          </p:cNvSpPr>
          <p:nvPr/>
        </p:nvSpPr>
        <p:spPr bwMode="auto">
          <a:xfrm>
            <a:off x="1651000" y="359600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_tradnl" altLang="es-ES" b="1">
                <a:solidFill>
                  <a:schemeClr val="bg1"/>
                </a:solidFill>
                <a:latin typeface="Comic Sans MS" panose="030F0702030302020204" pitchFamily="66" charset="0"/>
              </a:rPr>
              <a:t>PUBLICIDAD</a:t>
            </a:r>
          </a:p>
        </p:txBody>
      </p:sp>
      <p:sp>
        <p:nvSpPr>
          <p:cNvPr id="9" name="Line 13">
            <a:extLst>
              <a:ext uri="{FF2B5EF4-FFF2-40B4-BE49-F238E27FC236}">
                <a16:creationId xmlns:a16="http://schemas.microsoft.com/office/drawing/2014/main" id="{EAC92BA8-9CBE-75F4-052C-77475652B007}"/>
              </a:ext>
            </a:extLst>
          </p:cNvPr>
          <p:cNvSpPr>
            <a:spLocks noChangeShapeType="1"/>
          </p:cNvSpPr>
          <p:nvPr/>
        </p:nvSpPr>
        <p:spPr bwMode="auto">
          <a:xfrm flipH="1">
            <a:off x="2959100" y="2535555"/>
            <a:ext cx="2435225" cy="800100"/>
          </a:xfrm>
          <a:prstGeom prst="line">
            <a:avLst/>
          </a:prstGeom>
          <a:noFill/>
          <a:ln w="28575">
            <a:solidFill>
              <a:srgbClr val="000066"/>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latin typeface="Comic Sans MS" panose="030F0702030302020204" pitchFamily="66" charset="0"/>
            </a:endParaRPr>
          </a:p>
        </p:txBody>
      </p:sp>
      <p:grpSp>
        <p:nvGrpSpPr>
          <p:cNvPr id="10" name="Group 14">
            <a:extLst>
              <a:ext uri="{FF2B5EF4-FFF2-40B4-BE49-F238E27FC236}">
                <a16:creationId xmlns:a16="http://schemas.microsoft.com/office/drawing/2014/main" id="{293D5820-F521-631B-607A-A5F3FACD2271}"/>
              </a:ext>
            </a:extLst>
          </p:cNvPr>
          <p:cNvGrpSpPr>
            <a:grpSpLocks/>
          </p:cNvGrpSpPr>
          <p:nvPr/>
        </p:nvGrpSpPr>
        <p:grpSpPr bwMode="auto">
          <a:xfrm>
            <a:off x="3668713" y="2964180"/>
            <a:ext cx="2386012" cy="603250"/>
            <a:chOff x="1632" y="3312"/>
            <a:chExt cx="1296" cy="336"/>
          </a:xfrm>
        </p:grpSpPr>
        <p:sp>
          <p:nvSpPr>
            <p:cNvPr id="11" name="Oval 15">
              <a:extLst>
                <a:ext uri="{FF2B5EF4-FFF2-40B4-BE49-F238E27FC236}">
                  <a16:creationId xmlns:a16="http://schemas.microsoft.com/office/drawing/2014/main" id="{A3237A71-A3BF-4D8F-916A-CF57A060993E}"/>
                </a:ext>
              </a:extLst>
            </p:cNvPr>
            <p:cNvSpPr>
              <a:spLocks noChangeArrowheads="1"/>
            </p:cNvSpPr>
            <p:nvPr/>
          </p:nvSpPr>
          <p:spPr bwMode="auto">
            <a:xfrm>
              <a:off x="1654" y="3312"/>
              <a:ext cx="1252" cy="336"/>
            </a:xfrm>
            <a:prstGeom prst="ellipse">
              <a:avLst/>
            </a:prstGeom>
            <a:solidFill>
              <a:srgbClr val="339933"/>
            </a:solidFill>
            <a:ln w="9525">
              <a:solidFill>
                <a:schemeClr val="tx1"/>
              </a:solidFill>
              <a:miter lim="800000"/>
              <a:headEnd/>
              <a:tailEnd/>
            </a:ln>
            <a:effectLst>
              <a:prstShdw prst="shdw13" dist="53882" dir="13500000">
                <a:schemeClr val="bg2"/>
              </a:prst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sp>
          <p:nvSpPr>
            <p:cNvPr id="12" name="Text Box 16">
              <a:extLst>
                <a:ext uri="{FF2B5EF4-FFF2-40B4-BE49-F238E27FC236}">
                  <a16:creationId xmlns:a16="http://schemas.microsoft.com/office/drawing/2014/main" id="{A2DFFD45-4559-760C-F696-EE6DD5AF4EE6}"/>
                </a:ext>
              </a:extLst>
            </p:cNvPr>
            <p:cNvSpPr txBox="1">
              <a:spLocks noChangeArrowheads="1"/>
            </p:cNvSpPr>
            <p:nvPr/>
          </p:nvSpPr>
          <p:spPr bwMode="auto">
            <a:xfrm>
              <a:off x="1632" y="3368"/>
              <a:ext cx="129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_tradnl" altLang="es-ES" b="1">
                  <a:solidFill>
                    <a:schemeClr val="bg1"/>
                  </a:solidFill>
                  <a:latin typeface="Comic Sans MS" panose="030F0702030302020204" pitchFamily="66" charset="0"/>
                </a:rPr>
                <a:t>PROMOCIÓN</a:t>
              </a:r>
            </a:p>
          </p:txBody>
        </p:sp>
      </p:grpSp>
      <p:sp>
        <p:nvSpPr>
          <p:cNvPr id="13" name="Line 17">
            <a:extLst>
              <a:ext uri="{FF2B5EF4-FFF2-40B4-BE49-F238E27FC236}">
                <a16:creationId xmlns:a16="http://schemas.microsoft.com/office/drawing/2014/main" id="{4F78F1D3-A81B-314B-A77A-49B758B9F611}"/>
              </a:ext>
            </a:extLst>
          </p:cNvPr>
          <p:cNvSpPr>
            <a:spLocks noChangeShapeType="1"/>
          </p:cNvSpPr>
          <p:nvPr/>
        </p:nvSpPr>
        <p:spPr bwMode="auto">
          <a:xfrm flipH="1">
            <a:off x="5311775" y="2535555"/>
            <a:ext cx="495300" cy="400050"/>
          </a:xfrm>
          <a:prstGeom prst="line">
            <a:avLst/>
          </a:prstGeom>
          <a:noFill/>
          <a:ln w="28575">
            <a:solidFill>
              <a:srgbClr val="000066"/>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latin typeface="Comic Sans MS" panose="030F0702030302020204" pitchFamily="66" charset="0"/>
            </a:endParaRPr>
          </a:p>
        </p:txBody>
      </p:sp>
      <p:grpSp>
        <p:nvGrpSpPr>
          <p:cNvPr id="14" name="Group 18">
            <a:extLst>
              <a:ext uri="{FF2B5EF4-FFF2-40B4-BE49-F238E27FC236}">
                <a16:creationId xmlns:a16="http://schemas.microsoft.com/office/drawing/2014/main" id="{4EBA8CC4-EB8A-E93F-682D-2D6011EE9463}"/>
              </a:ext>
            </a:extLst>
          </p:cNvPr>
          <p:cNvGrpSpPr>
            <a:grpSpLocks/>
          </p:cNvGrpSpPr>
          <p:nvPr/>
        </p:nvGrpSpPr>
        <p:grpSpPr bwMode="auto">
          <a:xfrm>
            <a:off x="6137275" y="2964180"/>
            <a:ext cx="2282825" cy="603250"/>
            <a:chOff x="3072" y="3024"/>
            <a:chExt cx="1296" cy="336"/>
          </a:xfrm>
        </p:grpSpPr>
        <p:sp>
          <p:nvSpPr>
            <p:cNvPr id="15" name="Oval 19">
              <a:extLst>
                <a:ext uri="{FF2B5EF4-FFF2-40B4-BE49-F238E27FC236}">
                  <a16:creationId xmlns:a16="http://schemas.microsoft.com/office/drawing/2014/main" id="{0A3ABD7D-635A-F64E-FDC9-D336752D574F}"/>
                </a:ext>
              </a:extLst>
            </p:cNvPr>
            <p:cNvSpPr>
              <a:spLocks noChangeArrowheads="1"/>
            </p:cNvSpPr>
            <p:nvPr/>
          </p:nvSpPr>
          <p:spPr bwMode="auto">
            <a:xfrm>
              <a:off x="3094" y="3024"/>
              <a:ext cx="1252" cy="336"/>
            </a:xfrm>
            <a:prstGeom prst="ellipse">
              <a:avLst/>
            </a:prstGeom>
            <a:solidFill>
              <a:srgbClr val="800000"/>
            </a:solidFill>
            <a:ln w="9525">
              <a:solidFill>
                <a:schemeClr val="tx1"/>
              </a:solidFill>
              <a:miter lim="800000"/>
              <a:headEnd/>
              <a:tailEnd/>
            </a:ln>
            <a:effectLst>
              <a:prstShdw prst="shdw13" dist="53882" dir="13500000">
                <a:schemeClr val="bg2"/>
              </a:prst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sp>
          <p:nvSpPr>
            <p:cNvPr id="16" name="Text Box 20">
              <a:extLst>
                <a:ext uri="{FF2B5EF4-FFF2-40B4-BE49-F238E27FC236}">
                  <a16:creationId xmlns:a16="http://schemas.microsoft.com/office/drawing/2014/main" id="{2D066345-D615-99AB-D50C-B5FA2035C642}"/>
                </a:ext>
              </a:extLst>
            </p:cNvPr>
            <p:cNvSpPr txBox="1">
              <a:spLocks noChangeArrowheads="1"/>
            </p:cNvSpPr>
            <p:nvPr/>
          </p:nvSpPr>
          <p:spPr bwMode="auto">
            <a:xfrm>
              <a:off x="3072" y="3080"/>
              <a:ext cx="1296" cy="206"/>
            </a:xfrm>
            <a:prstGeom prst="rect">
              <a:avLst/>
            </a:prstGeom>
            <a:noFill/>
            <a:ln w="12700" cap="sq">
              <a:noFill/>
              <a:miter lim="800000"/>
              <a:headEnd type="none" w="sm" len="sm"/>
              <a:tailEnd type="none" w="sm" len="sm"/>
            </a:ln>
            <a:effectLst/>
          </p:spPr>
          <p:txBody>
            <a:bodyPr>
              <a:spAutoFit/>
            </a:bodyPr>
            <a:lstStyle/>
            <a:p>
              <a:pPr algn="ctr">
                <a:defRPr/>
              </a:pPr>
              <a:r>
                <a:rPr lang="es-ES_tradnl" b="1">
                  <a:solidFill>
                    <a:schemeClr val="bg1"/>
                  </a:solidFill>
                  <a:latin typeface="Comic Sans MS" panose="030F0702030302020204" pitchFamily="66" charset="0"/>
                </a:rPr>
                <a:t>RR.PP</a:t>
              </a:r>
              <a:r>
                <a:rPr lang="es-ES_tradnl">
                  <a:solidFill>
                    <a:schemeClr val="bg1"/>
                  </a:solidFill>
                  <a:effectLst>
                    <a:outerShdw blurRad="38100" dist="38100" dir="2700000" algn="tl">
                      <a:srgbClr val="C0C0C0"/>
                    </a:outerShdw>
                  </a:effectLst>
                  <a:latin typeface="Comic Sans MS" panose="030F0702030302020204" pitchFamily="66" charset="0"/>
                </a:rPr>
                <a:t>.</a:t>
              </a:r>
            </a:p>
          </p:txBody>
        </p:sp>
      </p:grpSp>
      <p:sp>
        <p:nvSpPr>
          <p:cNvPr id="17" name="Line 21">
            <a:extLst>
              <a:ext uri="{FF2B5EF4-FFF2-40B4-BE49-F238E27FC236}">
                <a16:creationId xmlns:a16="http://schemas.microsoft.com/office/drawing/2014/main" id="{DE15FF82-6D0A-9192-ABC0-EDFAE0E26EAF}"/>
              </a:ext>
            </a:extLst>
          </p:cNvPr>
          <p:cNvSpPr>
            <a:spLocks noChangeShapeType="1"/>
          </p:cNvSpPr>
          <p:nvPr/>
        </p:nvSpPr>
        <p:spPr bwMode="auto">
          <a:xfrm>
            <a:off x="6219825" y="2535555"/>
            <a:ext cx="495300" cy="355600"/>
          </a:xfrm>
          <a:prstGeom prst="line">
            <a:avLst/>
          </a:prstGeom>
          <a:noFill/>
          <a:ln w="28575">
            <a:solidFill>
              <a:srgbClr val="000066"/>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latin typeface="Comic Sans MS" panose="030F0702030302020204" pitchFamily="66" charset="0"/>
            </a:endParaRPr>
          </a:p>
        </p:txBody>
      </p:sp>
      <p:sp>
        <p:nvSpPr>
          <p:cNvPr id="18" name="Oval 22">
            <a:extLst>
              <a:ext uri="{FF2B5EF4-FFF2-40B4-BE49-F238E27FC236}">
                <a16:creationId xmlns:a16="http://schemas.microsoft.com/office/drawing/2014/main" id="{20F297EF-DE84-5859-EEA6-F205359A64A5}"/>
              </a:ext>
            </a:extLst>
          </p:cNvPr>
          <p:cNvSpPr>
            <a:spLocks noChangeArrowheads="1"/>
          </p:cNvSpPr>
          <p:nvPr/>
        </p:nvSpPr>
        <p:spPr bwMode="auto">
          <a:xfrm>
            <a:off x="7916863" y="3526155"/>
            <a:ext cx="2413000" cy="703262"/>
          </a:xfrm>
          <a:prstGeom prst="ellipse">
            <a:avLst/>
          </a:prstGeom>
          <a:solidFill>
            <a:srgbClr val="FFCC00"/>
          </a:solidFill>
          <a:ln w="9525">
            <a:solidFill>
              <a:schemeClr val="tx1"/>
            </a:solidFill>
            <a:miter lim="800000"/>
            <a:headEnd/>
            <a:tailEnd/>
          </a:ln>
          <a:effectLst>
            <a:prstShdw prst="shdw13" dist="53882" dir="13500000">
              <a:schemeClr val="bg2"/>
            </a:prst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sp>
        <p:nvSpPr>
          <p:cNvPr id="19" name="Text Box 23">
            <a:extLst>
              <a:ext uri="{FF2B5EF4-FFF2-40B4-BE49-F238E27FC236}">
                <a16:creationId xmlns:a16="http://schemas.microsoft.com/office/drawing/2014/main" id="{A2A30B65-15DD-AE71-A6DD-5021B1C139A1}"/>
              </a:ext>
            </a:extLst>
          </p:cNvPr>
          <p:cNvSpPr txBox="1">
            <a:spLocks noChangeArrowheads="1"/>
          </p:cNvSpPr>
          <p:nvPr/>
        </p:nvSpPr>
        <p:spPr bwMode="auto">
          <a:xfrm>
            <a:off x="7988300" y="3615055"/>
            <a:ext cx="2379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_tradnl" altLang="es-ES" b="1">
                <a:solidFill>
                  <a:srgbClr val="000099"/>
                </a:solidFill>
                <a:latin typeface="Comic Sans MS" panose="030F0702030302020204" pitchFamily="66" charset="0"/>
              </a:rPr>
              <a:t>MK DIRECTO</a:t>
            </a:r>
          </a:p>
        </p:txBody>
      </p:sp>
      <p:sp>
        <p:nvSpPr>
          <p:cNvPr id="20" name="Line 24">
            <a:extLst>
              <a:ext uri="{FF2B5EF4-FFF2-40B4-BE49-F238E27FC236}">
                <a16:creationId xmlns:a16="http://schemas.microsoft.com/office/drawing/2014/main" id="{BC5E7120-483A-94D3-A1E1-83D68C56A705}"/>
              </a:ext>
            </a:extLst>
          </p:cNvPr>
          <p:cNvSpPr>
            <a:spLocks noChangeShapeType="1"/>
          </p:cNvSpPr>
          <p:nvPr/>
        </p:nvSpPr>
        <p:spPr bwMode="auto">
          <a:xfrm>
            <a:off x="6550025" y="2535555"/>
            <a:ext cx="2559050" cy="838200"/>
          </a:xfrm>
          <a:prstGeom prst="line">
            <a:avLst/>
          </a:prstGeom>
          <a:noFill/>
          <a:ln w="28575">
            <a:solidFill>
              <a:srgbClr val="000066"/>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latin typeface="Comic Sans MS" panose="030F0702030302020204" pitchFamily="66" charset="0"/>
            </a:endParaRPr>
          </a:p>
        </p:txBody>
      </p:sp>
      <p:sp>
        <p:nvSpPr>
          <p:cNvPr id="21" name="Text Box 25">
            <a:extLst>
              <a:ext uri="{FF2B5EF4-FFF2-40B4-BE49-F238E27FC236}">
                <a16:creationId xmlns:a16="http://schemas.microsoft.com/office/drawing/2014/main" id="{D00EEB00-1972-97B3-D030-F97C441E4376}"/>
              </a:ext>
            </a:extLst>
          </p:cNvPr>
          <p:cNvSpPr txBox="1">
            <a:spLocks noChangeArrowheads="1"/>
          </p:cNvSpPr>
          <p:nvPr/>
        </p:nvSpPr>
        <p:spPr bwMode="auto">
          <a:xfrm>
            <a:off x="3524250" y="2116455"/>
            <a:ext cx="4824413" cy="466725"/>
          </a:xfrm>
          <a:prstGeom prst="rect">
            <a:avLst/>
          </a:prstGeom>
          <a:solidFill>
            <a:schemeClr val="bg1"/>
          </a:solidFill>
          <a:ln w="9525">
            <a:solidFill>
              <a:srgbClr val="A50021"/>
            </a:solidFill>
            <a:miter lim="800000"/>
            <a:headEnd/>
            <a:tailEnd/>
          </a:ln>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 altLang="es-ES" b="1" dirty="0">
                <a:solidFill>
                  <a:srgbClr val="800000"/>
                </a:solidFill>
                <a:latin typeface="Comic Sans MS" panose="030F0702030302020204" pitchFamily="66" charset="0"/>
              </a:rPr>
              <a:t>MIX DE COMUNICACION</a:t>
            </a:r>
          </a:p>
        </p:txBody>
      </p:sp>
      <p:sp>
        <p:nvSpPr>
          <p:cNvPr id="22" name="Oval 27">
            <a:extLst>
              <a:ext uri="{FF2B5EF4-FFF2-40B4-BE49-F238E27FC236}">
                <a16:creationId xmlns:a16="http://schemas.microsoft.com/office/drawing/2014/main" id="{79B7921B-0D6A-E987-904C-1E444A9152E6}"/>
              </a:ext>
            </a:extLst>
          </p:cNvPr>
          <p:cNvSpPr>
            <a:spLocks noChangeArrowheads="1"/>
          </p:cNvSpPr>
          <p:nvPr/>
        </p:nvSpPr>
        <p:spPr bwMode="auto">
          <a:xfrm>
            <a:off x="4892675" y="3561080"/>
            <a:ext cx="2303463" cy="957262"/>
          </a:xfrm>
          <a:prstGeom prst="ellipse">
            <a:avLst/>
          </a:prstGeom>
          <a:solidFill>
            <a:srgbClr val="990099"/>
          </a:solidFill>
          <a:ln w="9525">
            <a:solidFill>
              <a:schemeClr val="tx1"/>
            </a:solidFill>
            <a:miter lim="800000"/>
            <a:headEnd/>
            <a:tailEnd/>
          </a:ln>
          <a:effectLst>
            <a:prstShdw prst="shdw13" dist="53882" dir="13500000">
              <a:schemeClr val="bg2"/>
            </a:prst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grpSp>
        <p:nvGrpSpPr>
          <p:cNvPr id="23" name="Group 28">
            <a:extLst>
              <a:ext uri="{FF2B5EF4-FFF2-40B4-BE49-F238E27FC236}">
                <a16:creationId xmlns:a16="http://schemas.microsoft.com/office/drawing/2014/main" id="{C21F6BA2-BF54-F0DD-A9DA-36BDAF3C1260}"/>
              </a:ext>
            </a:extLst>
          </p:cNvPr>
          <p:cNvGrpSpPr>
            <a:grpSpLocks/>
          </p:cNvGrpSpPr>
          <p:nvPr/>
        </p:nvGrpSpPr>
        <p:grpSpPr bwMode="auto">
          <a:xfrm>
            <a:off x="4981575" y="2583181"/>
            <a:ext cx="2228850" cy="1852613"/>
            <a:chOff x="2304" y="3072"/>
            <a:chExt cx="1296" cy="1167"/>
          </a:xfrm>
        </p:grpSpPr>
        <p:sp>
          <p:nvSpPr>
            <p:cNvPr id="24" name="Text Box 29">
              <a:extLst>
                <a:ext uri="{FF2B5EF4-FFF2-40B4-BE49-F238E27FC236}">
                  <a16:creationId xmlns:a16="http://schemas.microsoft.com/office/drawing/2014/main" id="{376B3775-844E-CBD2-982C-83DA7B076D9A}"/>
                </a:ext>
              </a:extLst>
            </p:cNvPr>
            <p:cNvSpPr txBox="1">
              <a:spLocks noChangeArrowheads="1"/>
            </p:cNvSpPr>
            <p:nvPr/>
          </p:nvSpPr>
          <p:spPr bwMode="auto">
            <a:xfrm>
              <a:off x="2304" y="3716"/>
              <a:ext cx="129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_tradnl" altLang="es-ES" b="1" dirty="0">
                  <a:solidFill>
                    <a:schemeClr val="bg1"/>
                  </a:solidFill>
                  <a:latin typeface="Comic Sans MS" panose="030F0702030302020204" pitchFamily="66" charset="0"/>
                </a:rPr>
                <a:t>VENTA PERSONAL</a:t>
              </a:r>
            </a:p>
          </p:txBody>
        </p:sp>
        <p:sp>
          <p:nvSpPr>
            <p:cNvPr id="25" name="Line 30">
              <a:extLst>
                <a:ext uri="{FF2B5EF4-FFF2-40B4-BE49-F238E27FC236}">
                  <a16:creationId xmlns:a16="http://schemas.microsoft.com/office/drawing/2014/main" id="{47BFAC59-A7BF-2A28-DA17-D86C9378B829}"/>
                </a:ext>
              </a:extLst>
            </p:cNvPr>
            <p:cNvSpPr>
              <a:spLocks noChangeShapeType="1"/>
            </p:cNvSpPr>
            <p:nvPr/>
          </p:nvSpPr>
          <p:spPr bwMode="auto">
            <a:xfrm>
              <a:off x="2928" y="3072"/>
              <a:ext cx="0" cy="624"/>
            </a:xfrm>
            <a:prstGeom prst="line">
              <a:avLst/>
            </a:prstGeom>
            <a:noFill/>
            <a:ln w="28575">
              <a:solidFill>
                <a:srgbClr val="000066"/>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latin typeface="Comic Sans MS" panose="030F0702030302020204" pitchFamily="66" charset="0"/>
              </a:endParaRPr>
            </a:p>
          </p:txBody>
        </p:sp>
      </p:grpSp>
      <p:sp>
        <p:nvSpPr>
          <p:cNvPr id="26" name="CuadroTexto 25">
            <a:extLst>
              <a:ext uri="{FF2B5EF4-FFF2-40B4-BE49-F238E27FC236}">
                <a16:creationId xmlns:a16="http://schemas.microsoft.com/office/drawing/2014/main" id="{75958A77-AC6B-7433-F0FC-AF432F78F141}"/>
              </a:ext>
            </a:extLst>
          </p:cNvPr>
          <p:cNvSpPr txBox="1"/>
          <p:nvPr/>
        </p:nvSpPr>
        <p:spPr>
          <a:xfrm>
            <a:off x="2488367" y="29992"/>
            <a:ext cx="9491598"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91974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animBg="1"/>
      <p:bldP spid="13" grpId="0" animBg="1"/>
      <p:bldP spid="17" grpId="0" animBg="1"/>
      <p:bldP spid="18" grpId="0" animBg="1"/>
      <p:bldP spid="19" grpId="0"/>
      <p:bldP spid="20" grpId="0" animBg="1"/>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381E51A6-C7FA-A29B-6A85-928B719D7E1F}"/>
              </a:ext>
            </a:extLst>
          </p:cNvPr>
          <p:cNvCxnSpPr/>
          <p:nvPr/>
        </p:nvCxnSpPr>
        <p:spPr>
          <a:xfrm>
            <a:off x="0" y="590838"/>
            <a:ext cx="12192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3949CB60-0D13-5861-C179-50A81F17E468}"/>
              </a:ext>
            </a:extLst>
          </p:cNvPr>
          <p:cNvPicPr>
            <a:picLocks noChangeAspect="1"/>
          </p:cNvPicPr>
          <p:nvPr/>
        </p:nvPicPr>
        <p:blipFill>
          <a:blip r:embed="rId2"/>
          <a:stretch>
            <a:fillRect/>
          </a:stretch>
        </p:blipFill>
        <p:spPr>
          <a:xfrm>
            <a:off x="14068" y="39558"/>
            <a:ext cx="872197" cy="490611"/>
          </a:xfrm>
          <a:prstGeom prst="rect">
            <a:avLst/>
          </a:prstGeom>
        </p:spPr>
      </p:pic>
      <p:sp>
        <p:nvSpPr>
          <p:cNvPr id="2" name="CuadroTexto 1">
            <a:extLst>
              <a:ext uri="{FF2B5EF4-FFF2-40B4-BE49-F238E27FC236}">
                <a16:creationId xmlns:a16="http://schemas.microsoft.com/office/drawing/2014/main" id="{00C0E212-E787-EB7A-96FA-217F4FDBE6B9}"/>
              </a:ext>
            </a:extLst>
          </p:cNvPr>
          <p:cNvSpPr txBox="1"/>
          <p:nvPr/>
        </p:nvSpPr>
        <p:spPr>
          <a:xfrm>
            <a:off x="886265" y="890252"/>
            <a:ext cx="11053028" cy="830997"/>
          </a:xfrm>
          <a:prstGeom prst="rect">
            <a:avLst/>
          </a:prstGeom>
          <a:noFill/>
        </p:spPr>
        <p:txBody>
          <a:bodyPr wrap="square" rtlCol="0">
            <a:spAutoFit/>
          </a:bodyPr>
          <a:lstStyle/>
          <a:p>
            <a:pPr lvl="1"/>
            <a:endParaRPr lang="es-ES" sz="2400" dirty="0">
              <a:effectLst>
                <a:outerShdw blurRad="38100" dist="38100" dir="2700000" algn="tl">
                  <a:srgbClr val="000000">
                    <a:alpha val="43137"/>
                  </a:srgbClr>
                </a:outerShdw>
              </a:effectLst>
              <a:latin typeface="Comic Sans MS" panose="030F0702030302020204" pitchFamily="66" charset="0"/>
            </a:endParaRPr>
          </a:p>
          <a:p>
            <a:pPr lvl="2"/>
            <a:r>
              <a:rPr lang="es-ES" sz="2400" dirty="0">
                <a:latin typeface="Comic Sans MS" panose="030F0702030302020204" pitchFamily="66" charset="0"/>
              </a:rPr>
              <a:t>Factores que influyen en el </a:t>
            </a:r>
            <a:r>
              <a:rPr lang="es-ES" sz="2400" dirty="0" err="1">
                <a:latin typeface="Comic Sans MS" panose="030F0702030302020204" pitchFamily="66" charset="0"/>
              </a:rPr>
              <a:t>mix</a:t>
            </a:r>
            <a:r>
              <a:rPr lang="es-ES" sz="2400" dirty="0">
                <a:latin typeface="Comic Sans MS" panose="030F0702030302020204" pitchFamily="66" charset="0"/>
              </a:rPr>
              <a:t> de comunicación</a:t>
            </a:r>
          </a:p>
        </p:txBody>
      </p:sp>
      <p:sp>
        <p:nvSpPr>
          <p:cNvPr id="26" name="AutoShape 3">
            <a:extLst>
              <a:ext uri="{FF2B5EF4-FFF2-40B4-BE49-F238E27FC236}">
                <a16:creationId xmlns:a16="http://schemas.microsoft.com/office/drawing/2014/main" id="{29FA10B4-91BF-6096-1E2F-4BB3D32C008A}"/>
              </a:ext>
            </a:extLst>
          </p:cNvPr>
          <p:cNvSpPr>
            <a:spLocks noChangeArrowheads="1"/>
          </p:cNvSpPr>
          <p:nvPr/>
        </p:nvSpPr>
        <p:spPr bwMode="auto">
          <a:xfrm>
            <a:off x="4663281" y="3166881"/>
            <a:ext cx="3019425" cy="1447800"/>
          </a:xfrm>
          <a:prstGeom prst="star16">
            <a:avLst>
              <a:gd name="adj" fmla="val 37500"/>
            </a:avLst>
          </a:prstGeom>
          <a:solidFill>
            <a:srgbClr val="A50021"/>
          </a:solidFill>
          <a:ln w="9525">
            <a:solidFill>
              <a:srgbClr val="000000"/>
            </a:solidFill>
            <a:miter lim="800000"/>
            <a:headEnd/>
            <a:tailEnd/>
          </a:ln>
          <a:effectLst>
            <a:prstShdw prst="shdw13" dist="53882" dir="13500000">
              <a:srgbClr val="808080"/>
            </a:prstShdw>
          </a:effec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s-ES" altLang="es-ES">
              <a:latin typeface="Comic Sans MS" panose="030F0702030302020204" pitchFamily="66" charset="0"/>
            </a:endParaRPr>
          </a:p>
        </p:txBody>
      </p:sp>
      <p:sp>
        <p:nvSpPr>
          <p:cNvPr id="27" name="Text Box 4">
            <a:extLst>
              <a:ext uri="{FF2B5EF4-FFF2-40B4-BE49-F238E27FC236}">
                <a16:creationId xmlns:a16="http://schemas.microsoft.com/office/drawing/2014/main" id="{873A067D-DFB1-B309-96A7-FA5D6CEBC7BE}"/>
              </a:ext>
            </a:extLst>
          </p:cNvPr>
          <p:cNvSpPr txBox="1">
            <a:spLocks noChangeArrowheads="1"/>
          </p:cNvSpPr>
          <p:nvPr/>
        </p:nvSpPr>
        <p:spPr bwMode="auto">
          <a:xfrm>
            <a:off x="4928394" y="3338331"/>
            <a:ext cx="2489200" cy="622300"/>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r>
              <a:rPr lang="es-ES" altLang="es-ES" sz="2000" b="1">
                <a:solidFill>
                  <a:srgbClr val="FFFFFF"/>
                </a:solidFill>
                <a:latin typeface="Comic Sans MS" panose="030F0702030302020204" pitchFamily="66" charset="0"/>
              </a:rPr>
              <a:t>FACTORES PARA LA ELECCIÓN DEL MIX</a:t>
            </a:r>
            <a:endParaRPr lang="es-ES" altLang="es-ES" sz="2000">
              <a:solidFill>
                <a:srgbClr val="FFFFFF"/>
              </a:solidFill>
              <a:latin typeface="Comic Sans MS" panose="030F0702030302020204" pitchFamily="66" charset="0"/>
            </a:endParaRPr>
          </a:p>
        </p:txBody>
      </p:sp>
      <p:sp>
        <p:nvSpPr>
          <p:cNvPr id="28" name="Text Box 5">
            <a:extLst>
              <a:ext uri="{FF2B5EF4-FFF2-40B4-BE49-F238E27FC236}">
                <a16:creationId xmlns:a16="http://schemas.microsoft.com/office/drawing/2014/main" id="{3BB6B129-491D-81AC-D233-819CD7382EEA}"/>
              </a:ext>
            </a:extLst>
          </p:cNvPr>
          <p:cNvSpPr txBox="1">
            <a:spLocks noChangeArrowheads="1"/>
          </p:cNvSpPr>
          <p:nvPr/>
        </p:nvSpPr>
        <p:spPr bwMode="auto">
          <a:xfrm>
            <a:off x="2229644" y="2357256"/>
            <a:ext cx="3322637" cy="4269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spcBef>
                <a:spcPct val="50000"/>
              </a:spcBef>
              <a:buClr>
                <a:srgbClr val="009900"/>
              </a:buClr>
            </a:pPr>
            <a:r>
              <a:rPr lang="es-ES" altLang="es-ES" b="1">
                <a:solidFill>
                  <a:srgbClr val="A50021"/>
                </a:solidFill>
                <a:latin typeface="Comic Sans MS" panose="030F0702030302020204" pitchFamily="66" charset="0"/>
              </a:rPr>
              <a:t>Tipo de mercado</a:t>
            </a:r>
          </a:p>
        </p:txBody>
      </p:sp>
      <p:sp>
        <p:nvSpPr>
          <p:cNvPr id="29" name="Text Box 6">
            <a:extLst>
              <a:ext uri="{FF2B5EF4-FFF2-40B4-BE49-F238E27FC236}">
                <a16:creationId xmlns:a16="http://schemas.microsoft.com/office/drawing/2014/main" id="{7E6DED6F-CFA8-DA00-27FF-A93B0DFA2EAE}"/>
              </a:ext>
            </a:extLst>
          </p:cNvPr>
          <p:cNvSpPr txBox="1">
            <a:spLocks noChangeArrowheads="1"/>
          </p:cNvSpPr>
          <p:nvPr/>
        </p:nvSpPr>
        <p:spPr bwMode="auto">
          <a:xfrm>
            <a:off x="6833394" y="2428694"/>
            <a:ext cx="3570287" cy="4269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spcBef>
                <a:spcPct val="50000"/>
              </a:spcBef>
              <a:buClr>
                <a:srgbClr val="009900"/>
              </a:buClr>
            </a:pPr>
            <a:r>
              <a:rPr lang="es-ES" altLang="es-ES" b="1">
                <a:solidFill>
                  <a:srgbClr val="669900"/>
                </a:solidFill>
                <a:latin typeface="Comic Sans MS" panose="030F0702030302020204" pitchFamily="66" charset="0"/>
              </a:rPr>
              <a:t>Tipo de producto</a:t>
            </a:r>
          </a:p>
        </p:txBody>
      </p:sp>
      <p:sp>
        <p:nvSpPr>
          <p:cNvPr id="30" name="Text Box 7">
            <a:extLst>
              <a:ext uri="{FF2B5EF4-FFF2-40B4-BE49-F238E27FC236}">
                <a16:creationId xmlns:a16="http://schemas.microsoft.com/office/drawing/2014/main" id="{BCC06A00-E721-B1E8-669B-F55342D3D623}"/>
              </a:ext>
            </a:extLst>
          </p:cNvPr>
          <p:cNvSpPr txBox="1">
            <a:spLocks noChangeArrowheads="1"/>
          </p:cNvSpPr>
          <p:nvPr/>
        </p:nvSpPr>
        <p:spPr bwMode="auto">
          <a:xfrm>
            <a:off x="2086769" y="4463869"/>
            <a:ext cx="3322637" cy="75931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buClr>
                <a:srgbClr val="009900"/>
              </a:buClr>
            </a:pPr>
            <a:r>
              <a:rPr lang="es-ES" altLang="es-ES" b="1">
                <a:solidFill>
                  <a:srgbClr val="000099"/>
                </a:solidFill>
                <a:latin typeface="Comic Sans MS" panose="030F0702030302020204" pitchFamily="66" charset="0"/>
              </a:rPr>
              <a:t>Ciclo de vida del producto</a:t>
            </a:r>
          </a:p>
        </p:txBody>
      </p:sp>
      <p:sp>
        <p:nvSpPr>
          <p:cNvPr id="31" name="Text Box 8">
            <a:extLst>
              <a:ext uri="{FF2B5EF4-FFF2-40B4-BE49-F238E27FC236}">
                <a16:creationId xmlns:a16="http://schemas.microsoft.com/office/drawing/2014/main" id="{332720C6-248D-CB9C-042F-DFF081FADF62}"/>
              </a:ext>
            </a:extLst>
          </p:cNvPr>
          <p:cNvSpPr txBox="1">
            <a:spLocks noChangeArrowheads="1"/>
          </p:cNvSpPr>
          <p:nvPr/>
        </p:nvSpPr>
        <p:spPr bwMode="auto">
          <a:xfrm>
            <a:off x="4434681" y="5659256"/>
            <a:ext cx="3322638" cy="4269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buClr>
                <a:srgbClr val="009900"/>
              </a:buClr>
            </a:pPr>
            <a:r>
              <a:rPr lang="es-ES" altLang="es-ES" b="1">
                <a:solidFill>
                  <a:srgbClr val="FF9900"/>
                </a:solidFill>
                <a:latin typeface="Comic Sans MS" panose="030F0702030302020204" pitchFamily="66" charset="0"/>
              </a:rPr>
              <a:t>Recursos disponibles</a:t>
            </a:r>
          </a:p>
        </p:txBody>
      </p:sp>
      <p:sp>
        <p:nvSpPr>
          <p:cNvPr id="32" name="Text Box 9">
            <a:extLst>
              <a:ext uri="{FF2B5EF4-FFF2-40B4-BE49-F238E27FC236}">
                <a16:creationId xmlns:a16="http://schemas.microsoft.com/office/drawing/2014/main" id="{B5C04106-BA70-E5F1-40AB-6D3BE0C42B6B}"/>
              </a:ext>
            </a:extLst>
          </p:cNvPr>
          <p:cNvSpPr txBox="1">
            <a:spLocks noChangeArrowheads="1"/>
          </p:cNvSpPr>
          <p:nvPr/>
        </p:nvSpPr>
        <p:spPr bwMode="auto">
          <a:xfrm>
            <a:off x="7328694" y="4463869"/>
            <a:ext cx="3322637" cy="109171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buClr>
                <a:srgbClr val="009900"/>
              </a:buClr>
            </a:pPr>
            <a:r>
              <a:rPr lang="es-ES" altLang="es-ES" b="1">
                <a:solidFill>
                  <a:srgbClr val="008080"/>
                </a:solidFill>
                <a:latin typeface="Comic Sans MS" panose="030F0702030302020204" pitchFamily="66" charset="0"/>
              </a:rPr>
              <a:t>Objetivos y estrategias de la empresa</a:t>
            </a:r>
          </a:p>
        </p:txBody>
      </p:sp>
      <p:sp>
        <p:nvSpPr>
          <p:cNvPr id="33" name="Text Box 10">
            <a:extLst>
              <a:ext uri="{FF2B5EF4-FFF2-40B4-BE49-F238E27FC236}">
                <a16:creationId xmlns:a16="http://schemas.microsoft.com/office/drawing/2014/main" id="{7437A274-6404-80F9-1876-4E0D1AA31C75}"/>
              </a:ext>
            </a:extLst>
          </p:cNvPr>
          <p:cNvSpPr txBox="1">
            <a:spLocks noChangeArrowheads="1"/>
          </p:cNvSpPr>
          <p:nvPr/>
        </p:nvSpPr>
        <p:spPr bwMode="auto">
          <a:xfrm>
            <a:off x="8178006" y="3600269"/>
            <a:ext cx="2376488" cy="4269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spcBef>
                <a:spcPct val="50000"/>
              </a:spcBef>
              <a:buClr>
                <a:srgbClr val="009900"/>
              </a:buClr>
            </a:pPr>
            <a:r>
              <a:rPr lang="es-ES" altLang="es-ES" b="1">
                <a:solidFill>
                  <a:srgbClr val="D60093"/>
                </a:solidFill>
                <a:latin typeface="Comic Sans MS" panose="030F0702030302020204" pitchFamily="66" charset="0"/>
              </a:rPr>
              <a:t>Marco legal</a:t>
            </a:r>
          </a:p>
        </p:txBody>
      </p:sp>
      <p:sp>
        <p:nvSpPr>
          <p:cNvPr id="34" name="Line 11">
            <a:extLst>
              <a:ext uri="{FF2B5EF4-FFF2-40B4-BE49-F238E27FC236}">
                <a16:creationId xmlns:a16="http://schemas.microsoft.com/office/drawing/2014/main" id="{22BC0F9A-2F0C-0F2B-0635-D5B363B23E64}"/>
              </a:ext>
            </a:extLst>
          </p:cNvPr>
          <p:cNvSpPr>
            <a:spLocks noChangeShapeType="1"/>
          </p:cNvSpPr>
          <p:nvPr/>
        </p:nvSpPr>
        <p:spPr bwMode="auto">
          <a:xfrm>
            <a:off x="3696494" y="2863669"/>
            <a:ext cx="1155700" cy="552450"/>
          </a:xfrm>
          <a:prstGeom prst="line">
            <a:avLst/>
          </a:prstGeom>
          <a:noFill/>
          <a:ln w="38100">
            <a:solidFill>
              <a:srgbClr val="A5002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35" name="Line 12">
            <a:extLst>
              <a:ext uri="{FF2B5EF4-FFF2-40B4-BE49-F238E27FC236}">
                <a16:creationId xmlns:a16="http://schemas.microsoft.com/office/drawing/2014/main" id="{02CD12EA-967B-3A3A-D83C-3546ED4D24CE}"/>
              </a:ext>
            </a:extLst>
          </p:cNvPr>
          <p:cNvSpPr>
            <a:spLocks noChangeShapeType="1"/>
          </p:cNvSpPr>
          <p:nvPr/>
        </p:nvSpPr>
        <p:spPr bwMode="auto">
          <a:xfrm flipV="1">
            <a:off x="3944144" y="4063819"/>
            <a:ext cx="722312" cy="400050"/>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36" name="Line 13">
            <a:extLst>
              <a:ext uri="{FF2B5EF4-FFF2-40B4-BE49-F238E27FC236}">
                <a16:creationId xmlns:a16="http://schemas.microsoft.com/office/drawing/2014/main" id="{BB678AA8-31B4-E192-BCC8-7C9579025EBF}"/>
              </a:ext>
            </a:extLst>
          </p:cNvPr>
          <p:cNvSpPr>
            <a:spLocks noChangeShapeType="1"/>
          </p:cNvSpPr>
          <p:nvPr/>
        </p:nvSpPr>
        <p:spPr bwMode="auto">
          <a:xfrm flipH="1" flipV="1">
            <a:off x="6172994" y="4752794"/>
            <a:ext cx="61912" cy="701675"/>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37" name="Line 14">
            <a:extLst>
              <a:ext uri="{FF2B5EF4-FFF2-40B4-BE49-F238E27FC236}">
                <a16:creationId xmlns:a16="http://schemas.microsoft.com/office/drawing/2014/main" id="{C735A122-2CE2-A868-0D66-75ED007E9512}"/>
              </a:ext>
            </a:extLst>
          </p:cNvPr>
          <p:cNvSpPr>
            <a:spLocks noChangeShapeType="1"/>
          </p:cNvSpPr>
          <p:nvPr/>
        </p:nvSpPr>
        <p:spPr bwMode="auto">
          <a:xfrm flipH="1" flipV="1">
            <a:off x="7412831" y="4086044"/>
            <a:ext cx="433388" cy="304800"/>
          </a:xfrm>
          <a:prstGeom prst="line">
            <a:avLst/>
          </a:prstGeom>
          <a:noFill/>
          <a:ln w="38100">
            <a:solidFill>
              <a:srgbClr val="00808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38" name="Line 15">
            <a:extLst>
              <a:ext uri="{FF2B5EF4-FFF2-40B4-BE49-F238E27FC236}">
                <a16:creationId xmlns:a16="http://schemas.microsoft.com/office/drawing/2014/main" id="{03D649C2-7E3A-8255-72E5-65D3FE9082B9}"/>
              </a:ext>
            </a:extLst>
          </p:cNvPr>
          <p:cNvSpPr>
            <a:spLocks noChangeShapeType="1"/>
          </p:cNvSpPr>
          <p:nvPr/>
        </p:nvSpPr>
        <p:spPr bwMode="auto">
          <a:xfrm flipH="1">
            <a:off x="7433469" y="2901769"/>
            <a:ext cx="557212" cy="457200"/>
          </a:xfrm>
          <a:prstGeom prst="line">
            <a:avLst/>
          </a:prstGeom>
          <a:noFill/>
          <a:ln w="38100">
            <a:solidFill>
              <a:srgbClr val="6699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39" name="Line 16">
            <a:extLst>
              <a:ext uri="{FF2B5EF4-FFF2-40B4-BE49-F238E27FC236}">
                <a16:creationId xmlns:a16="http://schemas.microsoft.com/office/drawing/2014/main" id="{F85167D2-75B7-32D9-DCBA-D0397D59CDE5}"/>
              </a:ext>
            </a:extLst>
          </p:cNvPr>
          <p:cNvSpPr>
            <a:spLocks noChangeShapeType="1"/>
          </p:cNvSpPr>
          <p:nvPr/>
        </p:nvSpPr>
        <p:spPr bwMode="auto">
          <a:xfrm flipH="1">
            <a:off x="7720806" y="3835219"/>
            <a:ext cx="474663" cy="0"/>
          </a:xfrm>
          <a:prstGeom prst="line">
            <a:avLst/>
          </a:prstGeom>
          <a:noFill/>
          <a:ln w="38100">
            <a:solidFill>
              <a:srgbClr val="D60093"/>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40" name="Text Box 17">
            <a:extLst>
              <a:ext uri="{FF2B5EF4-FFF2-40B4-BE49-F238E27FC236}">
                <a16:creationId xmlns:a16="http://schemas.microsoft.com/office/drawing/2014/main" id="{727A0C67-704B-3B25-56E8-296A408250B6}"/>
              </a:ext>
            </a:extLst>
          </p:cNvPr>
          <p:cNvSpPr txBox="1">
            <a:spLocks noChangeArrowheads="1"/>
          </p:cNvSpPr>
          <p:nvPr/>
        </p:nvSpPr>
        <p:spPr bwMode="auto">
          <a:xfrm>
            <a:off x="2086769" y="3568519"/>
            <a:ext cx="1195387" cy="4269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spcBef>
                <a:spcPct val="50000"/>
              </a:spcBef>
              <a:buClr>
                <a:srgbClr val="009900"/>
              </a:buClr>
            </a:pPr>
            <a:r>
              <a:rPr lang="es-ES" altLang="es-ES" b="1">
                <a:solidFill>
                  <a:srgbClr val="808080"/>
                </a:solidFill>
                <a:latin typeface="Comic Sans MS" panose="030F0702030302020204" pitchFamily="66" charset="0"/>
              </a:rPr>
              <a:t>Coste</a:t>
            </a:r>
          </a:p>
        </p:txBody>
      </p:sp>
      <p:sp>
        <p:nvSpPr>
          <p:cNvPr id="41" name="Line 18">
            <a:extLst>
              <a:ext uri="{FF2B5EF4-FFF2-40B4-BE49-F238E27FC236}">
                <a16:creationId xmlns:a16="http://schemas.microsoft.com/office/drawing/2014/main" id="{B44C056F-5322-746C-F344-886E027EC20E}"/>
              </a:ext>
            </a:extLst>
          </p:cNvPr>
          <p:cNvSpPr>
            <a:spLocks noChangeShapeType="1"/>
          </p:cNvSpPr>
          <p:nvPr/>
        </p:nvSpPr>
        <p:spPr bwMode="auto">
          <a:xfrm>
            <a:off x="3325019" y="3759019"/>
            <a:ext cx="1320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s-ES">
              <a:latin typeface="Comic Sans MS" panose="030F0702030302020204" pitchFamily="66" charset="0"/>
            </a:endParaRPr>
          </a:p>
        </p:txBody>
      </p:sp>
      <p:sp>
        <p:nvSpPr>
          <p:cNvPr id="5" name="CuadroTexto 4">
            <a:extLst>
              <a:ext uri="{FF2B5EF4-FFF2-40B4-BE49-F238E27FC236}">
                <a16:creationId xmlns:a16="http://schemas.microsoft.com/office/drawing/2014/main" id="{7489B6FB-8105-AEBE-F7A9-808DCD8BBBDC}"/>
              </a:ext>
            </a:extLst>
          </p:cNvPr>
          <p:cNvSpPr txBox="1"/>
          <p:nvPr/>
        </p:nvSpPr>
        <p:spPr>
          <a:xfrm>
            <a:off x="2488367" y="29992"/>
            <a:ext cx="8550694" cy="523220"/>
          </a:xfrm>
          <a:prstGeom prst="rect">
            <a:avLst/>
          </a:prstGeom>
          <a:noFill/>
        </p:spPr>
        <p:txBody>
          <a:bodyPr wrap="square" rtlCol="0">
            <a:spAutoFit/>
          </a:bodyPr>
          <a:lstStyle/>
          <a:p>
            <a:r>
              <a:rPr lang="es-ES" sz="2800" b="1" dirty="0">
                <a:solidFill>
                  <a:schemeClr val="accent3"/>
                </a:solidFill>
                <a:latin typeface="Comic Sans MS" panose="030F0702030302020204" pitchFamily="66" charset="0"/>
              </a:rPr>
              <a:t>3. MARKETING OPERATIVO. Comunicación </a:t>
            </a:r>
          </a:p>
        </p:txBody>
      </p:sp>
    </p:spTree>
    <p:extLst>
      <p:ext uri="{BB962C8B-B14F-4D97-AF65-F5344CB8AC3E}">
        <p14:creationId xmlns:p14="http://schemas.microsoft.com/office/powerpoint/2010/main" val="198812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6" grpId="0" animBg="1"/>
      <p:bldP spid="39" grpId="0" animBg="1"/>
      <p:bldP spid="40" grpId="0" animBg="1"/>
      <p:bldP spid="4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78.1|2.9"/>
</p:tagLst>
</file>

<file path=ppt/tags/tag2.xml><?xml version="1.0" encoding="utf-8"?>
<p:tagLst xmlns:a="http://schemas.openxmlformats.org/drawingml/2006/main" xmlns:r="http://schemas.openxmlformats.org/officeDocument/2006/relationships" xmlns:p="http://schemas.openxmlformats.org/presentationml/2006/main">
  <p:tag name="TIMING" val="|78.1|2.9"/>
</p:tagLst>
</file>

<file path=ppt/theme/theme1.xml><?xml version="1.0" encoding="utf-8"?>
<a:theme xmlns:a="http://schemas.openxmlformats.org/drawingml/2006/main" name="ShapesVTI">
  <a:themeElements>
    <a:clrScheme name="AnalogousFromLightSeedLeftStep">
      <a:dk1>
        <a:srgbClr val="000000"/>
      </a:dk1>
      <a:lt1>
        <a:srgbClr val="FFFFFF"/>
      </a:lt1>
      <a:dk2>
        <a:srgbClr val="213A3A"/>
      </a:dk2>
      <a:lt2>
        <a:srgbClr val="E8E5E2"/>
      </a:lt2>
      <a:accent1>
        <a:srgbClr val="84A4CF"/>
      </a:accent1>
      <a:accent2>
        <a:srgbClr val="69AEBA"/>
      </a:accent2>
      <a:accent3>
        <a:srgbClr val="73AE9E"/>
      </a:accent3>
      <a:accent4>
        <a:srgbClr val="65B27D"/>
      </a:accent4>
      <a:accent5>
        <a:srgbClr val="77B171"/>
      </a:accent5>
      <a:accent6>
        <a:srgbClr val="89AD62"/>
      </a:accent6>
      <a:hlink>
        <a:srgbClr val="987F5C"/>
      </a:hlink>
      <a:folHlink>
        <a:srgbClr val="7F7F7F"/>
      </a:folHlink>
    </a:clrScheme>
    <a:fontScheme name="Festival">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1469</TotalTime>
  <Words>4081</Words>
  <Application>Microsoft Office PowerPoint</Application>
  <PresentationFormat>Panorámica</PresentationFormat>
  <Paragraphs>550</Paragraphs>
  <Slides>46</Slides>
  <Notes>16</Notes>
  <HiddenSlides>5</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46</vt:i4>
      </vt:variant>
    </vt:vector>
  </HeadingPairs>
  <TitlesOfParts>
    <vt:vector size="57" baseType="lpstr">
      <vt:lpstr>Arial</vt:lpstr>
      <vt:lpstr>Calibri</vt:lpstr>
      <vt:lpstr>Century Gothic</vt:lpstr>
      <vt:lpstr>Comic Sans MS</vt:lpstr>
      <vt:lpstr>Courier New</vt:lpstr>
      <vt:lpstr>Symbol</vt:lpstr>
      <vt:lpstr>Times New Roman</vt:lpstr>
      <vt:lpstr>Verdana</vt:lpstr>
      <vt:lpstr>Wingdings</vt:lpstr>
      <vt:lpstr>Wingdings 2</vt:lpstr>
      <vt:lpstr>ShapesVTI</vt:lpstr>
      <vt:lpstr>Presentación de PowerPoint</vt:lpstr>
      <vt:lpstr>Tema 3: PLAN DE MARKETING</vt:lpstr>
      <vt:lpstr>1. Conceptos básicos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2. MARKETING ESTRATÉGICO. Identificación del mercado y segmentación</vt:lpstr>
      <vt:lpstr>2. MARKETING ESTRATÉGICO. Identificación del mercado y segmentación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3. MARKETING OPERATIVO. Producto </vt:lpstr>
      <vt:lpstr>Presentación de PowerPoint</vt:lpstr>
      <vt:lpstr>Presentación de PowerPoint</vt:lpstr>
      <vt:lpstr>3. MARKETING OPERATIVO. Producto   </vt:lpstr>
      <vt:lpstr>Presentación de PowerPoint</vt:lpstr>
      <vt:lpstr>Presentación de PowerPoint</vt:lpstr>
      <vt:lpstr>3. MARKETING OPERATIVO. Precio </vt:lpstr>
      <vt:lpstr>Presentación de PowerPoint</vt:lpstr>
      <vt:lpstr>Presentación de PowerPoint</vt:lpstr>
      <vt:lpstr>Presentación de PowerPoint</vt:lpstr>
      <vt:lpstr>3. MARKETING OPERATIVO. Precio </vt:lpstr>
      <vt:lpstr>3. MARKETING OPERATIVO. Precio </vt:lpstr>
      <vt:lpstr>3. MARKETING OPERATIVO. Precio </vt:lpstr>
      <vt:lpstr>3. MARKETING OPERATIVO. Precio </vt:lpstr>
      <vt:lpstr>Presentación de PowerPoint</vt:lpstr>
      <vt:lpstr>Presentación de PowerPoint</vt:lpstr>
      <vt:lpstr>3. MARKETING OPERATIVO. Distribución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técnico-socioeconómico de la actividad comercial</dc:title>
  <dc:creator>Miriam Sánchez Reig</dc:creator>
  <cp:lastModifiedBy>María Elena Fernández Gascueña</cp:lastModifiedBy>
  <cp:revision>37</cp:revision>
  <dcterms:created xsi:type="dcterms:W3CDTF">2021-04-06T09:07:42Z</dcterms:created>
  <dcterms:modified xsi:type="dcterms:W3CDTF">2024-11-25T08:48:42Z</dcterms:modified>
</cp:coreProperties>
</file>