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24"/>
  </p:notesMasterIdLst>
  <p:sldIdLst>
    <p:sldId id="332" r:id="rId2"/>
    <p:sldId id="266" r:id="rId3"/>
    <p:sldId id="345" r:id="rId4"/>
    <p:sldId id="280" r:id="rId5"/>
    <p:sldId id="287" r:id="rId6"/>
    <p:sldId id="290" r:id="rId7"/>
    <p:sldId id="291" r:id="rId8"/>
    <p:sldId id="294" r:id="rId9"/>
    <p:sldId id="293" r:id="rId10"/>
    <p:sldId id="285" r:id="rId11"/>
    <p:sldId id="295" r:id="rId12"/>
    <p:sldId id="296" r:id="rId13"/>
    <p:sldId id="297" r:id="rId14"/>
    <p:sldId id="299" r:id="rId15"/>
    <p:sldId id="300" r:id="rId16"/>
    <p:sldId id="469" r:id="rId17"/>
    <p:sldId id="470" r:id="rId18"/>
    <p:sldId id="301" r:id="rId19"/>
    <p:sldId id="303" r:id="rId20"/>
    <p:sldId id="347" r:id="rId21"/>
    <p:sldId id="281" r:id="rId22"/>
    <p:sldId id="351" r:id="rId23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E7BE"/>
    <a:srgbClr val="F4C39E"/>
    <a:srgbClr val="ED9D61"/>
    <a:srgbClr val="F7DA9F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92" autoAdjust="0"/>
  </p:normalViewPr>
  <p:slideViewPr>
    <p:cSldViewPr>
      <p:cViewPr varScale="1">
        <p:scale>
          <a:sx n="63" d="100"/>
          <a:sy n="63" d="100"/>
        </p:scale>
        <p:origin x="13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8" d="100"/>
          <a:sy n="78" d="100"/>
        </p:scale>
        <p:origin x="204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ía Elena Fernández Gascueña" userId="8298997d-b71a-4e0a-adff-66140120cb1e" providerId="ADAL" clId="{958B47D2-4E87-45A4-B451-6C052B76017C}"/>
    <pc:docChg chg="modSld">
      <pc:chgData name="María Elena Fernández Gascueña" userId="8298997d-b71a-4e0a-adff-66140120cb1e" providerId="ADAL" clId="{958B47D2-4E87-45A4-B451-6C052B76017C}" dt="2024-10-14T09:05:17.318" v="13" actId="20577"/>
      <pc:docMkLst>
        <pc:docMk/>
      </pc:docMkLst>
      <pc:sldChg chg="modSp mod">
        <pc:chgData name="María Elena Fernández Gascueña" userId="8298997d-b71a-4e0a-adff-66140120cb1e" providerId="ADAL" clId="{958B47D2-4E87-45A4-B451-6C052B76017C}" dt="2024-10-14T09:05:17.318" v="13" actId="20577"/>
        <pc:sldMkLst>
          <pc:docMk/>
          <pc:sldMk cId="0" sldId="266"/>
        </pc:sldMkLst>
        <pc:spChg chg="mod">
          <ac:chgData name="María Elena Fernández Gascueña" userId="8298997d-b71a-4e0a-adff-66140120cb1e" providerId="ADAL" clId="{958B47D2-4E87-45A4-B451-6C052B76017C}" dt="2024-10-14T09:05:17.318" v="13" actId="20577"/>
          <ac:spMkLst>
            <pc:docMk/>
            <pc:sldMk cId="0" sldId="266"/>
            <ac:spMk id="26628" creationId="{00000000-0000-0000-0000-000000000000}"/>
          </ac:spMkLst>
        </pc:spChg>
      </pc:sldChg>
      <pc:sldChg chg="modSp mod">
        <pc:chgData name="María Elena Fernández Gascueña" userId="8298997d-b71a-4e0a-adff-66140120cb1e" providerId="ADAL" clId="{958B47D2-4E87-45A4-B451-6C052B76017C}" dt="2024-10-14T09:03:37.924" v="1" actId="113"/>
        <pc:sldMkLst>
          <pc:docMk/>
          <pc:sldMk cId="3463434221" sldId="285"/>
        </pc:sldMkLst>
        <pc:spChg chg="mod">
          <ac:chgData name="María Elena Fernández Gascueña" userId="8298997d-b71a-4e0a-adff-66140120cb1e" providerId="ADAL" clId="{958B47D2-4E87-45A4-B451-6C052B76017C}" dt="2024-10-14T09:03:37.924" v="1" actId="113"/>
          <ac:spMkLst>
            <pc:docMk/>
            <pc:sldMk cId="3463434221" sldId="285"/>
            <ac:spMk id="2" creationId="{00000000-0000-0000-0000-000000000000}"/>
          </ac:spMkLst>
        </pc:spChg>
      </pc:sldChg>
      <pc:sldChg chg="modSp mod">
        <pc:chgData name="María Elena Fernández Gascueña" userId="8298997d-b71a-4e0a-adff-66140120cb1e" providerId="ADAL" clId="{958B47D2-4E87-45A4-B451-6C052B76017C}" dt="2024-10-14T09:04:38.068" v="7" actId="14100"/>
        <pc:sldMkLst>
          <pc:docMk/>
          <pc:sldMk cId="675505719" sldId="469"/>
        </pc:sldMkLst>
        <pc:graphicFrameChg chg="mod modGraphic">
          <ac:chgData name="María Elena Fernández Gascueña" userId="8298997d-b71a-4e0a-adff-66140120cb1e" providerId="ADAL" clId="{958B47D2-4E87-45A4-B451-6C052B76017C}" dt="2024-10-14T09:04:38.068" v="7" actId="14100"/>
          <ac:graphicFrameMkLst>
            <pc:docMk/>
            <pc:sldMk cId="675505719" sldId="469"/>
            <ac:graphicFrameMk id="5" creationId="{1911A788-00F7-EE3D-1377-82138DDC67D8}"/>
          </ac:graphicFrameMkLst>
        </pc:graphicFrameChg>
      </pc:sldChg>
    </pc:docChg>
  </pc:docChgLst>
  <pc:docChgLst>
    <pc:chgData name="María Elena Fernández Gascueña" userId="8298997d-b71a-4e0a-adff-66140120cb1e" providerId="ADAL" clId="{5B1AD6BF-4355-4613-865A-9AFE5D542C78}"/>
    <pc:docChg chg="modSld">
      <pc:chgData name="María Elena Fernández Gascueña" userId="8298997d-b71a-4e0a-adff-66140120cb1e" providerId="ADAL" clId="{5B1AD6BF-4355-4613-865A-9AFE5D542C78}" dt="2024-09-19T06:12:48.172" v="3" actId="20577"/>
      <pc:docMkLst>
        <pc:docMk/>
      </pc:docMkLst>
      <pc:sldChg chg="modSp mod">
        <pc:chgData name="María Elena Fernández Gascueña" userId="8298997d-b71a-4e0a-adff-66140120cb1e" providerId="ADAL" clId="{5B1AD6BF-4355-4613-865A-9AFE5D542C78}" dt="2024-09-19T06:12:48.172" v="3" actId="20577"/>
        <pc:sldMkLst>
          <pc:docMk/>
          <pc:sldMk cId="0" sldId="332"/>
        </pc:sldMkLst>
        <pc:spChg chg="mod">
          <ac:chgData name="María Elena Fernández Gascueña" userId="8298997d-b71a-4e0a-adff-66140120cb1e" providerId="ADAL" clId="{5B1AD6BF-4355-4613-865A-9AFE5D542C78}" dt="2024-09-19T06:12:48.172" v="3" actId="20577"/>
          <ac:spMkLst>
            <pc:docMk/>
            <pc:sldMk cId="0" sldId="332"/>
            <ac:spMk id="2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FB1979-6B93-44DB-9146-A65B96C9C893}" type="doc">
      <dgm:prSet loTypeId="urn:microsoft.com/office/officeart/2005/8/layout/radial1" loCatId="relationship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s-ES"/>
        </a:p>
      </dgm:t>
    </dgm:pt>
    <dgm:pt modelId="{F242C0E1-D38B-4A25-A13C-D3791361D7AB}">
      <dgm:prSet custT="1"/>
      <dgm:spPr/>
      <dgm:t>
        <a:bodyPr/>
        <a:lstStyle/>
        <a:p>
          <a:r>
            <a:rPr lang="es-ES" sz="1200" b="1" dirty="0">
              <a:solidFill>
                <a:schemeClr val="tx1"/>
              </a:solidFill>
            </a:rPr>
            <a:t>Proveedor 1</a:t>
          </a:r>
        </a:p>
      </dgm:t>
    </dgm:pt>
    <dgm:pt modelId="{69954677-4B3F-47CF-AD14-675D3CC0BF3E}" type="parTrans" cxnId="{81E40BFB-90EB-419D-81C8-F8A783903AA6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71A078AB-9812-4E77-80DB-F7041341F841}" type="sibTrans" cxnId="{81E40BFB-90EB-419D-81C8-F8A783903AA6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E2BA72E3-56AC-41B9-9C91-0889FBAA0009}">
      <dgm:prSet/>
      <dgm:spPr/>
      <dgm:t>
        <a:bodyPr/>
        <a:lstStyle/>
        <a:p>
          <a:endParaRPr lang="es-ES" dirty="0">
            <a:solidFill>
              <a:schemeClr val="tx1"/>
            </a:solidFill>
          </a:endParaRPr>
        </a:p>
      </dgm:t>
    </dgm:pt>
    <dgm:pt modelId="{806FA75E-AC54-4653-A0C2-21AB32C6AC94}" type="parTrans" cxnId="{E5325AE1-8267-4F8F-90C0-5F45E1ED6984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B704345B-7AEF-46E9-987F-1A6848EAA74F}" type="sibTrans" cxnId="{E5325AE1-8267-4F8F-90C0-5F45E1ED6984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8FC142DD-0EC0-4432-A420-6B8646ACC153}">
      <dgm:prSet/>
      <dgm:spPr/>
      <dgm:t>
        <a:bodyPr/>
        <a:lstStyle/>
        <a:p>
          <a:endParaRPr lang="es-ES" dirty="0">
            <a:solidFill>
              <a:schemeClr val="tx1"/>
            </a:solidFill>
          </a:endParaRPr>
        </a:p>
      </dgm:t>
    </dgm:pt>
    <dgm:pt modelId="{0D6D2138-7E3B-4266-ADEC-992215A27892}" type="parTrans" cxnId="{D9B02390-9203-48A8-A849-0147F3E541FF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BB64712C-4C6C-4A51-AD5D-5D568821DEF8}" type="sibTrans" cxnId="{D9B02390-9203-48A8-A849-0147F3E541FF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31E5909D-176E-4062-8ECA-4898BC86363B}">
      <dgm:prSet/>
      <dgm:spPr/>
      <dgm:t>
        <a:bodyPr/>
        <a:lstStyle/>
        <a:p>
          <a:endParaRPr lang="es-ES" dirty="0">
            <a:solidFill>
              <a:schemeClr val="tx1"/>
            </a:solidFill>
          </a:endParaRPr>
        </a:p>
      </dgm:t>
    </dgm:pt>
    <dgm:pt modelId="{CE96CCFC-BD42-4883-9CCB-06EFE41BC4B2}" type="parTrans" cxnId="{5E4A7BFF-0500-4B2A-8D50-A8C1ED730113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32EDCE30-F2B5-45E5-A582-7ABF4DE869BD}" type="sibTrans" cxnId="{5E4A7BFF-0500-4B2A-8D50-A8C1ED730113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11FB6759-6763-4622-AEA2-A2E6F7738E21}">
      <dgm:prSet/>
      <dgm:spPr/>
      <dgm:t>
        <a:bodyPr/>
        <a:lstStyle/>
        <a:p>
          <a:endParaRPr lang="es-ES" dirty="0">
            <a:solidFill>
              <a:schemeClr val="tx1"/>
            </a:solidFill>
          </a:endParaRPr>
        </a:p>
      </dgm:t>
    </dgm:pt>
    <dgm:pt modelId="{6E27D746-FD4E-496F-B615-7524FB852D7C}" type="parTrans" cxnId="{B96EE022-0D1E-4D2E-A1F0-52AF283AA000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F07EF104-B64D-4B83-A5B0-02055AB8F3A2}" type="sibTrans" cxnId="{B96EE022-0D1E-4D2E-A1F0-52AF283AA000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265FF25B-D446-49EC-A4BC-7A09C1DE52CB}">
      <dgm:prSet phldrT="[Texto]" phldr="1"/>
      <dgm:spPr/>
      <dgm:t>
        <a:bodyPr/>
        <a:lstStyle/>
        <a:p>
          <a:endParaRPr lang="es-ES" dirty="0">
            <a:solidFill>
              <a:schemeClr val="tx1"/>
            </a:solidFill>
          </a:endParaRPr>
        </a:p>
      </dgm:t>
    </dgm:pt>
    <dgm:pt modelId="{2CF7C85B-65D7-4784-8621-D1A1E6F17E62}" type="parTrans" cxnId="{8A793FDF-2A37-4226-A2B8-AED2C9DB411B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C40D1716-9ECC-4971-A273-D513A96BE6FF}" type="sibTrans" cxnId="{8A793FDF-2A37-4226-A2B8-AED2C9DB411B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4E2FC275-BBD0-46E7-80D4-A55FFCF94AD2}">
      <dgm:prSet phldrT="[Texto]" custT="1"/>
      <dgm:spPr/>
      <dgm:t>
        <a:bodyPr anchor="t"/>
        <a:lstStyle/>
        <a:p>
          <a:r>
            <a:rPr lang="es-ES" sz="1400" b="1" dirty="0">
              <a:solidFill>
                <a:schemeClr val="tx1"/>
              </a:solidFill>
            </a:rPr>
            <a:t>Empresa núcleo</a:t>
          </a:r>
        </a:p>
      </dgm:t>
    </dgm:pt>
    <dgm:pt modelId="{9A010236-6FB4-4A57-A222-FEC86060BCE3}" type="parTrans" cxnId="{3C9B5FCC-FC93-4A66-844A-939FB05134B6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8E0FB7E4-F5F2-485B-8D31-F6B1A47EB3A6}" type="sibTrans" cxnId="{3C9B5FCC-FC93-4A66-844A-939FB05134B6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5FFF3679-3E88-4A73-A334-0654FF8FB955}">
      <dgm:prSet phldrT="[Texto]" custT="1"/>
      <dgm:spPr/>
      <dgm:t>
        <a:bodyPr/>
        <a:lstStyle/>
        <a:p>
          <a:r>
            <a:rPr lang="es-ES" sz="1200" b="1" dirty="0">
              <a:solidFill>
                <a:schemeClr val="tx1"/>
              </a:solidFill>
            </a:rPr>
            <a:t>Gestión almacén</a:t>
          </a:r>
        </a:p>
      </dgm:t>
    </dgm:pt>
    <dgm:pt modelId="{0FA40B3D-2E7B-4559-B248-377824339EBC}" type="parTrans" cxnId="{9496C7F9-D371-4A52-89DE-E2F209B24766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610DE136-2391-41B8-8382-D5E0877B6134}" type="sibTrans" cxnId="{9496C7F9-D371-4A52-89DE-E2F209B24766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EE6C0E22-8F93-47D8-9075-E4A25E738BCE}">
      <dgm:prSet phldrT="[Texto]" custT="1"/>
      <dgm:spPr/>
      <dgm:t>
        <a:bodyPr/>
        <a:lstStyle/>
        <a:p>
          <a:r>
            <a:rPr lang="es-ES" sz="1200" b="1" dirty="0">
              <a:solidFill>
                <a:schemeClr val="tx1"/>
              </a:solidFill>
            </a:rPr>
            <a:t>Socio financiero</a:t>
          </a:r>
        </a:p>
      </dgm:t>
    </dgm:pt>
    <dgm:pt modelId="{0CC3EB71-5388-4DF1-84C3-BFFABCDE431B}" type="parTrans" cxnId="{22E4EAD2-7BF4-4F64-87AD-4E01CF392689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DF4FEF45-5FEC-4C74-8543-1C3F197FEC52}" type="sibTrans" cxnId="{22E4EAD2-7BF4-4F64-87AD-4E01CF392689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1E9F68C4-8D80-46E0-A99F-02390344AD0D}">
      <dgm:prSet phldrT="[Texto]" custT="1"/>
      <dgm:spPr/>
      <dgm:t>
        <a:bodyPr/>
        <a:lstStyle/>
        <a:p>
          <a:r>
            <a:rPr lang="es-ES" sz="1200" b="1" baseline="0">
              <a:solidFill>
                <a:schemeClr val="tx1"/>
              </a:solidFill>
            </a:rPr>
            <a:t>I+D+I</a:t>
          </a:r>
          <a:endParaRPr lang="es-ES" sz="1200" b="1" baseline="0" dirty="0">
            <a:solidFill>
              <a:schemeClr val="tx1"/>
            </a:solidFill>
          </a:endParaRPr>
        </a:p>
      </dgm:t>
    </dgm:pt>
    <dgm:pt modelId="{01BA4BE0-45EC-4A9D-84FC-DDED58FAFA50}" type="parTrans" cxnId="{F3EC3E7F-463A-4C17-933F-0516A9FB16A5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03F3B934-AFBB-4FF8-ACEC-AFC2F256C1EC}" type="sibTrans" cxnId="{F3EC3E7F-463A-4C17-933F-0516A9FB16A5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B706BCAB-C133-4A2E-8560-607CEAB7880A}">
      <dgm:prSet phldrT="[Texto]" custT="1"/>
      <dgm:spPr/>
      <dgm:t>
        <a:bodyPr/>
        <a:lstStyle/>
        <a:p>
          <a:r>
            <a:rPr lang="es-ES" sz="1200" b="1">
              <a:solidFill>
                <a:schemeClr val="tx1"/>
              </a:solidFill>
            </a:rPr>
            <a:t>Proveedor 2</a:t>
          </a:r>
          <a:endParaRPr lang="es-ES" sz="1200" b="1" dirty="0">
            <a:solidFill>
              <a:schemeClr val="tx1"/>
            </a:solidFill>
          </a:endParaRPr>
        </a:p>
      </dgm:t>
    </dgm:pt>
    <dgm:pt modelId="{9C32A647-B0B2-4825-8CBB-E29386EFA4E3}" type="parTrans" cxnId="{B687BB2D-5A87-412B-9237-CF4AD69196DA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903DB488-6A53-4975-AA6F-52D6BF889CF6}" type="sibTrans" cxnId="{B687BB2D-5A87-412B-9237-CF4AD69196DA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92A933AD-3FC5-47BD-A643-ACCCC191C22C}">
      <dgm:prSet phldrT="[Texto]" custT="1"/>
      <dgm:spPr/>
      <dgm:t>
        <a:bodyPr/>
        <a:lstStyle/>
        <a:p>
          <a:r>
            <a:rPr lang="es-ES" sz="1200" b="1">
              <a:solidFill>
                <a:schemeClr val="tx1"/>
              </a:solidFill>
            </a:rPr>
            <a:t>Socio comercial</a:t>
          </a:r>
          <a:endParaRPr lang="es-ES" sz="1200" b="1" dirty="0">
            <a:solidFill>
              <a:schemeClr val="tx1"/>
            </a:solidFill>
          </a:endParaRPr>
        </a:p>
      </dgm:t>
    </dgm:pt>
    <dgm:pt modelId="{30647A87-CA5C-4A50-B5DA-F060926AEE69}" type="parTrans" cxnId="{6032E7FE-8B2B-4E1E-AB31-5788B31F5456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A95F9558-9E24-4009-B97C-34BCD3831167}" type="sibTrans" cxnId="{6032E7FE-8B2B-4E1E-AB31-5788B31F5456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DC036410-C39A-4A72-858C-E566149A8482}">
      <dgm:prSet phldrT="[Texto]" custT="1"/>
      <dgm:spPr/>
      <dgm:t>
        <a:bodyPr/>
        <a:lstStyle/>
        <a:p>
          <a:r>
            <a:rPr lang="es-ES" sz="1200" b="1">
              <a:solidFill>
                <a:schemeClr val="tx1"/>
              </a:solidFill>
            </a:rPr>
            <a:t>Cliente</a:t>
          </a:r>
          <a:endParaRPr lang="es-ES" sz="1200" b="1" dirty="0">
            <a:solidFill>
              <a:schemeClr val="tx1"/>
            </a:solidFill>
          </a:endParaRPr>
        </a:p>
      </dgm:t>
    </dgm:pt>
    <dgm:pt modelId="{C588F2DB-68B5-4668-9788-241CF45C7175}" type="parTrans" cxnId="{59AE7C9E-43E4-485B-A0DB-7C201BBCA4C9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2BFFF332-BABC-4466-BCE2-6171BEEB5B68}" type="sibTrans" cxnId="{59AE7C9E-43E4-485B-A0DB-7C201BBCA4C9}">
      <dgm:prSet/>
      <dgm:spPr/>
      <dgm:t>
        <a:bodyPr/>
        <a:lstStyle/>
        <a:p>
          <a:endParaRPr lang="es-ES">
            <a:solidFill>
              <a:schemeClr val="tx1"/>
            </a:solidFill>
          </a:endParaRPr>
        </a:p>
      </dgm:t>
    </dgm:pt>
    <dgm:pt modelId="{5A8ADD47-E7E9-413B-BCE8-34113A367D33}" type="pres">
      <dgm:prSet presAssocID="{15FB1979-6B93-44DB-9146-A65B96C9C893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C65D67E-0848-4F39-9035-685F6537A73F}" type="pres">
      <dgm:prSet presAssocID="{4E2FC275-BBD0-46E7-80D4-A55FFCF94AD2}" presName="centerShape" presStyleLbl="node0" presStyleIdx="0" presStyleCnt="1" custScaleX="150402"/>
      <dgm:spPr/>
    </dgm:pt>
    <dgm:pt modelId="{9F75715A-FBD2-4621-A14E-3449BCD9DB5B}" type="pres">
      <dgm:prSet presAssocID="{69954677-4B3F-47CF-AD14-675D3CC0BF3E}" presName="Name9" presStyleLbl="parChTrans1D2" presStyleIdx="0" presStyleCnt="7"/>
      <dgm:spPr/>
    </dgm:pt>
    <dgm:pt modelId="{66F706E9-5A5F-4F08-B1BF-F66D6344D7C1}" type="pres">
      <dgm:prSet presAssocID="{69954677-4B3F-47CF-AD14-675D3CC0BF3E}" presName="connTx" presStyleLbl="parChTrans1D2" presStyleIdx="0" presStyleCnt="7"/>
      <dgm:spPr/>
    </dgm:pt>
    <dgm:pt modelId="{55067193-6DD3-4418-B2AE-8A7297CDEA78}" type="pres">
      <dgm:prSet presAssocID="{F242C0E1-D38B-4A25-A13C-D3791361D7AB}" presName="node" presStyleLbl="node1" presStyleIdx="0" presStyleCnt="7" custScaleX="165720" custScaleY="104410" custRadScaleRad="105389" custRadScaleInc="2249">
        <dgm:presLayoutVars>
          <dgm:bulletEnabled val="1"/>
        </dgm:presLayoutVars>
      </dgm:prSet>
      <dgm:spPr/>
    </dgm:pt>
    <dgm:pt modelId="{2E6C46D5-6415-4D42-8945-4138A957144D}" type="pres">
      <dgm:prSet presAssocID="{01BA4BE0-45EC-4A9D-84FC-DDED58FAFA50}" presName="Name9" presStyleLbl="parChTrans1D2" presStyleIdx="1" presStyleCnt="7"/>
      <dgm:spPr/>
    </dgm:pt>
    <dgm:pt modelId="{2001145B-7DFD-4C8B-842C-6CA6BB8D537F}" type="pres">
      <dgm:prSet presAssocID="{01BA4BE0-45EC-4A9D-84FC-DDED58FAFA50}" presName="connTx" presStyleLbl="parChTrans1D2" presStyleIdx="1" presStyleCnt="7"/>
      <dgm:spPr/>
    </dgm:pt>
    <dgm:pt modelId="{53E751CF-B6A6-4CA6-BB82-A76C4C3A107A}" type="pres">
      <dgm:prSet presAssocID="{1E9F68C4-8D80-46E0-A99F-02390344AD0D}" presName="node" presStyleLbl="node1" presStyleIdx="1" presStyleCnt="7" custRadScaleRad="92510" custRadScaleInc="19895">
        <dgm:presLayoutVars>
          <dgm:bulletEnabled val="1"/>
        </dgm:presLayoutVars>
      </dgm:prSet>
      <dgm:spPr/>
    </dgm:pt>
    <dgm:pt modelId="{6CA48C6C-FC3E-4B92-9B36-F20FA23A8F03}" type="pres">
      <dgm:prSet presAssocID="{9C32A647-B0B2-4825-8CBB-E29386EFA4E3}" presName="Name9" presStyleLbl="parChTrans1D2" presStyleIdx="2" presStyleCnt="7"/>
      <dgm:spPr/>
    </dgm:pt>
    <dgm:pt modelId="{14820CF0-93CC-42A7-82B7-9745620D82B8}" type="pres">
      <dgm:prSet presAssocID="{9C32A647-B0B2-4825-8CBB-E29386EFA4E3}" presName="connTx" presStyleLbl="parChTrans1D2" presStyleIdx="2" presStyleCnt="7"/>
      <dgm:spPr/>
    </dgm:pt>
    <dgm:pt modelId="{BFBA8C90-75C2-49C3-942F-502F5EE96683}" type="pres">
      <dgm:prSet presAssocID="{B706BCAB-C133-4A2E-8560-607CEAB7880A}" presName="node" presStyleLbl="node1" presStyleIdx="2" presStyleCnt="7" custScaleX="141897">
        <dgm:presLayoutVars>
          <dgm:bulletEnabled val="1"/>
        </dgm:presLayoutVars>
      </dgm:prSet>
      <dgm:spPr/>
    </dgm:pt>
    <dgm:pt modelId="{BE7F28DC-CC6F-441A-9054-BF4FE16A964F}" type="pres">
      <dgm:prSet presAssocID="{30647A87-CA5C-4A50-B5DA-F060926AEE69}" presName="Name9" presStyleLbl="parChTrans1D2" presStyleIdx="3" presStyleCnt="7"/>
      <dgm:spPr/>
    </dgm:pt>
    <dgm:pt modelId="{7F5D1389-5CC8-4603-B163-5FF1F547C185}" type="pres">
      <dgm:prSet presAssocID="{30647A87-CA5C-4A50-B5DA-F060926AEE69}" presName="connTx" presStyleLbl="parChTrans1D2" presStyleIdx="3" presStyleCnt="7"/>
      <dgm:spPr/>
    </dgm:pt>
    <dgm:pt modelId="{68E54CC9-6A75-4715-93CD-43E2363BC609}" type="pres">
      <dgm:prSet presAssocID="{92A933AD-3FC5-47BD-A643-ACCCC191C22C}" presName="node" presStyleLbl="node1" presStyleIdx="3" presStyleCnt="7" custScaleX="155471" custRadScaleRad="116778" custRadScaleInc="-426">
        <dgm:presLayoutVars>
          <dgm:bulletEnabled val="1"/>
        </dgm:presLayoutVars>
      </dgm:prSet>
      <dgm:spPr/>
    </dgm:pt>
    <dgm:pt modelId="{7B0FE316-10CC-43D6-9F52-4D9467B2B33B}" type="pres">
      <dgm:prSet presAssocID="{C588F2DB-68B5-4668-9788-241CF45C7175}" presName="Name9" presStyleLbl="parChTrans1D2" presStyleIdx="4" presStyleCnt="7"/>
      <dgm:spPr/>
    </dgm:pt>
    <dgm:pt modelId="{27B4A203-39EB-40C2-AF3C-8B1401810423}" type="pres">
      <dgm:prSet presAssocID="{C588F2DB-68B5-4668-9788-241CF45C7175}" presName="connTx" presStyleLbl="parChTrans1D2" presStyleIdx="4" presStyleCnt="7"/>
      <dgm:spPr/>
    </dgm:pt>
    <dgm:pt modelId="{6D3763C6-7C79-43CE-97E9-07C3544B69C4}" type="pres">
      <dgm:prSet presAssocID="{DC036410-C39A-4A72-858C-E566149A8482}" presName="node" presStyleLbl="node1" presStyleIdx="4" presStyleCnt="7">
        <dgm:presLayoutVars>
          <dgm:bulletEnabled val="1"/>
        </dgm:presLayoutVars>
      </dgm:prSet>
      <dgm:spPr/>
    </dgm:pt>
    <dgm:pt modelId="{D65F77CD-E3D4-4525-8EA4-C76C6FE70FD6}" type="pres">
      <dgm:prSet presAssocID="{0CC3EB71-5388-4DF1-84C3-BFFABCDE431B}" presName="Name9" presStyleLbl="parChTrans1D2" presStyleIdx="5" presStyleCnt="7"/>
      <dgm:spPr/>
    </dgm:pt>
    <dgm:pt modelId="{DF3227C0-41A4-4C91-8D66-E3C6831A0847}" type="pres">
      <dgm:prSet presAssocID="{0CC3EB71-5388-4DF1-84C3-BFFABCDE431B}" presName="connTx" presStyleLbl="parChTrans1D2" presStyleIdx="5" presStyleCnt="7"/>
      <dgm:spPr/>
    </dgm:pt>
    <dgm:pt modelId="{F6490FFB-E169-4274-843A-A60FDE6328CD}" type="pres">
      <dgm:prSet presAssocID="{EE6C0E22-8F93-47D8-9075-E4A25E738BCE}" presName="node" presStyleLbl="node1" presStyleIdx="5" presStyleCnt="7" custScaleX="183727" custRadScaleRad="107080" custRadScaleInc="-14505">
        <dgm:presLayoutVars>
          <dgm:bulletEnabled val="1"/>
        </dgm:presLayoutVars>
      </dgm:prSet>
      <dgm:spPr/>
    </dgm:pt>
    <dgm:pt modelId="{573F0748-088B-4493-9DD6-80DE2DE61E25}" type="pres">
      <dgm:prSet presAssocID="{0FA40B3D-2E7B-4559-B248-377824339EBC}" presName="Name9" presStyleLbl="parChTrans1D2" presStyleIdx="6" presStyleCnt="7"/>
      <dgm:spPr/>
    </dgm:pt>
    <dgm:pt modelId="{A7C4E6A7-E9FE-4965-AEE9-29882D155793}" type="pres">
      <dgm:prSet presAssocID="{0FA40B3D-2E7B-4559-B248-377824339EBC}" presName="connTx" presStyleLbl="parChTrans1D2" presStyleIdx="6" presStyleCnt="7"/>
      <dgm:spPr/>
    </dgm:pt>
    <dgm:pt modelId="{E70542A6-E9C6-4B42-BAEF-24639D3F4381}" type="pres">
      <dgm:prSet presAssocID="{5FFF3679-3E88-4A73-A334-0654FF8FB955}" presName="node" presStyleLbl="node1" presStyleIdx="6" presStyleCnt="7" custScaleX="133270" custRadScaleRad="98026" custRadScaleInc="1194">
        <dgm:presLayoutVars>
          <dgm:bulletEnabled val="1"/>
        </dgm:presLayoutVars>
      </dgm:prSet>
      <dgm:spPr/>
    </dgm:pt>
  </dgm:ptLst>
  <dgm:cxnLst>
    <dgm:cxn modelId="{CDFAAB02-C698-497D-866F-C0047DC4BF08}" type="presOf" srcId="{EE6C0E22-8F93-47D8-9075-E4A25E738BCE}" destId="{F6490FFB-E169-4274-843A-A60FDE6328CD}" srcOrd="0" destOrd="0" presId="urn:microsoft.com/office/officeart/2005/8/layout/radial1"/>
    <dgm:cxn modelId="{101EDD03-DC46-4F12-88D9-318A588B3286}" type="presOf" srcId="{01BA4BE0-45EC-4A9D-84FC-DDED58FAFA50}" destId="{2001145B-7DFD-4C8B-842C-6CA6BB8D537F}" srcOrd="1" destOrd="0" presId="urn:microsoft.com/office/officeart/2005/8/layout/radial1"/>
    <dgm:cxn modelId="{0B98600B-9DF6-400E-8419-BD4ECC92D2FE}" type="presOf" srcId="{69954677-4B3F-47CF-AD14-675D3CC0BF3E}" destId="{66F706E9-5A5F-4F08-B1BF-F66D6344D7C1}" srcOrd="1" destOrd="0" presId="urn:microsoft.com/office/officeart/2005/8/layout/radial1"/>
    <dgm:cxn modelId="{CA3ACC0B-AB81-437E-896D-3D34E3A0BDAA}" type="presOf" srcId="{01BA4BE0-45EC-4A9D-84FC-DDED58FAFA50}" destId="{2E6C46D5-6415-4D42-8945-4138A957144D}" srcOrd="0" destOrd="0" presId="urn:microsoft.com/office/officeart/2005/8/layout/radial1"/>
    <dgm:cxn modelId="{B172E120-9AC9-4FAE-BCF4-68C19F048F6D}" type="presOf" srcId="{F242C0E1-D38B-4A25-A13C-D3791361D7AB}" destId="{55067193-6DD3-4418-B2AE-8A7297CDEA78}" srcOrd="0" destOrd="0" presId="urn:microsoft.com/office/officeart/2005/8/layout/radial1"/>
    <dgm:cxn modelId="{B96EE022-0D1E-4D2E-A1F0-52AF283AA000}" srcId="{15FB1979-6B93-44DB-9146-A65B96C9C893}" destId="{11FB6759-6763-4622-AEA2-A2E6F7738E21}" srcOrd="5" destOrd="0" parTransId="{6E27D746-FD4E-496F-B615-7524FB852D7C}" sibTransId="{F07EF104-B64D-4B83-A5B0-02055AB8F3A2}"/>
    <dgm:cxn modelId="{B687BB2D-5A87-412B-9237-CF4AD69196DA}" srcId="{4E2FC275-BBD0-46E7-80D4-A55FFCF94AD2}" destId="{B706BCAB-C133-4A2E-8560-607CEAB7880A}" srcOrd="2" destOrd="0" parTransId="{9C32A647-B0B2-4825-8CBB-E29386EFA4E3}" sibTransId="{903DB488-6A53-4975-AA6F-52D6BF889CF6}"/>
    <dgm:cxn modelId="{539D8130-EB9F-429A-936F-14B6509B7DCF}" type="presOf" srcId="{0FA40B3D-2E7B-4559-B248-377824339EBC}" destId="{A7C4E6A7-E9FE-4965-AEE9-29882D155793}" srcOrd="1" destOrd="0" presId="urn:microsoft.com/office/officeart/2005/8/layout/radial1"/>
    <dgm:cxn modelId="{938D613A-A20D-42B6-B22D-75D9C8BD93EF}" type="presOf" srcId="{B706BCAB-C133-4A2E-8560-607CEAB7880A}" destId="{BFBA8C90-75C2-49C3-942F-502F5EE96683}" srcOrd="0" destOrd="0" presId="urn:microsoft.com/office/officeart/2005/8/layout/radial1"/>
    <dgm:cxn modelId="{A85AD448-1C81-459F-BBF2-1D6102B64D44}" type="presOf" srcId="{15FB1979-6B93-44DB-9146-A65B96C9C893}" destId="{5A8ADD47-E7E9-413B-BCE8-34113A367D33}" srcOrd="0" destOrd="0" presId="urn:microsoft.com/office/officeart/2005/8/layout/radial1"/>
    <dgm:cxn modelId="{F115117A-7B38-41C9-BBCB-77A64C6CB775}" type="presOf" srcId="{5FFF3679-3E88-4A73-A334-0654FF8FB955}" destId="{E70542A6-E9C6-4B42-BAEF-24639D3F4381}" srcOrd="0" destOrd="0" presId="urn:microsoft.com/office/officeart/2005/8/layout/radial1"/>
    <dgm:cxn modelId="{F3EC3E7F-463A-4C17-933F-0516A9FB16A5}" srcId="{4E2FC275-BBD0-46E7-80D4-A55FFCF94AD2}" destId="{1E9F68C4-8D80-46E0-A99F-02390344AD0D}" srcOrd="1" destOrd="0" parTransId="{01BA4BE0-45EC-4A9D-84FC-DDED58FAFA50}" sibTransId="{03F3B934-AFBB-4FF8-ACEC-AFC2F256C1EC}"/>
    <dgm:cxn modelId="{D9B02390-9203-48A8-A849-0147F3E541FF}" srcId="{15FB1979-6B93-44DB-9146-A65B96C9C893}" destId="{8FC142DD-0EC0-4432-A420-6B8646ACC153}" srcOrd="3" destOrd="0" parTransId="{0D6D2138-7E3B-4266-ADEC-992215A27892}" sibTransId="{BB64712C-4C6C-4A51-AD5D-5D568821DEF8}"/>
    <dgm:cxn modelId="{CF058E93-E651-46AB-B4DC-B70917295278}" type="presOf" srcId="{9C32A647-B0B2-4825-8CBB-E29386EFA4E3}" destId="{14820CF0-93CC-42A7-82B7-9745620D82B8}" srcOrd="1" destOrd="0" presId="urn:microsoft.com/office/officeart/2005/8/layout/radial1"/>
    <dgm:cxn modelId="{59AE7C9E-43E4-485B-A0DB-7C201BBCA4C9}" srcId="{4E2FC275-BBD0-46E7-80D4-A55FFCF94AD2}" destId="{DC036410-C39A-4A72-858C-E566149A8482}" srcOrd="4" destOrd="0" parTransId="{C588F2DB-68B5-4668-9788-241CF45C7175}" sibTransId="{2BFFF332-BABC-4466-BCE2-6171BEEB5B68}"/>
    <dgm:cxn modelId="{74D004A3-247B-4A2A-8294-5AA78F334342}" type="presOf" srcId="{C588F2DB-68B5-4668-9788-241CF45C7175}" destId="{27B4A203-39EB-40C2-AF3C-8B1401810423}" srcOrd="1" destOrd="0" presId="urn:microsoft.com/office/officeart/2005/8/layout/radial1"/>
    <dgm:cxn modelId="{4CD20DA5-95EC-44FE-BFAE-230F78871088}" type="presOf" srcId="{0CC3EB71-5388-4DF1-84C3-BFFABCDE431B}" destId="{DF3227C0-41A4-4C91-8D66-E3C6831A0847}" srcOrd="1" destOrd="0" presId="urn:microsoft.com/office/officeart/2005/8/layout/radial1"/>
    <dgm:cxn modelId="{A0DA0FAC-EC5C-4012-94A5-DA8C2B00A482}" type="presOf" srcId="{1E9F68C4-8D80-46E0-A99F-02390344AD0D}" destId="{53E751CF-B6A6-4CA6-BB82-A76C4C3A107A}" srcOrd="0" destOrd="0" presId="urn:microsoft.com/office/officeart/2005/8/layout/radial1"/>
    <dgm:cxn modelId="{625C71B1-D837-42C0-9526-EE7CF2710DFA}" type="presOf" srcId="{C588F2DB-68B5-4668-9788-241CF45C7175}" destId="{7B0FE316-10CC-43D6-9F52-4D9467B2B33B}" srcOrd="0" destOrd="0" presId="urn:microsoft.com/office/officeart/2005/8/layout/radial1"/>
    <dgm:cxn modelId="{55F04BB3-CB38-44A5-A9F0-5B0F2F8A4236}" type="presOf" srcId="{9C32A647-B0B2-4825-8CBB-E29386EFA4E3}" destId="{6CA48C6C-FC3E-4B92-9B36-F20FA23A8F03}" srcOrd="0" destOrd="0" presId="urn:microsoft.com/office/officeart/2005/8/layout/radial1"/>
    <dgm:cxn modelId="{B86345B6-317D-4520-B0A5-1F7D1AA5F857}" type="presOf" srcId="{0FA40B3D-2E7B-4559-B248-377824339EBC}" destId="{573F0748-088B-4493-9DD6-80DE2DE61E25}" srcOrd="0" destOrd="0" presId="urn:microsoft.com/office/officeart/2005/8/layout/radial1"/>
    <dgm:cxn modelId="{9D1749BB-97A2-4146-B425-88B4D31D540C}" type="presOf" srcId="{DC036410-C39A-4A72-858C-E566149A8482}" destId="{6D3763C6-7C79-43CE-97E9-07C3544B69C4}" srcOrd="0" destOrd="0" presId="urn:microsoft.com/office/officeart/2005/8/layout/radial1"/>
    <dgm:cxn modelId="{B4B873C7-B44F-46E0-9947-EF0748142091}" type="presOf" srcId="{69954677-4B3F-47CF-AD14-675D3CC0BF3E}" destId="{9F75715A-FBD2-4621-A14E-3449BCD9DB5B}" srcOrd="0" destOrd="0" presId="urn:microsoft.com/office/officeart/2005/8/layout/radial1"/>
    <dgm:cxn modelId="{748EC2C9-4370-43FC-A7F6-9BED1727448D}" type="presOf" srcId="{0CC3EB71-5388-4DF1-84C3-BFFABCDE431B}" destId="{D65F77CD-E3D4-4525-8EA4-C76C6FE70FD6}" srcOrd="0" destOrd="0" presId="urn:microsoft.com/office/officeart/2005/8/layout/radial1"/>
    <dgm:cxn modelId="{3C9B5FCC-FC93-4A66-844A-939FB05134B6}" srcId="{15FB1979-6B93-44DB-9146-A65B96C9C893}" destId="{4E2FC275-BBD0-46E7-80D4-A55FFCF94AD2}" srcOrd="0" destOrd="0" parTransId="{9A010236-6FB4-4A57-A222-FEC86060BCE3}" sibTransId="{8E0FB7E4-F5F2-485B-8D31-F6B1A47EB3A6}"/>
    <dgm:cxn modelId="{A3CF46CC-7CA0-47B5-8DE1-431AE72460A2}" type="presOf" srcId="{30647A87-CA5C-4A50-B5DA-F060926AEE69}" destId="{BE7F28DC-CC6F-441A-9054-BF4FE16A964F}" srcOrd="0" destOrd="0" presId="urn:microsoft.com/office/officeart/2005/8/layout/radial1"/>
    <dgm:cxn modelId="{A6F125CF-991F-4BA8-938E-D55295FC2D61}" type="presOf" srcId="{4E2FC275-BBD0-46E7-80D4-A55FFCF94AD2}" destId="{1C65D67E-0848-4F39-9035-685F6537A73F}" srcOrd="0" destOrd="0" presId="urn:microsoft.com/office/officeart/2005/8/layout/radial1"/>
    <dgm:cxn modelId="{22E4EAD2-7BF4-4F64-87AD-4E01CF392689}" srcId="{4E2FC275-BBD0-46E7-80D4-A55FFCF94AD2}" destId="{EE6C0E22-8F93-47D8-9075-E4A25E738BCE}" srcOrd="5" destOrd="0" parTransId="{0CC3EB71-5388-4DF1-84C3-BFFABCDE431B}" sibTransId="{DF4FEF45-5FEC-4C74-8543-1C3F197FEC52}"/>
    <dgm:cxn modelId="{8A793FDF-2A37-4226-A2B8-AED2C9DB411B}" srcId="{15FB1979-6B93-44DB-9146-A65B96C9C893}" destId="{265FF25B-D446-49EC-A4BC-7A09C1DE52CB}" srcOrd="1" destOrd="0" parTransId="{2CF7C85B-65D7-4784-8621-D1A1E6F17E62}" sibTransId="{C40D1716-9ECC-4971-A273-D513A96BE6FF}"/>
    <dgm:cxn modelId="{E5325AE1-8267-4F8F-90C0-5F45E1ED6984}" srcId="{15FB1979-6B93-44DB-9146-A65B96C9C893}" destId="{E2BA72E3-56AC-41B9-9C91-0889FBAA0009}" srcOrd="2" destOrd="0" parTransId="{806FA75E-AC54-4653-A0C2-21AB32C6AC94}" sibTransId="{B704345B-7AEF-46E9-987F-1A6848EAA74F}"/>
    <dgm:cxn modelId="{54CB83EC-2596-46A4-B176-DBF63A8210D4}" type="presOf" srcId="{30647A87-CA5C-4A50-B5DA-F060926AEE69}" destId="{7F5D1389-5CC8-4603-B163-5FF1F547C185}" srcOrd="1" destOrd="0" presId="urn:microsoft.com/office/officeart/2005/8/layout/radial1"/>
    <dgm:cxn modelId="{E02502F3-7AC1-4ABA-884B-C39E3FA920BD}" type="presOf" srcId="{92A933AD-3FC5-47BD-A643-ACCCC191C22C}" destId="{68E54CC9-6A75-4715-93CD-43E2363BC609}" srcOrd="0" destOrd="0" presId="urn:microsoft.com/office/officeart/2005/8/layout/radial1"/>
    <dgm:cxn modelId="{9496C7F9-D371-4A52-89DE-E2F209B24766}" srcId="{4E2FC275-BBD0-46E7-80D4-A55FFCF94AD2}" destId="{5FFF3679-3E88-4A73-A334-0654FF8FB955}" srcOrd="6" destOrd="0" parTransId="{0FA40B3D-2E7B-4559-B248-377824339EBC}" sibTransId="{610DE136-2391-41B8-8382-D5E0877B6134}"/>
    <dgm:cxn modelId="{81E40BFB-90EB-419D-81C8-F8A783903AA6}" srcId="{4E2FC275-BBD0-46E7-80D4-A55FFCF94AD2}" destId="{F242C0E1-D38B-4A25-A13C-D3791361D7AB}" srcOrd="0" destOrd="0" parTransId="{69954677-4B3F-47CF-AD14-675D3CC0BF3E}" sibTransId="{71A078AB-9812-4E77-80DB-F7041341F841}"/>
    <dgm:cxn modelId="{6032E7FE-8B2B-4E1E-AB31-5788B31F5456}" srcId="{4E2FC275-BBD0-46E7-80D4-A55FFCF94AD2}" destId="{92A933AD-3FC5-47BD-A643-ACCCC191C22C}" srcOrd="3" destOrd="0" parTransId="{30647A87-CA5C-4A50-B5DA-F060926AEE69}" sibTransId="{A95F9558-9E24-4009-B97C-34BCD3831167}"/>
    <dgm:cxn modelId="{5E4A7BFF-0500-4B2A-8D50-A8C1ED730113}" srcId="{15FB1979-6B93-44DB-9146-A65B96C9C893}" destId="{31E5909D-176E-4062-8ECA-4898BC86363B}" srcOrd="4" destOrd="0" parTransId="{CE96CCFC-BD42-4883-9CCB-06EFE41BC4B2}" sibTransId="{32EDCE30-F2B5-45E5-A582-7ABF4DE869BD}"/>
    <dgm:cxn modelId="{D46B61C3-1F8F-4641-A2A0-7647A75049EF}" type="presParOf" srcId="{5A8ADD47-E7E9-413B-BCE8-34113A367D33}" destId="{1C65D67E-0848-4F39-9035-685F6537A73F}" srcOrd="0" destOrd="0" presId="urn:microsoft.com/office/officeart/2005/8/layout/radial1"/>
    <dgm:cxn modelId="{09E3D2FF-F2DC-4027-9D76-7CE208875D60}" type="presParOf" srcId="{5A8ADD47-E7E9-413B-BCE8-34113A367D33}" destId="{9F75715A-FBD2-4621-A14E-3449BCD9DB5B}" srcOrd="1" destOrd="0" presId="urn:microsoft.com/office/officeart/2005/8/layout/radial1"/>
    <dgm:cxn modelId="{A1B4766F-FA50-415B-BE1A-6136904C6D90}" type="presParOf" srcId="{9F75715A-FBD2-4621-A14E-3449BCD9DB5B}" destId="{66F706E9-5A5F-4F08-B1BF-F66D6344D7C1}" srcOrd="0" destOrd="0" presId="urn:microsoft.com/office/officeart/2005/8/layout/radial1"/>
    <dgm:cxn modelId="{5953DAA2-2905-488A-B14A-19414E0564ED}" type="presParOf" srcId="{5A8ADD47-E7E9-413B-BCE8-34113A367D33}" destId="{55067193-6DD3-4418-B2AE-8A7297CDEA78}" srcOrd="2" destOrd="0" presId="urn:microsoft.com/office/officeart/2005/8/layout/radial1"/>
    <dgm:cxn modelId="{FA4640BC-0B32-46FA-B1DE-DBD01E0C4B05}" type="presParOf" srcId="{5A8ADD47-E7E9-413B-BCE8-34113A367D33}" destId="{2E6C46D5-6415-4D42-8945-4138A957144D}" srcOrd="3" destOrd="0" presId="urn:microsoft.com/office/officeart/2005/8/layout/radial1"/>
    <dgm:cxn modelId="{015A2B7B-4389-4A8A-B35F-1A870B484379}" type="presParOf" srcId="{2E6C46D5-6415-4D42-8945-4138A957144D}" destId="{2001145B-7DFD-4C8B-842C-6CA6BB8D537F}" srcOrd="0" destOrd="0" presId="urn:microsoft.com/office/officeart/2005/8/layout/radial1"/>
    <dgm:cxn modelId="{D17D1EBE-C7D9-423E-82E1-717C23818BC4}" type="presParOf" srcId="{5A8ADD47-E7E9-413B-BCE8-34113A367D33}" destId="{53E751CF-B6A6-4CA6-BB82-A76C4C3A107A}" srcOrd="4" destOrd="0" presId="urn:microsoft.com/office/officeart/2005/8/layout/radial1"/>
    <dgm:cxn modelId="{89D4B555-6241-4D91-9890-24516F772CE3}" type="presParOf" srcId="{5A8ADD47-E7E9-413B-BCE8-34113A367D33}" destId="{6CA48C6C-FC3E-4B92-9B36-F20FA23A8F03}" srcOrd="5" destOrd="0" presId="urn:microsoft.com/office/officeart/2005/8/layout/radial1"/>
    <dgm:cxn modelId="{8B06076E-34EA-49F9-B294-1AD84ED59D42}" type="presParOf" srcId="{6CA48C6C-FC3E-4B92-9B36-F20FA23A8F03}" destId="{14820CF0-93CC-42A7-82B7-9745620D82B8}" srcOrd="0" destOrd="0" presId="urn:microsoft.com/office/officeart/2005/8/layout/radial1"/>
    <dgm:cxn modelId="{9948AF09-42B1-4F5E-80B7-E8150715CBD9}" type="presParOf" srcId="{5A8ADD47-E7E9-413B-BCE8-34113A367D33}" destId="{BFBA8C90-75C2-49C3-942F-502F5EE96683}" srcOrd="6" destOrd="0" presId="urn:microsoft.com/office/officeart/2005/8/layout/radial1"/>
    <dgm:cxn modelId="{96F4DACE-16F8-42B4-927D-59149F5702E1}" type="presParOf" srcId="{5A8ADD47-E7E9-413B-BCE8-34113A367D33}" destId="{BE7F28DC-CC6F-441A-9054-BF4FE16A964F}" srcOrd="7" destOrd="0" presId="urn:microsoft.com/office/officeart/2005/8/layout/radial1"/>
    <dgm:cxn modelId="{BE682003-1D1C-439E-959C-46BD4459A255}" type="presParOf" srcId="{BE7F28DC-CC6F-441A-9054-BF4FE16A964F}" destId="{7F5D1389-5CC8-4603-B163-5FF1F547C185}" srcOrd="0" destOrd="0" presId="urn:microsoft.com/office/officeart/2005/8/layout/radial1"/>
    <dgm:cxn modelId="{41CB5D92-DD27-4346-AB7C-0CFECBEC9BCF}" type="presParOf" srcId="{5A8ADD47-E7E9-413B-BCE8-34113A367D33}" destId="{68E54CC9-6A75-4715-93CD-43E2363BC609}" srcOrd="8" destOrd="0" presId="urn:microsoft.com/office/officeart/2005/8/layout/radial1"/>
    <dgm:cxn modelId="{F88FF872-B1C6-4662-A5AA-C975D7A69BC3}" type="presParOf" srcId="{5A8ADD47-E7E9-413B-BCE8-34113A367D33}" destId="{7B0FE316-10CC-43D6-9F52-4D9467B2B33B}" srcOrd="9" destOrd="0" presId="urn:microsoft.com/office/officeart/2005/8/layout/radial1"/>
    <dgm:cxn modelId="{B6585B5B-F0F8-477B-9BC3-6D280A15BDBF}" type="presParOf" srcId="{7B0FE316-10CC-43D6-9F52-4D9467B2B33B}" destId="{27B4A203-39EB-40C2-AF3C-8B1401810423}" srcOrd="0" destOrd="0" presId="urn:microsoft.com/office/officeart/2005/8/layout/radial1"/>
    <dgm:cxn modelId="{A6731DB4-5D67-42DB-8C6B-C11BA8F7FF5D}" type="presParOf" srcId="{5A8ADD47-E7E9-413B-BCE8-34113A367D33}" destId="{6D3763C6-7C79-43CE-97E9-07C3544B69C4}" srcOrd="10" destOrd="0" presId="urn:microsoft.com/office/officeart/2005/8/layout/radial1"/>
    <dgm:cxn modelId="{13AFBA22-6CBE-44F6-B4F9-7156B57CF224}" type="presParOf" srcId="{5A8ADD47-E7E9-413B-BCE8-34113A367D33}" destId="{D65F77CD-E3D4-4525-8EA4-C76C6FE70FD6}" srcOrd="11" destOrd="0" presId="urn:microsoft.com/office/officeart/2005/8/layout/radial1"/>
    <dgm:cxn modelId="{B70E3F51-5DA7-420C-8891-BDF9F1E36497}" type="presParOf" srcId="{D65F77CD-E3D4-4525-8EA4-C76C6FE70FD6}" destId="{DF3227C0-41A4-4C91-8D66-E3C6831A0847}" srcOrd="0" destOrd="0" presId="urn:microsoft.com/office/officeart/2005/8/layout/radial1"/>
    <dgm:cxn modelId="{56CED8DC-5740-4306-A724-88342B186E63}" type="presParOf" srcId="{5A8ADD47-E7E9-413B-BCE8-34113A367D33}" destId="{F6490FFB-E169-4274-843A-A60FDE6328CD}" srcOrd="12" destOrd="0" presId="urn:microsoft.com/office/officeart/2005/8/layout/radial1"/>
    <dgm:cxn modelId="{CEF4E6D9-28AD-4052-A34E-AE9BA97FBA1D}" type="presParOf" srcId="{5A8ADD47-E7E9-413B-BCE8-34113A367D33}" destId="{573F0748-088B-4493-9DD6-80DE2DE61E25}" srcOrd="13" destOrd="0" presId="urn:microsoft.com/office/officeart/2005/8/layout/radial1"/>
    <dgm:cxn modelId="{CDACAEFC-15D9-4714-B88C-D44E3D438A00}" type="presParOf" srcId="{573F0748-088B-4493-9DD6-80DE2DE61E25}" destId="{A7C4E6A7-E9FE-4965-AEE9-29882D155793}" srcOrd="0" destOrd="0" presId="urn:microsoft.com/office/officeart/2005/8/layout/radial1"/>
    <dgm:cxn modelId="{A72B8553-B28D-45DB-96F9-A1A907918F4E}" type="presParOf" srcId="{5A8ADD47-E7E9-413B-BCE8-34113A367D33}" destId="{E70542A6-E9C6-4B42-BAEF-24639D3F4381}" srcOrd="14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65D67E-0848-4F39-9035-685F6537A73F}">
      <dsp:nvSpPr>
        <dsp:cNvPr id="0" name=""/>
        <dsp:cNvSpPr/>
      </dsp:nvSpPr>
      <dsp:spPr>
        <a:xfrm>
          <a:off x="2056741" y="1274286"/>
          <a:ext cx="1254474" cy="834081"/>
        </a:xfrm>
        <a:prstGeom prst="ellips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60000"/>
              </a:schemeClr>
            </a:gs>
            <a:gs pos="33000">
              <a:schemeClr val="accent4">
                <a:hueOff val="0"/>
                <a:satOff val="0"/>
                <a:lumOff val="0"/>
                <a:alphaOff val="0"/>
                <a:tint val="86500"/>
              </a:schemeClr>
            </a:gs>
            <a:gs pos="46750">
              <a:schemeClr val="accent4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53000">
              <a:schemeClr val="accent4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68000">
              <a:schemeClr val="accent4">
                <a:hueOff val="0"/>
                <a:satOff val="0"/>
                <a:lumOff val="0"/>
                <a:alphaOff val="0"/>
                <a:tint val="86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b="1" kern="1200" dirty="0">
              <a:solidFill>
                <a:schemeClr val="tx1"/>
              </a:solidFill>
            </a:rPr>
            <a:t>Empresa núcleo</a:t>
          </a:r>
        </a:p>
      </dsp:txBody>
      <dsp:txXfrm>
        <a:off x="2240454" y="1396434"/>
        <a:ext cx="887048" cy="589785"/>
      </dsp:txXfrm>
    </dsp:sp>
    <dsp:sp modelId="{9F75715A-FBD2-4621-A14E-3449BCD9DB5B}">
      <dsp:nvSpPr>
        <dsp:cNvPr id="0" name=""/>
        <dsp:cNvSpPr/>
      </dsp:nvSpPr>
      <dsp:spPr>
        <a:xfrm rot="16236429">
          <a:off x="2488803" y="1058121"/>
          <a:ext cx="403465" cy="28908"/>
        </a:xfrm>
        <a:custGeom>
          <a:avLst/>
          <a:gdLst/>
          <a:ahLst/>
          <a:cxnLst/>
          <a:rect l="0" t="0" r="0" b="0"/>
          <a:pathLst>
            <a:path>
              <a:moveTo>
                <a:pt x="0" y="14454"/>
              </a:moveTo>
              <a:lnTo>
                <a:pt x="403465" y="14454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>
            <a:solidFill>
              <a:schemeClr val="tx1"/>
            </a:solidFill>
          </a:endParaRPr>
        </a:p>
      </dsp:txBody>
      <dsp:txXfrm>
        <a:off x="2680449" y="1062489"/>
        <a:ext cx="20173" cy="20173"/>
      </dsp:txXfrm>
    </dsp:sp>
    <dsp:sp modelId="{55067193-6DD3-4418-B2AE-8A7297CDEA78}">
      <dsp:nvSpPr>
        <dsp:cNvPr id="0" name=""/>
        <dsp:cNvSpPr/>
      </dsp:nvSpPr>
      <dsp:spPr>
        <a:xfrm>
          <a:off x="2006168" y="0"/>
          <a:ext cx="1382239" cy="870864"/>
        </a:xfrm>
        <a:prstGeom prst="ellips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60000"/>
              </a:schemeClr>
            </a:gs>
            <a:gs pos="33000">
              <a:schemeClr val="accent5">
                <a:hueOff val="0"/>
                <a:satOff val="0"/>
                <a:lumOff val="0"/>
                <a:alphaOff val="0"/>
                <a:tint val="86500"/>
              </a:schemeClr>
            </a:gs>
            <a:gs pos="46750">
              <a:schemeClr val="accent5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53000">
              <a:schemeClr val="accent5">
                <a:hueOff val="0"/>
                <a:satOff val="0"/>
                <a:lumOff val="0"/>
                <a:alphaOff val="0"/>
                <a:tint val="71000"/>
                <a:satMod val="112000"/>
              </a:schemeClr>
            </a:gs>
            <a:gs pos="68000">
              <a:schemeClr val="accent5">
                <a:hueOff val="0"/>
                <a:satOff val="0"/>
                <a:lumOff val="0"/>
                <a:alphaOff val="0"/>
                <a:tint val="86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1" kern="1200" dirty="0">
              <a:solidFill>
                <a:schemeClr val="tx1"/>
              </a:solidFill>
            </a:rPr>
            <a:t>Proveedor 1</a:t>
          </a:r>
        </a:p>
      </dsp:txBody>
      <dsp:txXfrm>
        <a:off x="2208592" y="127535"/>
        <a:ext cx="977391" cy="615794"/>
      </dsp:txXfrm>
    </dsp:sp>
    <dsp:sp modelId="{2E6C46D5-6415-4D42-8945-4138A957144D}">
      <dsp:nvSpPr>
        <dsp:cNvPr id="0" name=""/>
        <dsp:cNvSpPr/>
      </dsp:nvSpPr>
      <dsp:spPr>
        <a:xfrm rot="19592666">
          <a:off x="3111715" y="1325796"/>
          <a:ext cx="207153" cy="28908"/>
        </a:xfrm>
        <a:custGeom>
          <a:avLst/>
          <a:gdLst/>
          <a:ahLst/>
          <a:cxnLst/>
          <a:rect l="0" t="0" r="0" b="0"/>
          <a:pathLst>
            <a:path>
              <a:moveTo>
                <a:pt x="0" y="14454"/>
              </a:moveTo>
              <a:lnTo>
                <a:pt x="207153" y="14454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>
            <a:solidFill>
              <a:schemeClr val="tx1"/>
            </a:solidFill>
          </a:endParaRPr>
        </a:p>
      </dsp:txBody>
      <dsp:txXfrm>
        <a:off x="3210113" y="1335072"/>
        <a:ext cx="10357" cy="10357"/>
      </dsp:txXfrm>
    </dsp:sp>
    <dsp:sp modelId="{53E751CF-B6A6-4CA6-BB82-A76C4C3A107A}">
      <dsp:nvSpPr>
        <dsp:cNvPr id="0" name=""/>
        <dsp:cNvSpPr/>
      </dsp:nvSpPr>
      <dsp:spPr>
        <a:xfrm>
          <a:off x="3232610" y="636199"/>
          <a:ext cx="834081" cy="834081"/>
        </a:xfrm>
        <a:prstGeom prst="ellipse">
          <a:avLst/>
        </a:prstGeom>
        <a:gradFill rotWithShape="0">
          <a:gsLst>
            <a:gs pos="0">
              <a:schemeClr val="accent5">
                <a:hueOff val="2099994"/>
                <a:satOff val="11404"/>
                <a:lumOff val="-4967"/>
                <a:alphaOff val="0"/>
                <a:shade val="60000"/>
              </a:schemeClr>
            </a:gs>
            <a:gs pos="33000">
              <a:schemeClr val="accent5">
                <a:hueOff val="2099994"/>
                <a:satOff val="11404"/>
                <a:lumOff val="-4967"/>
                <a:alphaOff val="0"/>
                <a:tint val="86500"/>
              </a:schemeClr>
            </a:gs>
            <a:gs pos="46750">
              <a:schemeClr val="accent5">
                <a:hueOff val="2099994"/>
                <a:satOff val="11404"/>
                <a:lumOff val="-4967"/>
                <a:alphaOff val="0"/>
                <a:tint val="71000"/>
                <a:satMod val="112000"/>
              </a:schemeClr>
            </a:gs>
            <a:gs pos="53000">
              <a:schemeClr val="accent5">
                <a:hueOff val="2099994"/>
                <a:satOff val="11404"/>
                <a:lumOff val="-4967"/>
                <a:alphaOff val="0"/>
                <a:tint val="71000"/>
                <a:satMod val="112000"/>
              </a:schemeClr>
            </a:gs>
            <a:gs pos="68000">
              <a:schemeClr val="accent5">
                <a:hueOff val="2099994"/>
                <a:satOff val="11404"/>
                <a:lumOff val="-4967"/>
                <a:alphaOff val="0"/>
                <a:tint val="86000"/>
              </a:schemeClr>
            </a:gs>
            <a:gs pos="100000">
              <a:schemeClr val="accent5">
                <a:hueOff val="2099994"/>
                <a:satOff val="11404"/>
                <a:lumOff val="-4967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1" kern="1200" baseline="0">
              <a:solidFill>
                <a:schemeClr val="tx1"/>
              </a:solidFill>
            </a:rPr>
            <a:t>I+D+I</a:t>
          </a:r>
          <a:endParaRPr lang="es-ES" sz="1200" b="1" kern="1200" baseline="0" dirty="0">
            <a:solidFill>
              <a:schemeClr val="tx1"/>
            </a:solidFill>
          </a:endParaRPr>
        </a:p>
      </dsp:txBody>
      <dsp:txXfrm>
        <a:off x="3354758" y="758347"/>
        <a:ext cx="589785" cy="589785"/>
      </dsp:txXfrm>
    </dsp:sp>
    <dsp:sp modelId="{6CA48C6C-FC3E-4B92-9B36-F20FA23A8F03}">
      <dsp:nvSpPr>
        <dsp:cNvPr id="0" name=""/>
        <dsp:cNvSpPr/>
      </dsp:nvSpPr>
      <dsp:spPr>
        <a:xfrm rot="771429">
          <a:off x="3276416" y="1819532"/>
          <a:ext cx="65188" cy="28908"/>
        </a:xfrm>
        <a:custGeom>
          <a:avLst/>
          <a:gdLst/>
          <a:ahLst/>
          <a:cxnLst/>
          <a:rect l="0" t="0" r="0" b="0"/>
          <a:pathLst>
            <a:path>
              <a:moveTo>
                <a:pt x="0" y="14454"/>
              </a:moveTo>
              <a:lnTo>
                <a:pt x="65188" y="14454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>
            <a:solidFill>
              <a:schemeClr val="tx1"/>
            </a:solidFill>
          </a:endParaRPr>
        </a:p>
      </dsp:txBody>
      <dsp:txXfrm>
        <a:off x="3307381" y="1832357"/>
        <a:ext cx="3259" cy="3259"/>
      </dsp:txXfrm>
    </dsp:sp>
    <dsp:sp modelId="{BFBA8C90-75C2-49C3-942F-502F5EE96683}">
      <dsp:nvSpPr>
        <dsp:cNvPr id="0" name=""/>
        <dsp:cNvSpPr/>
      </dsp:nvSpPr>
      <dsp:spPr>
        <a:xfrm>
          <a:off x="3311998" y="1552695"/>
          <a:ext cx="1183536" cy="834081"/>
        </a:xfrm>
        <a:prstGeom prst="ellipse">
          <a:avLst/>
        </a:prstGeom>
        <a:gradFill rotWithShape="0">
          <a:gsLst>
            <a:gs pos="0">
              <a:schemeClr val="accent5">
                <a:hueOff val="4199989"/>
                <a:satOff val="22807"/>
                <a:lumOff val="-9935"/>
                <a:alphaOff val="0"/>
                <a:shade val="60000"/>
              </a:schemeClr>
            </a:gs>
            <a:gs pos="33000">
              <a:schemeClr val="accent5">
                <a:hueOff val="4199989"/>
                <a:satOff val="22807"/>
                <a:lumOff val="-9935"/>
                <a:alphaOff val="0"/>
                <a:tint val="86500"/>
              </a:schemeClr>
            </a:gs>
            <a:gs pos="46750">
              <a:schemeClr val="accent5">
                <a:hueOff val="4199989"/>
                <a:satOff val="22807"/>
                <a:lumOff val="-9935"/>
                <a:alphaOff val="0"/>
                <a:tint val="71000"/>
                <a:satMod val="112000"/>
              </a:schemeClr>
            </a:gs>
            <a:gs pos="53000">
              <a:schemeClr val="accent5">
                <a:hueOff val="4199989"/>
                <a:satOff val="22807"/>
                <a:lumOff val="-9935"/>
                <a:alphaOff val="0"/>
                <a:tint val="71000"/>
                <a:satMod val="112000"/>
              </a:schemeClr>
            </a:gs>
            <a:gs pos="68000">
              <a:schemeClr val="accent5">
                <a:hueOff val="4199989"/>
                <a:satOff val="22807"/>
                <a:lumOff val="-9935"/>
                <a:alphaOff val="0"/>
                <a:tint val="86000"/>
              </a:schemeClr>
            </a:gs>
            <a:gs pos="100000">
              <a:schemeClr val="accent5">
                <a:hueOff val="4199989"/>
                <a:satOff val="22807"/>
                <a:lumOff val="-9935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1" kern="1200">
              <a:solidFill>
                <a:schemeClr val="tx1"/>
              </a:solidFill>
            </a:rPr>
            <a:t>Proveedor 2</a:t>
          </a:r>
          <a:endParaRPr lang="es-ES" sz="1200" b="1" kern="1200" dirty="0">
            <a:solidFill>
              <a:schemeClr val="tx1"/>
            </a:solidFill>
          </a:endParaRPr>
        </a:p>
      </dsp:txBody>
      <dsp:txXfrm>
        <a:off x="3485323" y="1674843"/>
        <a:ext cx="836886" cy="589785"/>
      </dsp:txXfrm>
    </dsp:sp>
    <dsp:sp modelId="{BE7F28DC-CC6F-441A-9054-BF4FE16A964F}">
      <dsp:nvSpPr>
        <dsp:cNvPr id="0" name=""/>
        <dsp:cNvSpPr/>
      </dsp:nvSpPr>
      <dsp:spPr>
        <a:xfrm rot="3639211">
          <a:off x="2801482" y="2242096"/>
          <a:ext cx="400576" cy="28908"/>
        </a:xfrm>
        <a:custGeom>
          <a:avLst/>
          <a:gdLst/>
          <a:ahLst/>
          <a:cxnLst/>
          <a:rect l="0" t="0" r="0" b="0"/>
          <a:pathLst>
            <a:path>
              <a:moveTo>
                <a:pt x="0" y="14454"/>
              </a:moveTo>
              <a:lnTo>
                <a:pt x="400576" y="14454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>
            <a:solidFill>
              <a:schemeClr val="tx1"/>
            </a:solidFill>
          </a:endParaRPr>
        </a:p>
      </dsp:txBody>
      <dsp:txXfrm>
        <a:off x="2991756" y="2246536"/>
        <a:ext cx="20028" cy="20028"/>
      </dsp:txXfrm>
    </dsp:sp>
    <dsp:sp modelId="{68E54CC9-6A75-4715-93CD-43E2363BC609}">
      <dsp:nvSpPr>
        <dsp:cNvPr id="0" name=""/>
        <dsp:cNvSpPr/>
      </dsp:nvSpPr>
      <dsp:spPr>
        <a:xfrm>
          <a:off x="2672054" y="2406278"/>
          <a:ext cx="1296754" cy="834081"/>
        </a:xfrm>
        <a:prstGeom prst="ellipse">
          <a:avLst/>
        </a:prstGeom>
        <a:gradFill rotWithShape="0">
          <a:gsLst>
            <a:gs pos="0">
              <a:schemeClr val="accent5">
                <a:hueOff val="6299983"/>
                <a:satOff val="34211"/>
                <a:lumOff val="-14902"/>
                <a:alphaOff val="0"/>
                <a:shade val="60000"/>
              </a:schemeClr>
            </a:gs>
            <a:gs pos="33000">
              <a:schemeClr val="accent5">
                <a:hueOff val="6299983"/>
                <a:satOff val="34211"/>
                <a:lumOff val="-14902"/>
                <a:alphaOff val="0"/>
                <a:tint val="86500"/>
              </a:schemeClr>
            </a:gs>
            <a:gs pos="46750">
              <a:schemeClr val="accent5">
                <a:hueOff val="6299983"/>
                <a:satOff val="34211"/>
                <a:lumOff val="-14902"/>
                <a:alphaOff val="0"/>
                <a:tint val="71000"/>
                <a:satMod val="112000"/>
              </a:schemeClr>
            </a:gs>
            <a:gs pos="53000">
              <a:schemeClr val="accent5">
                <a:hueOff val="6299983"/>
                <a:satOff val="34211"/>
                <a:lumOff val="-14902"/>
                <a:alphaOff val="0"/>
                <a:tint val="71000"/>
                <a:satMod val="112000"/>
              </a:schemeClr>
            </a:gs>
            <a:gs pos="68000">
              <a:schemeClr val="accent5">
                <a:hueOff val="6299983"/>
                <a:satOff val="34211"/>
                <a:lumOff val="-14902"/>
                <a:alphaOff val="0"/>
                <a:tint val="86000"/>
              </a:schemeClr>
            </a:gs>
            <a:gs pos="100000">
              <a:schemeClr val="accent5">
                <a:hueOff val="6299983"/>
                <a:satOff val="34211"/>
                <a:lumOff val="-14902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1" kern="1200">
              <a:solidFill>
                <a:schemeClr val="tx1"/>
              </a:solidFill>
            </a:rPr>
            <a:t>Socio comercial</a:t>
          </a:r>
          <a:endParaRPr lang="es-ES" sz="1200" b="1" kern="1200" dirty="0">
            <a:solidFill>
              <a:schemeClr val="tx1"/>
            </a:solidFill>
          </a:endParaRPr>
        </a:p>
      </dsp:txBody>
      <dsp:txXfrm>
        <a:off x="2861959" y="2528426"/>
        <a:ext cx="916944" cy="589785"/>
      </dsp:txXfrm>
    </dsp:sp>
    <dsp:sp modelId="{7B0FE316-10CC-43D6-9F52-4D9467B2B33B}">
      <dsp:nvSpPr>
        <dsp:cNvPr id="0" name=""/>
        <dsp:cNvSpPr/>
      </dsp:nvSpPr>
      <dsp:spPr>
        <a:xfrm rot="6942857">
          <a:off x="2210748" y="2251218"/>
          <a:ext cx="393281" cy="28908"/>
        </a:xfrm>
        <a:custGeom>
          <a:avLst/>
          <a:gdLst/>
          <a:ahLst/>
          <a:cxnLst/>
          <a:rect l="0" t="0" r="0" b="0"/>
          <a:pathLst>
            <a:path>
              <a:moveTo>
                <a:pt x="0" y="14454"/>
              </a:moveTo>
              <a:lnTo>
                <a:pt x="393281" y="14454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>
            <a:solidFill>
              <a:schemeClr val="tx1"/>
            </a:solidFill>
          </a:endParaRPr>
        </a:p>
      </dsp:txBody>
      <dsp:txXfrm rot="10800000">
        <a:off x="2397557" y="2255840"/>
        <a:ext cx="19664" cy="19664"/>
      </dsp:txXfrm>
    </dsp:sp>
    <dsp:sp modelId="{6D3763C6-7C79-43CE-97E9-07C3544B69C4}">
      <dsp:nvSpPr>
        <dsp:cNvPr id="0" name=""/>
        <dsp:cNvSpPr/>
      </dsp:nvSpPr>
      <dsp:spPr>
        <a:xfrm>
          <a:off x="1724082" y="2401539"/>
          <a:ext cx="834081" cy="834081"/>
        </a:xfrm>
        <a:prstGeom prst="ellipse">
          <a:avLst/>
        </a:prstGeom>
        <a:gradFill rotWithShape="0">
          <a:gsLst>
            <a:gs pos="0">
              <a:schemeClr val="accent5">
                <a:hueOff val="8399977"/>
                <a:satOff val="45614"/>
                <a:lumOff val="-19869"/>
                <a:alphaOff val="0"/>
                <a:shade val="60000"/>
              </a:schemeClr>
            </a:gs>
            <a:gs pos="33000">
              <a:schemeClr val="accent5">
                <a:hueOff val="8399977"/>
                <a:satOff val="45614"/>
                <a:lumOff val="-19869"/>
                <a:alphaOff val="0"/>
                <a:tint val="86500"/>
              </a:schemeClr>
            </a:gs>
            <a:gs pos="46750">
              <a:schemeClr val="accent5">
                <a:hueOff val="8399977"/>
                <a:satOff val="45614"/>
                <a:lumOff val="-19869"/>
                <a:alphaOff val="0"/>
                <a:tint val="71000"/>
                <a:satMod val="112000"/>
              </a:schemeClr>
            </a:gs>
            <a:gs pos="53000">
              <a:schemeClr val="accent5">
                <a:hueOff val="8399977"/>
                <a:satOff val="45614"/>
                <a:lumOff val="-19869"/>
                <a:alphaOff val="0"/>
                <a:tint val="71000"/>
                <a:satMod val="112000"/>
              </a:schemeClr>
            </a:gs>
            <a:gs pos="68000">
              <a:schemeClr val="accent5">
                <a:hueOff val="8399977"/>
                <a:satOff val="45614"/>
                <a:lumOff val="-19869"/>
                <a:alphaOff val="0"/>
                <a:tint val="86000"/>
              </a:schemeClr>
            </a:gs>
            <a:gs pos="100000">
              <a:schemeClr val="accent5">
                <a:hueOff val="8399977"/>
                <a:satOff val="45614"/>
                <a:lumOff val="-19869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1" kern="1200">
              <a:solidFill>
                <a:schemeClr val="tx1"/>
              </a:solidFill>
            </a:rPr>
            <a:t>Cliente</a:t>
          </a:r>
          <a:endParaRPr lang="es-ES" sz="1200" b="1" kern="1200" dirty="0">
            <a:solidFill>
              <a:schemeClr val="tx1"/>
            </a:solidFill>
          </a:endParaRPr>
        </a:p>
      </dsp:txBody>
      <dsp:txXfrm>
        <a:off x="1846230" y="2523687"/>
        <a:ext cx="589785" cy="589785"/>
      </dsp:txXfrm>
    </dsp:sp>
    <dsp:sp modelId="{D65F77CD-E3D4-4525-8EA4-C76C6FE70FD6}">
      <dsp:nvSpPr>
        <dsp:cNvPr id="0" name=""/>
        <dsp:cNvSpPr/>
      </dsp:nvSpPr>
      <dsp:spPr>
        <a:xfrm rot="9804780">
          <a:off x="2071282" y="1853248"/>
          <a:ext cx="41133" cy="28908"/>
        </a:xfrm>
        <a:custGeom>
          <a:avLst/>
          <a:gdLst/>
          <a:ahLst/>
          <a:cxnLst/>
          <a:rect l="0" t="0" r="0" b="0"/>
          <a:pathLst>
            <a:path>
              <a:moveTo>
                <a:pt x="0" y="14454"/>
              </a:moveTo>
              <a:lnTo>
                <a:pt x="41133" y="14454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>
            <a:solidFill>
              <a:schemeClr val="tx1"/>
            </a:solidFill>
          </a:endParaRPr>
        </a:p>
      </dsp:txBody>
      <dsp:txXfrm rot="10800000">
        <a:off x="2090820" y="1866674"/>
        <a:ext cx="2056" cy="2056"/>
      </dsp:txXfrm>
    </dsp:sp>
    <dsp:sp modelId="{F6490FFB-E169-4274-843A-A60FDE6328CD}">
      <dsp:nvSpPr>
        <dsp:cNvPr id="0" name=""/>
        <dsp:cNvSpPr/>
      </dsp:nvSpPr>
      <dsp:spPr>
        <a:xfrm>
          <a:off x="633774" y="1656743"/>
          <a:ext cx="1532432" cy="834081"/>
        </a:xfrm>
        <a:prstGeom prst="ellipse">
          <a:avLst/>
        </a:prstGeom>
        <a:gradFill rotWithShape="0">
          <a:gsLst>
            <a:gs pos="0">
              <a:schemeClr val="accent5">
                <a:hueOff val="10499971"/>
                <a:satOff val="57017"/>
                <a:lumOff val="-24837"/>
                <a:alphaOff val="0"/>
                <a:shade val="60000"/>
              </a:schemeClr>
            </a:gs>
            <a:gs pos="33000">
              <a:schemeClr val="accent5">
                <a:hueOff val="10499971"/>
                <a:satOff val="57017"/>
                <a:lumOff val="-24837"/>
                <a:alphaOff val="0"/>
                <a:tint val="86500"/>
              </a:schemeClr>
            </a:gs>
            <a:gs pos="46750">
              <a:schemeClr val="accent5">
                <a:hueOff val="10499971"/>
                <a:satOff val="57017"/>
                <a:lumOff val="-24837"/>
                <a:alphaOff val="0"/>
                <a:tint val="71000"/>
                <a:satMod val="112000"/>
              </a:schemeClr>
            </a:gs>
            <a:gs pos="53000">
              <a:schemeClr val="accent5">
                <a:hueOff val="10499971"/>
                <a:satOff val="57017"/>
                <a:lumOff val="-24837"/>
                <a:alphaOff val="0"/>
                <a:tint val="71000"/>
                <a:satMod val="112000"/>
              </a:schemeClr>
            </a:gs>
            <a:gs pos="68000">
              <a:schemeClr val="accent5">
                <a:hueOff val="10499971"/>
                <a:satOff val="57017"/>
                <a:lumOff val="-24837"/>
                <a:alphaOff val="0"/>
                <a:tint val="86000"/>
              </a:schemeClr>
            </a:gs>
            <a:gs pos="100000">
              <a:schemeClr val="accent5">
                <a:hueOff val="10499971"/>
                <a:satOff val="57017"/>
                <a:lumOff val="-24837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1" kern="1200" dirty="0">
              <a:solidFill>
                <a:schemeClr val="tx1"/>
              </a:solidFill>
            </a:rPr>
            <a:t>Socio financiero</a:t>
          </a:r>
        </a:p>
      </dsp:txBody>
      <dsp:txXfrm>
        <a:off x="858193" y="1778891"/>
        <a:ext cx="1083594" cy="589785"/>
      </dsp:txXfrm>
    </dsp:sp>
    <dsp:sp modelId="{573F0748-088B-4493-9DD6-80DE2DE61E25}">
      <dsp:nvSpPr>
        <dsp:cNvPr id="0" name=""/>
        <dsp:cNvSpPr/>
      </dsp:nvSpPr>
      <dsp:spPr>
        <a:xfrm rot="13132707">
          <a:off x="2082653" y="1283736"/>
          <a:ext cx="227461" cy="28908"/>
        </a:xfrm>
        <a:custGeom>
          <a:avLst/>
          <a:gdLst/>
          <a:ahLst/>
          <a:cxnLst/>
          <a:rect l="0" t="0" r="0" b="0"/>
          <a:pathLst>
            <a:path>
              <a:moveTo>
                <a:pt x="0" y="14454"/>
              </a:moveTo>
              <a:lnTo>
                <a:pt x="227461" y="14454"/>
              </a:lnTo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ES" sz="500" kern="1200">
            <a:solidFill>
              <a:schemeClr val="tx1"/>
            </a:solidFill>
          </a:endParaRPr>
        </a:p>
      </dsp:txBody>
      <dsp:txXfrm rot="10800000">
        <a:off x="2190697" y="1292503"/>
        <a:ext cx="11373" cy="11373"/>
      </dsp:txXfrm>
    </dsp:sp>
    <dsp:sp modelId="{E70542A6-E9C6-4B42-BAEF-24639D3F4381}">
      <dsp:nvSpPr>
        <dsp:cNvPr id="0" name=""/>
        <dsp:cNvSpPr/>
      </dsp:nvSpPr>
      <dsp:spPr>
        <a:xfrm>
          <a:off x="1173416" y="504475"/>
          <a:ext cx="1111579" cy="834081"/>
        </a:xfrm>
        <a:prstGeom prst="ellipse">
          <a:avLst/>
        </a:prstGeom>
        <a:gradFill rotWithShape="0">
          <a:gsLst>
            <a:gs pos="0">
              <a:schemeClr val="accent5">
                <a:hueOff val="12599965"/>
                <a:satOff val="68421"/>
                <a:lumOff val="-29804"/>
                <a:alphaOff val="0"/>
                <a:shade val="60000"/>
              </a:schemeClr>
            </a:gs>
            <a:gs pos="33000">
              <a:schemeClr val="accent5">
                <a:hueOff val="12599965"/>
                <a:satOff val="68421"/>
                <a:lumOff val="-29804"/>
                <a:alphaOff val="0"/>
                <a:tint val="86500"/>
              </a:schemeClr>
            </a:gs>
            <a:gs pos="46750">
              <a:schemeClr val="accent5">
                <a:hueOff val="12599965"/>
                <a:satOff val="68421"/>
                <a:lumOff val="-29804"/>
                <a:alphaOff val="0"/>
                <a:tint val="71000"/>
                <a:satMod val="112000"/>
              </a:schemeClr>
            </a:gs>
            <a:gs pos="53000">
              <a:schemeClr val="accent5">
                <a:hueOff val="12599965"/>
                <a:satOff val="68421"/>
                <a:lumOff val="-29804"/>
                <a:alphaOff val="0"/>
                <a:tint val="71000"/>
                <a:satMod val="112000"/>
              </a:schemeClr>
            </a:gs>
            <a:gs pos="68000">
              <a:schemeClr val="accent5">
                <a:hueOff val="12599965"/>
                <a:satOff val="68421"/>
                <a:lumOff val="-29804"/>
                <a:alphaOff val="0"/>
                <a:tint val="86000"/>
              </a:schemeClr>
            </a:gs>
            <a:gs pos="100000">
              <a:schemeClr val="accent5">
                <a:hueOff val="12599965"/>
                <a:satOff val="68421"/>
                <a:lumOff val="-29804"/>
                <a:alphaOff val="0"/>
                <a:shade val="60000"/>
              </a:schemeClr>
            </a:gs>
          </a:gsLst>
          <a:lin ang="8350000" scaled="1"/>
        </a:gradFill>
        <a:ln>
          <a:noFill/>
        </a:ln>
        <a:effectLst>
          <a:outerShdw blurRad="190500" dist="228600" dir="2700000" sy="90000" rotWithShape="0">
            <a:srgbClr val="000000">
              <a:alpha val="255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b="1" kern="1200" dirty="0">
              <a:solidFill>
                <a:schemeClr val="tx1"/>
              </a:solidFill>
            </a:rPr>
            <a:t>Gestión almacén</a:t>
          </a:r>
        </a:p>
      </dsp:txBody>
      <dsp:txXfrm>
        <a:off x="1336203" y="626623"/>
        <a:ext cx="786005" cy="5897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5485E-5FFF-419E-BA90-62D41356D4D2}" type="datetimeFigureOut">
              <a:rPr lang="es-ES" smtClean="0"/>
              <a:pPr/>
              <a:t>14/10/2024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95AE0-47E3-486F-858C-30E83B181DCF}" type="slidenum">
              <a:rPr lang="es-ES" smtClean="0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just" defTabSz="914400" rtl="0" eaLnBrk="1" latinLnBrk="0" hangingPunct="1"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just" defTabSz="914400" rtl="0" eaLnBrk="1" latinLnBrk="0" hangingPunct="1"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just" defTabSz="914400" rtl="0" eaLnBrk="1" latinLnBrk="0" hangingPunct="1"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just" defTabSz="914400" rtl="0" eaLnBrk="1" latinLnBrk="0" hangingPunct="1"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just" defTabSz="914400" rtl="0" eaLnBrk="1" latinLnBrk="0" hangingPunct="1"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B469D80-CCF0-4B7B-8ACE-9ADEEA422B62}" type="slidenum">
              <a:rPr lang="es-E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es-E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0079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44460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EB4A819-1CE8-4785-B5EF-5A69F8B8A3A7}" type="slidenum">
              <a:rPr lang="es-ES"/>
              <a:pPr/>
              <a:t>6</a:t>
            </a:fld>
            <a:endParaRPr lang="es-ES"/>
          </a:p>
        </p:txBody>
      </p:sp>
      <p:sp>
        <p:nvSpPr>
          <p:cNvPr id="7170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171" name="2 Marcador de notas"/>
          <p:cNvSpPr>
            <a:spLocks noGrp="1"/>
          </p:cNvSpPr>
          <p:nvPr>
            <p:ph type="body" idx="1"/>
          </p:nvPr>
        </p:nvSpPr>
        <p:spPr/>
        <p:txBody>
          <a:bodyPr lIns="91422" tIns="45712" rIns="91422" bIns="45712"/>
          <a:lstStyle/>
          <a:p>
            <a:pPr>
              <a:spcBef>
                <a:spcPct val="0"/>
              </a:spcBef>
            </a:pPr>
            <a:endParaRPr lang="es-ES"/>
          </a:p>
        </p:txBody>
      </p:sp>
      <p:sp>
        <p:nvSpPr>
          <p:cNvPr id="31747" name="3 Marcador de número de diapositiva"/>
          <p:cNvSpPr txBox="1">
            <a:spLocks noGrp="1"/>
          </p:cNvSpPr>
          <p:nvPr/>
        </p:nvSpPr>
        <p:spPr bwMode="auto">
          <a:xfrm>
            <a:off x="3884463" y="8685878"/>
            <a:ext cx="2972004" cy="456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2" tIns="45712" rIns="91422" bIns="45712" anchor="b"/>
          <a:lstStyle/>
          <a:p>
            <a:pPr algn="r">
              <a:defRPr/>
            </a:pPr>
            <a:fld id="{F15CF1F8-B8EA-4B71-877B-F4C7E78129FE}" type="slidenum">
              <a:rPr lang="es-ES" sz="1200"/>
              <a:pPr algn="r">
                <a:defRPr/>
              </a:pPr>
              <a:t>6</a:t>
            </a:fld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12280894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764C62-3D54-431A-B4F3-6AC5BFD0442E}" type="slidenum">
              <a:rPr lang="es-ES"/>
              <a:pPr/>
              <a:t>7</a:t>
            </a:fld>
            <a:endParaRPr lang="es-ES"/>
          </a:p>
        </p:txBody>
      </p:sp>
      <p:sp>
        <p:nvSpPr>
          <p:cNvPr id="9218" name="1 Marcador de imagen de diapositiva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9219" name="2 Marcador de notas"/>
          <p:cNvSpPr>
            <a:spLocks noGrp="1"/>
          </p:cNvSpPr>
          <p:nvPr>
            <p:ph type="body" idx="1"/>
          </p:nvPr>
        </p:nvSpPr>
        <p:spPr/>
        <p:txBody>
          <a:bodyPr lIns="91422" tIns="45712" rIns="91422" bIns="45712"/>
          <a:lstStyle/>
          <a:p>
            <a:pPr>
              <a:spcBef>
                <a:spcPct val="0"/>
              </a:spcBef>
            </a:pPr>
            <a:endParaRPr lang="es-ES"/>
          </a:p>
        </p:txBody>
      </p:sp>
      <p:sp>
        <p:nvSpPr>
          <p:cNvPr id="33795" name="3 Marcador de número de diapositiva"/>
          <p:cNvSpPr txBox="1">
            <a:spLocks noGrp="1"/>
          </p:cNvSpPr>
          <p:nvPr/>
        </p:nvSpPr>
        <p:spPr bwMode="auto">
          <a:xfrm>
            <a:off x="3884463" y="8685878"/>
            <a:ext cx="2972004" cy="456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22" tIns="45712" rIns="91422" bIns="45712" anchor="b"/>
          <a:lstStyle/>
          <a:p>
            <a:pPr algn="r">
              <a:defRPr/>
            </a:pPr>
            <a:fld id="{BA7755A6-35DB-430F-A18D-24880D97AFA6}" type="slidenum">
              <a:rPr lang="es-ES" sz="1200"/>
              <a:pPr algn="r">
                <a:defRPr/>
              </a:pPr>
              <a:t>7</a:t>
            </a:fld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3311863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95AE0-47E3-486F-858C-30E83B181DCF}" type="slidenum">
              <a:rPr lang="es-ES" smtClean="0"/>
              <a:pPr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440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95AE0-47E3-486F-858C-30E83B181DCF}" type="slidenum">
              <a:rPr lang="es-ES" smtClean="0"/>
              <a:pPr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13686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s-ES" sz="1000" dirty="0">
                <a:sym typeface="Wingdings" pitchFamily="2" charset="2"/>
              </a:rPr>
              <a:t>Elección de un conjunto correcto de mecanismos de coordinación que:</a:t>
            </a:r>
          </a:p>
          <a:p>
            <a:pPr algn="just">
              <a:buFont typeface="Arial" pitchFamily="34" charset="0"/>
              <a:buChar char="•"/>
            </a:pPr>
            <a:r>
              <a:rPr lang="es-ES" sz="1000" dirty="0">
                <a:sym typeface="Wingdings" pitchFamily="2" charset="2"/>
              </a:rPr>
              <a:t> Enlace los flujos de trabajo de las unidades organizativas.</a:t>
            </a:r>
          </a:p>
          <a:p>
            <a:pPr algn="just">
              <a:buFont typeface="Arial" pitchFamily="34" charset="0"/>
              <a:buChar char="•"/>
            </a:pPr>
            <a:r>
              <a:rPr lang="es-ES" sz="1000" dirty="0">
                <a:sym typeface="Wingdings" pitchFamily="2" charset="2"/>
              </a:rPr>
              <a:t> Mantenga el contacto entre los distintos especialistas</a:t>
            </a:r>
          </a:p>
          <a:p>
            <a:pPr algn="just">
              <a:buFont typeface="Arial" pitchFamily="34" charset="0"/>
              <a:buChar char="•"/>
            </a:pPr>
            <a:r>
              <a:rPr lang="es-ES" sz="1000" dirty="0">
                <a:sym typeface="Wingdings" pitchFamily="2" charset="2"/>
              </a:rPr>
              <a:t> Resuelva los problemas de excepción que puedan surgir en la organización</a:t>
            </a:r>
          </a:p>
          <a:p>
            <a:pPr algn="just"/>
            <a:endParaRPr lang="es-ES" sz="1000" baseline="0" dirty="0"/>
          </a:p>
          <a:p>
            <a:pPr algn="just"/>
            <a:r>
              <a:rPr lang="es-ES" sz="1000" baseline="0" dirty="0"/>
              <a:t>Con carácter general:</a:t>
            </a:r>
          </a:p>
          <a:p>
            <a:pPr algn="just"/>
            <a:r>
              <a:rPr lang="es-ES" sz="1000" baseline="0" dirty="0">
                <a:sym typeface="Wingdings"/>
              </a:rPr>
              <a:t>      &gt; interdependencia de tareas  necesidad de coordinación y de resolución conjunta de problemas</a:t>
            </a:r>
          </a:p>
          <a:p>
            <a:pPr algn="just"/>
            <a:r>
              <a:rPr lang="es-ES" sz="1000" baseline="0" dirty="0"/>
              <a:t>      &gt; complejidad interdependencia </a:t>
            </a:r>
            <a:r>
              <a:rPr lang="es-ES" sz="1000" baseline="0" dirty="0">
                <a:sym typeface="Wingdings"/>
              </a:rPr>
              <a:t></a:t>
            </a:r>
            <a:r>
              <a:rPr lang="es-ES" sz="1000" baseline="0" dirty="0"/>
              <a:t> &gt; incertidumbre </a:t>
            </a:r>
            <a:r>
              <a:rPr lang="es-ES" sz="1000" baseline="0" dirty="0">
                <a:sym typeface="Wingdings"/>
              </a:rPr>
              <a:t> &gt; complejidad de los mecanismos de coordinación</a:t>
            </a:r>
            <a:endParaRPr lang="es-ES" sz="1000" baseline="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4A38AC1-0707-4542-8BCD-91B529F650FF}" type="slidenum">
              <a:rPr lang="es-ES_tradnl" smtClean="0"/>
              <a:pPr>
                <a:defRPr/>
              </a:pPr>
              <a:t>21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37500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Portada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 sz="3200">
                <a:latin typeface="Comic Sans MS" pitchFamily="66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ES_tradnl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latin typeface="Comic Sans MS" pitchFamily="66" charset="0"/>
              </a:defRPr>
            </a:lvl1pPr>
          </a:lstStyle>
          <a:p>
            <a:r>
              <a:rPr lang="es-ES" dirty="0"/>
              <a:t>Haga clic para modificar el estilo de subtítulo del patrón</a:t>
            </a:r>
            <a:endParaRPr lang="es-ES_tradnl" dirty="0"/>
          </a:p>
        </p:txBody>
      </p:sp>
      <p:sp>
        <p:nvSpPr>
          <p:cNvPr id="4" name="2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3419872" y="6185743"/>
            <a:ext cx="2807866" cy="555625"/>
          </a:xfrm>
        </p:spPr>
        <p:txBody>
          <a:bodyPr/>
          <a:lstStyle/>
          <a:p>
            <a:pPr>
              <a:defRPr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90903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 sz="3200">
                <a:latin typeface="Comic Sans MS" pitchFamily="66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ES_tradnl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latin typeface="Comic Sans MS" pitchFamily="66" charset="0"/>
              </a:defRPr>
            </a:lvl1pPr>
          </a:lstStyle>
          <a:p>
            <a:r>
              <a:rPr lang="es-ES" dirty="0"/>
              <a:t>Haga clic para modificar el estilo de subtítulo del patrón</a:t>
            </a:r>
            <a:endParaRPr lang="es-ES_tradnl" dirty="0"/>
          </a:p>
        </p:txBody>
      </p:sp>
      <p:sp>
        <p:nvSpPr>
          <p:cNvPr id="4" name="2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3419872" y="6185743"/>
            <a:ext cx="2807866" cy="555625"/>
          </a:xfrm>
        </p:spPr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35496" y="6232227"/>
            <a:ext cx="72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 u="none">
                <a:solidFill>
                  <a:srgbClr val="C00000"/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ES" dirty="0"/>
          </a:p>
        </p:txBody>
      </p:sp>
      <p:sp>
        <p:nvSpPr>
          <p:cNvPr id="6" name="5 Elipse"/>
          <p:cNvSpPr/>
          <p:nvPr userDrawn="1"/>
        </p:nvSpPr>
        <p:spPr>
          <a:xfrm>
            <a:off x="154112" y="6165304"/>
            <a:ext cx="504056" cy="50405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u="sng">
              <a:solidFill>
                <a:srgbClr val="DEF6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578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rtada Bloque Azul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5"/>
          <p:cNvSpPr>
            <a:spLocks noChangeShapeType="1"/>
          </p:cNvSpPr>
          <p:nvPr/>
        </p:nvSpPr>
        <p:spPr bwMode="ltGray">
          <a:xfrm>
            <a:off x="193675" y="228600"/>
            <a:ext cx="0" cy="2851150"/>
          </a:xfrm>
          <a:prstGeom prst="line">
            <a:avLst/>
          </a:prstGeom>
          <a:noFill/>
          <a:ln w="38100">
            <a:solidFill>
              <a:srgbClr val="5399D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u="sng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6" name="Line 64"/>
          <p:cNvSpPr>
            <a:spLocks noChangeShapeType="1"/>
          </p:cNvSpPr>
          <p:nvPr/>
        </p:nvSpPr>
        <p:spPr bwMode="ltGray">
          <a:xfrm flipH="1" flipV="1">
            <a:off x="0" y="830263"/>
            <a:ext cx="6049963" cy="1588"/>
          </a:xfrm>
          <a:prstGeom prst="line">
            <a:avLst/>
          </a:prstGeom>
          <a:noFill/>
          <a:ln w="38100">
            <a:solidFill>
              <a:srgbClr val="5399D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u="sng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7" name="Arc 66"/>
          <p:cNvSpPr>
            <a:spLocks/>
          </p:cNvSpPr>
          <p:nvPr/>
        </p:nvSpPr>
        <p:spPr bwMode="ltGray">
          <a:xfrm rot="16200000" flipH="1">
            <a:off x="66675" y="706437"/>
            <a:ext cx="247650" cy="249238"/>
          </a:xfrm>
          <a:custGeom>
            <a:avLst/>
            <a:gdLst>
              <a:gd name="G0" fmla="+- 21595 0 0"/>
              <a:gd name="G1" fmla="+- 21600 0 0"/>
              <a:gd name="G2" fmla="+- 21600 0 0"/>
              <a:gd name="T0" fmla="*/ 21114 w 43195"/>
              <a:gd name="T1" fmla="*/ 5 h 43200"/>
              <a:gd name="T2" fmla="*/ 0 w 43195"/>
              <a:gd name="T3" fmla="*/ 22056 h 43200"/>
              <a:gd name="T4" fmla="*/ 21595 w 43195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195" h="43200" fill="none" extrusionOk="0">
                <a:moveTo>
                  <a:pt x="21114" y="5"/>
                </a:moveTo>
                <a:cubicBezTo>
                  <a:pt x="21274" y="1"/>
                  <a:pt x="21434" y="-1"/>
                  <a:pt x="21595" y="0"/>
                </a:cubicBezTo>
                <a:cubicBezTo>
                  <a:pt x="33524" y="0"/>
                  <a:pt x="43195" y="9670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43" y="43200"/>
                  <a:pt x="247" y="33805"/>
                  <a:pt x="-1" y="22056"/>
                </a:cubicBezTo>
              </a:path>
              <a:path w="43195" h="43200" stroke="0" extrusionOk="0">
                <a:moveTo>
                  <a:pt x="21114" y="5"/>
                </a:moveTo>
                <a:cubicBezTo>
                  <a:pt x="21274" y="1"/>
                  <a:pt x="21434" y="-1"/>
                  <a:pt x="21595" y="0"/>
                </a:cubicBezTo>
                <a:cubicBezTo>
                  <a:pt x="33524" y="0"/>
                  <a:pt x="43195" y="9670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43" y="43200"/>
                  <a:pt x="247" y="33805"/>
                  <a:pt x="-1" y="22056"/>
                </a:cubicBezTo>
                <a:lnTo>
                  <a:pt x="21595" y="21600"/>
                </a:lnTo>
                <a:close/>
              </a:path>
            </a:pathLst>
          </a:custGeom>
          <a:noFill/>
          <a:ln w="38100">
            <a:solidFill>
              <a:srgbClr val="5399D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u="sng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8" name="2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3419872" y="6185743"/>
            <a:ext cx="2807866" cy="555625"/>
          </a:xfrm>
        </p:spPr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251520" y="6232227"/>
            <a:ext cx="72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 u="none">
                <a:solidFill>
                  <a:srgbClr val="C00000"/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ES" dirty="0"/>
          </a:p>
        </p:txBody>
      </p:sp>
      <p:sp>
        <p:nvSpPr>
          <p:cNvPr id="10" name="9 Elipse"/>
          <p:cNvSpPr/>
          <p:nvPr userDrawn="1"/>
        </p:nvSpPr>
        <p:spPr>
          <a:xfrm>
            <a:off x="154112" y="6165304"/>
            <a:ext cx="504056" cy="50405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u="sng">
              <a:solidFill>
                <a:srgbClr val="DEF6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864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oque azul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6">
                  <a:shade val="60000"/>
                </a:schemeClr>
              </a:gs>
              <a:gs pos="33000">
                <a:schemeClr val="accent6">
                  <a:tint val="86500"/>
                </a:schemeClr>
              </a:gs>
              <a:gs pos="46750">
                <a:schemeClr val="accent6">
                  <a:tint val="71000"/>
                  <a:satMod val="112000"/>
                </a:schemeClr>
              </a:gs>
              <a:gs pos="53000">
                <a:schemeClr val="accent6">
                  <a:tint val="71000"/>
                  <a:satMod val="112000"/>
                </a:schemeClr>
              </a:gs>
              <a:gs pos="68000">
                <a:schemeClr val="accent6">
                  <a:tint val="86000"/>
                </a:schemeClr>
              </a:gs>
              <a:gs pos="100000">
                <a:schemeClr val="accent6">
                  <a:shade val="60000"/>
                </a:schemeClr>
              </a:gs>
            </a:gsLst>
            <a:lin ang="8350000" scaled="1"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4" name="2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3419872" y="6185743"/>
            <a:ext cx="2807866" cy="555625"/>
          </a:xfrm>
        </p:spPr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35496" y="6232227"/>
            <a:ext cx="72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 u="none">
                <a:solidFill>
                  <a:srgbClr val="C00000"/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ES" dirty="0"/>
          </a:p>
        </p:txBody>
      </p:sp>
      <p:sp>
        <p:nvSpPr>
          <p:cNvPr id="6" name="5 Elipse"/>
          <p:cNvSpPr/>
          <p:nvPr userDrawn="1"/>
        </p:nvSpPr>
        <p:spPr>
          <a:xfrm>
            <a:off x="154112" y="6165304"/>
            <a:ext cx="504056" cy="50405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u="sng">
              <a:solidFill>
                <a:srgbClr val="DEF6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1351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4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07950" y="908050"/>
            <a:ext cx="4387850" cy="24796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4648200" y="908050"/>
            <a:ext cx="4387850" cy="24796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107950" y="3540125"/>
            <a:ext cx="4387850" cy="248126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8200" y="3540125"/>
            <a:ext cx="4387850" cy="248126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8" name="2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3419872" y="6185743"/>
            <a:ext cx="2807866" cy="555625"/>
          </a:xfrm>
        </p:spPr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35496" y="6232227"/>
            <a:ext cx="72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 u="none">
                <a:solidFill>
                  <a:srgbClr val="C00000"/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ES" dirty="0"/>
          </a:p>
        </p:txBody>
      </p:sp>
      <p:sp>
        <p:nvSpPr>
          <p:cNvPr id="10" name="9 Elipse"/>
          <p:cNvSpPr/>
          <p:nvPr userDrawn="1"/>
        </p:nvSpPr>
        <p:spPr>
          <a:xfrm>
            <a:off x="154112" y="6165304"/>
            <a:ext cx="504056" cy="50405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u="sng">
              <a:solidFill>
                <a:srgbClr val="DEF6F1"/>
              </a:solidFill>
            </a:endParaRPr>
          </a:p>
        </p:txBody>
      </p:sp>
      <p:sp>
        <p:nvSpPr>
          <p:cNvPr id="11" name="1 Título"/>
          <p:cNvSpPr>
            <a:spLocks noGrp="1"/>
          </p:cNvSpPr>
          <p:nvPr>
            <p:ph type="title"/>
          </p:nvPr>
        </p:nvSpPr>
        <p:spPr>
          <a:xfrm>
            <a:off x="35496" y="115888"/>
            <a:ext cx="9108504" cy="720725"/>
          </a:xfrm>
          <a:gradFill>
            <a:gsLst>
              <a:gs pos="0">
                <a:schemeClr val="accent6">
                  <a:shade val="60000"/>
                </a:schemeClr>
              </a:gs>
              <a:gs pos="33000">
                <a:schemeClr val="accent6">
                  <a:tint val="86500"/>
                </a:schemeClr>
              </a:gs>
              <a:gs pos="46750">
                <a:schemeClr val="accent6">
                  <a:tint val="71000"/>
                  <a:satMod val="112000"/>
                </a:schemeClr>
              </a:gs>
              <a:gs pos="53000">
                <a:schemeClr val="accent6">
                  <a:tint val="71000"/>
                  <a:satMod val="112000"/>
                </a:schemeClr>
              </a:gs>
              <a:gs pos="68000">
                <a:schemeClr val="accent6">
                  <a:tint val="86000"/>
                </a:schemeClr>
              </a:gs>
              <a:gs pos="100000">
                <a:schemeClr val="accent6">
                  <a:shade val="60000"/>
                </a:schemeClr>
              </a:gs>
            </a:gsLst>
            <a:lin ang="8350000" scaled="1"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842666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Bloque Rosa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5"/>
          <p:cNvSpPr>
            <a:spLocks noChangeShapeType="1"/>
          </p:cNvSpPr>
          <p:nvPr/>
        </p:nvSpPr>
        <p:spPr bwMode="ltGray">
          <a:xfrm>
            <a:off x="193675" y="228600"/>
            <a:ext cx="0" cy="2851150"/>
          </a:xfrm>
          <a:prstGeom prst="line">
            <a:avLst/>
          </a:prstGeom>
          <a:noFill/>
          <a:ln w="38100">
            <a:solidFill>
              <a:srgbClr val="FF5D5D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u="sng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6" name="Line 64"/>
          <p:cNvSpPr>
            <a:spLocks noChangeShapeType="1"/>
          </p:cNvSpPr>
          <p:nvPr/>
        </p:nvSpPr>
        <p:spPr bwMode="ltGray">
          <a:xfrm flipH="1" flipV="1">
            <a:off x="0" y="830263"/>
            <a:ext cx="6049963" cy="1588"/>
          </a:xfrm>
          <a:prstGeom prst="line">
            <a:avLst/>
          </a:prstGeom>
          <a:noFill/>
          <a:ln w="38100">
            <a:solidFill>
              <a:srgbClr val="FF5D5D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u="sng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7" name="Arc 66"/>
          <p:cNvSpPr>
            <a:spLocks/>
          </p:cNvSpPr>
          <p:nvPr/>
        </p:nvSpPr>
        <p:spPr bwMode="ltGray">
          <a:xfrm rot="16200000" flipH="1">
            <a:off x="66675" y="706437"/>
            <a:ext cx="247650" cy="249238"/>
          </a:xfrm>
          <a:custGeom>
            <a:avLst/>
            <a:gdLst>
              <a:gd name="G0" fmla="+- 21595 0 0"/>
              <a:gd name="G1" fmla="+- 21600 0 0"/>
              <a:gd name="G2" fmla="+- 21600 0 0"/>
              <a:gd name="T0" fmla="*/ 21114 w 43195"/>
              <a:gd name="T1" fmla="*/ 5 h 43200"/>
              <a:gd name="T2" fmla="*/ 0 w 43195"/>
              <a:gd name="T3" fmla="*/ 22056 h 43200"/>
              <a:gd name="T4" fmla="*/ 21595 w 43195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195" h="43200" fill="none" extrusionOk="0">
                <a:moveTo>
                  <a:pt x="21114" y="5"/>
                </a:moveTo>
                <a:cubicBezTo>
                  <a:pt x="21274" y="1"/>
                  <a:pt x="21434" y="-1"/>
                  <a:pt x="21595" y="0"/>
                </a:cubicBezTo>
                <a:cubicBezTo>
                  <a:pt x="33524" y="0"/>
                  <a:pt x="43195" y="9670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43" y="43200"/>
                  <a:pt x="247" y="33805"/>
                  <a:pt x="-1" y="22056"/>
                </a:cubicBezTo>
              </a:path>
              <a:path w="43195" h="43200" stroke="0" extrusionOk="0">
                <a:moveTo>
                  <a:pt x="21114" y="5"/>
                </a:moveTo>
                <a:cubicBezTo>
                  <a:pt x="21274" y="1"/>
                  <a:pt x="21434" y="-1"/>
                  <a:pt x="21595" y="0"/>
                </a:cubicBezTo>
                <a:cubicBezTo>
                  <a:pt x="33524" y="0"/>
                  <a:pt x="43195" y="9670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43" y="43200"/>
                  <a:pt x="247" y="33805"/>
                  <a:pt x="-1" y="22056"/>
                </a:cubicBezTo>
                <a:lnTo>
                  <a:pt x="21595" y="21600"/>
                </a:lnTo>
                <a:close/>
              </a:path>
            </a:pathLst>
          </a:custGeom>
          <a:noFill/>
          <a:ln w="38100">
            <a:solidFill>
              <a:srgbClr val="FF5D5D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u="sng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8" name="2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3419872" y="6185743"/>
            <a:ext cx="2807866" cy="555625"/>
          </a:xfrm>
        </p:spPr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79512" y="6232227"/>
            <a:ext cx="72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 u="none">
                <a:solidFill>
                  <a:srgbClr val="C00000"/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ES" dirty="0"/>
          </a:p>
        </p:txBody>
      </p:sp>
      <p:sp>
        <p:nvSpPr>
          <p:cNvPr id="10" name="9 Elipse"/>
          <p:cNvSpPr/>
          <p:nvPr userDrawn="1"/>
        </p:nvSpPr>
        <p:spPr>
          <a:xfrm>
            <a:off x="154112" y="6165304"/>
            <a:ext cx="504056" cy="50405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u="sng">
              <a:solidFill>
                <a:srgbClr val="DEF6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322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oque Rosa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rgbClr val="FF5D5D"/>
              </a:gs>
              <a:gs pos="100000">
                <a:srgbClr val="FF5D5D">
                  <a:shade val="67500"/>
                  <a:satMod val="115000"/>
                  <a:alpha val="46000"/>
                </a:srgbClr>
              </a:gs>
              <a:gs pos="100000">
                <a:srgbClr val="FF5D5D">
                  <a:shade val="100000"/>
                  <a:satMod val="115000"/>
                </a:srgbClr>
              </a:gs>
            </a:gsLst>
            <a:lin ang="8346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4" name="2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3419872" y="6185743"/>
            <a:ext cx="2807866" cy="555625"/>
          </a:xfrm>
        </p:spPr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35496" y="6232227"/>
            <a:ext cx="72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 u="none">
                <a:solidFill>
                  <a:srgbClr val="C00000"/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ES" dirty="0"/>
          </a:p>
        </p:txBody>
      </p:sp>
      <p:sp>
        <p:nvSpPr>
          <p:cNvPr id="6" name="5 Elipse"/>
          <p:cNvSpPr/>
          <p:nvPr userDrawn="1"/>
        </p:nvSpPr>
        <p:spPr>
          <a:xfrm>
            <a:off x="154112" y="6165304"/>
            <a:ext cx="504056" cy="50405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u="sng">
              <a:solidFill>
                <a:srgbClr val="DEF6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2107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Bloque Ver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7 Grupo"/>
          <p:cNvGrpSpPr/>
          <p:nvPr userDrawn="1"/>
        </p:nvGrpSpPr>
        <p:grpSpPr>
          <a:xfrm>
            <a:off x="0" y="228600"/>
            <a:ext cx="6049963" cy="2851150"/>
            <a:chOff x="0" y="228600"/>
            <a:chExt cx="6049963" cy="2851150"/>
          </a:xfrm>
        </p:grpSpPr>
        <p:sp>
          <p:nvSpPr>
            <p:cNvPr id="5" name="Line 65"/>
            <p:cNvSpPr>
              <a:spLocks noChangeShapeType="1"/>
            </p:cNvSpPr>
            <p:nvPr/>
          </p:nvSpPr>
          <p:spPr bwMode="ltGray">
            <a:xfrm>
              <a:off x="193675" y="228600"/>
              <a:ext cx="0" cy="2851150"/>
            </a:xfrm>
            <a:prstGeom prst="line">
              <a:avLst/>
            </a:prstGeom>
            <a:noFill/>
            <a:ln w="38100">
              <a:solidFill>
                <a:srgbClr val="52B74D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u="sng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6" name="Line 64"/>
            <p:cNvSpPr>
              <a:spLocks noChangeShapeType="1"/>
            </p:cNvSpPr>
            <p:nvPr/>
          </p:nvSpPr>
          <p:spPr bwMode="ltGray">
            <a:xfrm flipH="1" flipV="1">
              <a:off x="0" y="830263"/>
              <a:ext cx="6049963" cy="1588"/>
            </a:xfrm>
            <a:prstGeom prst="line">
              <a:avLst/>
            </a:prstGeom>
            <a:noFill/>
            <a:ln w="38100">
              <a:solidFill>
                <a:srgbClr val="52B74D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u="sng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7" name="Arc 66"/>
            <p:cNvSpPr>
              <a:spLocks/>
            </p:cNvSpPr>
            <p:nvPr/>
          </p:nvSpPr>
          <p:spPr bwMode="ltGray">
            <a:xfrm rot="16200000" flipH="1">
              <a:off x="66675" y="706437"/>
              <a:ext cx="247650" cy="249238"/>
            </a:xfrm>
            <a:custGeom>
              <a:avLst/>
              <a:gdLst>
                <a:gd name="G0" fmla="+- 21595 0 0"/>
                <a:gd name="G1" fmla="+- 21600 0 0"/>
                <a:gd name="G2" fmla="+- 21600 0 0"/>
                <a:gd name="T0" fmla="*/ 21114 w 43195"/>
                <a:gd name="T1" fmla="*/ 5 h 43200"/>
                <a:gd name="T2" fmla="*/ 0 w 43195"/>
                <a:gd name="T3" fmla="*/ 22056 h 43200"/>
                <a:gd name="T4" fmla="*/ 21595 w 4319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195" h="43200" fill="none" extrusionOk="0">
                  <a:moveTo>
                    <a:pt x="21114" y="5"/>
                  </a:moveTo>
                  <a:cubicBezTo>
                    <a:pt x="21274" y="1"/>
                    <a:pt x="21434" y="-1"/>
                    <a:pt x="21595" y="0"/>
                  </a:cubicBezTo>
                  <a:cubicBezTo>
                    <a:pt x="33524" y="0"/>
                    <a:pt x="43195" y="9670"/>
                    <a:pt x="43195" y="21600"/>
                  </a:cubicBezTo>
                  <a:cubicBezTo>
                    <a:pt x="43195" y="33529"/>
                    <a:pt x="33524" y="43200"/>
                    <a:pt x="21595" y="43200"/>
                  </a:cubicBezTo>
                  <a:cubicBezTo>
                    <a:pt x="9843" y="43200"/>
                    <a:pt x="247" y="33805"/>
                    <a:pt x="-1" y="22056"/>
                  </a:cubicBezTo>
                </a:path>
                <a:path w="43195" h="43200" stroke="0" extrusionOk="0">
                  <a:moveTo>
                    <a:pt x="21114" y="5"/>
                  </a:moveTo>
                  <a:cubicBezTo>
                    <a:pt x="21274" y="1"/>
                    <a:pt x="21434" y="-1"/>
                    <a:pt x="21595" y="0"/>
                  </a:cubicBezTo>
                  <a:cubicBezTo>
                    <a:pt x="33524" y="0"/>
                    <a:pt x="43195" y="9670"/>
                    <a:pt x="43195" y="21600"/>
                  </a:cubicBezTo>
                  <a:cubicBezTo>
                    <a:pt x="43195" y="33529"/>
                    <a:pt x="33524" y="43200"/>
                    <a:pt x="21595" y="43200"/>
                  </a:cubicBezTo>
                  <a:cubicBezTo>
                    <a:pt x="9843" y="43200"/>
                    <a:pt x="247" y="33805"/>
                    <a:pt x="-1" y="22056"/>
                  </a:cubicBezTo>
                  <a:lnTo>
                    <a:pt x="21595" y="21600"/>
                  </a:lnTo>
                  <a:close/>
                </a:path>
              </a:pathLst>
            </a:custGeom>
            <a:noFill/>
            <a:ln w="38100">
              <a:solidFill>
                <a:srgbClr val="52B74D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u="sng">
                <a:solidFill>
                  <a:srgbClr val="000000"/>
                </a:solidFill>
                <a:latin typeface="Tahoma" pitchFamily="34" charset="0"/>
              </a:endParaRPr>
            </a:p>
          </p:txBody>
        </p:sp>
      </p:grpSp>
      <p:sp>
        <p:nvSpPr>
          <p:cNvPr id="9" name="2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3419872" y="6185743"/>
            <a:ext cx="2807866" cy="555625"/>
          </a:xfrm>
        </p:spPr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10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35496" y="6232227"/>
            <a:ext cx="72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 u="none">
                <a:solidFill>
                  <a:srgbClr val="C00000"/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ES" dirty="0"/>
          </a:p>
        </p:txBody>
      </p:sp>
      <p:sp>
        <p:nvSpPr>
          <p:cNvPr id="11" name="10 Elipse"/>
          <p:cNvSpPr/>
          <p:nvPr userDrawn="1"/>
        </p:nvSpPr>
        <p:spPr>
          <a:xfrm>
            <a:off x="154112" y="6165304"/>
            <a:ext cx="504056" cy="50405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u="sng">
              <a:solidFill>
                <a:srgbClr val="DEF6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0438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oque Ver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rgbClr val="52B74D">
                  <a:alpha val="58000"/>
                </a:srgbClr>
              </a:gs>
              <a:gs pos="50000">
                <a:srgbClr val="52B74D">
                  <a:shade val="67500"/>
                  <a:satMod val="115000"/>
                </a:srgbClr>
              </a:gs>
              <a:gs pos="100000">
                <a:srgbClr val="52B74D">
                  <a:shade val="100000"/>
                  <a:satMod val="115000"/>
                </a:srgbClr>
              </a:gs>
            </a:gsLst>
            <a:lin ang="8346000" scaled="0"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4" name="2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3419872" y="6185743"/>
            <a:ext cx="2807866" cy="555625"/>
          </a:xfrm>
        </p:spPr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35496" y="6232227"/>
            <a:ext cx="72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 u="none">
                <a:solidFill>
                  <a:srgbClr val="C00000"/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ES" dirty="0"/>
          </a:p>
        </p:txBody>
      </p:sp>
      <p:sp>
        <p:nvSpPr>
          <p:cNvPr id="6" name="5 Elipse"/>
          <p:cNvSpPr/>
          <p:nvPr userDrawn="1"/>
        </p:nvSpPr>
        <p:spPr>
          <a:xfrm>
            <a:off x="154112" y="6165304"/>
            <a:ext cx="504056" cy="50405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u="sng">
              <a:solidFill>
                <a:srgbClr val="DEF6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6788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Bloque Naranja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7 Grupo"/>
          <p:cNvGrpSpPr/>
          <p:nvPr userDrawn="1"/>
        </p:nvGrpSpPr>
        <p:grpSpPr>
          <a:xfrm>
            <a:off x="0" y="228600"/>
            <a:ext cx="6049963" cy="2851150"/>
            <a:chOff x="0" y="228600"/>
            <a:chExt cx="6049963" cy="2851150"/>
          </a:xfrm>
        </p:grpSpPr>
        <p:sp>
          <p:nvSpPr>
            <p:cNvPr id="5" name="Line 65"/>
            <p:cNvSpPr>
              <a:spLocks noChangeShapeType="1"/>
            </p:cNvSpPr>
            <p:nvPr/>
          </p:nvSpPr>
          <p:spPr bwMode="ltGray">
            <a:xfrm>
              <a:off x="193675" y="228600"/>
              <a:ext cx="0" cy="2851150"/>
            </a:xfrm>
            <a:prstGeom prst="line">
              <a:avLst/>
            </a:prstGeom>
            <a:noFill/>
            <a:ln w="38100">
              <a:solidFill>
                <a:srgbClr val="E37D3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u="sng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6" name="Line 64"/>
            <p:cNvSpPr>
              <a:spLocks noChangeShapeType="1"/>
            </p:cNvSpPr>
            <p:nvPr/>
          </p:nvSpPr>
          <p:spPr bwMode="ltGray">
            <a:xfrm flipH="1" flipV="1">
              <a:off x="0" y="830263"/>
              <a:ext cx="6049963" cy="1588"/>
            </a:xfrm>
            <a:prstGeom prst="line">
              <a:avLst/>
            </a:prstGeom>
            <a:noFill/>
            <a:ln w="38100">
              <a:solidFill>
                <a:srgbClr val="E37D3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u="sng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7" name="Arc 66"/>
            <p:cNvSpPr>
              <a:spLocks/>
            </p:cNvSpPr>
            <p:nvPr/>
          </p:nvSpPr>
          <p:spPr bwMode="ltGray">
            <a:xfrm rot="16200000" flipH="1">
              <a:off x="66675" y="706437"/>
              <a:ext cx="247650" cy="249238"/>
            </a:xfrm>
            <a:custGeom>
              <a:avLst/>
              <a:gdLst>
                <a:gd name="G0" fmla="+- 21595 0 0"/>
                <a:gd name="G1" fmla="+- 21600 0 0"/>
                <a:gd name="G2" fmla="+- 21600 0 0"/>
                <a:gd name="T0" fmla="*/ 21114 w 43195"/>
                <a:gd name="T1" fmla="*/ 5 h 43200"/>
                <a:gd name="T2" fmla="*/ 0 w 43195"/>
                <a:gd name="T3" fmla="*/ 22056 h 43200"/>
                <a:gd name="T4" fmla="*/ 21595 w 4319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195" h="43200" fill="none" extrusionOk="0">
                  <a:moveTo>
                    <a:pt x="21114" y="5"/>
                  </a:moveTo>
                  <a:cubicBezTo>
                    <a:pt x="21274" y="1"/>
                    <a:pt x="21434" y="-1"/>
                    <a:pt x="21595" y="0"/>
                  </a:cubicBezTo>
                  <a:cubicBezTo>
                    <a:pt x="33524" y="0"/>
                    <a:pt x="43195" y="9670"/>
                    <a:pt x="43195" y="21600"/>
                  </a:cubicBezTo>
                  <a:cubicBezTo>
                    <a:pt x="43195" y="33529"/>
                    <a:pt x="33524" y="43200"/>
                    <a:pt x="21595" y="43200"/>
                  </a:cubicBezTo>
                  <a:cubicBezTo>
                    <a:pt x="9843" y="43200"/>
                    <a:pt x="247" y="33805"/>
                    <a:pt x="-1" y="22056"/>
                  </a:cubicBezTo>
                </a:path>
                <a:path w="43195" h="43200" stroke="0" extrusionOk="0">
                  <a:moveTo>
                    <a:pt x="21114" y="5"/>
                  </a:moveTo>
                  <a:cubicBezTo>
                    <a:pt x="21274" y="1"/>
                    <a:pt x="21434" y="-1"/>
                    <a:pt x="21595" y="0"/>
                  </a:cubicBezTo>
                  <a:cubicBezTo>
                    <a:pt x="33524" y="0"/>
                    <a:pt x="43195" y="9670"/>
                    <a:pt x="43195" y="21600"/>
                  </a:cubicBezTo>
                  <a:cubicBezTo>
                    <a:pt x="43195" y="33529"/>
                    <a:pt x="33524" y="43200"/>
                    <a:pt x="21595" y="43200"/>
                  </a:cubicBezTo>
                  <a:cubicBezTo>
                    <a:pt x="9843" y="43200"/>
                    <a:pt x="247" y="33805"/>
                    <a:pt x="-1" y="22056"/>
                  </a:cubicBezTo>
                  <a:lnTo>
                    <a:pt x="21595" y="21600"/>
                  </a:lnTo>
                  <a:close/>
                </a:path>
              </a:pathLst>
            </a:custGeom>
            <a:noFill/>
            <a:ln w="38100">
              <a:solidFill>
                <a:srgbClr val="E37D3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u="sng">
                <a:solidFill>
                  <a:srgbClr val="000000"/>
                </a:solidFill>
                <a:latin typeface="Tahoma" pitchFamily="34" charset="0"/>
              </a:endParaRPr>
            </a:p>
          </p:txBody>
        </p:sp>
      </p:grpSp>
      <p:sp>
        <p:nvSpPr>
          <p:cNvPr id="8" name="2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3419872" y="6185743"/>
            <a:ext cx="2807866" cy="555625"/>
          </a:xfrm>
        </p:spPr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35496" y="6232227"/>
            <a:ext cx="72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 u="none">
                <a:solidFill>
                  <a:srgbClr val="C00000"/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ES" dirty="0"/>
          </a:p>
        </p:txBody>
      </p:sp>
      <p:sp>
        <p:nvSpPr>
          <p:cNvPr id="10" name="9 Elipse"/>
          <p:cNvSpPr/>
          <p:nvPr userDrawn="1"/>
        </p:nvSpPr>
        <p:spPr>
          <a:xfrm>
            <a:off x="154112" y="6165304"/>
            <a:ext cx="504056" cy="50405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u="sng">
              <a:solidFill>
                <a:srgbClr val="DEF6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746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oque Naranja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rgbClr val="F4C39E"/>
              </a:gs>
              <a:gs pos="93000">
                <a:srgbClr val="E37D31">
                  <a:shade val="67500"/>
                  <a:satMod val="115000"/>
                </a:srgbClr>
              </a:gs>
              <a:gs pos="100000">
                <a:srgbClr val="E37D31">
                  <a:shade val="100000"/>
                  <a:satMod val="115000"/>
                </a:srgbClr>
              </a:gs>
            </a:gsLst>
            <a:lin ang="18900000" scaled="1"/>
            <a:tileRect/>
          </a:gradFill>
        </p:spPr>
        <p:style>
          <a:lnRef idx="0">
            <a:schemeClr val="accent6"/>
          </a:lnRef>
          <a:fillRef idx="1002">
            <a:schemeClr val="dk2"/>
          </a:fillRef>
          <a:effectRef idx="3">
            <a:schemeClr val="accent6"/>
          </a:effectRef>
          <a:fontRef idx="none"/>
        </p:style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4" name="2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3419872" y="6185743"/>
            <a:ext cx="2807866" cy="555625"/>
          </a:xfrm>
        </p:spPr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35496" y="6232227"/>
            <a:ext cx="72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 u="none">
                <a:solidFill>
                  <a:srgbClr val="C00000"/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ES" dirty="0"/>
          </a:p>
        </p:txBody>
      </p:sp>
      <p:sp>
        <p:nvSpPr>
          <p:cNvPr id="6" name="5 Elipse"/>
          <p:cNvSpPr/>
          <p:nvPr userDrawn="1"/>
        </p:nvSpPr>
        <p:spPr>
          <a:xfrm>
            <a:off x="154112" y="6165304"/>
            <a:ext cx="504056" cy="50405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u="sng">
              <a:solidFill>
                <a:srgbClr val="DEF6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0421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Diseño personalizad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rgbClr val="E20000">
                  <a:shade val="30000"/>
                  <a:satMod val="115000"/>
                  <a:alpha val="27000"/>
                </a:srgbClr>
              </a:gs>
              <a:gs pos="50000">
                <a:srgbClr val="E20000">
                  <a:shade val="67500"/>
                  <a:satMod val="115000"/>
                </a:srgbClr>
              </a:gs>
              <a:gs pos="100000">
                <a:srgbClr val="E20000">
                  <a:shade val="100000"/>
                  <a:satMod val="115000"/>
                </a:srgbClr>
              </a:gs>
            </a:gsLst>
            <a:lin ang="8346000" scaled="0"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3419872" y="6185743"/>
            <a:ext cx="2807866" cy="555625"/>
          </a:xfrm>
        </p:spPr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35496" y="6237312"/>
            <a:ext cx="72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 u="none">
                <a:solidFill>
                  <a:srgbClr val="C00000"/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ES" dirty="0"/>
          </a:p>
        </p:txBody>
      </p:sp>
      <p:sp>
        <p:nvSpPr>
          <p:cNvPr id="5" name="4 Elipse"/>
          <p:cNvSpPr/>
          <p:nvPr userDrawn="1"/>
        </p:nvSpPr>
        <p:spPr>
          <a:xfrm>
            <a:off x="154112" y="6165304"/>
            <a:ext cx="504056" cy="50405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u="sng">
              <a:solidFill>
                <a:srgbClr val="DEF6F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3389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2" y="105273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dirty="0"/>
              <a:t>Haga clic para modificar el estilo de título del patrón</a:t>
            </a:r>
            <a:endParaRPr lang="es-ES_tradnl" dirty="0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61279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latin typeface="Comic Sans MS" pitchFamily="66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ES_tradnl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7529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ES_tradnl" dirty="0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107950" y="908050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908050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487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3032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s-ES_tradnl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60241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67726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804025" y="115888"/>
            <a:ext cx="2232025" cy="59055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107950" y="115888"/>
            <a:ext cx="6543675" cy="59055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787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7950" y="115888"/>
            <a:ext cx="8928100" cy="7207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107950" y="908050"/>
            <a:ext cx="4387850" cy="5113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908050"/>
            <a:ext cx="4387850" cy="5113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2415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ítulo, texto y 2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7950" y="115888"/>
            <a:ext cx="8928100" cy="7207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107950" y="908050"/>
            <a:ext cx="4387850" cy="5113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4648200" y="908050"/>
            <a:ext cx="4387850" cy="24796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4648200" y="3540125"/>
            <a:ext cx="4387850" cy="248126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61093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ítulo, 2 objetos y 1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7950" y="115888"/>
            <a:ext cx="8928100" cy="7207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07950" y="908050"/>
            <a:ext cx="4387850" cy="24796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107950" y="3540125"/>
            <a:ext cx="4387850" cy="248126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4 Marcador de contenido"/>
          <p:cNvSpPr>
            <a:spLocks noGrp="1"/>
          </p:cNvSpPr>
          <p:nvPr>
            <p:ph sz="half" idx="3"/>
          </p:nvPr>
        </p:nvSpPr>
        <p:spPr>
          <a:xfrm>
            <a:off x="4648200" y="908050"/>
            <a:ext cx="4387850" cy="5113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4724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ítulo y texto encima de l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7950" y="115888"/>
            <a:ext cx="8928100" cy="7207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sz="half" idx="1"/>
          </p:nvPr>
        </p:nvSpPr>
        <p:spPr>
          <a:xfrm>
            <a:off x="107950" y="908050"/>
            <a:ext cx="8928100" cy="24796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107950" y="3540125"/>
            <a:ext cx="8928100" cy="248126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4438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/>
          </p:nvPr>
        </p:nvSpPr>
        <p:spPr>
          <a:xfrm>
            <a:off x="107950" y="115888"/>
            <a:ext cx="8928100" cy="59055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92402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ítulo y 2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7950" y="115888"/>
            <a:ext cx="8928100" cy="7207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07950" y="908050"/>
            <a:ext cx="4387850" cy="24796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4648200" y="908050"/>
            <a:ext cx="4387850" cy="24796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4 Marcador de texto"/>
          <p:cNvSpPr>
            <a:spLocks noGrp="1"/>
          </p:cNvSpPr>
          <p:nvPr>
            <p:ph type="body" sz="half" idx="3"/>
          </p:nvPr>
        </p:nvSpPr>
        <p:spPr>
          <a:xfrm>
            <a:off x="107950" y="3540125"/>
            <a:ext cx="8928100" cy="248126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800" b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s-E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7160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271080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835661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ada Bloque Azul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5"/>
          <p:cNvSpPr>
            <a:spLocks noChangeShapeType="1"/>
          </p:cNvSpPr>
          <p:nvPr/>
        </p:nvSpPr>
        <p:spPr bwMode="ltGray">
          <a:xfrm>
            <a:off x="193675" y="228600"/>
            <a:ext cx="0" cy="2851150"/>
          </a:xfrm>
          <a:prstGeom prst="line">
            <a:avLst/>
          </a:prstGeom>
          <a:noFill/>
          <a:ln w="38100">
            <a:solidFill>
              <a:srgbClr val="5399D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u="sng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6" name="Line 64"/>
          <p:cNvSpPr>
            <a:spLocks noChangeShapeType="1"/>
          </p:cNvSpPr>
          <p:nvPr/>
        </p:nvSpPr>
        <p:spPr bwMode="ltGray">
          <a:xfrm flipH="1" flipV="1">
            <a:off x="0" y="830263"/>
            <a:ext cx="6049963" cy="1588"/>
          </a:xfrm>
          <a:prstGeom prst="line">
            <a:avLst/>
          </a:prstGeom>
          <a:noFill/>
          <a:ln w="38100">
            <a:solidFill>
              <a:srgbClr val="5399D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u="sng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7" name="Arc 66"/>
          <p:cNvSpPr>
            <a:spLocks/>
          </p:cNvSpPr>
          <p:nvPr/>
        </p:nvSpPr>
        <p:spPr bwMode="ltGray">
          <a:xfrm rot="16200000" flipH="1">
            <a:off x="66675" y="706437"/>
            <a:ext cx="247650" cy="249238"/>
          </a:xfrm>
          <a:custGeom>
            <a:avLst/>
            <a:gdLst>
              <a:gd name="G0" fmla="+- 21595 0 0"/>
              <a:gd name="G1" fmla="+- 21600 0 0"/>
              <a:gd name="G2" fmla="+- 21600 0 0"/>
              <a:gd name="T0" fmla="*/ 21114 w 43195"/>
              <a:gd name="T1" fmla="*/ 5 h 43200"/>
              <a:gd name="T2" fmla="*/ 0 w 43195"/>
              <a:gd name="T3" fmla="*/ 22056 h 43200"/>
              <a:gd name="T4" fmla="*/ 21595 w 43195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195" h="43200" fill="none" extrusionOk="0">
                <a:moveTo>
                  <a:pt x="21114" y="5"/>
                </a:moveTo>
                <a:cubicBezTo>
                  <a:pt x="21274" y="1"/>
                  <a:pt x="21434" y="-1"/>
                  <a:pt x="21595" y="0"/>
                </a:cubicBezTo>
                <a:cubicBezTo>
                  <a:pt x="33524" y="0"/>
                  <a:pt x="43195" y="9670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43" y="43200"/>
                  <a:pt x="247" y="33805"/>
                  <a:pt x="-1" y="22056"/>
                </a:cubicBezTo>
              </a:path>
              <a:path w="43195" h="43200" stroke="0" extrusionOk="0">
                <a:moveTo>
                  <a:pt x="21114" y="5"/>
                </a:moveTo>
                <a:cubicBezTo>
                  <a:pt x="21274" y="1"/>
                  <a:pt x="21434" y="-1"/>
                  <a:pt x="21595" y="0"/>
                </a:cubicBezTo>
                <a:cubicBezTo>
                  <a:pt x="33524" y="0"/>
                  <a:pt x="43195" y="9670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43" y="43200"/>
                  <a:pt x="247" y="33805"/>
                  <a:pt x="-1" y="22056"/>
                </a:cubicBezTo>
                <a:lnTo>
                  <a:pt x="21595" y="21600"/>
                </a:lnTo>
                <a:close/>
              </a:path>
            </a:pathLst>
          </a:custGeom>
          <a:noFill/>
          <a:ln w="38100">
            <a:solidFill>
              <a:srgbClr val="5399D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u="sng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8" name="2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3419872" y="6185743"/>
            <a:ext cx="2807866" cy="555625"/>
          </a:xfrm>
        </p:spPr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251520" y="6232227"/>
            <a:ext cx="72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 u="none">
                <a:solidFill>
                  <a:srgbClr val="C00000"/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ES" dirty="0"/>
          </a:p>
        </p:txBody>
      </p:sp>
      <p:sp>
        <p:nvSpPr>
          <p:cNvPr id="10" name="9 Elipse"/>
          <p:cNvSpPr/>
          <p:nvPr userDrawn="1"/>
        </p:nvSpPr>
        <p:spPr>
          <a:xfrm>
            <a:off x="154112" y="6165304"/>
            <a:ext cx="504056" cy="50405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u="sng">
              <a:solidFill>
                <a:srgbClr val="DEF6F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oque azul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chemeClr val="accent6">
                  <a:shade val="60000"/>
                </a:schemeClr>
              </a:gs>
              <a:gs pos="33000">
                <a:schemeClr val="accent6">
                  <a:tint val="86500"/>
                </a:schemeClr>
              </a:gs>
              <a:gs pos="46750">
                <a:schemeClr val="accent6">
                  <a:tint val="71000"/>
                  <a:satMod val="112000"/>
                </a:schemeClr>
              </a:gs>
              <a:gs pos="53000">
                <a:schemeClr val="accent6">
                  <a:tint val="71000"/>
                  <a:satMod val="112000"/>
                </a:schemeClr>
              </a:gs>
              <a:gs pos="68000">
                <a:schemeClr val="accent6">
                  <a:tint val="86000"/>
                </a:schemeClr>
              </a:gs>
              <a:gs pos="100000">
                <a:schemeClr val="accent6">
                  <a:shade val="60000"/>
                </a:schemeClr>
              </a:gs>
            </a:gsLst>
            <a:lin ang="8350000" scaled="1"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4" name="2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3419872" y="6185743"/>
            <a:ext cx="2807866" cy="555625"/>
          </a:xfrm>
        </p:spPr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35496" y="6232227"/>
            <a:ext cx="72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 u="none">
                <a:solidFill>
                  <a:srgbClr val="C00000"/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ES" dirty="0"/>
          </a:p>
        </p:txBody>
      </p:sp>
      <p:sp>
        <p:nvSpPr>
          <p:cNvPr id="6" name="5 Elipse"/>
          <p:cNvSpPr/>
          <p:nvPr userDrawn="1"/>
        </p:nvSpPr>
        <p:spPr>
          <a:xfrm>
            <a:off x="154112" y="6165304"/>
            <a:ext cx="504056" cy="50405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u="sng">
              <a:solidFill>
                <a:srgbClr val="DEF6F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4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107950" y="908050"/>
            <a:ext cx="4387850" cy="24796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4648200" y="908050"/>
            <a:ext cx="4387850" cy="2479675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4 Marcador de contenido"/>
          <p:cNvSpPr>
            <a:spLocks noGrp="1"/>
          </p:cNvSpPr>
          <p:nvPr>
            <p:ph sz="quarter" idx="3"/>
          </p:nvPr>
        </p:nvSpPr>
        <p:spPr>
          <a:xfrm>
            <a:off x="107950" y="3540125"/>
            <a:ext cx="4387850" cy="248126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8200" y="3540125"/>
            <a:ext cx="4387850" cy="248126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8" name="2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3419872" y="6185743"/>
            <a:ext cx="2807866" cy="555625"/>
          </a:xfrm>
        </p:spPr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1"/>
          </p:nvPr>
        </p:nvSpPr>
        <p:spPr>
          <a:xfrm>
            <a:off x="35496" y="6232227"/>
            <a:ext cx="72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 u="none">
                <a:solidFill>
                  <a:srgbClr val="C00000"/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ES" dirty="0"/>
          </a:p>
        </p:txBody>
      </p:sp>
      <p:sp>
        <p:nvSpPr>
          <p:cNvPr id="10" name="9 Elipse"/>
          <p:cNvSpPr/>
          <p:nvPr userDrawn="1"/>
        </p:nvSpPr>
        <p:spPr>
          <a:xfrm>
            <a:off x="154112" y="6165304"/>
            <a:ext cx="504056" cy="50405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u="sng">
              <a:solidFill>
                <a:srgbClr val="DEF6F1"/>
              </a:solidFill>
            </a:endParaRPr>
          </a:p>
        </p:txBody>
      </p:sp>
      <p:sp>
        <p:nvSpPr>
          <p:cNvPr id="11" name="1 Título"/>
          <p:cNvSpPr>
            <a:spLocks noGrp="1"/>
          </p:cNvSpPr>
          <p:nvPr>
            <p:ph type="title"/>
          </p:nvPr>
        </p:nvSpPr>
        <p:spPr>
          <a:xfrm>
            <a:off x="35496" y="115888"/>
            <a:ext cx="9108504" cy="720725"/>
          </a:xfrm>
          <a:gradFill>
            <a:gsLst>
              <a:gs pos="0">
                <a:schemeClr val="accent6">
                  <a:shade val="60000"/>
                </a:schemeClr>
              </a:gs>
              <a:gs pos="33000">
                <a:schemeClr val="accent6">
                  <a:tint val="86500"/>
                </a:schemeClr>
              </a:gs>
              <a:gs pos="46750">
                <a:schemeClr val="accent6">
                  <a:tint val="71000"/>
                  <a:satMod val="112000"/>
                </a:schemeClr>
              </a:gs>
              <a:gs pos="53000">
                <a:schemeClr val="accent6">
                  <a:tint val="71000"/>
                  <a:satMod val="112000"/>
                </a:schemeClr>
              </a:gs>
              <a:gs pos="68000">
                <a:schemeClr val="accent6">
                  <a:tint val="86000"/>
                </a:schemeClr>
              </a:gs>
              <a:gs pos="100000">
                <a:schemeClr val="accent6">
                  <a:shade val="60000"/>
                </a:schemeClr>
              </a:gs>
            </a:gsLst>
            <a:lin ang="8350000" scaled="1"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ada Bloque Rosa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65"/>
          <p:cNvSpPr>
            <a:spLocks noChangeShapeType="1"/>
          </p:cNvSpPr>
          <p:nvPr/>
        </p:nvSpPr>
        <p:spPr bwMode="ltGray">
          <a:xfrm>
            <a:off x="193675" y="228600"/>
            <a:ext cx="0" cy="2851150"/>
          </a:xfrm>
          <a:prstGeom prst="line">
            <a:avLst/>
          </a:prstGeom>
          <a:noFill/>
          <a:ln w="38100">
            <a:solidFill>
              <a:srgbClr val="FF5D5D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u="sng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6" name="Line 64"/>
          <p:cNvSpPr>
            <a:spLocks noChangeShapeType="1"/>
          </p:cNvSpPr>
          <p:nvPr/>
        </p:nvSpPr>
        <p:spPr bwMode="ltGray">
          <a:xfrm flipH="1" flipV="1">
            <a:off x="0" y="830263"/>
            <a:ext cx="6049963" cy="1588"/>
          </a:xfrm>
          <a:prstGeom prst="line">
            <a:avLst/>
          </a:prstGeom>
          <a:noFill/>
          <a:ln w="38100">
            <a:solidFill>
              <a:srgbClr val="FF5D5D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u="sng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7" name="Arc 66"/>
          <p:cNvSpPr>
            <a:spLocks/>
          </p:cNvSpPr>
          <p:nvPr/>
        </p:nvSpPr>
        <p:spPr bwMode="ltGray">
          <a:xfrm rot="16200000" flipH="1">
            <a:off x="66675" y="706437"/>
            <a:ext cx="247650" cy="249238"/>
          </a:xfrm>
          <a:custGeom>
            <a:avLst/>
            <a:gdLst>
              <a:gd name="G0" fmla="+- 21595 0 0"/>
              <a:gd name="G1" fmla="+- 21600 0 0"/>
              <a:gd name="G2" fmla="+- 21600 0 0"/>
              <a:gd name="T0" fmla="*/ 21114 w 43195"/>
              <a:gd name="T1" fmla="*/ 5 h 43200"/>
              <a:gd name="T2" fmla="*/ 0 w 43195"/>
              <a:gd name="T3" fmla="*/ 22056 h 43200"/>
              <a:gd name="T4" fmla="*/ 21595 w 43195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195" h="43200" fill="none" extrusionOk="0">
                <a:moveTo>
                  <a:pt x="21114" y="5"/>
                </a:moveTo>
                <a:cubicBezTo>
                  <a:pt x="21274" y="1"/>
                  <a:pt x="21434" y="-1"/>
                  <a:pt x="21595" y="0"/>
                </a:cubicBezTo>
                <a:cubicBezTo>
                  <a:pt x="33524" y="0"/>
                  <a:pt x="43195" y="9670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43" y="43200"/>
                  <a:pt x="247" y="33805"/>
                  <a:pt x="-1" y="22056"/>
                </a:cubicBezTo>
              </a:path>
              <a:path w="43195" h="43200" stroke="0" extrusionOk="0">
                <a:moveTo>
                  <a:pt x="21114" y="5"/>
                </a:moveTo>
                <a:cubicBezTo>
                  <a:pt x="21274" y="1"/>
                  <a:pt x="21434" y="-1"/>
                  <a:pt x="21595" y="0"/>
                </a:cubicBezTo>
                <a:cubicBezTo>
                  <a:pt x="33524" y="0"/>
                  <a:pt x="43195" y="9670"/>
                  <a:pt x="43195" y="21600"/>
                </a:cubicBezTo>
                <a:cubicBezTo>
                  <a:pt x="43195" y="33529"/>
                  <a:pt x="33524" y="43200"/>
                  <a:pt x="21595" y="43200"/>
                </a:cubicBezTo>
                <a:cubicBezTo>
                  <a:pt x="9843" y="43200"/>
                  <a:pt x="247" y="33805"/>
                  <a:pt x="-1" y="22056"/>
                </a:cubicBezTo>
                <a:lnTo>
                  <a:pt x="21595" y="21600"/>
                </a:lnTo>
                <a:close/>
              </a:path>
            </a:pathLst>
          </a:custGeom>
          <a:noFill/>
          <a:ln w="38100">
            <a:solidFill>
              <a:srgbClr val="FF5D5D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u="sng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8" name="2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3419872" y="6185743"/>
            <a:ext cx="2807866" cy="555625"/>
          </a:xfrm>
        </p:spPr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79512" y="6232227"/>
            <a:ext cx="72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 u="none">
                <a:solidFill>
                  <a:srgbClr val="C00000"/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ES" dirty="0"/>
          </a:p>
        </p:txBody>
      </p:sp>
      <p:sp>
        <p:nvSpPr>
          <p:cNvPr id="10" name="9 Elipse"/>
          <p:cNvSpPr/>
          <p:nvPr userDrawn="1"/>
        </p:nvSpPr>
        <p:spPr>
          <a:xfrm>
            <a:off x="154112" y="6165304"/>
            <a:ext cx="504056" cy="50405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u="sng">
              <a:solidFill>
                <a:srgbClr val="DEF6F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oque Rosa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rgbClr val="FF5D5D"/>
              </a:gs>
              <a:gs pos="50000">
                <a:srgbClr val="FF5D5D">
                  <a:shade val="67500"/>
                  <a:satMod val="115000"/>
                </a:srgbClr>
              </a:gs>
              <a:gs pos="100000">
                <a:srgbClr val="FF5D5D">
                  <a:shade val="100000"/>
                  <a:satMod val="115000"/>
                </a:srgbClr>
              </a:gs>
            </a:gsLst>
            <a:lin ang="8346000" scaled="0"/>
            <a:tileRect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4" name="2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3419872" y="6185743"/>
            <a:ext cx="2807866" cy="555625"/>
          </a:xfrm>
        </p:spPr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35496" y="6232227"/>
            <a:ext cx="72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 u="none">
                <a:solidFill>
                  <a:srgbClr val="C00000"/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ES" dirty="0"/>
          </a:p>
        </p:txBody>
      </p:sp>
      <p:sp>
        <p:nvSpPr>
          <p:cNvPr id="6" name="5 Elipse"/>
          <p:cNvSpPr/>
          <p:nvPr userDrawn="1"/>
        </p:nvSpPr>
        <p:spPr>
          <a:xfrm>
            <a:off x="154112" y="6165304"/>
            <a:ext cx="504056" cy="50405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u="sng">
              <a:solidFill>
                <a:srgbClr val="DEF6F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ada Bloque Ver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7 Grupo"/>
          <p:cNvGrpSpPr/>
          <p:nvPr userDrawn="1"/>
        </p:nvGrpSpPr>
        <p:grpSpPr>
          <a:xfrm>
            <a:off x="0" y="228600"/>
            <a:ext cx="6049963" cy="2851150"/>
            <a:chOff x="0" y="228600"/>
            <a:chExt cx="6049963" cy="2851150"/>
          </a:xfrm>
        </p:grpSpPr>
        <p:sp>
          <p:nvSpPr>
            <p:cNvPr id="5" name="Line 65"/>
            <p:cNvSpPr>
              <a:spLocks noChangeShapeType="1"/>
            </p:cNvSpPr>
            <p:nvPr/>
          </p:nvSpPr>
          <p:spPr bwMode="ltGray">
            <a:xfrm>
              <a:off x="193675" y="228600"/>
              <a:ext cx="0" cy="2851150"/>
            </a:xfrm>
            <a:prstGeom prst="line">
              <a:avLst/>
            </a:prstGeom>
            <a:noFill/>
            <a:ln w="38100">
              <a:solidFill>
                <a:srgbClr val="52B74D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u="sng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6" name="Line 64"/>
            <p:cNvSpPr>
              <a:spLocks noChangeShapeType="1"/>
            </p:cNvSpPr>
            <p:nvPr/>
          </p:nvSpPr>
          <p:spPr bwMode="ltGray">
            <a:xfrm flipH="1" flipV="1">
              <a:off x="0" y="830263"/>
              <a:ext cx="6049963" cy="1588"/>
            </a:xfrm>
            <a:prstGeom prst="line">
              <a:avLst/>
            </a:prstGeom>
            <a:noFill/>
            <a:ln w="38100">
              <a:solidFill>
                <a:srgbClr val="52B74D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u="sng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7" name="Arc 66"/>
            <p:cNvSpPr>
              <a:spLocks/>
            </p:cNvSpPr>
            <p:nvPr/>
          </p:nvSpPr>
          <p:spPr bwMode="ltGray">
            <a:xfrm rot="16200000" flipH="1">
              <a:off x="66675" y="706437"/>
              <a:ext cx="247650" cy="249238"/>
            </a:xfrm>
            <a:custGeom>
              <a:avLst/>
              <a:gdLst>
                <a:gd name="G0" fmla="+- 21595 0 0"/>
                <a:gd name="G1" fmla="+- 21600 0 0"/>
                <a:gd name="G2" fmla="+- 21600 0 0"/>
                <a:gd name="T0" fmla="*/ 21114 w 43195"/>
                <a:gd name="T1" fmla="*/ 5 h 43200"/>
                <a:gd name="T2" fmla="*/ 0 w 43195"/>
                <a:gd name="T3" fmla="*/ 22056 h 43200"/>
                <a:gd name="T4" fmla="*/ 21595 w 4319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195" h="43200" fill="none" extrusionOk="0">
                  <a:moveTo>
                    <a:pt x="21114" y="5"/>
                  </a:moveTo>
                  <a:cubicBezTo>
                    <a:pt x="21274" y="1"/>
                    <a:pt x="21434" y="-1"/>
                    <a:pt x="21595" y="0"/>
                  </a:cubicBezTo>
                  <a:cubicBezTo>
                    <a:pt x="33524" y="0"/>
                    <a:pt x="43195" y="9670"/>
                    <a:pt x="43195" y="21600"/>
                  </a:cubicBezTo>
                  <a:cubicBezTo>
                    <a:pt x="43195" y="33529"/>
                    <a:pt x="33524" y="43200"/>
                    <a:pt x="21595" y="43200"/>
                  </a:cubicBezTo>
                  <a:cubicBezTo>
                    <a:pt x="9843" y="43200"/>
                    <a:pt x="247" y="33805"/>
                    <a:pt x="-1" y="22056"/>
                  </a:cubicBezTo>
                </a:path>
                <a:path w="43195" h="43200" stroke="0" extrusionOk="0">
                  <a:moveTo>
                    <a:pt x="21114" y="5"/>
                  </a:moveTo>
                  <a:cubicBezTo>
                    <a:pt x="21274" y="1"/>
                    <a:pt x="21434" y="-1"/>
                    <a:pt x="21595" y="0"/>
                  </a:cubicBezTo>
                  <a:cubicBezTo>
                    <a:pt x="33524" y="0"/>
                    <a:pt x="43195" y="9670"/>
                    <a:pt x="43195" y="21600"/>
                  </a:cubicBezTo>
                  <a:cubicBezTo>
                    <a:pt x="43195" y="33529"/>
                    <a:pt x="33524" y="43200"/>
                    <a:pt x="21595" y="43200"/>
                  </a:cubicBezTo>
                  <a:cubicBezTo>
                    <a:pt x="9843" y="43200"/>
                    <a:pt x="247" y="33805"/>
                    <a:pt x="-1" y="22056"/>
                  </a:cubicBezTo>
                  <a:lnTo>
                    <a:pt x="21595" y="21600"/>
                  </a:lnTo>
                  <a:close/>
                </a:path>
              </a:pathLst>
            </a:custGeom>
            <a:noFill/>
            <a:ln w="38100">
              <a:solidFill>
                <a:srgbClr val="52B74D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u="sng">
                <a:solidFill>
                  <a:srgbClr val="000000"/>
                </a:solidFill>
                <a:latin typeface="Tahoma" pitchFamily="34" charset="0"/>
              </a:endParaRPr>
            </a:p>
          </p:txBody>
        </p:sp>
      </p:grpSp>
      <p:sp>
        <p:nvSpPr>
          <p:cNvPr id="9" name="2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3419872" y="6185743"/>
            <a:ext cx="2807866" cy="555625"/>
          </a:xfrm>
        </p:spPr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10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35496" y="6232227"/>
            <a:ext cx="72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 u="none">
                <a:solidFill>
                  <a:srgbClr val="C00000"/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ES" dirty="0"/>
          </a:p>
        </p:txBody>
      </p:sp>
      <p:sp>
        <p:nvSpPr>
          <p:cNvPr id="11" name="10 Elipse"/>
          <p:cNvSpPr/>
          <p:nvPr userDrawn="1"/>
        </p:nvSpPr>
        <p:spPr>
          <a:xfrm>
            <a:off x="154112" y="6165304"/>
            <a:ext cx="504056" cy="50405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u="sng">
              <a:solidFill>
                <a:srgbClr val="DEF6F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oque Verd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rgbClr val="52B74D">
                  <a:alpha val="58000"/>
                </a:srgbClr>
              </a:gs>
              <a:gs pos="50000">
                <a:srgbClr val="52B74D">
                  <a:shade val="67500"/>
                  <a:satMod val="115000"/>
                </a:srgbClr>
              </a:gs>
              <a:gs pos="100000">
                <a:srgbClr val="52B74D">
                  <a:shade val="100000"/>
                  <a:satMod val="115000"/>
                </a:srgbClr>
              </a:gs>
            </a:gsLst>
            <a:lin ang="8346000" scaled="0"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4" name="2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3419872" y="6185743"/>
            <a:ext cx="2807866" cy="555625"/>
          </a:xfrm>
        </p:spPr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35496" y="6232227"/>
            <a:ext cx="72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 u="none">
                <a:solidFill>
                  <a:srgbClr val="C00000"/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ES" dirty="0"/>
          </a:p>
        </p:txBody>
      </p:sp>
      <p:sp>
        <p:nvSpPr>
          <p:cNvPr id="6" name="5 Elipse"/>
          <p:cNvSpPr/>
          <p:nvPr userDrawn="1"/>
        </p:nvSpPr>
        <p:spPr>
          <a:xfrm>
            <a:off x="154112" y="6165304"/>
            <a:ext cx="504056" cy="50405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u="sng">
              <a:solidFill>
                <a:srgbClr val="DEF6F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ortada Bloque Naranja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7 Grupo"/>
          <p:cNvGrpSpPr/>
          <p:nvPr userDrawn="1"/>
        </p:nvGrpSpPr>
        <p:grpSpPr>
          <a:xfrm>
            <a:off x="0" y="228600"/>
            <a:ext cx="6049963" cy="2851150"/>
            <a:chOff x="0" y="228600"/>
            <a:chExt cx="6049963" cy="2851150"/>
          </a:xfrm>
        </p:grpSpPr>
        <p:sp>
          <p:nvSpPr>
            <p:cNvPr id="5" name="Line 65"/>
            <p:cNvSpPr>
              <a:spLocks noChangeShapeType="1"/>
            </p:cNvSpPr>
            <p:nvPr/>
          </p:nvSpPr>
          <p:spPr bwMode="ltGray">
            <a:xfrm>
              <a:off x="193675" y="228600"/>
              <a:ext cx="0" cy="2851150"/>
            </a:xfrm>
            <a:prstGeom prst="line">
              <a:avLst/>
            </a:prstGeom>
            <a:noFill/>
            <a:ln w="38100">
              <a:solidFill>
                <a:srgbClr val="E37D3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u="sng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6" name="Line 64"/>
            <p:cNvSpPr>
              <a:spLocks noChangeShapeType="1"/>
            </p:cNvSpPr>
            <p:nvPr/>
          </p:nvSpPr>
          <p:spPr bwMode="ltGray">
            <a:xfrm flipH="1" flipV="1">
              <a:off x="0" y="830263"/>
              <a:ext cx="6049963" cy="1588"/>
            </a:xfrm>
            <a:prstGeom prst="line">
              <a:avLst/>
            </a:prstGeom>
            <a:noFill/>
            <a:ln w="38100">
              <a:solidFill>
                <a:srgbClr val="E37D3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u="sng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7" name="Arc 66"/>
            <p:cNvSpPr>
              <a:spLocks/>
            </p:cNvSpPr>
            <p:nvPr/>
          </p:nvSpPr>
          <p:spPr bwMode="ltGray">
            <a:xfrm rot="16200000" flipH="1">
              <a:off x="66675" y="706437"/>
              <a:ext cx="247650" cy="249238"/>
            </a:xfrm>
            <a:custGeom>
              <a:avLst/>
              <a:gdLst>
                <a:gd name="G0" fmla="+- 21595 0 0"/>
                <a:gd name="G1" fmla="+- 21600 0 0"/>
                <a:gd name="G2" fmla="+- 21600 0 0"/>
                <a:gd name="T0" fmla="*/ 21114 w 43195"/>
                <a:gd name="T1" fmla="*/ 5 h 43200"/>
                <a:gd name="T2" fmla="*/ 0 w 43195"/>
                <a:gd name="T3" fmla="*/ 22056 h 43200"/>
                <a:gd name="T4" fmla="*/ 21595 w 43195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195" h="43200" fill="none" extrusionOk="0">
                  <a:moveTo>
                    <a:pt x="21114" y="5"/>
                  </a:moveTo>
                  <a:cubicBezTo>
                    <a:pt x="21274" y="1"/>
                    <a:pt x="21434" y="-1"/>
                    <a:pt x="21595" y="0"/>
                  </a:cubicBezTo>
                  <a:cubicBezTo>
                    <a:pt x="33524" y="0"/>
                    <a:pt x="43195" y="9670"/>
                    <a:pt x="43195" y="21600"/>
                  </a:cubicBezTo>
                  <a:cubicBezTo>
                    <a:pt x="43195" y="33529"/>
                    <a:pt x="33524" y="43200"/>
                    <a:pt x="21595" y="43200"/>
                  </a:cubicBezTo>
                  <a:cubicBezTo>
                    <a:pt x="9843" y="43200"/>
                    <a:pt x="247" y="33805"/>
                    <a:pt x="-1" y="22056"/>
                  </a:cubicBezTo>
                </a:path>
                <a:path w="43195" h="43200" stroke="0" extrusionOk="0">
                  <a:moveTo>
                    <a:pt x="21114" y="5"/>
                  </a:moveTo>
                  <a:cubicBezTo>
                    <a:pt x="21274" y="1"/>
                    <a:pt x="21434" y="-1"/>
                    <a:pt x="21595" y="0"/>
                  </a:cubicBezTo>
                  <a:cubicBezTo>
                    <a:pt x="33524" y="0"/>
                    <a:pt x="43195" y="9670"/>
                    <a:pt x="43195" y="21600"/>
                  </a:cubicBezTo>
                  <a:cubicBezTo>
                    <a:pt x="43195" y="33529"/>
                    <a:pt x="33524" y="43200"/>
                    <a:pt x="21595" y="43200"/>
                  </a:cubicBezTo>
                  <a:cubicBezTo>
                    <a:pt x="9843" y="43200"/>
                    <a:pt x="247" y="33805"/>
                    <a:pt x="-1" y="22056"/>
                  </a:cubicBezTo>
                  <a:lnTo>
                    <a:pt x="21595" y="21600"/>
                  </a:lnTo>
                  <a:close/>
                </a:path>
              </a:pathLst>
            </a:custGeom>
            <a:noFill/>
            <a:ln w="38100">
              <a:solidFill>
                <a:srgbClr val="E37D3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u="sng">
                <a:solidFill>
                  <a:srgbClr val="000000"/>
                </a:solidFill>
                <a:latin typeface="Tahoma" pitchFamily="34" charset="0"/>
              </a:endParaRPr>
            </a:p>
          </p:txBody>
        </p:sp>
      </p:grpSp>
      <p:sp>
        <p:nvSpPr>
          <p:cNvPr id="8" name="2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3419872" y="6185743"/>
            <a:ext cx="2807866" cy="555625"/>
          </a:xfrm>
        </p:spPr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35496" y="6232227"/>
            <a:ext cx="72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 u="none">
                <a:solidFill>
                  <a:srgbClr val="C00000"/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ES" dirty="0"/>
          </a:p>
        </p:txBody>
      </p:sp>
      <p:sp>
        <p:nvSpPr>
          <p:cNvPr id="10" name="9 Elipse"/>
          <p:cNvSpPr/>
          <p:nvPr userDrawn="1"/>
        </p:nvSpPr>
        <p:spPr>
          <a:xfrm>
            <a:off x="154112" y="6165304"/>
            <a:ext cx="504056" cy="50405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u="sng">
              <a:solidFill>
                <a:srgbClr val="DEF6F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oque Naranja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rgbClr val="E37D31">
                  <a:shade val="30000"/>
                  <a:satMod val="115000"/>
                </a:srgbClr>
              </a:gs>
              <a:gs pos="50000">
                <a:srgbClr val="E37D31">
                  <a:shade val="67500"/>
                  <a:satMod val="115000"/>
                </a:srgbClr>
              </a:gs>
              <a:gs pos="100000">
                <a:srgbClr val="E37D31">
                  <a:shade val="100000"/>
                  <a:satMod val="115000"/>
                </a:srgbClr>
              </a:gs>
            </a:gsLst>
            <a:lin ang="8346000" scaled="0"/>
            <a:tileRect/>
          </a:gradFill>
        </p:spPr>
        <p:style>
          <a:lnRef idx="0">
            <a:schemeClr val="accent6"/>
          </a:lnRef>
          <a:fillRef idx="1002">
            <a:schemeClr val="dk2"/>
          </a:fillRef>
          <a:effectRef idx="3">
            <a:schemeClr val="accent6"/>
          </a:effectRef>
          <a:fontRef idx="none"/>
        </p:style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4" name="2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3419872" y="6185743"/>
            <a:ext cx="2807866" cy="555625"/>
          </a:xfrm>
        </p:spPr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35496" y="6232227"/>
            <a:ext cx="72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 u="none">
                <a:solidFill>
                  <a:srgbClr val="C00000"/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ES" dirty="0"/>
          </a:p>
        </p:txBody>
      </p:sp>
      <p:sp>
        <p:nvSpPr>
          <p:cNvPr id="6" name="5 Elipse"/>
          <p:cNvSpPr/>
          <p:nvPr userDrawn="1"/>
        </p:nvSpPr>
        <p:spPr>
          <a:xfrm>
            <a:off x="154112" y="6165304"/>
            <a:ext cx="504056" cy="50405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u="sng">
              <a:solidFill>
                <a:srgbClr val="DEF6F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eño personalizad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rgbClr val="E20000">
                  <a:shade val="30000"/>
                  <a:satMod val="115000"/>
                  <a:alpha val="27000"/>
                </a:srgbClr>
              </a:gs>
              <a:gs pos="50000">
                <a:srgbClr val="E20000">
                  <a:shade val="67500"/>
                  <a:satMod val="115000"/>
                </a:srgbClr>
              </a:gs>
              <a:gs pos="100000">
                <a:srgbClr val="E20000">
                  <a:shade val="100000"/>
                  <a:satMod val="115000"/>
                </a:srgbClr>
              </a:gs>
            </a:gsLst>
            <a:lin ang="8346000" scaled="0"/>
          </a:gra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0"/>
          </p:nvPr>
        </p:nvSpPr>
        <p:spPr>
          <a:xfrm>
            <a:off x="3419872" y="6185743"/>
            <a:ext cx="2807866" cy="555625"/>
          </a:xfrm>
        </p:spPr>
        <p:txBody>
          <a:bodyPr/>
          <a:lstStyle/>
          <a:p>
            <a:pPr>
              <a:defRPr/>
            </a:pPr>
            <a:endParaRPr lang="es-ES" dirty="0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35496" y="6237312"/>
            <a:ext cx="72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 u="none">
                <a:solidFill>
                  <a:srgbClr val="C00000"/>
                </a:solidFill>
                <a:latin typeface="+mj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‹Nº›</a:t>
            </a:fld>
            <a:endParaRPr lang="es-ES" dirty="0"/>
          </a:p>
        </p:txBody>
      </p:sp>
      <p:sp>
        <p:nvSpPr>
          <p:cNvPr id="5" name="4 Elipse"/>
          <p:cNvSpPr/>
          <p:nvPr userDrawn="1"/>
        </p:nvSpPr>
        <p:spPr>
          <a:xfrm>
            <a:off x="154112" y="6165304"/>
            <a:ext cx="504056" cy="504056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s-ES" u="sng">
              <a:solidFill>
                <a:srgbClr val="DEF6F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es-E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40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115888"/>
            <a:ext cx="8928100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 dirty="0"/>
              <a:t>Haga clic para cambiar el estilo de título	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08050"/>
            <a:ext cx="8928100" cy="5113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07950" y="6165850"/>
            <a:ext cx="7704138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300" b="1" u="none">
                <a:solidFill>
                  <a:srgbClr val="CC0000"/>
                </a:solidFill>
                <a:effectLst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s-ES" dirty="0">
              <a:latin typeface="Arial" pitchFamily="34" charset="0"/>
            </a:endParaRPr>
          </a:p>
        </p:txBody>
      </p:sp>
      <p:sp>
        <p:nvSpPr>
          <p:cNvPr id="5" name="2 Marcador de pie de página">
            <a:extLst>
              <a:ext uri="{FF2B5EF4-FFF2-40B4-BE49-F238E27FC236}">
                <a16:creationId xmlns:a16="http://schemas.microsoft.com/office/drawing/2014/main" id="{BADD5CA3-971B-4EB8-8550-6EDD1C56347D}"/>
              </a:ext>
            </a:extLst>
          </p:cNvPr>
          <p:cNvSpPr txBox="1">
            <a:spLocks/>
          </p:cNvSpPr>
          <p:nvPr userDrawn="1"/>
        </p:nvSpPr>
        <p:spPr>
          <a:xfrm>
            <a:off x="5940152" y="6545783"/>
            <a:ext cx="2232248" cy="411609"/>
          </a:xfrm>
          <a:prstGeom prst="rect">
            <a:avLst/>
          </a:prstGeom>
        </p:spPr>
        <p:txBody>
          <a:bodyPr/>
          <a:lstStyle>
            <a:lvl1pPr>
              <a:defRPr kumimoji="0" lang="es-ES" sz="1000" b="0" i="0" u="none" strike="noStrike" kern="1200" cap="none" spc="0" normalizeH="0" baseline="0" noProof="0" smtClean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Profesora Sara Bermejo Olivas</a:t>
            </a:r>
          </a:p>
        </p:txBody>
      </p:sp>
    </p:spTree>
    <p:extLst>
      <p:ext uri="{BB962C8B-B14F-4D97-AF65-F5344CB8AC3E}">
        <p14:creationId xmlns:p14="http://schemas.microsoft.com/office/powerpoint/2010/main" val="2447933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  <p:sldLayoutId id="2147483743" r:id="rId18"/>
    <p:sldLayoutId id="2147483744" r:id="rId19"/>
    <p:sldLayoutId id="2147483745" r:id="rId20"/>
    <p:sldLayoutId id="2147483746" r:id="rId21"/>
    <p:sldLayoutId id="2147483747" r:id="rId22"/>
    <p:sldLayoutId id="2147483748" r:id="rId23"/>
    <p:sldLayoutId id="2147483749" r:id="rId24"/>
    <p:sldLayoutId id="2147483750" r:id="rId25"/>
    <p:sldLayoutId id="2147483751" r:id="rId26"/>
    <p:sldLayoutId id="2147483753" r:id="rId27"/>
    <p:sldLayoutId id="2147483696" r:id="rId28"/>
    <p:sldLayoutId id="2147483697" r:id="rId29"/>
    <p:sldLayoutId id="2147483698" r:id="rId30"/>
    <p:sldLayoutId id="2147483699" r:id="rId31"/>
    <p:sldLayoutId id="2147483700" r:id="rId32"/>
    <p:sldLayoutId id="2147483701" r:id="rId33"/>
    <p:sldLayoutId id="2147483702" r:id="rId34"/>
    <p:sldLayoutId id="2147483703" r:id="rId35"/>
    <p:sldLayoutId id="2147483704" r:id="rId36"/>
    <p:sldLayoutId id="2147483705" r:id="rId37"/>
    <p:sldLayoutId id="2147483719" r:id="rId38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7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836712"/>
            <a:ext cx="7772400" cy="1470025"/>
          </a:xfrm>
          <a:prstGeom prst="roundRect">
            <a:avLst/>
          </a:prstGeom>
          <a:solidFill>
            <a:srgbClr val="C00000"/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pPr eaLnBrk="1" hangingPunct="1">
              <a:defRPr/>
            </a:pPr>
            <a:r>
              <a:rPr lang="es-ES_tradnl" dirty="0">
                <a:solidFill>
                  <a:schemeClr val="bg1"/>
                </a:solidFill>
                <a:latin typeface="+mj-lt"/>
              </a:rPr>
              <a:t>EMPRENDIMIENTO E INNOVACIÓN EN </a:t>
            </a:r>
            <a:r>
              <a:rPr lang="es-ES_tradnl">
                <a:solidFill>
                  <a:schemeClr val="bg1"/>
                </a:solidFill>
                <a:latin typeface="+mj-lt"/>
              </a:rPr>
              <a:t>ROBÓTICA 2024-2025</a:t>
            </a:r>
            <a:endParaRPr lang="es-ES_tradnl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044552"/>
            <a:ext cx="6400800" cy="1752600"/>
          </a:xfrm>
          <a:prstGeom prst="roundRect">
            <a:avLst/>
          </a:prstGeom>
          <a:solidFill>
            <a:schemeClr val="accent5"/>
          </a:solidFill>
          <a:ln w="38100">
            <a:solidFill>
              <a:srgbClr val="C00000"/>
            </a:solidFill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eaLnBrk="1" hangingPunct="1">
              <a:defRPr/>
            </a:pPr>
            <a:r>
              <a:rPr lang="es-ES_tradnl" sz="2800" dirty="0">
                <a:solidFill>
                  <a:srgbClr val="000000"/>
                </a:solidFill>
              </a:rPr>
              <a:t>TEMA 4:</a:t>
            </a:r>
          </a:p>
          <a:p>
            <a:pPr eaLnBrk="1" hangingPunct="1">
              <a:defRPr/>
            </a:pPr>
            <a:r>
              <a:rPr lang="es-ES_tradnl" sz="2800" dirty="0">
                <a:solidFill>
                  <a:srgbClr val="000000"/>
                </a:solidFill>
              </a:rPr>
              <a:t>ORGANIZAR Y DIRIGIR</a:t>
            </a:r>
          </a:p>
        </p:txBody>
      </p:sp>
      <p:sp>
        <p:nvSpPr>
          <p:cNvPr id="4" name="2 Subtítulo">
            <a:extLst>
              <a:ext uri="{FF2B5EF4-FFF2-40B4-BE49-F238E27FC236}">
                <a16:creationId xmlns:a16="http://schemas.microsoft.com/office/drawing/2014/main" id="{D05D6F69-66B3-41CA-977A-677FF5EA3C53}"/>
              </a:ext>
            </a:extLst>
          </p:cNvPr>
          <p:cNvSpPr txBox="1">
            <a:spLocks/>
          </p:cNvSpPr>
          <p:nvPr/>
        </p:nvSpPr>
        <p:spPr bwMode="auto">
          <a:xfrm>
            <a:off x="1619672" y="5157192"/>
            <a:ext cx="6120680" cy="1080120"/>
          </a:xfrm>
          <a:prstGeom prst="roundRect">
            <a:avLst/>
          </a:prstGeom>
          <a:noFill/>
          <a:ln w="25400" cap="flat" cmpd="sng" algn="ctr">
            <a:noFill/>
            <a:prstDash val="solid"/>
            <a:miter lim="800000"/>
            <a:headEnd/>
            <a:tailEnd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Grado en </a:t>
            </a:r>
            <a:r>
              <a:rPr lang="es-ES_tradnl" sz="2000" kern="0" dirty="0">
                <a:solidFill>
                  <a:srgbClr val="000000"/>
                </a:solidFill>
                <a:latin typeface="Comic Sans MS"/>
              </a:rPr>
              <a:t>ingeniería de </a:t>
            </a:r>
            <a:r>
              <a:rPr lang="es-ES_tradnl" sz="2000" kern="0">
                <a:solidFill>
                  <a:srgbClr val="000000"/>
                </a:solidFill>
                <a:latin typeface="Comic Sans MS"/>
              </a:rPr>
              <a:t>robótica software</a:t>
            </a:r>
            <a:endParaRPr kumimoji="0" lang="es-ES_tradnl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Título"/>
          <p:cNvSpPr>
            <a:spLocks noGrp="1"/>
          </p:cNvSpPr>
          <p:nvPr>
            <p:ph type="title"/>
          </p:nvPr>
        </p:nvSpPr>
        <p:spPr>
          <a:gradFill>
            <a:gsLst>
              <a:gs pos="0">
                <a:srgbClr val="E20000">
                  <a:shade val="30000"/>
                  <a:satMod val="115000"/>
                  <a:alpha val="27000"/>
                </a:srgbClr>
              </a:gs>
              <a:gs pos="50000">
                <a:srgbClr val="E20000">
                  <a:shade val="67500"/>
                  <a:satMod val="115000"/>
                </a:srgbClr>
              </a:gs>
              <a:gs pos="100000">
                <a:srgbClr val="E20000">
                  <a:shade val="100000"/>
                  <a:satMod val="115000"/>
                </a:srgbClr>
              </a:gs>
            </a:gsLst>
            <a:lin ang="8346000" scaled="0"/>
          </a:gradFill>
        </p:spPr>
        <p:txBody>
          <a:bodyPr/>
          <a:lstStyle/>
          <a:p>
            <a:r>
              <a:rPr lang="es-ES" dirty="0"/>
              <a:t>TEMA 4: ORGANIZAR Y DIRIGIR</a:t>
            </a: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07504" y="6232227"/>
            <a:ext cx="576064" cy="365125"/>
          </a:xfrm>
        </p:spPr>
        <p:txBody>
          <a:bodyPr/>
          <a:lstStyle/>
          <a:p>
            <a:fld id="{3A50B82F-E44A-4FE6-8B99-53CD253DED7E}" type="slidenum">
              <a:rPr lang="es-ES" smtClean="0"/>
              <a:pPr/>
              <a:t>2</a:t>
            </a:fld>
            <a:endParaRPr lang="es-ES" dirty="0"/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09745" y="1196752"/>
            <a:ext cx="6842125" cy="3672408"/>
          </a:xfrm>
        </p:spPr>
        <p:txBody>
          <a:bodyPr/>
          <a:lstStyle/>
          <a:p>
            <a:pPr marL="457200" indent="-457200" algn="just" eaLnBrk="1" hangingPunct="1">
              <a:lnSpc>
                <a:spcPct val="130000"/>
              </a:lnSpc>
              <a:buNone/>
            </a:pPr>
            <a:r>
              <a:rPr lang="es-ES_tradnl" sz="2000" dirty="0"/>
              <a:t>4.1. Organización</a:t>
            </a:r>
          </a:p>
          <a:p>
            <a:pPr marL="857250" lvl="1" indent="-457200" algn="just" eaLnBrk="1" hangingPunct="1">
              <a:lnSpc>
                <a:spcPct val="130000"/>
              </a:lnSpc>
              <a:buNone/>
            </a:pPr>
            <a:r>
              <a:rPr lang="es-ES_tradnl" dirty="0"/>
              <a:t>4.1.1. Agrupación de unidades.</a:t>
            </a:r>
          </a:p>
          <a:p>
            <a:pPr marL="857250" lvl="1" indent="-457200" algn="just" eaLnBrk="1" hangingPunct="1">
              <a:lnSpc>
                <a:spcPct val="130000"/>
              </a:lnSpc>
              <a:buNone/>
            </a:pPr>
            <a:r>
              <a:rPr lang="es-ES_tradnl" dirty="0"/>
              <a:t>4.1.2. Cadena de mando.</a:t>
            </a:r>
          </a:p>
          <a:p>
            <a:pPr marL="857250" lvl="1" indent="-457200" algn="just" eaLnBrk="1" hangingPunct="1">
              <a:lnSpc>
                <a:spcPct val="130000"/>
              </a:lnSpc>
              <a:buNone/>
            </a:pPr>
            <a:r>
              <a:rPr lang="es-ES_tradnl" dirty="0"/>
              <a:t>4.1.4. Coordinación de unidades.</a:t>
            </a:r>
          </a:p>
          <a:p>
            <a:pPr marL="457200" indent="-457200" algn="just" eaLnBrk="1" hangingPunct="1">
              <a:lnSpc>
                <a:spcPct val="130000"/>
              </a:lnSpc>
              <a:buNone/>
            </a:pPr>
            <a:endParaRPr lang="es-ES_tradnl" sz="2000" dirty="0"/>
          </a:p>
          <a:p>
            <a:pPr marL="457200" indent="-457200" algn="just" eaLnBrk="1" hangingPunct="1">
              <a:lnSpc>
                <a:spcPct val="130000"/>
              </a:lnSpc>
              <a:buNone/>
            </a:pPr>
            <a:endParaRPr lang="es-ES_tradnl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>
            <a:extLst>
              <a:ext uri="{FF2B5EF4-FFF2-40B4-BE49-F238E27FC236}">
                <a16:creationId xmlns:a16="http://schemas.microsoft.com/office/drawing/2014/main" id="{CE05C982-4DA2-42D0-B45E-84ACB3BCD7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ES" dirty="0">
                <a:solidFill>
                  <a:schemeClr val="tx2"/>
                </a:solidFill>
                <a:cs typeface="Times New Roman" pitchFamily="18" charset="0"/>
              </a:rPr>
              <a:t>Tema 4: Organizar y Dirigir</a:t>
            </a:r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643A9D4-F2A7-4BE9-BF7D-9DC2ED875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s-ES" dirty="0"/>
          </a:p>
        </p:txBody>
      </p:sp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47A275C8-ED57-43FE-BFB0-7C1AAC929F23}"/>
              </a:ext>
            </a:extLst>
          </p:cNvPr>
          <p:cNvSpPr/>
          <p:nvPr/>
        </p:nvSpPr>
        <p:spPr>
          <a:xfrm>
            <a:off x="4139952" y="1628801"/>
            <a:ext cx="3060340" cy="858226"/>
          </a:xfrm>
          <a:custGeom>
            <a:avLst/>
            <a:gdLst>
              <a:gd name="connsiteX0" fmla="*/ 0 w 5587820"/>
              <a:gd name="connsiteY0" fmla="*/ 109769 h 1097691"/>
              <a:gd name="connsiteX1" fmla="*/ 109769 w 5587820"/>
              <a:gd name="connsiteY1" fmla="*/ 0 h 1097691"/>
              <a:gd name="connsiteX2" fmla="*/ 5478051 w 5587820"/>
              <a:gd name="connsiteY2" fmla="*/ 0 h 1097691"/>
              <a:gd name="connsiteX3" fmla="*/ 5587820 w 5587820"/>
              <a:gd name="connsiteY3" fmla="*/ 109769 h 1097691"/>
              <a:gd name="connsiteX4" fmla="*/ 5587820 w 5587820"/>
              <a:gd name="connsiteY4" fmla="*/ 987922 h 1097691"/>
              <a:gd name="connsiteX5" fmla="*/ 5478051 w 5587820"/>
              <a:gd name="connsiteY5" fmla="*/ 1097691 h 1097691"/>
              <a:gd name="connsiteX6" fmla="*/ 109769 w 5587820"/>
              <a:gd name="connsiteY6" fmla="*/ 1097691 h 1097691"/>
              <a:gd name="connsiteX7" fmla="*/ 0 w 5587820"/>
              <a:gd name="connsiteY7" fmla="*/ 987922 h 1097691"/>
              <a:gd name="connsiteX8" fmla="*/ 0 w 5587820"/>
              <a:gd name="connsiteY8" fmla="*/ 109769 h 1097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87820" h="1097691">
                <a:moveTo>
                  <a:pt x="0" y="109769"/>
                </a:moveTo>
                <a:cubicBezTo>
                  <a:pt x="0" y="49145"/>
                  <a:pt x="49145" y="0"/>
                  <a:pt x="109769" y="0"/>
                </a:cubicBezTo>
                <a:lnTo>
                  <a:pt x="5478051" y="0"/>
                </a:lnTo>
                <a:cubicBezTo>
                  <a:pt x="5538675" y="0"/>
                  <a:pt x="5587820" y="49145"/>
                  <a:pt x="5587820" y="109769"/>
                </a:cubicBezTo>
                <a:lnTo>
                  <a:pt x="5587820" y="987922"/>
                </a:lnTo>
                <a:cubicBezTo>
                  <a:pt x="5587820" y="1048546"/>
                  <a:pt x="5538675" y="1097691"/>
                  <a:pt x="5478051" y="1097691"/>
                </a:cubicBezTo>
                <a:lnTo>
                  <a:pt x="109769" y="1097691"/>
                </a:lnTo>
                <a:cubicBezTo>
                  <a:pt x="49145" y="1097691"/>
                  <a:pt x="0" y="1048546"/>
                  <a:pt x="0" y="987922"/>
                </a:cubicBezTo>
                <a:lnTo>
                  <a:pt x="0" y="109769"/>
                </a:lnTo>
                <a:close/>
              </a:path>
            </a:pathLst>
          </a:custGeom>
          <a:solidFill>
            <a:srgbClr val="3486D9">
              <a:alpha val="69020"/>
            </a:srgb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0730" tIns="100730" rIns="0" bIns="100730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ES" sz="1400" b="1" kern="1200" dirty="0">
                <a:solidFill>
                  <a:schemeClr val="tx1"/>
                </a:solidFill>
              </a:rPr>
              <a:t>PLANIFICACIÓN</a:t>
            </a:r>
          </a:p>
          <a:p>
            <a:pPr marL="0" lvl="1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s-ES" sz="1400" b="0" kern="1200" dirty="0">
                <a:solidFill>
                  <a:schemeClr val="tx1"/>
                </a:solidFill>
              </a:rPr>
              <a:t>Fines, objetivos, estrategias, procedimientos, presupuestos.</a:t>
            </a:r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4D78FF37-E4E2-410A-B675-907909F89C4A}"/>
              </a:ext>
            </a:extLst>
          </p:cNvPr>
          <p:cNvSpPr/>
          <p:nvPr/>
        </p:nvSpPr>
        <p:spPr>
          <a:xfrm>
            <a:off x="4607930" y="2636912"/>
            <a:ext cx="3672481" cy="1096551"/>
          </a:xfrm>
          <a:custGeom>
            <a:avLst/>
            <a:gdLst>
              <a:gd name="connsiteX0" fmla="*/ 0 w 5587820"/>
              <a:gd name="connsiteY0" fmla="*/ 140707 h 1407068"/>
              <a:gd name="connsiteX1" fmla="*/ 140707 w 5587820"/>
              <a:gd name="connsiteY1" fmla="*/ 0 h 1407068"/>
              <a:gd name="connsiteX2" fmla="*/ 5447113 w 5587820"/>
              <a:gd name="connsiteY2" fmla="*/ 0 h 1407068"/>
              <a:gd name="connsiteX3" fmla="*/ 5587820 w 5587820"/>
              <a:gd name="connsiteY3" fmla="*/ 140707 h 1407068"/>
              <a:gd name="connsiteX4" fmla="*/ 5587820 w 5587820"/>
              <a:gd name="connsiteY4" fmla="*/ 1266361 h 1407068"/>
              <a:gd name="connsiteX5" fmla="*/ 5447113 w 5587820"/>
              <a:gd name="connsiteY5" fmla="*/ 1407068 h 1407068"/>
              <a:gd name="connsiteX6" fmla="*/ 140707 w 5587820"/>
              <a:gd name="connsiteY6" fmla="*/ 1407068 h 1407068"/>
              <a:gd name="connsiteX7" fmla="*/ 0 w 5587820"/>
              <a:gd name="connsiteY7" fmla="*/ 1266361 h 1407068"/>
              <a:gd name="connsiteX8" fmla="*/ 0 w 5587820"/>
              <a:gd name="connsiteY8" fmla="*/ 140707 h 1407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87820" h="1407068">
                <a:moveTo>
                  <a:pt x="0" y="140707"/>
                </a:moveTo>
                <a:cubicBezTo>
                  <a:pt x="0" y="62997"/>
                  <a:pt x="62997" y="0"/>
                  <a:pt x="140707" y="0"/>
                </a:cubicBezTo>
                <a:lnTo>
                  <a:pt x="5447113" y="0"/>
                </a:lnTo>
                <a:cubicBezTo>
                  <a:pt x="5524823" y="0"/>
                  <a:pt x="5587820" y="62997"/>
                  <a:pt x="5587820" y="140707"/>
                </a:cubicBezTo>
                <a:lnTo>
                  <a:pt x="5587820" y="1266361"/>
                </a:lnTo>
                <a:cubicBezTo>
                  <a:pt x="5587820" y="1344071"/>
                  <a:pt x="5524823" y="1407068"/>
                  <a:pt x="5447113" y="1407068"/>
                </a:cubicBezTo>
                <a:lnTo>
                  <a:pt x="140707" y="1407068"/>
                </a:lnTo>
                <a:cubicBezTo>
                  <a:pt x="62997" y="1407068"/>
                  <a:pt x="0" y="1344071"/>
                  <a:pt x="0" y="1266361"/>
                </a:cubicBezTo>
                <a:lnTo>
                  <a:pt x="0" y="140707"/>
                </a:lnTo>
                <a:close/>
              </a:path>
            </a:pathLst>
          </a:custGeom>
          <a:solidFill>
            <a:srgbClr val="FFC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hueOff val="-3342870"/>
              <a:satOff val="-19444"/>
              <a:lumOff val="-31765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9792" tIns="109792" rIns="0" bIns="109792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ES" sz="1400" b="1" kern="1200" dirty="0">
                <a:solidFill>
                  <a:schemeClr val="tx1"/>
                </a:solidFill>
              </a:rPr>
              <a:t>ORGANIZACIÓN</a:t>
            </a:r>
          </a:p>
          <a:p>
            <a:pPr marL="0" lvl="1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s-ES" sz="1400" b="0" kern="1200" dirty="0">
                <a:solidFill>
                  <a:schemeClr val="tx1"/>
                </a:solidFill>
              </a:rPr>
              <a:t>División del trabajo, departamentalización, jerarquía, diseño de puestos de trabajo.</a:t>
            </a:r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ED7FF33C-B88B-44B3-BC55-849FF5BC4936}"/>
              </a:ext>
            </a:extLst>
          </p:cNvPr>
          <p:cNvSpPr/>
          <p:nvPr/>
        </p:nvSpPr>
        <p:spPr>
          <a:xfrm>
            <a:off x="5068927" y="3933056"/>
            <a:ext cx="3499517" cy="791619"/>
          </a:xfrm>
          <a:custGeom>
            <a:avLst/>
            <a:gdLst>
              <a:gd name="connsiteX0" fmla="*/ 0 w 5587820"/>
              <a:gd name="connsiteY0" fmla="*/ 110658 h 1106577"/>
              <a:gd name="connsiteX1" fmla="*/ 110658 w 5587820"/>
              <a:gd name="connsiteY1" fmla="*/ 0 h 1106577"/>
              <a:gd name="connsiteX2" fmla="*/ 5477162 w 5587820"/>
              <a:gd name="connsiteY2" fmla="*/ 0 h 1106577"/>
              <a:gd name="connsiteX3" fmla="*/ 5587820 w 5587820"/>
              <a:gd name="connsiteY3" fmla="*/ 110658 h 1106577"/>
              <a:gd name="connsiteX4" fmla="*/ 5587820 w 5587820"/>
              <a:gd name="connsiteY4" fmla="*/ 995919 h 1106577"/>
              <a:gd name="connsiteX5" fmla="*/ 5477162 w 5587820"/>
              <a:gd name="connsiteY5" fmla="*/ 1106577 h 1106577"/>
              <a:gd name="connsiteX6" fmla="*/ 110658 w 5587820"/>
              <a:gd name="connsiteY6" fmla="*/ 1106577 h 1106577"/>
              <a:gd name="connsiteX7" fmla="*/ 0 w 5587820"/>
              <a:gd name="connsiteY7" fmla="*/ 995919 h 1106577"/>
              <a:gd name="connsiteX8" fmla="*/ 0 w 5587820"/>
              <a:gd name="connsiteY8" fmla="*/ 110658 h 110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87820" h="1106577">
                <a:moveTo>
                  <a:pt x="0" y="110658"/>
                </a:moveTo>
                <a:cubicBezTo>
                  <a:pt x="0" y="49543"/>
                  <a:pt x="49543" y="0"/>
                  <a:pt x="110658" y="0"/>
                </a:cubicBezTo>
                <a:lnTo>
                  <a:pt x="5477162" y="0"/>
                </a:lnTo>
                <a:cubicBezTo>
                  <a:pt x="5538277" y="0"/>
                  <a:pt x="5587820" y="49543"/>
                  <a:pt x="5587820" y="110658"/>
                </a:cubicBezTo>
                <a:lnTo>
                  <a:pt x="5587820" y="995919"/>
                </a:lnTo>
                <a:cubicBezTo>
                  <a:pt x="5587820" y="1057034"/>
                  <a:pt x="5538277" y="1106577"/>
                  <a:pt x="5477162" y="1106577"/>
                </a:cubicBezTo>
                <a:lnTo>
                  <a:pt x="110658" y="1106577"/>
                </a:lnTo>
                <a:cubicBezTo>
                  <a:pt x="49543" y="1106577"/>
                  <a:pt x="0" y="1057034"/>
                  <a:pt x="0" y="995919"/>
                </a:cubicBezTo>
                <a:lnTo>
                  <a:pt x="0" y="110658"/>
                </a:lnTo>
                <a:close/>
              </a:path>
            </a:pathLst>
          </a:custGeom>
          <a:solidFill>
            <a:srgbClr val="00B05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hueOff val="-6685741"/>
              <a:satOff val="-38887"/>
              <a:lumOff val="-63529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0991" tIns="100991" rIns="0" bIns="100991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ES" sz="1400" b="1" kern="1200" dirty="0">
                <a:solidFill>
                  <a:schemeClr val="tx1"/>
                </a:solidFill>
              </a:rPr>
              <a:t>DIRECCIÓN</a:t>
            </a:r>
          </a:p>
          <a:p>
            <a:pPr marL="0" lvl="1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s-ES" sz="1400" b="0" kern="1200" dirty="0">
                <a:solidFill>
                  <a:schemeClr val="tx1"/>
                </a:solidFill>
              </a:rPr>
              <a:t>Toma de decisiones, liderazgo, supervisión, motivación.</a:t>
            </a:r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64DEEDF5-7F0A-4E74-8BDF-CEED95E0B4C8}"/>
              </a:ext>
            </a:extLst>
          </p:cNvPr>
          <p:cNvSpPr/>
          <p:nvPr/>
        </p:nvSpPr>
        <p:spPr>
          <a:xfrm>
            <a:off x="5609361" y="4941168"/>
            <a:ext cx="3247115" cy="726559"/>
          </a:xfrm>
          <a:custGeom>
            <a:avLst/>
            <a:gdLst>
              <a:gd name="connsiteX0" fmla="*/ 0 w 5587820"/>
              <a:gd name="connsiteY0" fmla="*/ 110658 h 1106577"/>
              <a:gd name="connsiteX1" fmla="*/ 110658 w 5587820"/>
              <a:gd name="connsiteY1" fmla="*/ 0 h 1106577"/>
              <a:gd name="connsiteX2" fmla="*/ 5477162 w 5587820"/>
              <a:gd name="connsiteY2" fmla="*/ 0 h 1106577"/>
              <a:gd name="connsiteX3" fmla="*/ 5587820 w 5587820"/>
              <a:gd name="connsiteY3" fmla="*/ 110658 h 1106577"/>
              <a:gd name="connsiteX4" fmla="*/ 5587820 w 5587820"/>
              <a:gd name="connsiteY4" fmla="*/ 995919 h 1106577"/>
              <a:gd name="connsiteX5" fmla="*/ 5477162 w 5587820"/>
              <a:gd name="connsiteY5" fmla="*/ 1106577 h 1106577"/>
              <a:gd name="connsiteX6" fmla="*/ 110658 w 5587820"/>
              <a:gd name="connsiteY6" fmla="*/ 1106577 h 1106577"/>
              <a:gd name="connsiteX7" fmla="*/ 0 w 5587820"/>
              <a:gd name="connsiteY7" fmla="*/ 995919 h 1106577"/>
              <a:gd name="connsiteX8" fmla="*/ 0 w 5587820"/>
              <a:gd name="connsiteY8" fmla="*/ 110658 h 110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587820" h="1106577">
                <a:moveTo>
                  <a:pt x="0" y="110658"/>
                </a:moveTo>
                <a:cubicBezTo>
                  <a:pt x="0" y="49543"/>
                  <a:pt x="49543" y="0"/>
                  <a:pt x="110658" y="0"/>
                </a:cubicBezTo>
                <a:lnTo>
                  <a:pt x="5477162" y="0"/>
                </a:lnTo>
                <a:cubicBezTo>
                  <a:pt x="5538277" y="0"/>
                  <a:pt x="5587820" y="49543"/>
                  <a:pt x="5587820" y="110658"/>
                </a:cubicBezTo>
                <a:lnTo>
                  <a:pt x="5587820" y="995919"/>
                </a:lnTo>
                <a:cubicBezTo>
                  <a:pt x="5587820" y="1057034"/>
                  <a:pt x="5538277" y="1106577"/>
                  <a:pt x="5477162" y="1106577"/>
                </a:cubicBezTo>
                <a:lnTo>
                  <a:pt x="110658" y="1106577"/>
                </a:lnTo>
                <a:cubicBezTo>
                  <a:pt x="49543" y="1106577"/>
                  <a:pt x="0" y="1057034"/>
                  <a:pt x="0" y="995919"/>
                </a:cubicBezTo>
                <a:lnTo>
                  <a:pt x="0" y="110658"/>
                </a:lnTo>
                <a:close/>
              </a:path>
            </a:pathLst>
          </a:custGeom>
          <a:solidFill>
            <a:srgbClr val="F66E1A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hueOff val="-10028611"/>
              <a:satOff val="-58331"/>
              <a:lumOff val="-95294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00991" tIns="100991" rIns="0" bIns="100991" numCol="1" spcCol="1270" anchor="ctr" anchorCtr="0">
            <a:noAutofit/>
          </a:bodyPr>
          <a:lstStyle/>
          <a:p>
            <a:pPr marL="0" lvl="0" indent="0" algn="l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s-ES" sz="1400" b="1" kern="1200" dirty="0">
                <a:solidFill>
                  <a:schemeClr val="tx1"/>
                </a:solidFill>
              </a:rPr>
              <a:t>CONTROL</a:t>
            </a:r>
          </a:p>
          <a:p>
            <a:pPr marL="0" lvl="1" algn="l" defTabSz="7112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s-ES" sz="1400" b="0" kern="1200" dirty="0">
                <a:solidFill>
                  <a:schemeClr val="tx1"/>
                </a:solidFill>
              </a:rPr>
              <a:t>Estándares, medición, corrección.</a:t>
            </a:r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24285B0B-C3BB-43E8-A517-A8C83CBA3BB0}"/>
              </a:ext>
            </a:extLst>
          </p:cNvPr>
          <p:cNvSpPr/>
          <p:nvPr/>
        </p:nvSpPr>
        <p:spPr>
          <a:xfrm>
            <a:off x="6696236" y="2420888"/>
            <a:ext cx="403173" cy="278229"/>
          </a:xfrm>
          <a:custGeom>
            <a:avLst/>
            <a:gdLst>
              <a:gd name="connsiteX0" fmla="*/ 0 w 719275"/>
              <a:gd name="connsiteY0" fmla="*/ 395601 h 719275"/>
              <a:gd name="connsiteX1" fmla="*/ 161837 w 719275"/>
              <a:gd name="connsiteY1" fmla="*/ 395601 h 719275"/>
              <a:gd name="connsiteX2" fmla="*/ 161837 w 719275"/>
              <a:gd name="connsiteY2" fmla="*/ 0 h 719275"/>
              <a:gd name="connsiteX3" fmla="*/ 557438 w 719275"/>
              <a:gd name="connsiteY3" fmla="*/ 0 h 719275"/>
              <a:gd name="connsiteX4" fmla="*/ 557438 w 719275"/>
              <a:gd name="connsiteY4" fmla="*/ 395601 h 719275"/>
              <a:gd name="connsiteX5" fmla="*/ 719275 w 719275"/>
              <a:gd name="connsiteY5" fmla="*/ 395601 h 719275"/>
              <a:gd name="connsiteX6" fmla="*/ 359638 w 719275"/>
              <a:gd name="connsiteY6" fmla="*/ 719275 h 719275"/>
              <a:gd name="connsiteX7" fmla="*/ 0 w 719275"/>
              <a:gd name="connsiteY7" fmla="*/ 395601 h 719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9275" h="719275">
                <a:moveTo>
                  <a:pt x="0" y="395601"/>
                </a:moveTo>
                <a:lnTo>
                  <a:pt x="161837" y="395601"/>
                </a:lnTo>
                <a:lnTo>
                  <a:pt x="161837" y="0"/>
                </a:lnTo>
                <a:lnTo>
                  <a:pt x="557438" y="0"/>
                </a:lnTo>
                <a:lnTo>
                  <a:pt x="557438" y="395601"/>
                </a:lnTo>
                <a:lnTo>
                  <a:pt x="719275" y="395601"/>
                </a:lnTo>
                <a:lnTo>
                  <a:pt x="359638" y="719275"/>
                </a:lnTo>
                <a:lnTo>
                  <a:pt x="0" y="395601"/>
                </a:lnTo>
                <a:close/>
              </a:path>
            </a:pathLst>
          </a:custGeom>
          <a:solidFill>
            <a:schemeClr val="tx1">
              <a:alpha val="90000"/>
            </a:schemeClr>
          </a:solidFill>
        </p:spPr>
        <p:style>
          <a:lnRef idx="2"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2157" tIns="20320" rIns="182157" bIns="198341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s-ES" sz="1400" b="0" kern="1200">
              <a:solidFill>
                <a:schemeClr val="tx1"/>
              </a:solidFill>
            </a:endParaRPr>
          </a:p>
        </p:txBody>
      </p:sp>
      <p:sp>
        <p:nvSpPr>
          <p:cNvPr id="12" name="Forma libre: forma 11">
            <a:extLst>
              <a:ext uri="{FF2B5EF4-FFF2-40B4-BE49-F238E27FC236}">
                <a16:creationId xmlns:a16="http://schemas.microsoft.com/office/drawing/2014/main" id="{63986970-0F4C-48C6-B42A-9CF7A8879CD1}"/>
              </a:ext>
            </a:extLst>
          </p:cNvPr>
          <p:cNvSpPr/>
          <p:nvPr/>
        </p:nvSpPr>
        <p:spPr>
          <a:xfrm>
            <a:off x="7164216" y="3728661"/>
            <a:ext cx="403173" cy="278229"/>
          </a:xfrm>
          <a:custGeom>
            <a:avLst/>
            <a:gdLst>
              <a:gd name="connsiteX0" fmla="*/ 0 w 719275"/>
              <a:gd name="connsiteY0" fmla="*/ 395601 h 719275"/>
              <a:gd name="connsiteX1" fmla="*/ 161837 w 719275"/>
              <a:gd name="connsiteY1" fmla="*/ 395601 h 719275"/>
              <a:gd name="connsiteX2" fmla="*/ 161837 w 719275"/>
              <a:gd name="connsiteY2" fmla="*/ 0 h 719275"/>
              <a:gd name="connsiteX3" fmla="*/ 557438 w 719275"/>
              <a:gd name="connsiteY3" fmla="*/ 0 h 719275"/>
              <a:gd name="connsiteX4" fmla="*/ 557438 w 719275"/>
              <a:gd name="connsiteY4" fmla="*/ 395601 h 719275"/>
              <a:gd name="connsiteX5" fmla="*/ 719275 w 719275"/>
              <a:gd name="connsiteY5" fmla="*/ 395601 h 719275"/>
              <a:gd name="connsiteX6" fmla="*/ 359638 w 719275"/>
              <a:gd name="connsiteY6" fmla="*/ 719275 h 719275"/>
              <a:gd name="connsiteX7" fmla="*/ 0 w 719275"/>
              <a:gd name="connsiteY7" fmla="*/ 395601 h 719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9275" h="719275">
                <a:moveTo>
                  <a:pt x="0" y="395601"/>
                </a:moveTo>
                <a:lnTo>
                  <a:pt x="161837" y="395601"/>
                </a:lnTo>
                <a:lnTo>
                  <a:pt x="161837" y="0"/>
                </a:lnTo>
                <a:lnTo>
                  <a:pt x="557438" y="0"/>
                </a:lnTo>
                <a:lnTo>
                  <a:pt x="557438" y="395601"/>
                </a:lnTo>
                <a:lnTo>
                  <a:pt x="719275" y="395601"/>
                </a:lnTo>
                <a:lnTo>
                  <a:pt x="359638" y="719275"/>
                </a:lnTo>
                <a:lnTo>
                  <a:pt x="0" y="39560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3">
              <a:tint val="40000"/>
              <a:alpha val="90000"/>
              <a:hueOff val="-5006906"/>
              <a:satOff val="-28785"/>
              <a:lumOff val="-9196"/>
              <a:alphaOff val="0"/>
            </a:schemeClr>
          </a:lnRef>
          <a:fillRef idx="1">
            <a:scrgbClr r="0" g="0" b="0"/>
          </a:fillRef>
          <a:effectRef idx="0">
            <a:schemeClr val="accent3">
              <a:tint val="40000"/>
              <a:alpha val="90000"/>
              <a:hueOff val="-5006906"/>
              <a:satOff val="-28785"/>
              <a:lumOff val="-9196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2157" tIns="20320" rIns="182157" bIns="198341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s-ES" sz="1400" b="0" kern="1200">
              <a:solidFill>
                <a:schemeClr val="tx1"/>
              </a:solidFill>
            </a:endParaRPr>
          </a:p>
        </p:txBody>
      </p:sp>
      <p:sp>
        <p:nvSpPr>
          <p:cNvPr id="13" name="Forma libre: forma 12">
            <a:extLst>
              <a:ext uri="{FF2B5EF4-FFF2-40B4-BE49-F238E27FC236}">
                <a16:creationId xmlns:a16="http://schemas.microsoft.com/office/drawing/2014/main" id="{8C12AC78-E51A-4B43-97B4-310A9D49B70F}"/>
              </a:ext>
            </a:extLst>
          </p:cNvPr>
          <p:cNvSpPr/>
          <p:nvPr/>
        </p:nvSpPr>
        <p:spPr>
          <a:xfrm>
            <a:off x="7625211" y="4725144"/>
            <a:ext cx="403173" cy="278229"/>
          </a:xfrm>
          <a:custGeom>
            <a:avLst/>
            <a:gdLst>
              <a:gd name="connsiteX0" fmla="*/ 0 w 719275"/>
              <a:gd name="connsiteY0" fmla="*/ 395601 h 719275"/>
              <a:gd name="connsiteX1" fmla="*/ 161837 w 719275"/>
              <a:gd name="connsiteY1" fmla="*/ 395601 h 719275"/>
              <a:gd name="connsiteX2" fmla="*/ 161837 w 719275"/>
              <a:gd name="connsiteY2" fmla="*/ 0 h 719275"/>
              <a:gd name="connsiteX3" fmla="*/ 557438 w 719275"/>
              <a:gd name="connsiteY3" fmla="*/ 0 h 719275"/>
              <a:gd name="connsiteX4" fmla="*/ 557438 w 719275"/>
              <a:gd name="connsiteY4" fmla="*/ 395601 h 719275"/>
              <a:gd name="connsiteX5" fmla="*/ 719275 w 719275"/>
              <a:gd name="connsiteY5" fmla="*/ 395601 h 719275"/>
              <a:gd name="connsiteX6" fmla="*/ 359638 w 719275"/>
              <a:gd name="connsiteY6" fmla="*/ 719275 h 719275"/>
              <a:gd name="connsiteX7" fmla="*/ 0 w 719275"/>
              <a:gd name="connsiteY7" fmla="*/ 395601 h 719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9275" h="719275">
                <a:moveTo>
                  <a:pt x="0" y="395601"/>
                </a:moveTo>
                <a:lnTo>
                  <a:pt x="161837" y="395601"/>
                </a:lnTo>
                <a:lnTo>
                  <a:pt x="161837" y="0"/>
                </a:lnTo>
                <a:lnTo>
                  <a:pt x="557438" y="0"/>
                </a:lnTo>
                <a:lnTo>
                  <a:pt x="557438" y="395601"/>
                </a:lnTo>
                <a:lnTo>
                  <a:pt x="719275" y="395601"/>
                </a:lnTo>
                <a:lnTo>
                  <a:pt x="359638" y="719275"/>
                </a:lnTo>
                <a:lnTo>
                  <a:pt x="0" y="395601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3">
              <a:tint val="40000"/>
              <a:alpha val="90000"/>
              <a:hueOff val="-10013812"/>
              <a:satOff val="-57570"/>
              <a:lumOff val="-18392"/>
              <a:alphaOff val="0"/>
            </a:schemeClr>
          </a:lnRef>
          <a:fillRef idx="1">
            <a:scrgbClr r="0" g="0" b="0"/>
          </a:fillRef>
          <a:effectRef idx="0">
            <a:schemeClr val="accent3">
              <a:tint val="40000"/>
              <a:alpha val="90000"/>
              <a:hueOff val="-10013812"/>
              <a:satOff val="-57570"/>
              <a:lumOff val="-18392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82157" tIns="20320" rIns="182157" bIns="198341" numCol="1" spcCol="1270" anchor="ctr" anchorCtr="0">
            <a:noAutofit/>
          </a:bodyPr>
          <a:lstStyle/>
          <a:p>
            <a:pPr marL="0" lvl="0" indent="0" algn="ctr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s-ES" sz="1400" b="0" kern="1200">
              <a:solidFill>
                <a:schemeClr val="tx1"/>
              </a:solidFill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C5821555-0FE8-47AE-A89D-42298C46E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535" y="2311701"/>
            <a:ext cx="5128462" cy="402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06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8" grpId="1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Marcador de número de diapositiva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2BB61E-C86B-4CAF-A502-2171CAC2525F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302964" y="1124744"/>
            <a:ext cx="8445500" cy="5112568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  <a:buClr>
                <a:srgbClr val="C00000"/>
              </a:buClr>
            </a:pPr>
            <a:r>
              <a:rPr lang="es-ES" sz="2000" b="1" u="sng" dirty="0">
                <a:solidFill>
                  <a:srgbClr val="C00000"/>
                </a:solidFill>
              </a:rPr>
              <a:t>ORGANIZAR</a:t>
            </a:r>
            <a:r>
              <a:rPr lang="es-ES" sz="2000" b="1" dirty="0"/>
              <a:t>: </a:t>
            </a:r>
            <a:r>
              <a:rPr lang="es-ES" sz="2000" dirty="0"/>
              <a:t>función directiva básica que consiste en diseñar la estructura organizativa.</a:t>
            </a:r>
          </a:p>
          <a:p>
            <a:pPr algn="just">
              <a:lnSpc>
                <a:spcPct val="120000"/>
              </a:lnSpc>
              <a:buClr>
                <a:srgbClr val="C00000"/>
              </a:buClr>
            </a:pPr>
            <a:endParaRPr lang="es-ES" sz="2000" b="1" u="sng" dirty="0">
              <a:solidFill>
                <a:srgbClr val="C00000"/>
              </a:solidFill>
            </a:endParaRPr>
          </a:p>
          <a:p>
            <a:pPr algn="just">
              <a:lnSpc>
                <a:spcPct val="120000"/>
              </a:lnSpc>
              <a:buClr>
                <a:srgbClr val="C00000"/>
              </a:buClr>
            </a:pPr>
            <a:r>
              <a:rPr lang="es-ES" sz="2000" b="1" u="sng" dirty="0">
                <a:solidFill>
                  <a:srgbClr val="C00000"/>
                </a:solidFill>
              </a:rPr>
              <a:t>Estructura organizativa</a:t>
            </a:r>
            <a:r>
              <a:rPr lang="es-ES_tradnl" sz="2000" b="1" i="1" dirty="0"/>
              <a:t>: </a:t>
            </a:r>
            <a:r>
              <a:rPr lang="es-ES_tradnl" sz="2000" dirty="0"/>
              <a:t>suma total de las formas en las que una organización divide su trabajo en diversas tareas coordinándolas entre sí posteriormente. </a:t>
            </a:r>
          </a:p>
          <a:p>
            <a:pPr algn="just">
              <a:lnSpc>
                <a:spcPct val="120000"/>
              </a:lnSpc>
              <a:buClr>
                <a:srgbClr val="C00000"/>
              </a:buClr>
              <a:buNone/>
            </a:pPr>
            <a:endParaRPr lang="es-ES_tradnl" sz="2000" dirty="0"/>
          </a:p>
          <a:p>
            <a:pPr algn="just">
              <a:lnSpc>
                <a:spcPct val="120000"/>
              </a:lnSpc>
              <a:buClr>
                <a:srgbClr val="C00000"/>
              </a:buClr>
            </a:pPr>
            <a:r>
              <a:rPr lang="es-ES" sz="2000" b="1" u="sng" dirty="0">
                <a:solidFill>
                  <a:srgbClr val="C00000"/>
                </a:solidFill>
              </a:rPr>
              <a:t>Diseño Organizativo</a:t>
            </a:r>
            <a:r>
              <a:rPr lang="es-ES" sz="2000" dirty="0"/>
              <a:t>: proceso dinámico por el cual los directivos construyen, evalúan y modifican estructura básica de funcionamiento de las organizaciones con el propósito de facilitar la realización de las tareas o actividades necesarias para la consecución de los objetivos establecidos de  una manera </a:t>
            </a:r>
            <a:r>
              <a:rPr lang="es-ES" sz="2000" b="1" dirty="0"/>
              <a:t>eficaz</a:t>
            </a:r>
            <a:r>
              <a:rPr lang="es-ES" sz="2000" dirty="0"/>
              <a:t> y </a:t>
            </a:r>
            <a:r>
              <a:rPr lang="es-ES" sz="2000" b="1" dirty="0"/>
              <a:t>eficiente</a:t>
            </a:r>
            <a:r>
              <a:rPr lang="es-ES" sz="2000" dirty="0"/>
              <a:t>. </a:t>
            </a:r>
          </a:p>
          <a:p>
            <a:pPr algn="just">
              <a:lnSpc>
                <a:spcPct val="120000"/>
              </a:lnSpc>
              <a:buClr>
                <a:srgbClr val="C00000"/>
              </a:buClr>
            </a:pPr>
            <a:endParaRPr lang="es-E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ES" dirty="0">
                <a:solidFill>
                  <a:schemeClr val="tx2"/>
                </a:solidFill>
                <a:cs typeface="Times New Roman" pitchFamily="18" charset="0"/>
              </a:rPr>
              <a:t>4.1. Organización</a:t>
            </a:r>
            <a:endParaRPr lang="es-E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259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Marcador de número de diapositiva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2BB61E-C86B-4CAF-A502-2171CAC2525F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1024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idx="4294967295"/>
          </p:nvPr>
        </p:nvSpPr>
        <p:spPr>
          <a:xfrm>
            <a:off x="321568" y="1116236"/>
            <a:ext cx="8534400" cy="4468812"/>
          </a:xfrm>
        </p:spPr>
        <p:txBody>
          <a:bodyPr/>
          <a:lstStyle/>
          <a:p>
            <a:pPr marL="0" indent="0" algn="ctr">
              <a:lnSpc>
                <a:spcPct val="110000"/>
              </a:lnSpc>
              <a:buFont typeface="Wingdings" pitchFamily="2" charset="2"/>
              <a:buNone/>
            </a:pPr>
            <a:r>
              <a:rPr lang="es-ES" sz="2000" dirty="0"/>
              <a:t>ESTRUCTURA FORMAL	ESTRUCTURA INFORMAL</a:t>
            </a:r>
          </a:p>
          <a:p>
            <a:pPr marL="177800" indent="-177800" algn="just">
              <a:lnSpc>
                <a:spcPct val="110000"/>
              </a:lnSpc>
              <a:buClr>
                <a:srgbClr val="C00000"/>
              </a:buClr>
            </a:pPr>
            <a:r>
              <a:rPr lang="es-ES" sz="2000" u="sng" dirty="0">
                <a:solidFill>
                  <a:srgbClr val="C00000"/>
                </a:solidFill>
              </a:rPr>
              <a:t>Estructura formal</a:t>
            </a:r>
            <a:r>
              <a:rPr lang="es-ES" sz="2000" dirty="0"/>
              <a:t>: relaciones entre las personas que han sido previa y conscientemente establecidas. Situaciones previstas y previamente definidas.</a:t>
            </a:r>
          </a:p>
          <a:p>
            <a:pPr marL="177800" indent="-177800" algn="just">
              <a:lnSpc>
                <a:spcPct val="110000"/>
              </a:lnSpc>
              <a:buClr>
                <a:srgbClr val="C00000"/>
              </a:buClr>
            </a:pPr>
            <a:r>
              <a:rPr lang="es-ES" sz="2000" u="sng" dirty="0">
                <a:solidFill>
                  <a:srgbClr val="C00000"/>
                </a:solidFill>
              </a:rPr>
              <a:t>Estructura informal</a:t>
            </a:r>
            <a:r>
              <a:rPr lang="es-ES" sz="2000" dirty="0"/>
              <a:t>: relaciones que no han sido previa ni conscientemente definidas y responden a las necesidades de relación entre individuos que entran en contacto en su trabajo. Impredecibles de antemano, fruto de los contactos y afinidades sociales entre individuos.</a:t>
            </a:r>
          </a:p>
          <a:p>
            <a:pPr marL="0" indent="0" algn="just">
              <a:lnSpc>
                <a:spcPct val="110000"/>
              </a:lnSpc>
              <a:buClr>
                <a:srgbClr val="C00000"/>
              </a:buClr>
            </a:pPr>
            <a:r>
              <a:rPr lang="es-ES" sz="2000" dirty="0"/>
              <a:t> </a:t>
            </a:r>
            <a:r>
              <a:rPr lang="es-ES" sz="2000" u="sng" dirty="0">
                <a:solidFill>
                  <a:srgbClr val="C00000"/>
                </a:solidFill>
              </a:rPr>
              <a:t>Estructura real</a:t>
            </a:r>
            <a:r>
              <a:rPr lang="es-ES" sz="2000" dirty="0"/>
              <a:t>: consecuencia de los aspectos formales e informales.  	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4283968" y="1196752"/>
            <a:ext cx="381000" cy="304800"/>
            <a:chOff x="2496" y="624"/>
            <a:chExt cx="240" cy="192"/>
          </a:xfrm>
        </p:grpSpPr>
        <p:sp>
          <p:nvSpPr>
            <p:cNvPr id="10253" name="Line 5"/>
            <p:cNvSpPr>
              <a:spLocks noChangeShapeType="1"/>
            </p:cNvSpPr>
            <p:nvPr/>
          </p:nvSpPr>
          <p:spPr bwMode="auto">
            <a:xfrm>
              <a:off x="2496" y="672"/>
              <a:ext cx="240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s-ES"/>
            </a:p>
          </p:txBody>
        </p:sp>
        <p:sp>
          <p:nvSpPr>
            <p:cNvPr id="10254" name="Line 6"/>
            <p:cNvSpPr>
              <a:spLocks noChangeShapeType="1"/>
            </p:cNvSpPr>
            <p:nvPr/>
          </p:nvSpPr>
          <p:spPr bwMode="auto">
            <a:xfrm>
              <a:off x="2496" y="768"/>
              <a:ext cx="240" cy="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s-ES"/>
            </a:p>
          </p:txBody>
        </p:sp>
        <p:sp>
          <p:nvSpPr>
            <p:cNvPr id="10255" name="Line 7"/>
            <p:cNvSpPr>
              <a:spLocks noChangeShapeType="1"/>
            </p:cNvSpPr>
            <p:nvPr/>
          </p:nvSpPr>
          <p:spPr bwMode="auto">
            <a:xfrm flipH="1">
              <a:off x="2544" y="624"/>
              <a:ext cx="144" cy="192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s-ES"/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1219200" y="5238750"/>
            <a:ext cx="6477000" cy="1466850"/>
            <a:chOff x="768" y="3300"/>
            <a:chExt cx="4080" cy="924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768" y="3300"/>
              <a:ext cx="4080" cy="588"/>
              <a:chOff x="768" y="3372"/>
              <a:chExt cx="4080" cy="588"/>
            </a:xfrm>
          </p:grpSpPr>
          <p:sp>
            <p:nvSpPr>
              <p:cNvPr id="10249" name="Rectangle 9"/>
              <p:cNvSpPr>
                <a:spLocks noChangeArrowheads="1"/>
              </p:cNvSpPr>
              <p:nvPr/>
            </p:nvSpPr>
            <p:spPr bwMode="auto">
              <a:xfrm>
                <a:off x="3120" y="3372"/>
                <a:ext cx="1728" cy="312"/>
              </a:xfrm>
              <a:prstGeom prst="rect">
                <a:avLst/>
              </a:prstGeom>
              <a:solidFill>
                <a:srgbClr val="5FDCF9"/>
              </a:solidFill>
              <a:ln w="9525">
                <a:solidFill>
                  <a:srgbClr val="0000CC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s-ES" sz="2000">
                    <a:solidFill>
                      <a:srgbClr val="0000CC"/>
                    </a:solidFill>
                    <a:latin typeface="Comic Sans MS" pitchFamily="66" charset="0"/>
                  </a:rPr>
                  <a:t>Estructura informal</a:t>
                </a:r>
              </a:p>
            </p:txBody>
          </p:sp>
          <p:sp>
            <p:nvSpPr>
              <p:cNvPr id="10250" name="Rectangle 12"/>
              <p:cNvSpPr>
                <a:spLocks noChangeArrowheads="1"/>
              </p:cNvSpPr>
              <p:nvPr/>
            </p:nvSpPr>
            <p:spPr bwMode="auto">
              <a:xfrm>
                <a:off x="768" y="3372"/>
                <a:ext cx="1728" cy="312"/>
              </a:xfrm>
              <a:prstGeom prst="rect">
                <a:avLst/>
              </a:prstGeom>
              <a:solidFill>
                <a:srgbClr val="5FDCF9"/>
              </a:solidFill>
              <a:ln w="9525">
                <a:solidFill>
                  <a:srgbClr val="0000CC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s-ES" sz="2000">
                    <a:solidFill>
                      <a:srgbClr val="0000CC"/>
                    </a:solidFill>
                    <a:latin typeface="Comic Sans MS" pitchFamily="66" charset="0"/>
                  </a:rPr>
                  <a:t>Estructura formal</a:t>
                </a:r>
              </a:p>
            </p:txBody>
          </p:sp>
          <p:sp>
            <p:nvSpPr>
              <p:cNvPr id="10251" name="Rectangle 13"/>
              <p:cNvSpPr>
                <a:spLocks noChangeArrowheads="1"/>
              </p:cNvSpPr>
              <p:nvPr/>
            </p:nvSpPr>
            <p:spPr bwMode="auto">
              <a:xfrm>
                <a:off x="3120" y="3648"/>
                <a:ext cx="1728" cy="312"/>
              </a:xfrm>
              <a:prstGeom prst="rect">
                <a:avLst/>
              </a:prstGeom>
              <a:solidFill>
                <a:srgbClr val="5FDCF9"/>
              </a:solidFill>
              <a:ln w="9525">
                <a:solidFill>
                  <a:srgbClr val="0000CC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s-ES" sz="1800">
                    <a:solidFill>
                      <a:srgbClr val="0000CC"/>
                    </a:solidFill>
                    <a:latin typeface="Comic Sans MS" pitchFamily="66" charset="0"/>
                  </a:rPr>
                  <a:t>Espontánea y no previsto</a:t>
                </a:r>
              </a:p>
            </p:txBody>
          </p:sp>
          <p:sp>
            <p:nvSpPr>
              <p:cNvPr id="10252" name="Rectangle 14"/>
              <p:cNvSpPr>
                <a:spLocks noChangeArrowheads="1"/>
              </p:cNvSpPr>
              <p:nvPr/>
            </p:nvSpPr>
            <p:spPr bwMode="auto">
              <a:xfrm>
                <a:off x="768" y="3648"/>
                <a:ext cx="1728" cy="312"/>
              </a:xfrm>
              <a:prstGeom prst="rect">
                <a:avLst/>
              </a:prstGeom>
              <a:solidFill>
                <a:srgbClr val="5FDCF9"/>
              </a:solidFill>
              <a:ln w="9525">
                <a:solidFill>
                  <a:srgbClr val="0000CC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s-ES" sz="1800">
                    <a:solidFill>
                      <a:srgbClr val="0000CC"/>
                    </a:solidFill>
                    <a:latin typeface="Comic Sans MS" pitchFamily="66" charset="0"/>
                  </a:rPr>
                  <a:t>Voluntad de la dirección</a:t>
                </a:r>
              </a:p>
            </p:txBody>
          </p:sp>
        </p:grpSp>
        <p:sp>
          <p:nvSpPr>
            <p:cNvPr id="10247" name="Rectangle 16"/>
            <p:cNvSpPr>
              <a:spLocks noChangeArrowheads="1"/>
            </p:cNvSpPr>
            <p:nvPr/>
          </p:nvSpPr>
          <p:spPr bwMode="auto">
            <a:xfrm>
              <a:off x="2016" y="3984"/>
              <a:ext cx="1584" cy="240"/>
            </a:xfrm>
            <a:prstGeom prst="rect">
              <a:avLst/>
            </a:prstGeom>
            <a:solidFill>
              <a:srgbClr val="FFFF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s-ES" sz="2000">
                  <a:solidFill>
                    <a:srgbClr val="0000CC"/>
                  </a:solidFill>
                  <a:latin typeface="Comic Sans MS" pitchFamily="66" charset="0"/>
                </a:rPr>
                <a:t>Estructura Real</a:t>
              </a:r>
            </a:p>
          </p:txBody>
        </p:sp>
        <p:sp>
          <p:nvSpPr>
            <p:cNvPr id="5137" name="AutoShape 17"/>
            <p:cNvSpPr>
              <a:spLocks noChangeArrowheads="1"/>
            </p:cNvSpPr>
            <p:nvPr/>
          </p:nvSpPr>
          <p:spPr bwMode="auto">
            <a:xfrm flipV="1">
              <a:off x="2496" y="3408"/>
              <a:ext cx="624" cy="528"/>
            </a:xfrm>
            <a:custGeom>
              <a:avLst/>
              <a:gdLst>
                <a:gd name="G0" fmla="+- 6480 0 0"/>
                <a:gd name="G1" fmla="+- 8640 0 0"/>
                <a:gd name="G2" fmla="+- 6171 0 0"/>
                <a:gd name="G3" fmla="+- 21600 0 6480"/>
                <a:gd name="G4" fmla="+- 21600 0 8640"/>
                <a:gd name="G5" fmla="*/ G0 21600 G3"/>
                <a:gd name="G6" fmla="*/ G1 21600 G3"/>
                <a:gd name="G7" fmla="*/ G2 G3 21600"/>
                <a:gd name="G8" fmla="*/ 10800 21600 G3"/>
                <a:gd name="G9" fmla="*/ G4 21600 G3"/>
                <a:gd name="G10" fmla="+- 21600 0 G7"/>
                <a:gd name="G11" fmla="+- G5 0 G8"/>
                <a:gd name="G12" fmla="+- G6 0 G8"/>
                <a:gd name="G13" fmla="*/ G12 G7 G11"/>
                <a:gd name="G14" fmla="+- 21600 0 G13"/>
                <a:gd name="G15" fmla="+- G0 0 10800"/>
                <a:gd name="G16" fmla="+- G1 0 10800"/>
                <a:gd name="G17" fmla="*/ G2 G16 G15"/>
                <a:gd name="T0" fmla="*/ 10800 w 21600"/>
                <a:gd name="T1" fmla="*/ 0 h 21600"/>
                <a:gd name="T2" fmla="*/ 0 w 21600"/>
                <a:gd name="T3" fmla="*/ 15429 h 21600"/>
                <a:gd name="T4" fmla="*/ 10800 w 21600"/>
                <a:gd name="T5" fmla="*/ 18514 h 21600"/>
                <a:gd name="T6" fmla="*/ 21600 w 21600"/>
                <a:gd name="T7" fmla="*/ 15429 h 21600"/>
                <a:gd name="T8" fmla="*/ 17694720 60000 65536"/>
                <a:gd name="T9" fmla="*/ 11796480 60000 65536"/>
                <a:gd name="T10" fmla="*/ 5898240 60000 65536"/>
                <a:gd name="T11" fmla="*/ 0 60000 65536"/>
                <a:gd name="T12" fmla="*/ G13 w 21600"/>
                <a:gd name="T13" fmla="*/ G6 h 21600"/>
                <a:gd name="T14" fmla="*/ G14 w 21600"/>
                <a:gd name="T15" fmla="*/ G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00" y="0"/>
                  </a:moveTo>
                  <a:lnTo>
                    <a:pt x="6480" y="6171"/>
                  </a:lnTo>
                  <a:lnTo>
                    <a:pt x="8640" y="6171"/>
                  </a:lnTo>
                  <a:lnTo>
                    <a:pt x="8640" y="12343"/>
                  </a:lnTo>
                  <a:lnTo>
                    <a:pt x="4320" y="12343"/>
                  </a:lnTo>
                  <a:lnTo>
                    <a:pt x="4320" y="9257"/>
                  </a:lnTo>
                  <a:lnTo>
                    <a:pt x="0" y="15429"/>
                  </a:lnTo>
                  <a:lnTo>
                    <a:pt x="4320" y="21600"/>
                  </a:lnTo>
                  <a:lnTo>
                    <a:pt x="4320" y="18514"/>
                  </a:lnTo>
                  <a:lnTo>
                    <a:pt x="17280" y="18514"/>
                  </a:lnTo>
                  <a:lnTo>
                    <a:pt x="17280" y="21600"/>
                  </a:lnTo>
                  <a:lnTo>
                    <a:pt x="21600" y="15429"/>
                  </a:lnTo>
                  <a:lnTo>
                    <a:pt x="17280" y="9257"/>
                  </a:lnTo>
                  <a:lnTo>
                    <a:pt x="17280" y="12343"/>
                  </a:lnTo>
                  <a:lnTo>
                    <a:pt x="12960" y="12343"/>
                  </a:lnTo>
                  <a:lnTo>
                    <a:pt x="12960" y="6171"/>
                  </a:lnTo>
                  <a:lnTo>
                    <a:pt x="15120" y="6171"/>
                  </a:lnTo>
                  <a:close/>
                </a:path>
              </a:pathLst>
            </a:custGeom>
            <a:gradFill rotWithShape="0">
              <a:gsLst>
                <a:gs pos="0">
                  <a:schemeClr val="folHlink"/>
                </a:gs>
                <a:gs pos="50000">
                  <a:srgbClr val="FFFF00"/>
                </a:gs>
                <a:gs pos="100000">
                  <a:schemeClr val="folHlink"/>
                </a:gs>
              </a:gsLst>
              <a:lin ang="5400000" scaled="1"/>
            </a:gradFill>
            <a:ln w="9525">
              <a:solidFill>
                <a:srgbClr val="0000CC"/>
              </a:solidFill>
              <a:miter lim="800000"/>
              <a:headEnd/>
              <a:tailEnd/>
            </a:ln>
            <a:effectLst/>
          </p:spPr>
          <p:txBody>
            <a:bodyPr rot="10800000" wrap="none" anchor="ctr"/>
            <a:lstStyle/>
            <a:p>
              <a:pPr algn="ctr">
                <a:defRPr/>
              </a:pPr>
              <a:endParaRPr lang="es-ES">
                <a:solidFill>
                  <a:srgbClr val="0000CC"/>
                </a:solidFill>
              </a:endParaRPr>
            </a:p>
          </p:txBody>
        </p:sp>
      </p:grpSp>
      <p:sp>
        <p:nvSpPr>
          <p:cNvPr id="20" name="Rectangle 2">
            <a:extLst>
              <a:ext uri="{FF2B5EF4-FFF2-40B4-BE49-F238E27FC236}">
                <a16:creationId xmlns:a16="http://schemas.microsoft.com/office/drawing/2014/main" id="{ADC9EEBE-B7F2-4115-B342-D6DE57DC65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" y="115888"/>
            <a:ext cx="8928100" cy="720725"/>
          </a:xfrm>
        </p:spPr>
        <p:txBody>
          <a:bodyPr/>
          <a:lstStyle/>
          <a:p>
            <a:pPr algn="just"/>
            <a:r>
              <a:rPr lang="es-ES" dirty="0">
                <a:solidFill>
                  <a:schemeClr val="tx2"/>
                </a:solidFill>
                <a:cs typeface="Times New Roman" pitchFamily="18" charset="0"/>
              </a:rPr>
              <a:t>4.1. Organización</a:t>
            </a:r>
            <a:endParaRPr lang="es-E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4551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2 Marcador de contenido"/>
          <p:cNvSpPr>
            <a:spLocks noGrp="1"/>
          </p:cNvSpPr>
          <p:nvPr>
            <p:ph idx="4294967295"/>
          </p:nvPr>
        </p:nvSpPr>
        <p:spPr>
          <a:xfrm>
            <a:off x="518864" y="1052736"/>
            <a:ext cx="8373616" cy="4860925"/>
          </a:xfrm>
        </p:spPr>
        <p:txBody>
          <a:bodyPr/>
          <a:lstStyle/>
          <a:p>
            <a:pPr>
              <a:buFont typeface="Wingdings 2" pitchFamily="18" charset="2"/>
              <a:buNone/>
            </a:pPr>
            <a:r>
              <a:rPr lang="es-ES" sz="2000" b="1" dirty="0"/>
              <a:t>ELEMENTOS de la Estructura Organizativa Formal (según </a:t>
            </a:r>
            <a:r>
              <a:rPr lang="es-ES" sz="2000" b="1" dirty="0" err="1"/>
              <a:t>Minztberg</a:t>
            </a:r>
            <a:r>
              <a:rPr lang="es-ES" sz="2000" b="1" dirty="0"/>
              <a:t>)</a:t>
            </a:r>
          </a:p>
          <a:p>
            <a:pPr>
              <a:buFont typeface="Wingdings 2" pitchFamily="18" charset="2"/>
              <a:buNone/>
            </a:pPr>
            <a:endParaRPr lang="es-ES" dirty="0"/>
          </a:p>
        </p:txBody>
      </p:sp>
      <p:grpSp>
        <p:nvGrpSpPr>
          <p:cNvPr id="2" name="11 Grupo"/>
          <p:cNvGrpSpPr>
            <a:grpSpLocks/>
          </p:cNvGrpSpPr>
          <p:nvPr/>
        </p:nvGrpSpPr>
        <p:grpSpPr bwMode="auto">
          <a:xfrm>
            <a:off x="1434478" y="1733193"/>
            <a:ext cx="6419068" cy="5008919"/>
            <a:chOff x="1125966" y="2928934"/>
            <a:chExt cx="5442539" cy="3960987"/>
          </a:xfrm>
          <a:solidFill>
            <a:srgbClr val="FF4343"/>
          </a:solidFill>
        </p:grpSpPr>
        <p:sp>
          <p:nvSpPr>
            <p:cNvPr id="4" name="3 Elipse"/>
            <p:cNvSpPr/>
            <p:nvPr/>
          </p:nvSpPr>
          <p:spPr>
            <a:xfrm>
              <a:off x="2786049" y="2928934"/>
              <a:ext cx="2071703" cy="928688"/>
            </a:xfrm>
            <a:prstGeom prst="ellipse">
              <a:avLst/>
            </a:prstGeom>
            <a:grpFill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" sz="1600" b="1" dirty="0">
                  <a:solidFill>
                    <a:schemeClr val="tx1"/>
                  </a:solidFill>
                </a:rPr>
                <a:t>ÁPICE ESTRATÉGICO</a:t>
              </a:r>
            </a:p>
          </p:txBody>
        </p:sp>
        <p:sp>
          <p:nvSpPr>
            <p:cNvPr id="5" name="4 Elipse"/>
            <p:cNvSpPr/>
            <p:nvPr/>
          </p:nvSpPr>
          <p:spPr>
            <a:xfrm>
              <a:off x="2640040" y="5010803"/>
              <a:ext cx="2253965" cy="1879118"/>
            </a:xfrm>
            <a:prstGeom prst="ellipse">
              <a:avLst/>
            </a:prstGeom>
            <a:grpFill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" sz="1600" b="1" dirty="0">
                  <a:solidFill>
                    <a:schemeClr val="tx1"/>
                  </a:solidFill>
                </a:rPr>
                <a:t>NÚCLEO DE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" sz="1600" b="1" dirty="0">
                  <a:solidFill>
                    <a:schemeClr val="tx1"/>
                  </a:solidFill>
                </a:rPr>
                <a:t>OPERACIONES</a:t>
              </a:r>
            </a:p>
          </p:txBody>
        </p:sp>
        <p:sp>
          <p:nvSpPr>
            <p:cNvPr id="6" name="5 Rectángulo"/>
            <p:cNvSpPr/>
            <p:nvPr/>
          </p:nvSpPr>
          <p:spPr>
            <a:xfrm>
              <a:off x="3428992" y="3857622"/>
              <a:ext cx="785817" cy="1235146"/>
            </a:xfrm>
            <a:prstGeom prst="rect">
              <a:avLst/>
            </a:prstGeom>
            <a:grpFill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" sz="1600" b="1" dirty="0">
                  <a:solidFill>
                    <a:schemeClr val="tx1"/>
                  </a:solidFill>
                </a:rPr>
                <a:t>LÍNEA</a:t>
              </a: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" sz="1600" b="1" dirty="0">
                  <a:solidFill>
                    <a:schemeClr val="tx1"/>
                  </a:solidFill>
                </a:rPr>
                <a:t>MEDIA</a:t>
              </a:r>
            </a:p>
          </p:txBody>
        </p:sp>
        <p:sp>
          <p:nvSpPr>
            <p:cNvPr id="8" name="7 Luna"/>
            <p:cNvSpPr/>
            <p:nvPr/>
          </p:nvSpPr>
          <p:spPr>
            <a:xfrm>
              <a:off x="1125966" y="3428997"/>
              <a:ext cx="1500197" cy="2928941"/>
            </a:xfrm>
            <a:prstGeom prst="moon">
              <a:avLst>
                <a:gd name="adj" fmla="val 36147"/>
              </a:avLst>
            </a:prstGeom>
            <a:grpFill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 sz="1600" b="1">
                <a:solidFill>
                  <a:schemeClr val="tx1"/>
                </a:solidFill>
              </a:endParaRPr>
            </a:p>
          </p:txBody>
        </p:sp>
        <p:sp>
          <p:nvSpPr>
            <p:cNvPr id="9" name="8 Luna" descr="LLLLL"/>
            <p:cNvSpPr/>
            <p:nvPr/>
          </p:nvSpPr>
          <p:spPr>
            <a:xfrm rot="10800000">
              <a:off x="5068306" y="3428997"/>
              <a:ext cx="1500199" cy="2928941"/>
            </a:xfrm>
            <a:prstGeom prst="moon">
              <a:avLst>
                <a:gd name="adj" fmla="val 30606"/>
              </a:avLst>
            </a:prstGeom>
            <a:grpFill/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s-ES" sz="1600" b="1">
                <a:solidFill>
                  <a:schemeClr val="tx1"/>
                </a:solidFill>
              </a:endParaRPr>
            </a:p>
          </p:txBody>
        </p:sp>
        <p:sp>
          <p:nvSpPr>
            <p:cNvPr id="6154" name="9 CuadroTexto"/>
            <p:cNvSpPr txBox="1">
              <a:spLocks noChangeArrowheads="1"/>
            </p:cNvSpPr>
            <p:nvPr/>
          </p:nvSpPr>
          <p:spPr bwMode="auto">
            <a:xfrm rot="5400000">
              <a:off x="5321105" y="4663344"/>
              <a:ext cx="1393632" cy="311842"/>
            </a:xfrm>
            <a:prstGeom prst="rect">
              <a:avLst/>
            </a:prstGeom>
            <a:grpFill/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s-ES" sz="1600" b="1">
                  <a:solidFill>
                    <a:schemeClr val="tx1"/>
                  </a:solidFill>
                  <a:latin typeface="Century Gothic" pitchFamily="34" charset="0"/>
                </a:rPr>
                <a:t>STAFF APOYO</a:t>
              </a:r>
            </a:p>
          </p:txBody>
        </p:sp>
        <p:sp>
          <p:nvSpPr>
            <p:cNvPr id="6155" name="10 CuadroTexto"/>
            <p:cNvSpPr txBox="1">
              <a:spLocks noChangeArrowheads="1"/>
            </p:cNvSpPr>
            <p:nvPr/>
          </p:nvSpPr>
          <p:spPr bwMode="auto">
            <a:xfrm rot="16200000">
              <a:off x="599892" y="4699028"/>
              <a:ext cx="1887382" cy="311842"/>
            </a:xfrm>
            <a:prstGeom prst="rect">
              <a:avLst/>
            </a:prstGeom>
            <a:grpFill/>
            <a:ln>
              <a:headEnd/>
              <a:tailEnd/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wrap="none">
              <a:spAutoFit/>
            </a:bodyPr>
            <a:lstStyle/>
            <a:p>
              <a:r>
                <a:rPr lang="es-ES" sz="1600" b="1">
                  <a:solidFill>
                    <a:schemeClr val="tx1"/>
                  </a:solidFill>
                  <a:latin typeface="Century Gothic" pitchFamily="34" charset="0"/>
                </a:rPr>
                <a:t>TECNOESTRUCTURA</a:t>
              </a:r>
            </a:p>
          </p:txBody>
        </p:sp>
      </p:grpSp>
      <p:sp>
        <p:nvSpPr>
          <p:cNvPr id="13" name="12 Marcador de número de diapositiva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31E6992-B48E-4E13-A9CD-F20B6AAC6FC2}" type="slidenum">
              <a:rPr lang="es-ES" smtClean="0"/>
              <a:pPr>
                <a:defRPr/>
              </a:pPr>
              <a:t>6</a:t>
            </a:fld>
            <a:endParaRPr lang="es-E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69C062C1-5E41-4877-A78A-3507D08AB2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" y="115888"/>
            <a:ext cx="8928100" cy="720725"/>
          </a:xfrm>
        </p:spPr>
        <p:txBody>
          <a:bodyPr/>
          <a:lstStyle/>
          <a:p>
            <a:pPr algn="just"/>
            <a:r>
              <a:rPr lang="es-ES" dirty="0">
                <a:solidFill>
                  <a:schemeClr val="tx2"/>
                </a:solidFill>
                <a:cs typeface="Times New Roman" pitchFamily="18" charset="0"/>
              </a:rPr>
              <a:t>4.1. Organización</a:t>
            </a:r>
            <a:endParaRPr lang="es-E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979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2 Marcador de contenido"/>
          <p:cNvSpPr>
            <a:spLocks noGrp="1"/>
          </p:cNvSpPr>
          <p:nvPr>
            <p:ph idx="4294967295"/>
          </p:nvPr>
        </p:nvSpPr>
        <p:spPr>
          <a:xfrm>
            <a:off x="216024" y="980728"/>
            <a:ext cx="8748464" cy="7344816"/>
          </a:xfrm>
        </p:spPr>
        <p:txBody>
          <a:bodyPr/>
          <a:lstStyle/>
          <a:p>
            <a:pPr marL="444500" lvl="1" indent="-444500" algn="just">
              <a:lnSpc>
                <a:spcPct val="90000"/>
              </a:lnSpc>
              <a:buNone/>
            </a:pPr>
            <a:r>
              <a:rPr lang="es-ES" sz="1800" b="1" u="sng" dirty="0">
                <a:solidFill>
                  <a:srgbClr val="C00000"/>
                </a:solidFill>
              </a:rPr>
              <a:t>ÁPICE ESTRATÉGICO</a:t>
            </a:r>
            <a:endParaRPr lang="es-ES" sz="1800" dirty="0"/>
          </a:p>
          <a:p>
            <a:pPr marL="444500" lvl="1" indent="-266700" algn="just">
              <a:lnSpc>
                <a:spcPct val="90000"/>
              </a:lnSpc>
              <a:buClr>
                <a:schemeClr val="accent1">
                  <a:lumMod val="75000"/>
                </a:schemeClr>
              </a:buClr>
              <a:buSzPct val="80000"/>
              <a:buFont typeface="Wingdings" pitchFamily="2" charset="2"/>
              <a:buChar char="¨"/>
            </a:pPr>
            <a:r>
              <a:rPr lang="es-ES" sz="1800" dirty="0"/>
              <a:t>Objetivo: cumplimiento de la misión de la empresa y la satisfacción los intereses de las personas y grupos que participan en ella.</a:t>
            </a:r>
          </a:p>
          <a:p>
            <a:pPr marL="444500" lvl="1" indent="-266700" algn="just">
              <a:lnSpc>
                <a:spcPct val="90000"/>
              </a:lnSpc>
              <a:buClr>
                <a:schemeClr val="accent1">
                  <a:lumMod val="75000"/>
                </a:schemeClr>
              </a:buClr>
              <a:buSzPct val="80000"/>
              <a:buFont typeface="Wingdings" pitchFamily="2" charset="2"/>
              <a:buChar char="¨"/>
            </a:pPr>
            <a:r>
              <a:rPr lang="es-ES" sz="1800" dirty="0"/>
              <a:t>Alta dirección y propietarios. </a:t>
            </a:r>
            <a:r>
              <a:rPr lang="es-ES" sz="1800" u="sng" dirty="0"/>
              <a:t>También incluye a los que asisten directamente a la alta dirección</a:t>
            </a:r>
            <a:r>
              <a:rPr lang="es-ES" sz="1800" dirty="0"/>
              <a:t> (secretarios, asistentes, adjuntos...)</a:t>
            </a:r>
          </a:p>
          <a:p>
            <a:pPr lvl="0" algn="just">
              <a:lnSpc>
                <a:spcPct val="90000"/>
              </a:lnSpc>
              <a:buClr>
                <a:srgbClr val="00007D"/>
              </a:buClr>
              <a:buSzPct val="75000"/>
              <a:buNone/>
            </a:pPr>
            <a:endParaRPr lang="es-ES" sz="1800" b="1" u="sng" dirty="0">
              <a:solidFill>
                <a:srgbClr val="C00000"/>
              </a:solidFill>
            </a:endParaRPr>
          </a:p>
          <a:p>
            <a:pPr lvl="0" algn="just">
              <a:lnSpc>
                <a:spcPct val="90000"/>
              </a:lnSpc>
              <a:buClr>
                <a:srgbClr val="00007D"/>
              </a:buClr>
              <a:buSzPct val="75000"/>
              <a:buNone/>
            </a:pPr>
            <a:r>
              <a:rPr lang="es-ES" sz="1800" b="1" u="sng" dirty="0">
                <a:solidFill>
                  <a:srgbClr val="C00000"/>
                </a:solidFill>
              </a:rPr>
              <a:t>NÚCLEO DE OPERACIONES</a:t>
            </a:r>
            <a:endParaRPr lang="es-ES" sz="1800" b="1" dirty="0">
              <a:solidFill>
                <a:srgbClr val="000000"/>
              </a:solidFill>
            </a:endParaRPr>
          </a:p>
          <a:p>
            <a:pPr marL="444500" lvl="1" indent="-266700" algn="just">
              <a:lnSpc>
                <a:spcPct val="90000"/>
              </a:lnSpc>
              <a:buClr>
                <a:srgbClr val="9999CC"/>
              </a:buClr>
              <a:buSzPct val="80000"/>
              <a:buFont typeface="Wingdings" pitchFamily="2" charset="2"/>
              <a:buChar char="¨"/>
            </a:pPr>
            <a:r>
              <a:rPr lang="es-ES" sz="1800" dirty="0">
                <a:solidFill>
                  <a:srgbClr val="000000"/>
                </a:solidFill>
              </a:rPr>
              <a:t>Objetivo: realizar el trabajo fundamental de la organización directamente relacionado con las actividades de explotación.</a:t>
            </a:r>
          </a:p>
          <a:p>
            <a:pPr marL="444500" lvl="1" indent="-266700" algn="just">
              <a:lnSpc>
                <a:spcPct val="90000"/>
              </a:lnSpc>
              <a:buClr>
                <a:srgbClr val="9999CC"/>
              </a:buClr>
              <a:buSzPct val="80000"/>
              <a:buFont typeface="Wingdings" pitchFamily="2" charset="2"/>
              <a:buChar char="¨"/>
            </a:pPr>
            <a:r>
              <a:rPr lang="es-ES" sz="1800" dirty="0">
                <a:solidFill>
                  <a:srgbClr val="000000"/>
                </a:solidFill>
              </a:rPr>
              <a:t> Miembros que realizan el trabajo directamente con la producción de bienes y servicios.</a:t>
            </a:r>
          </a:p>
          <a:p>
            <a:pPr marL="444500" lvl="1" indent="-266700" algn="just">
              <a:lnSpc>
                <a:spcPct val="90000"/>
              </a:lnSpc>
              <a:buClr>
                <a:srgbClr val="9999CC"/>
              </a:buClr>
              <a:buSzPct val="80000"/>
              <a:buNone/>
            </a:pPr>
            <a:endParaRPr lang="es-ES" sz="1800" dirty="0">
              <a:solidFill>
                <a:srgbClr val="000000"/>
              </a:solidFill>
            </a:endParaRPr>
          </a:p>
          <a:p>
            <a:pPr lvl="0" algn="just">
              <a:buClr>
                <a:srgbClr val="00007D"/>
              </a:buClr>
              <a:buSzPct val="75000"/>
              <a:buNone/>
            </a:pPr>
            <a:r>
              <a:rPr lang="es-ES" sz="1800" b="1" u="sng" dirty="0">
                <a:solidFill>
                  <a:srgbClr val="C00000"/>
                </a:solidFill>
              </a:rPr>
              <a:t>LÍNEA MEDIA</a:t>
            </a:r>
          </a:p>
          <a:p>
            <a:pPr marL="444500" lvl="1" indent="-266700" algn="just">
              <a:buClr>
                <a:srgbClr val="9999CC"/>
              </a:buClr>
              <a:buSzPct val="80000"/>
              <a:buFont typeface="Wingdings" pitchFamily="2" charset="2"/>
              <a:buChar char="¨"/>
            </a:pPr>
            <a:r>
              <a:rPr lang="es-ES" sz="1800" dirty="0">
                <a:solidFill>
                  <a:srgbClr val="000000"/>
                </a:solidFill>
              </a:rPr>
              <a:t>Objetivo: vincular el núcleo de operaciones y el ápice estratégico mediante una cadena de mandos.</a:t>
            </a:r>
          </a:p>
          <a:p>
            <a:pPr marL="444500" lvl="1" indent="-266700" algn="just">
              <a:buClr>
                <a:srgbClr val="9999CC"/>
              </a:buClr>
              <a:buSzPct val="80000"/>
              <a:buFont typeface="Wingdings" pitchFamily="2" charset="2"/>
              <a:buChar char="¨"/>
            </a:pPr>
            <a:r>
              <a:rPr lang="es-ES" sz="1800" u="sng" dirty="0">
                <a:solidFill>
                  <a:srgbClr val="000000"/>
                </a:solidFill>
              </a:rPr>
              <a:t>Todos</a:t>
            </a:r>
            <a:r>
              <a:rPr lang="es-ES" sz="1800" dirty="0">
                <a:solidFill>
                  <a:srgbClr val="000000"/>
                </a:solidFill>
              </a:rPr>
              <a:t> los directivos situados entre el ápice y el núcleo: directivos superiores (Director de marketing, de compras, ...) hasta los supervisores de primera línea (jefes de taller, capataces, supervisores,...)</a:t>
            </a:r>
          </a:p>
          <a:p>
            <a:pPr marL="444500" lvl="1" indent="-266700" algn="just">
              <a:lnSpc>
                <a:spcPct val="90000"/>
              </a:lnSpc>
              <a:buNone/>
            </a:pPr>
            <a:endParaRPr lang="es-ES" sz="1800" dirty="0"/>
          </a:p>
          <a:p>
            <a:pPr>
              <a:buFontTx/>
              <a:buChar char="-"/>
            </a:pPr>
            <a:endParaRPr lang="es-ES" sz="1800" dirty="0"/>
          </a:p>
          <a:p>
            <a:pPr>
              <a:buFontTx/>
              <a:buChar char="-"/>
            </a:pPr>
            <a:endParaRPr lang="es-ES" sz="1800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31E6992-B48E-4E13-A9CD-F20B6AAC6FC2}" type="slidenum">
              <a:rPr lang="es-ES" smtClean="0"/>
              <a:pPr>
                <a:defRPr/>
              </a:pPr>
              <a:t>7</a:t>
            </a:fld>
            <a:endParaRPr lang="es-E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6583F58-5F63-46E2-BADD-CD63B63F89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" y="115888"/>
            <a:ext cx="8928100" cy="720725"/>
          </a:xfrm>
        </p:spPr>
        <p:txBody>
          <a:bodyPr/>
          <a:lstStyle/>
          <a:p>
            <a:pPr algn="just"/>
            <a:r>
              <a:rPr lang="es-ES" dirty="0">
                <a:solidFill>
                  <a:schemeClr val="tx2"/>
                </a:solidFill>
                <a:cs typeface="Times New Roman" pitchFamily="18" charset="0"/>
              </a:rPr>
              <a:t>4.1. Organización</a:t>
            </a:r>
            <a:endParaRPr lang="es-E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618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número de diapositiva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31E6992-B48E-4E13-A9CD-F20B6AAC6FC2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s-ES"/>
          </a:p>
        </p:txBody>
      </p:sp>
      <p:sp>
        <p:nvSpPr>
          <p:cNvPr id="4" name="3 Rectángulo"/>
          <p:cNvSpPr/>
          <p:nvPr/>
        </p:nvSpPr>
        <p:spPr>
          <a:xfrm>
            <a:off x="360040" y="1196752"/>
            <a:ext cx="8172400" cy="5964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</a:pPr>
            <a:r>
              <a:rPr lang="es-ES" b="1" u="sng" kern="0" dirty="0">
                <a:solidFill>
                  <a:srgbClr val="C00000"/>
                </a:solidFill>
              </a:rPr>
              <a:t>TECNOESTRUCTURA</a:t>
            </a:r>
          </a:p>
          <a:p>
            <a:pPr marL="533400" lvl="1" indent="-355600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99CC"/>
              </a:buClr>
              <a:buSzPct val="80000"/>
              <a:buFont typeface="Wingdings" pitchFamily="2" charset="2"/>
              <a:buChar char="¨"/>
            </a:pPr>
            <a:r>
              <a:rPr lang="es-ES" kern="0" dirty="0">
                <a:solidFill>
                  <a:srgbClr val="000000"/>
                </a:solidFill>
              </a:rPr>
              <a:t>Objetivo: hacer más efectivo el trabajo de los demás.</a:t>
            </a:r>
          </a:p>
          <a:p>
            <a:pPr marL="533400" lvl="1" indent="-355600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99CC"/>
              </a:buClr>
              <a:buSzPct val="80000"/>
              <a:buFont typeface="Wingdings" pitchFamily="2" charset="2"/>
              <a:buChar char="¨"/>
            </a:pPr>
            <a:r>
              <a:rPr lang="es-ES" u="sng" kern="0" dirty="0">
                <a:solidFill>
                  <a:srgbClr val="000000"/>
                </a:solidFill>
              </a:rPr>
              <a:t>Analistas</a:t>
            </a:r>
            <a:r>
              <a:rPr lang="es-ES" kern="0" dirty="0">
                <a:solidFill>
                  <a:srgbClr val="000000"/>
                </a:solidFill>
              </a:rPr>
              <a:t> que planifican, diseñan, mejoran y adiestran al personal operativo y su trabajo, del que no participan directamente (</a:t>
            </a:r>
            <a:r>
              <a:rPr lang="es-ES" u="sng" kern="0" dirty="0">
                <a:solidFill>
                  <a:srgbClr val="000000"/>
                </a:solidFill>
              </a:rPr>
              <a:t>incluidos</a:t>
            </a:r>
            <a:r>
              <a:rPr lang="es-ES" kern="0" dirty="0">
                <a:solidFill>
                  <a:srgbClr val="000000"/>
                </a:solidFill>
              </a:rPr>
              <a:t> contables, planificadores, formadores...)</a:t>
            </a:r>
          </a:p>
          <a:p>
            <a:pPr marL="533400" lvl="1" indent="-355600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99CC"/>
              </a:buClr>
              <a:buSzPct val="80000"/>
              <a:buFont typeface="Wingdings" pitchFamily="2" charset="2"/>
              <a:buChar char="¨"/>
            </a:pPr>
            <a:r>
              <a:rPr lang="es-ES" kern="0" dirty="0">
                <a:solidFill>
                  <a:srgbClr val="000000"/>
                </a:solidFill>
              </a:rPr>
              <a:t>Pueden encontrarse a lo largo de toda la línea jerárquica.	</a:t>
            </a:r>
          </a:p>
          <a:p>
            <a:pPr algn="just">
              <a:buNone/>
            </a:pPr>
            <a:endParaRPr lang="es-ES" dirty="0"/>
          </a:p>
          <a:p>
            <a:pPr marL="342900" lvl="0" indent="-342900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</a:pPr>
            <a:r>
              <a:rPr lang="es-ES" b="1" u="sng" kern="0" dirty="0">
                <a:solidFill>
                  <a:srgbClr val="C00000"/>
                </a:solidFill>
              </a:rPr>
              <a:t>STAFF DE APOYO</a:t>
            </a:r>
            <a:endParaRPr lang="es-ES" b="1" kern="0" dirty="0">
              <a:solidFill>
                <a:srgbClr val="000000"/>
              </a:solidFill>
            </a:endParaRPr>
          </a:p>
          <a:p>
            <a:pPr marL="444500" lvl="1" indent="-266700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99CC"/>
              </a:buClr>
              <a:buSzPct val="80000"/>
              <a:buFont typeface="Wingdings" pitchFamily="2" charset="2"/>
              <a:buChar char="¨"/>
            </a:pPr>
            <a:r>
              <a:rPr lang="es-ES" kern="0" dirty="0">
                <a:solidFill>
                  <a:srgbClr val="000000"/>
                </a:solidFill>
              </a:rPr>
              <a:t>Apoyan a la organización mediante la prestación de servicios profesionales (</a:t>
            </a:r>
            <a:r>
              <a:rPr lang="es-ES" u="sng" kern="0" dirty="0">
                <a:solidFill>
                  <a:srgbClr val="000000"/>
                </a:solidFill>
              </a:rPr>
              <a:t>asesores</a:t>
            </a:r>
            <a:r>
              <a:rPr lang="es-ES" kern="0" dirty="0">
                <a:solidFill>
                  <a:srgbClr val="000000"/>
                </a:solidFill>
              </a:rPr>
              <a:t>)y servicios especializados (</a:t>
            </a:r>
            <a:r>
              <a:rPr lang="es-ES" u="sng" kern="0" dirty="0">
                <a:solidFill>
                  <a:srgbClr val="000000"/>
                </a:solidFill>
              </a:rPr>
              <a:t>cafetería, seguridad, limpieza…</a:t>
            </a:r>
            <a:r>
              <a:rPr lang="es-ES" kern="0" dirty="0">
                <a:solidFill>
                  <a:srgbClr val="000000"/>
                </a:solidFill>
              </a:rPr>
              <a:t>).</a:t>
            </a:r>
          </a:p>
          <a:p>
            <a:pPr marL="444500" lvl="1" indent="-266700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99CC"/>
              </a:buClr>
              <a:buSzPct val="80000"/>
              <a:buFont typeface="Wingdings" pitchFamily="2" charset="2"/>
              <a:buChar char="¨"/>
            </a:pPr>
            <a:r>
              <a:rPr lang="es-ES" kern="0" dirty="0">
                <a:solidFill>
                  <a:srgbClr val="000000"/>
                </a:solidFill>
              </a:rPr>
              <a:t>Unidades especializadas de naturaleza variada que no participan en la producción de bienes y servicios.</a:t>
            </a:r>
          </a:p>
          <a:p>
            <a:pPr marL="444500" lvl="1" indent="-266700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99CC"/>
              </a:buClr>
              <a:buSzPct val="80000"/>
              <a:buFont typeface="Wingdings" pitchFamily="2" charset="2"/>
              <a:buChar char="¨"/>
            </a:pPr>
            <a:r>
              <a:rPr lang="es-ES" kern="0" dirty="0">
                <a:solidFill>
                  <a:srgbClr val="000000"/>
                </a:solidFill>
              </a:rPr>
              <a:t>Funciones muy variadas </a:t>
            </a:r>
            <a:r>
              <a:rPr lang="es-ES" kern="0" dirty="0">
                <a:solidFill>
                  <a:srgbClr val="000000"/>
                </a:solidFill>
                <a:sym typeface="Wingdings" panose="05000000000000000000" pitchFamily="2" charset="2"/>
              </a:rPr>
              <a:t> asociados a distintos niveles jerárquicos según quienes sean los destinatarios de los servicios que proporcionan.</a:t>
            </a:r>
          </a:p>
          <a:p>
            <a:pPr marL="444500" lvl="1" indent="-266700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99CC"/>
              </a:buClr>
              <a:buSzPct val="80000"/>
              <a:buFont typeface="Wingdings" pitchFamily="2" charset="2"/>
              <a:buChar char="¨"/>
            </a:pPr>
            <a:r>
              <a:rPr lang="es-ES" dirty="0"/>
              <a:t>Muchos de estos servicios podrían también contratarse externamente (</a:t>
            </a:r>
            <a:r>
              <a:rPr lang="es-ES" dirty="0">
                <a:solidFill>
                  <a:srgbClr val="C00000"/>
                </a:solidFill>
              </a:rPr>
              <a:t>subcontratación</a:t>
            </a:r>
            <a:r>
              <a:rPr lang="es-ES" dirty="0"/>
              <a:t>) </a:t>
            </a:r>
            <a:r>
              <a:rPr lang="es-ES" dirty="0">
                <a:sym typeface="Wingdings" panose="05000000000000000000" pitchFamily="2" charset="2"/>
              </a:rPr>
              <a:t> en ese caso </a:t>
            </a:r>
            <a:r>
              <a:rPr lang="es-ES" dirty="0">
                <a:solidFill>
                  <a:srgbClr val="C00000"/>
                </a:solidFill>
              </a:rPr>
              <a:t>no forman parte de la empresa ni de la estructura organizativa </a:t>
            </a:r>
            <a:r>
              <a:rPr lang="es-ES" dirty="0"/>
              <a:t>(no son considerados staff).</a:t>
            </a:r>
          </a:p>
          <a:p>
            <a:pPr marL="444500" lvl="1" indent="-266700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99CC"/>
              </a:buClr>
              <a:buSzPct val="80000"/>
              <a:buFont typeface="Wingdings" pitchFamily="2" charset="2"/>
              <a:buChar char="¨"/>
            </a:pPr>
            <a:endParaRPr lang="es-ES" kern="0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444500" lvl="1" indent="-266700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99CC"/>
              </a:buClr>
              <a:buSzPct val="80000"/>
              <a:buFont typeface="Wingdings" pitchFamily="2" charset="2"/>
              <a:buChar char="¨"/>
            </a:pPr>
            <a:endParaRPr lang="es-ES" kern="0" dirty="0">
              <a:solidFill>
                <a:srgbClr val="000000"/>
              </a:solidFill>
            </a:endParaRPr>
          </a:p>
          <a:p>
            <a:pPr marL="444500" lvl="1" indent="-266700" algn="just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9999CC"/>
              </a:buClr>
              <a:buSzPct val="80000"/>
              <a:buFont typeface="Wingdings" pitchFamily="2" charset="2"/>
              <a:buChar char="¨"/>
            </a:pPr>
            <a:endParaRPr lang="es-E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86F0420-57BA-4067-BD4C-4ACAD9CD20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" y="115888"/>
            <a:ext cx="8928100" cy="720725"/>
          </a:xfrm>
        </p:spPr>
        <p:txBody>
          <a:bodyPr/>
          <a:lstStyle/>
          <a:p>
            <a:pPr algn="just"/>
            <a:r>
              <a:rPr lang="es-ES" dirty="0">
                <a:solidFill>
                  <a:schemeClr val="tx2"/>
                </a:solidFill>
                <a:cs typeface="Times New Roman" pitchFamily="18" charset="0"/>
              </a:rPr>
              <a:t>4.1. Organización</a:t>
            </a:r>
            <a:endParaRPr lang="es-E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096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/>
          </p:cNvSpPr>
          <p:nvPr>
            <p:ph idx="4294967295"/>
          </p:nvPr>
        </p:nvSpPr>
        <p:spPr>
          <a:xfrm>
            <a:off x="395536" y="1052737"/>
            <a:ext cx="8229600" cy="5184576"/>
          </a:xfrm>
        </p:spPr>
        <p:txBody>
          <a:bodyPr/>
          <a:lstStyle/>
          <a:p>
            <a:pPr algn="just">
              <a:lnSpc>
                <a:spcPct val="110000"/>
              </a:lnSpc>
              <a:buFont typeface="Wingdings 2" pitchFamily="18" charset="2"/>
              <a:buNone/>
            </a:pPr>
            <a:r>
              <a:rPr lang="es-ES_tradnl" sz="1800" b="1" dirty="0"/>
              <a:t>INSTRUMENTOS ORGANIZATIVOS.</a:t>
            </a:r>
          </a:p>
          <a:p>
            <a:pPr algn="ctr">
              <a:lnSpc>
                <a:spcPct val="110000"/>
              </a:lnSpc>
              <a:buNone/>
            </a:pPr>
            <a:r>
              <a:rPr lang="es-ES" sz="1800" u="sng" dirty="0"/>
              <a:t>Función</a:t>
            </a:r>
            <a:r>
              <a:rPr lang="es-ES" sz="1800" dirty="0"/>
              <a:t>: hacer visible la estructura formal de la empresa</a:t>
            </a:r>
          </a:p>
          <a:p>
            <a:pPr algn="ctr">
              <a:lnSpc>
                <a:spcPct val="110000"/>
              </a:lnSpc>
              <a:buNone/>
            </a:pPr>
            <a:endParaRPr lang="es-ES" sz="1800" dirty="0"/>
          </a:p>
          <a:p>
            <a:pPr algn="just">
              <a:lnSpc>
                <a:spcPct val="110000"/>
              </a:lnSpc>
              <a:buFont typeface="Wingdings 2" pitchFamily="18" charset="2"/>
              <a:buNone/>
            </a:pPr>
            <a:r>
              <a:rPr lang="es-ES_tradnl" sz="1800" b="1" dirty="0">
                <a:solidFill>
                  <a:srgbClr val="C00000"/>
                </a:solidFill>
              </a:rPr>
              <a:t>1. ORGANIGRAMA</a:t>
            </a:r>
          </a:p>
          <a:p>
            <a:pPr algn="just" eaLnBrk="1" hangingPunct="1">
              <a:lnSpc>
                <a:spcPct val="110000"/>
              </a:lnSpc>
              <a:buClr>
                <a:srgbClr val="9999CC"/>
              </a:buClr>
              <a:buSzPct val="80000"/>
              <a:buFont typeface="Wingdings" pitchFamily="2" charset="2"/>
              <a:buChar char="¨"/>
            </a:pPr>
            <a:r>
              <a:rPr lang="es-ES" sz="1800" dirty="0">
                <a:solidFill>
                  <a:srgbClr val="000000"/>
                </a:solidFill>
              </a:rPr>
              <a:t>Representación gráfica de algunos aspectos de la estructura formal. </a:t>
            </a:r>
          </a:p>
          <a:p>
            <a:pPr algn="just" eaLnBrk="1" hangingPunct="1">
              <a:lnSpc>
                <a:spcPct val="110000"/>
              </a:lnSpc>
              <a:buClr>
                <a:srgbClr val="9999CC"/>
              </a:buClr>
              <a:buSzPct val="80000"/>
              <a:buFont typeface="Wingdings" pitchFamily="2" charset="2"/>
              <a:buChar char="¨"/>
            </a:pPr>
            <a:r>
              <a:rPr lang="es-ES" sz="1800" dirty="0">
                <a:solidFill>
                  <a:srgbClr val="000000"/>
                </a:solidFill>
              </a:rPr>
              <a:t>Identifican los niveles de diferenciación vertical y horizontal:</a:t>
            </a:r>
          </a:p>
          <a:p>
            <a:pPr lvl="1" algn="just" eaLnBrk="1" hangingPunct="1">
              <a:lnSpc>
                <a:spcPct val="110000"/>
              </a:lnSpc>
              <a:buClr>
                <a:srgbClr val="00007D"/>
              </a:buClr>
              <a:buSzPct val="65000"/>
              <a:buFont typeface="Wingdings" pitchFamily="2" charset="2"/>
              <a:buChar char="n"/>
            </a:pPr>
            <a:r>
              <a:rPr lang="es-ES" sz="1800" dirty="0">
                <a:solidFill>
                  <a:srgbClr val="000000"/>
                </a:solidFill>
              </a:rPr>
              <a:t>Detallan las unidades organizativas existentes y sus conexiones.</a:t>
            </a:r>
          </a:p>
          <a:p>
            <a:pPr lvl="1" algn="just" eaLnBrk="1" hangingPunct="1">
              <a:lnSpc>
                <a:spcPct val="110000"/>
              </a:lnSpc>
              <a:buClr>
                <a:srgbClr val="00007D"/>
              </a:buClr>
              <a:buSzPct val="65000"/>
              <a:buFont typeface="Wingdings" pitchFamily="2" charset="2"/>
              <a:buChar char="n"/>
            </a:pPr>
            <a:r>
              <a:rPr lang="es-ES" sz="1800" dirty="0">
                <a:solidFill>
                  <a:srgbClr val="000000"/>
                </a:solidFill>
              </a:rPr>
              <a:t>Muestran la dependencia jerárquica (autoridad formal).</a:t>
            </a:r>
          </a:p>
          <a:p>
            <a:pPr algn="just" eaLnBrk="1" hangingPunct="1">
              <a:lnSpc>
                <a:spcPct val="110000"/>
              </a:lnSpc>
              <a:buClr>
                <a:srgbClr val="9999CC"/>
              </a:buClr>
              <a:buSzPct val="80000"/>
              <a:buFont typeface="Wingdings" pitchFamily="2" charset="2"/>
              <a:buChar char="¨"/>
            </a:pPr>
            <a:r>
              <a:rPr lang="es-ES" sz="1800" dirty="0">
                <a:solidFill>
                  <a:srgbClr val="000000"/>
                </a:solidFill>
              </a:rPr>
              <a:t>No recogen las relaciones funcionales.</a:t>
            </a:r>
          </a:p>
          <a:p>
            <a:pPr marL="0" indent="0" algn="just" eaLnBrk="1" hangingPunct="1">
              <a:lnSpc>
                <a:spcPct val="110000"/>
              </a:lnSpc>
              <a:buClr>
                <a:srgbClr val="9999CC"/>
              </a:buClr>
              <a:buSzPct val="80000"/>
              <a:buNone/>
            </a:pPr>
            <a:endParaRPr lang="es-ES" sz="1800" dirty="0">
              <a:solidFill>
                <a:srgbClr val="000000"/>
              </a:solidFill>
            </a:endParaRPr>
          </a:p>
          <a:p>
            <a:pPr lvl="0" algn="just" eaLnBrk="1" hangingPunct="1">
              <a:lnSpc>
                <a:spcPct val="110000"/>
              </a:lnSpc>
              <a:buClr>
                <a:srgbClr val="00007D"/>
              </a:buClr>
              <a:buSzPct val="75000"/>
              <a:buNone/>
            </a:pPr>
            <a:r>
              <a:rPr lang="es-ES" sz="1800" b="1" dirty="0">
                <a:solidFill>
                  <a:srgbClr val="C00000"/>
                </a:solidFill>
              </a:rPr>
              <a:t>2. MANUALES DE ORGANIZACIÓN</a:t>
            </a:r>
          </a:p>
          <a:p>
            <a:pPr marL="133350" indent="-266700" algn="just" eaLnBrk="1" hangingPunct="1">
              <a:lnSpc>
                <a:spcPct val="110000"/>
              </a:lnSpc>
              <a:buClr>
                <a:srgbClr val="9999CC"/>
              </a:buClr>
              <a:buSzPct val="80000"/>
              <a:buFont typeface="Wingdings" pitchFamily="2" charset="2"/>
              <a:buChar char="¨"/>
            </a:pPr>
            <a:r>
              <a:rPr lang="es-ES" sz="1800" dirty="0">
                <a:solidFill>
                  <a:srgbClr val="000000"/>
                </a:solidFill>
              </a:rPr>
              <a:t>Documento en el que se definen las funciones, dependencias y relaciones de los puestos directivos completando la información suministrada por el organigrama. </a:t>
            </a:r>
          </a:p>
          <a:p>
            <a:pPr marL="0" indent="0" algn="just" eaLnBrk="1" hangingPunct="1">
              <a:lnSpc>
                <a:spcPct val="110000"/>
              </a:lnSpc>
              <a:buClr>
                <a:srgbClr val="9999CC"/>
              </a:buClr>
              <a:buSzPct val="80000"/>
              <a:buNone/>
            </a:pPr>
            <a:endParaRPr lang="es-ES" sz="1800" dirty="0">
              <a:solidFill>
                <a:srgbClr val="000000"/>
              </a:solidFill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endParaRPr lang="es-ES" sz="1800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31E6992-B48E-4E13-A9CD-F20B6AAC6FC2}" type="slidenum">
              <a:rPr lang="es-ES" smtClean="0"/>
              <a:pPr>
                <a:defRPr/>
              </a:pPr>
              <a:t>9</a:t>
            </a:fld>
            <a:endParaRPr lang="es-E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FC57D63-A90A-441E-9696-A8770591CA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" y="115888"/>
            <a:ext cx="8928100" cy="720725"/>
          </a:xfrm>
        </p:spPr>
        <p:txBody>
          <a:bodyPr/>
          <a:lstStyle/>
          <a:p>
            <a:pPr algn="just"/>
            <a:r>
              <a:rPr lang="es-ES" dirty="0">
                <a:solidFill>
                  <a:schemeClr val="tx2"/>
                </a:solidFill>
                <a:cs typeface="Times New Roman" pitchFamily="18" charset="0"/>
              </a:rPr>
              <a:t>4.1. Organización</a:t>
            </a:r>
            <a:endParaRPr lang="es-E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0808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/>
          </p:cNvSpPr>
          <p:nvPr/>
        </p:nvSpPr>
        <p:spPr bwMode="auto">
          <a:xfrm>
            <a:off x="323528" y="908720"/>
            <a:ext cx="8507412" cy="540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57200" marR="0" lvl="0" indent="-457200" algn="just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SzPct val="75000"/>
              <a:buFont typeface="Wingdings" pitchFamily="2" charset="2"/>
              <a:buChar char=""/>
              <a:tabLst/>
              <a:defRPr/>
            </a:pPr>
            <a:r>
              <a:rPr lang="es-ES_tradnl" b="1" u="sng" kern="0" noProof="0" dirty="0">
                <a:solidFill>
                  <a:srgbClr val="C00000"/>
                </a:solidFill>
              </a:rPr>
              <a:t>DECISIONES BÁSICAS DE D.O</a:t>
            </a:r>
            <a:r>
              <a:rPr kumimoji="0" lang="es-ES_tradnl" b="1" i="0" u="sng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.</a:t>
            </a:r>
            <a:endParaRPr kumimoji="0" lang="es-ES_tradnl" b="1" i="0" u="sng" strike="noStrike" kern="0" cap="none" spc="0" normalizeH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457200" indent="-457200" algn="just">
              <a:lnSpc>
                <a:spcPct val="110000"/>
              </a:lnSpc>
              <a:spcBef>
                <a:spcPct val="20000"/>
              </a:spcBef>
              <a:buClr>
                <a:schemeClr val="bg2"/>
              </a:buClr>
              <a:buSzPct val="75000"/>
            </a:pPr>
            <a:r>
              <a:rPr kumimoji="0" lang="es-ES_tradnl" b="1" i="0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1. Diferenciación de actividades.</a:t>
            </a:r>
            <a:r>
              <a:rPr kumimoji="0" lang="es-ES_tradnl" b="0" i="0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</a:p>
          <a:p>
            <a:pPr marL="355600" indent="-355600" algn="just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Char char="¨"/>
              <a:defRPr/>
            </a:pPr>
            <a:r>
              <a:rPr lang="es-ES_tradnl" kern="0" dirty="0"/>
              <a:t>Consecuencia de la división y especialización del trabajo</a:t>
            </a:r>
          </a:p>
          <a:p>
            <a:pPr marL="355600" indent="-355600" algn="just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Char char="¨"/>
              <a:defRPr/>
            </a:pPr>
            <a:r>
              <a:rPr lang="es-ES_tradnl" kern="0" dirty="0">
                <a:solidFill>
                  <a:srgbClr val="000000"/>
                </a:solidFill>
              </a:rPr>
              <a:t>Concepto: dividir la tarea básica en grupos de actividades.</a:t>
            </a:r>
          </a:p>
          <a:p>
            <a:pPr marL="355600" indent="-355600" algn="just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Char char="¨"/>
              <a:defRPr/>
            </a:pPr>
            <a:r>
              <a:rPr lang="es-ES_tradnl" kern="0" dirty="0">
                <a:solidFill>
                  <a:srgbClr val="000000"/>
                </a:solidFill>
              </a:rPr>
              <a:t>Tipos: horizontal y vertical</a:t>
            </a:r>
          </a:p>
          <a:p>
            <a:pPr marL="355600" indent="-355600" algn="just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Char char="¨"/>
              <a:defRPr/>
            </a:pPr>
            <a:r>
              <a:rPr lang="es-ES_tradnl" kern="0" dirty="0">
                <a:solidFill>
                  <a:srgbClr val="000000"/>
                </a:solidFill>
              </a:rPr>
              <a:t>Propósito: eficiencia</a:t>
            </a:r>
          </a:p>
          <a:p>
            <a:pPr marL="812800" lvl="1" indent="-355600" algn="just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Char char="¨"/>
              <a:defRPr/>
            </a:pPr>
            <a:r>
              <a:rPr kumimoji="0" lang="es-ES" b="0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Diferenciación HORIZONTAL</a:t>
            </a:r>
            <a:r>
              <a:rPr kumimoji="0" lang="es-E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: e</a:t>
            </a:r>
            <a:r>
              <a:rPr lang="es-ES_tradnl" kern="0" dirty="0">
                <a:solidFill>
                  <a:srgbClr val="000000"/>
                </a:solidFill>
              </a:rPr>
              <a:t>s la definición y creación de las unidades organizativas básicas con criterios de homogeneidad </a:t>
            </a:r>
            <a:r>
              <a:rPr lang="es-ES_tradnl" kern="0" dirty="0">
                <a:solidFill>
                  <a:srgbClr val="000000"/>
                </a:solidFill>
                <a:sym typeface="Wingdings" pitchFamily="2" charset="2"/>
              </a:rPr>
              <a:t> </a:t>
            </a:r>
            <a:r>
              <a:rPr lang="es-ES" b="1" kern="0" dirty="0">
                <a:solidFill>
                  <a:srgbClr val="000000"/>
                </a:solidFill>
              </a:rPr>
              <a:t>departamentalización</a:t>
            </a:r>
            <a:r>
              <a:rPr lang="es-ES" kern="0" dirty="0">
                <a:solidFill>
                  <a:srgbClr val="000000"/>
                </a:solidFill>
              </a:rPr>
              <a:t> </a:t>
            </a:r>
            <a:r>
              <a:rPr lang="es-ES" kern="0" dirty="0">
                <a:solidFill>
                  <a:srgbClr val="000000"/>
                </a:solidFill>
                <a:sym typeface="Wingdings" pitchFamily="2" charset="2"/>
              </a:rPr>
              <a:t> </a:t>
            </a:r>
            <a:r>
              <a:rPr lang="es-ES" b="1" kern="0" dirty="0">
                <a:solidFill>
                  <a:srgbClr val="C00000"/>
                </a:solidFill>
                <a:sym typeface="Wingdings" pitchFamily="2" charset="2"/>
              </a:rPr>
              <a:t>AGRUPACIÓN DE UNIDADES</a:t>
            </a:r>
            <a:endParaRPr lang="es-ES" b="1" u="sng" kern="0" dirty="0">
              <a:solidFill>
                <a:srgbClr val="C00000"/>
              </a:solidFill>
            </a:endParaRPr>
          </a:p>
          <a:p>
            <a:pPr marL="812800" lvl="1" indent="-355600" algn="just">
              <a:spcBef>
                <a:spcPct val="20000"/>
              </a:spcBef>
              <a:buClr>
                <a:srgbClr val="9999CC"/>
              </a:buClr>
              <a:buSzPct val="80000"/>
              <a:buFont typeface="Wingdings" pitchFamily="2" charset="2"/>
              <a:buChar char="¨"/>
              <a:defRPr/>
            </a:pPr>
            <a:r>
              <a:rPr lang="es-ES" u="sng" kern="0" dirty="0">
                <a:solidFill>
                  <a:srgbClr val="000000"/>
                </a:solidFill>
              </a:rPr>
              <a:t>Diferenciación VERTICAL</a:t>
            </a:r>
            <a:r>
              <a:rPr lang="es-ES" kern="0" dirty="0">
                <a:solidFill>
                  <a:srgbClr val="000000"/>
                </a:solidFill>
              </a:rPr>
              <a:t>: división del trabajo teniendo en cuenta las relaciones de </a:t>
            </a:r>
            <a:r>
              <a:rPr lang="es-ES" b="1" kern="0" dirty="0">
                <a:solidFill>
                  <a:srgbClr val="000000"/>
                </a:solidFill>
              </a:rPr>
              <a:t>autoridad</a:t>
            </a:r>
            <a:r>
              <a:rPr lang="es-ES" kern="0" dirty="0">
                <a:solidFill>
                  <a:srgbClr val="000000"/>
                </a:solidFill>
              </a:rPr>
              <a:t> superior-subordinado</a:t>
            </a:r>
            <a:r>
              <a:rPr lang="es-ES" kern="0" dirty="0">
                <a:solidFill>
                  <a:srgbClr val="000000"/>
                </a:solidFill>
                <a:sym typeface="Wingdings" pitchFamily="2" charset="2"/>
              </a:rPr>
              <a:t>  </a:t>
            </a:r>
            <a:r>
              <a:rPr lang="es-ES" b="1" kern="0" dirty="0">
                <a:solidFill>
                  <a:srgbClr val="C00000"/>
                </a:solidFill>
                <a:sym typeface="Wingdings" pitchFamily="2" charset="2"/>
              </a:rPr>
              <a:t>CADENA DE MANDO</a:t>
            </a:r>
            <a:endParaRPr lang="es-ES" kern="0" dirty="0">
              <a:solidFill>
                <a:srgbClr val="000000"/>
              </a:solidFill>
            </a:endParaRPr>
          </a:p>
          <a:p>
            <a:pPr marL="457200" indent="-457200" algn="just">
              <a:lnSpc>
                <a:spcPct val="110000"/>
              </a:lnSpc>
              <a:spcBef>
                <a:spcPct val="20000"/>
              </a:spcBef>
            </a:pPr>
            <a:r>
              <a:rPr lang="es-ES_tradnl" b="1" kern="0" dirty="0">
                <a:solidFill>
                  <a:srgbClr val="C00000"/>
                </a:solidFill>
              </a:rPr>
              <a:t>2. Integración de actividades.</a:t>
            </a:r>
            <a:r>
              <a:rPr lang="es-ES_tradnl" kern="0" dirty="0">
                <a:solidFill>
                  <a:srgbClr val="C00000"/>
                </a:solidFill>
              </a:rPr>
              <a:t> </a:t>
            </a:r>
          </a:p>
          <a:p>
            <a:pPr marL="355600" indent="-355600" algn="just">
              <a:lnSpc>
                <a:spcPct val="110000"/>
              </a:lnSpc>
              <a:spcBef>
                <a:spcPct val="20000"/>
              </a:spcBef>
              <a:buClr>
                <a:srgbClr val="9999CC"/>
              </a:buClr>
              <a:buSzPct val="75000"/>
              <a:buFont typeface="Wingdings" pitchFamily="2" charset="2"/>
              <a:buChar char=""/>
            </a:pPr>
            <a:r>
              <a:rPr lang="es-ES_tradnl" kern="0" dirty="0">
                <a:solidFill>
                  <a:srgbClr val="000000"/>
                </a:solidFill>
              </a:rPr>
              <a:t>Trata de diseñar los </a:t>
            </a:r>
            <a:r>
              <a:rPr lang="es-ES_tradnl" u="sng" kern="0" dirty="0">
                <a:solidFill>
                  <a:srgbClr val="000000"/>
                </a:solidFill>
              </a:rPr>
              <a:t>mecanismos de coordinación</a:t>
            </a:r>
            <a:r>
              <a:rPr lang="es-ES_tradnl" kern="0" dirty="0">
                <a:solidFill>
                  <a:srgbClr val="000000"/>
                </a:solidFill>
              </a:rPr>
              <a:t> de las distintas actividades para que la empresa cumpla sus objetivos de forma eficiente</a:t>
            </a:r>
            <a:r>
              <a:rPr lang="es-ES" kern="0" dirty="0">
                <a:solidFill>
                  <a:srgbClr val="000000"/>
                </a:solidFill>
                <a:sym typeface="Wingdings" pitchFamily="2" charset="2"/>
              </a:rPr>
              <a:t>  </a:t>
            </a:r>
            <a:r>
              <a:rPr lang="es-ES" b="1" kern="0" dirty="0">
                <a:solidFill>
                  <a:srgbClr val="C00000"/>
                </a:solidFill>
                <a:sym typeface="Wingdings" pitchFamily="2" charset="2"/>
              </a:rPr>
              <a:t>COORDINACIÓN UNIDADES</a:t>
            </a:r>
            <a:endParaRPr lang="es-ES_tradnl" kern="0" dirty="0">
              <a:solidFill>
                <a:srgbClr val="000000"/>
              </a:solidFill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tabLst/>
              <a:defRPr/>
            </a:pPr>
            <a:endParaRPr kumimoji="0" lang="es-ES_tradnl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2BB61E-C86B-4CAF-A502-2171CAC2525F}" type="slidenum">
              <a:rPr lang="es-ES" smtClean="0"/>
              <a:pPr/>
              <a:t>10</a:t>
            </a:fld>
            <a:endParaRPr lang="es-E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B6A55880-3061-44C4-A609-B15D6C850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" y="115888"/>
            <a:ext cx="8928100" cy="720725"/>
          </a:xfrm>
        </p:spPr>
        <p:txBody>
          <a:bodyPr/>
          <a:lstStyle/>
          <a:p>
            <a:pPr algn="just"/>
            <a:r>
              <a:rPr lang="es-ES" dirty="0">
                <a:solidFill>
                  <a:schemeClr val="tx2"/>
                </a:solidFill>
                <a:cs typeface="Times New Roman" pitchFamily="18" charset="0"/>
              </a:rPr>
              <a:t>4.1. Organización</a:t>
            </a:r>
            <a:endParaRPr lang="es-E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434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 txBox="1">
            <a:spLocks/>
          </p:cNvSpPr>
          <p:nvPr/>
        </p:nvSpPr>
        <p:spPr bwMode="auto">
          <a:xfrm>
            <a:off x="323528" y="908720"/>
            <a:ext cx="8507412" cy="540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tabLst/>
              <a:defRPr/>
            </a:pPr>
            <a:endParaRPr kumimoji="0" lang="es-ES_tradnl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ES" dirty="0">
                <a:cs typeface="Times New Roman" pitchFamily="18" charset="0"/>
              </a:rPr>
              <a:t>4.1.1. Agrupación de unidades</a:t>
            </a:r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2BB61E-C86B-4CAF-A502-2171CAC2525F}" type="slidenum">
              <a:rPr lang="es-ES" smtClean="0"/>
              <a:pPr/>
              <a:t>11</a:t>
            </a:fld>
            <a:endParaRPr lang="es-ES"/>
          </a:p>
        </p:txBody>
      </p:sp>
      <p:sp>
        <p:nvSpPr>
          <p:cNvPr id="8" name="2 Marcador de contenido"/>
          <p:cNvSpPr txBox="1">
            <a:spLocks/>
          </p:cNvSpPr>
          <p:nvPr/>
        </p:nvSpPr>
        <p:spPr>
          <a:xfrm>
            <a:off x="395536" y="980728"/>
            <a:ext cx="8352928" cy="5184576"/>
          </a:xfrm>
          <a:prstGeom prst="rect">
            <a:avLst/>
          </a:prstGeom>
        </p:spPr>
        <p:txBody>
          <a:bodyPr/>
          <a:lstStyle/>
          <a:p>
            <a:pPr marL="0" marR="0" lvl="2" indent="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Tx/>
              <a:buNone/>
              <a:tabLst/>
              <a:defRPr/>
            </a:pPr>
            <a:r>
              <a:rPr kumimoji="0" lang="es-ES_tradnl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DIFERENCIACIÓN HORIZONTAL</a:t>
            </a:r>
            <a:r>
              <a:rPr kumimoji="0" lang="es-ES_tradnl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: </a:t>
            </a:r>
            <a:r>
              <a:rPr kumimoji="0" lang="es-ES_tradnl" sz="200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g</a:t>
            </a:r>
            <a:r>
              <a:rPr kumimoji="0" lang="es-ES_tradnl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rado de diferenciación entre unidades en función de la orientación de los miembros, la naturaleza de las tareas que realizan y de su educación y preparación.</a:t>
            </a:r>
            <a:endParaRPr kumimoji="0" lang="es-ES" sz="20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1143000" marR="0" lvl="2" indent="-228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Tx/>
              <a:buFontTx/>
              <a:buNone/>
              <a:tabLst/>
              <a:defRPr/>
            </a:pP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1143000" marR="0" lvl="2" indent="-228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Tx/>
              <a:buFontTx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División del trabajo </a:t>
            </a:r>
          </a:p>
          <a:p>
            <a:pPr marL="1143000" marR="0" lvl="2" indent="-228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Tx/>
              <a:buFontTx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Symbol" pitchFamily="18" charset="2"/>
              </a:rPr>
              <a:t>		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sym typeface="Symbol" pitchFamily="18" charset="2"/>
              </a:rPr>
              <a:t>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Especialización</a:t>
            </a:r>
          </a:p>
          <a:p>
            <a:pPr marL="1143000" marR="0" lvl="2" indent="-228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Tx/>
              <a:buFontTx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Symbol" pitchFamily="18" charset="2"/>
              </a:rPr>
              <a:t>			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sym typeface="Symbol" pitchFamily="18" charset="2"/>
              </a:rPr>
              <a:t>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Diferenciación </a:t>
            </a:r>
          </a:p>
          <a:p>
            <a:pPr marL="1143000" marR="0" lvl="2" indent="-228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Tx/>
              <a:buFontTx/>
              <a:buNone/>
              <a:tabLst/>
              <a:defRPr/>
            </a:pP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Symbol" pitchFamily="18" charset="2"/>
              </a:rPr>
              <a:t>				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sym typeface="Symbol" pitchFamily="18" charset="2"/>
              </a:rPr>
              <a:t>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sym typeface="Symbol" pitchFamily="18" charset="2"/>
              </a:rPr>
              <a:t> D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EPARTAMENTALIZACIÓN</a:t>
            </a:r>
          </a:p>
          <a:p>
            <a:pPr marL="1143000" marR="0" lvl="2" indent="-228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Tx/>
              <a:buFontTx/>
              <a:buNone/>
              <a:tabLst/>
              <a:defRPr/>
            </a:pPr>
            <a:endParaRPr kumimoji="0" lang="es-ES_tradnl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Tx/>
              <a:buFontTx/>
              <a:buChar char="•"/>
              <a:tabLst/>
              <a:defRPr/>
            </a:pP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Objetivo de la DEPARTAMENTALIZACIÓN: 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creación de unidades organizativas básicas en la empresa. Dichas unidades pueden ser áreas, divisiones o sucursales de una organización.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Tx/>
              <a:buFontTx/>
              <a:buChar char="•"/>
              <a:tabLst/>
              <a:defRPr/>
            </a:pPr>
            <a:r>
              <a:rPr kumimoji="0" lang="es-ES_tradnl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No existe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una mejor forma de </a:t>
            </a:r>
            <a:r>
              <a:rPr kumimoji="0" lang="es-ES_tradnl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departamentalizar</a:t>
            </a:r>
            <a:r>
              <a:rPr kumimoji="0" lang="es-ES_tradnl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que sea aplicable a todas las organizaciones o a todas las situaciones. Se elegirá una u otra en función de cuáles sean las características de la organización.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s-E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3848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ES" dirty="0">
                <a:cs typeface="Times New Roman" pitchFamily="18" charset="0"/>
              </a:rPr>
              <a:t>4.1.1. Agrupación de unidades</a:t>
            </a:r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31E6992-B48E-4E13-A9CD-F20B6AAC6FC2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s-ES"/>
          </a:p>
        </p:txBody>
      </p:sp>
      <p:sp>
        <p:nvSpPr>
          <p:cNvPr id="4" name="3 Rectángulo"/>
          <p:cNvSpPr/>
          <p:nvPr/>
        </p:nvSpPr>
        <p:spPr>
          <a:xfrm>
            <a:off x="359532" y="877649"/>
            <a:ext cx="8424936" cy="5853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lvl="1" indent="-355600" algn="just" fontAlgn="base">
              <a:spcBef>
                <a:spcPct val="20000"/>
              </a:spcBef>
              <a:spcAft>
                <a:spcPct val="0"/>
              </a:spcAft>
            </a:pPr>
            <a:r>
              <a:rPr lang="es-ES_tradnl" b="1" kern="0" dirty="0">
                <a:solidFill>
                  <a:srgbClr val="C00000"/>
                </a:solidFill>
              </a:rPr>
              <a:t>TIPOS DE DEPARTAMENTALIZACIÓN</a:t>
            </a:r>
            <a:r>
              <a:rPr lang="es-ES_tradnl" kern="0" dirty="0">
                <a:solidFill>
                  <a:srgbClr val="000000"/>
                </a:solidFill>
              </a:rPr>
              <a:t>:</a:t>
            </a:r>
          </a:p>
          <a:p>
            <a:pPr lvl="1" indent="-457200" algn="just" fontAlgn="base"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</a:pPr>
            <a:r>
              <a:rPr lang="es-ES_tradnl" u="sng" kern="0" dirty="0">
                <a:solidFill>
                  <a:srgbClr val="C00000"/>
                </a:solidFill>
              </a:rPr>
              <a:t>Por proceso o procedimiento</a:t>
            </a:r>
          </a:p>
          <a:p>
            <a:pPr marL="812800" lvl="2" indent="-355600" algn="just" fontAlgn="base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q"/>
            </a:pPr>
            <a:r>
              <a:rPr lang="es-ES_tradnl" kern="0" dirty="0">
                <a:solidFill>
                  <a:srgbClr val="000000"/>
                </a:solidFill>
              </a:rPr>
              <a:t>La agrupación se realiza en función de características homogéneas de las actividades que se realizan.</a:t>
            </a:r>
          </a:p>
          <a:p>
            <a:pPr marL="812800" lvl="2" indent="-355600" algn="just" fontAlgn="base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q"/>
            </a:pPr>
            <a:r>
              <a:rPr lang="es-ES_tradnl" kern="0" dirty="0">
                <a:solidFill>
                  <a:srgbClr val="000000"/>
                </a:solidFill>
              </a:rPr>
              <a:t>Criterios:</a:t>
            </a:r>
          </a:p>
          <a:p>
            <a:pPr marL="1270000" lvl="4" indent="-355600" algn="just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s-ES_tradnl" kern="0" dirty="0">
                <a:solidFill>
                  <a:srgbClr val="000000"/>
                </a:solidFill>
              </a:rPr>
              <a:t>Funciones.</a:t>
            </a:r>
          </a:p>
          <a:p>
            <a:pPr marL="1270000" lvl="4" indent="-355600" algn="just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s-ES_tradnl" kern="0" dirty="0">
                <a:solidFill>
                  <a:srgbClr val="000000"/>
                </a:solidFill>
              </a:rPr>
              <a:t>Procesos.</a:t>
            </a:r>
          </a:p>
          <a:p>
            <a:pPr marL="1270000" lvl="4" indent="-355600" algn="just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s-ES_tradnl" kern="0" dirty="0">
                <a:solidFill>
                  <a:srgbClr val="000000"/>
                </a:solidFill>
              </a:rPr>
              <a:t>Tiempo.</a:t>
            </a:r>
          </a:p>
          <a:p>
            <a:pPr marL="1270000" lvl="4" indent="-355600" algn="just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s-ES_tradnl" kern="0" dirty="0">
                <a:solidFill>
                  <a:srgbClr val="000000"/>
                </a:solidFill>
              </a:rPr>
              <a:t>Habilidades y conocimientos.</a:t>
            </a:r>
          </a:p>
          <a:p>
            <a:pPr lvl="1" indent="-457200" algn="just" fontAlgn="base">
              <a:spcBef>
                <a:spcPct val="20000"/>
              </a:spcBef>
              <a:spcAft>
                <a:spcPct val="0"/>
              </a:spcAft>
              <a:buFont typeface="+mj-lt"/>
              <a:buAutoNum type="arabicPeriod"/>
            </a:pPr>
            <a:r>
              <a:rPr lang="es-ES_tradnl" u="sng" kern="0" dirty="0">
                <a:solidFill>
                  <a:srgbClr val="C00000"/>
                </a:solidFill>
              </a:rPr>
              <a:t>Por propósito o mercado</a:t>
            </a:r>
          </a:p>
          <a:p>
            <a:pPr marL="812800" lvl="2" indent="-355600" algn="just" fontAlgn="base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q"/>
            </a:pPr>
            <a:r>
              <a:rPr lang="es-ES_tradnl" kern="0" dirty="0">
                <a:solidFill>
                  <a:srgbClr val="000000"/>
                </a:solidFill>
              </a:rPr>
              <a:t>La agrupación se realiza en función de la homogeneidad de los objetivos que persiguen </a:t>
            </a:r>
            <a:r>
              <a:rPr lang="es-ES_tradnl" kern="0" dirty="0">
                <a:solidFill>
                  <a:srgbClr val="000000"/>
                </a:solidFill>
                <a:sym typeface="Wingdings" pitchFamily="2" charset="2"/>
              </a:rPr>
              <a:t> se agrupan distintas actividades independientemente de su naturaleza.</a:t>
            </a:r>
            <a:endParaRPr lang="es-ES_tradnl" kern="0" dirty="0">
              <a:solidFill>
                <a:srgbClr val="000000"/>
              </a:solidFill>
            </a:endParaRPr>
          </a:p>
          <a:p>
            <a:pPr marL="812800" lvl="2" indent="-355600" algn="just" fontAlgn="base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q"/>
            </a:pPr>
            <a:r>
              <a:rPr lang="es-ES_tradnl" kern="0" dirty="0">
                <a:solidFill>
                  <a:srgbClr val="000000"/>
                </a:solidFill>
              </a:rPr>
              <a:t>Criterios:</a:t>
            </a:r>
          </a:p>
          <a:p>
            <a:pPr marL="1270000" lvl="4" indent="-355600" algn="just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s-ES_tradnl" kern="0" dirty="0">
                <a:solidFill>
                  <a:srgbClr val="000000"/>
                </a:solidFill>
              </a:rPr>
              <a:t>Producto.</a:t>
            </a:r>
          </a:p>
          <a:p>
            <a:pPr marL="1270000" lvl="4" indent="-355600" algn="just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s-ES_tradnl" kern="0" dirty="0">
                <a:solidFill>
                  <a:srgbClr val="000000"/>
                </a:solidFill>
              </a:rPr>
              <a:t>Cliente.</a:t>
            </a:r>
          </a:p>
          <a:p>
            <a:pPr marL="1270000" lvl="4" indent="-355600" algn="just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s-ES_tradnl" kern="0" dirty="0">
                <a:solidFill>
                  <a:srgbClr val="000000"/>
                </a:solidFill>
              </a:rPr>
              <a:t>Área geográfica.</a:t>
            </a:r>
            <a:endParaRPr lang="es-ES" dirty="0"/>
          </a:p>
          <a:p>
            <a:pPr indent="-914400" algn="just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43977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ES" dirty="0">
                <a:cs typeface="Times New Roman" pitchFamily="18" charset="0"/>
              </a:rPr>
              <a:t>4.1.1. Agrupación de unidades</a:t>
            </a:r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31E6992-B48E-4E13-A9CD-F20B6AAC6FC2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s-ES"/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244475" y="1140575"/>
            <a:ext cx="5793574" cy="600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bIns="0" anchor="ctr">
            <a:spAutoFit/>
          </a:bodyPr>
          <a:lstStyle/>
          <a:p>
            <a:pPr eaLnBrk="0" hangingPunct="0"/>
            <a:r>
              <a:rPr lang="es-ES_tradnl" b="1" dirty="0">
                <a:solidFill>
                  <a:srgbClr val="C00000"/>
                </a:solidFill>
              </a:rPr>
              <a:t>Departamentalización por proceso o procedimiento</a:t>
            </a:r>
            <a:endParaRPr lang="es-ES_tradnl" b="1" u="sng" dirty="0">
              <a:solidFill>
                <a:srgbClr val="C00000"/>
              </a:solidFill>
            </a:endParaRPr>
          </a:p>
          <a:p>
            <a:pPr eaLnBrk="0" hangingPunct="0"/>
            <a:endParaRPr lang="es-ES_tradnl" dirty="0">
              <a:solidFill>
                <a:srgbClr val="C00000"/>
              </a:solidFill>
            </a:endParaRPr>
          </a:p>
        </p:txBody>
      </p:sp>
      <p:grpSp>
        <p:nvGrpSpPr>
          <p:cNvPr id="16" name="15 Grupo"/>
          <p:cNvGrpSpPr/>
          <p:nvPr/>
        </p:nvGrpSpPr>
        <p:grpSpPr>
          <a:xfrm>
            <a:off x="266972" y="1989138"/>
            <a:ext cx="8192816" cy="4320182"/>
            <a:chOff x="266972" y="1989138"/>
            <a:chExt cx="8192816" cy="4320182"/>
          </a:xfrm>
        </p:grpSpPr>
        <p:pic>
          <p:nvPicPr>
            <p:cNvPr id="17" name="Picture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691680" y="1989138"/>
              <a:ext cx="5126242" cy="32400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" name="Line 8"/>
            <p:cNvSpPr>
              <a:spLocks noChangeShapeType="1"/>
            </p:cNvSpPr>
            <p:nvPr/>
          </p:nvSpPr>
          <p:spPr bwMode="auto">
            <a:xfrm flipH="1">
              <a:off x="6439030" y="2571610"/>
              <a:ext cx="631487" cy="5824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Line 9"/>
            <p:cNvSpPr>
              <a:spLocks noChangeShapeType="1"/>
            </p:cNvSpPr>
            <p:nvPr/>
          </p:nvSpPr>
          <p:spPr bwMode="auto">
            <a:xfrm flipH="1">
              <a:off x="6944220" y="3799597"/>
              <a:ext cx="378892" cy="34948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0" name="Text Box 10"/>
            <p:cNvSpPr txBox="1">
              <a:spLocks noChangeArrowheads="1"/>
            </p:cNvSpPr>
            <p:nvPr/>
          </p:nvSpPr>
          <p:spPr bwMode="auto">
            <a:xfrm>
              <a:off x="7070517" y="2222127"/>
              <a:ext cx="1136676" cy="58247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s-ES" sz="1400" b="1" dirty="0"/>
                <a:t>Por funciones</a:t>
              </a:r>
              <a:endParaRPr lang="es-ES" dirty="0"/>
            </a:p>
          </p:txBody>
        </p:sp>
        <p:sp>
          <p:nvSpPr>
            <p:cNvPr id="21" name="Text Box 11"/>
            <p:cNvSpPr txBox="1">
              <a:spLocks noChangeArrowheads="1"/>
            </p:cNvSpPr>
            <p:nvPr/>
          </p:nvSpPr>
          <p:spPr bwMode="auto">
            <a:xfrm>
              <a:off x="4670868" y="5726848"/>
              <a:ext cx="2020758" cy="58247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s-ES" sz="1400" b="1"/>
                <a:t>Por conocimientos y habilidades</a:t>
              </a:r>
              <a:endParaRPr lang="es-ES"/>
            </a:p>
          </p:txBody>
        </p:sp>
        <p:sp>
          <p:nvSpPr>
            <p:cNvPr id="22" name="Text Box 12"/>
            <p:cNvSpPr txBox="1">
              <a:spLocks noChangeArrowheads="1"/>
            </p:cNvSpPr>
            <p:nvPr/>
          </p:nvSpPr>
          <p:spPr bwMode="auto">
            <a:xfrm>
              <a:off x="266972" y="3566608"/>
              <a:ext cx="1136676" cy="58247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s-ES" sz="1400" b="1" dirty="0"/>
                <a:t>Por proceso</a:t>
              </a:r>
              <a:endParaRPr lang="es-ES" dirty="0"/>
            </a:p>
          </p:txBody>
        </p:sp>
        <p:sp>
          <p:nvSpPr>
            <p:cNvPr id="23" name="Text Box 13"/>
            <p:cNvSpPr txBox="1">
              <a:spLocks noChangeArrowheads="1"/>
            </p:cNvSpPr>
            <p:nvPr/>
          </p:nvSpPr>
          <p:spPr bwMode="auto">
            <a:xfrm>
              <a:off x="2283196" y="5699231"/>
              <a:ext cx="1136676" cy="349483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s-ES" sz="1400" b="1"/>
                <a:t>Por tiempo</a:t>
              </a:r>
              <a:endParaRPr lang="es-ES"/>
            </a:p>
          </p:txBody>
        </p:sp>
        <p:sp>
          <p:nvSpPr>
            <p:cNvPr id="24" name="Line 14"/>
            <p:cNvSpPr>
              <a:spLocks noChangeShapeType="1"/>
            </p:cNvSpPr>
            <p:nvPr/>
          </p:nvSpPr>
          <p:spPr bwMode="auto">
            <a:xfrm>
              <a:off x="2788386" y="5301208"/>
              <a:ext cx="0" cy="46597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5" name="Line 15"/>
            <p:cNvSpPr>
              <a:spLocks noChangeShapeType="1"/>
            </p:cNvSpPr>
            <p:nvPr/>
          </p:nvSpPr>
          <p:spPr bwMode="auto">
            <a:xfrm>
              <a:off x="1240780" y="4077072"/>
              <a:ext cx="378892" cy="11649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26" name="Text Box 16"/>
            <p:cNvSpPr txBox="1">
              <a:spLocks noChangeArrowheads="1"/>
            </p:cNvSpPr>
            <p:nvPr/>
          </p:nvSpPr>
          <p:spPr bwMode="auto">
            <a:xfrm>
              <a:off x="7323112" y="3450113"/>
              <a:ext cx="1136676" cy="58247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s-ES" sz="1400" b="1" dirty="0"/>
                <a:t>Por funciones</a:t>
              </a:r>
              <a:endParaRPr lang="es-ES" dirty="0"/>
            </a:p>
          </p:txBody>
        </p:sp>
        <p:sp>
          <p:nvSpPr>
            <p:cNvPr id="27" name="Line 17"/>
            <p:cNvSpPr>
              <a:spLocks noChangeShapeType="1"/>
            </p:cNvSpPr>
            <p:nvPr/>
          </p:nvSpPr>
          <p:spPr bwMode="auto">
            <a:xfrm>
              <a:off x="5554949" y="5290641"/>
              <a:ext cx="0" cy="46597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758129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ES" dirty="0">
                <a:cs typeface="Times New Roman" pitchFamily="18" charset="0"/>
              </a:rPr>
              <a:t>4.1.1. Agrupación de unidades</a:t>
            </a:r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31E6992-B48E-4E13-A9CD-F20B6AAC6FC2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14</a:t>
            </a:fld>
            <a:endParaRPr lang="es-ES"/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316557" y="1170910"/>
            <a:ext cx="5359159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bIns="0" anchor="ctr">
            <a:spAutoFit/>
          </a:bodyPr>
          <a:lstStyle/>
          <a:p>
            <a:pPr eaLnBrk="0" hangingPunct="0"/>
            <a:r>
              <a:rPr lang="es-ES_tradnl" b="1" dirty="0">
                <a:solidFill>
                  <a:srgbClr val="C00000"/>
                </a:solidFill>
              </a:rPr>
              <a:t>Departamentalización por propósito o mercado</a:t>
            </a:r>
            <a:endParaRPr lang="es-ES_tradnl" dirty="0">
              <a:solidFill>
                <a:srgbClr val="C00000"/>
              </a:solidFill>
            </a:endParaRPr>
          </a:p>
        </p:txBody>
      </p:sp>
      <p:grpSp>
        <p:nvGrpSpPr>
          <p:cNvPr id="5" name="Group 6"/>
          <p:cNvGrpSpPr>
            <a:grpSpLocks/>
          </p:cNvGrpSpPr>
          <p:nvPr/>
        </p:nvGrpSpPr>
        <p:grpSpPr bwMode="auto">
          <a:xfrm>
            <a:off x="808682" y="1952411"/>
            <a:ext cx="7651750" cy="4105275"/>
            <a:chOff x="1161" y="9904"/>
            <a:chExt cx="10080" cy="5940"/>
          </a:xfrm>
        </p:grpSpPr>
        <p:pic>
          <p:nvPicPr>
            <p:cNvPr id="6" name="Picture 7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521" y="10084"/>
              <a:ext cx="8835" cy="4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Line 8"/>
            <p:cNvSpPr>
              <a:spLocks noChangeShapeType="1"/>
            </p:cNvSpPr>
            <p:nvPr/>
          </p:nvSpPr>
          <p:spPr bwMode="auto">
            <a:xfrm flipH="1">
              <a:off x="9441" y="10670"/>
              <a:ext cx="900" cy="126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8" name="Text Box 9"/>
            <p:cNvSpPr txBox="1">
              <a:spLocks noChangeArrowheads="1"/>
            </p:cNvSpPr>
            <p:nvPr/>
          </p:nvSpPr>
          <p:spPr bwMode="auto">
            <a:xfrm>
              <a:off x="9801" y="9904"/>
              <a:ext cx="1440" cy="9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s-ES" sz="1400" b="1" dirty="0"/>
                <a:t>Por producto</a:t>
              </a:r>
              <a:endParaRPr lang="es-ES" dirty="0"/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 flipH="1">
              <a:off x="1881" y="14270"/>
              <a:ext cx="720" cy="7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0" name="Text Box 11"/>
            <p:cNvSpPr txBox="1">
              <a:spLocks noChangeArrowheads="1"/>
            </p:cNvSpPr>
            <p:nvPr/>
          </p:nvSpPr>
          <p:spPr bwMode="auto">
            <a:xfrm>
              <a:off x="1161" y="14944"/>
              <a:ext cx="1620" cy="9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s-ES" sz="1400" b="1"/>
                <a:t>Por zona geográfica</a:t>
              </a:r>
              <a:endParaRPr lang="es-ES"/>
            </a:p>
          </p:txBody>
        </p:sp>
        <p:sp>
          <p:nvSpPr>
            <p:cNvPr id="11" name="Text Box 12"/>
            <p:cNvSpPr txBox="1">
              <a:spLocks noChangeArrowheads="1"/>
            </p:cNvSpPr>
            <p:nvPr/>
          </p:nvSpPr>
          <p:spPr bwMode="auto">
            <a:xfrm>
              <a:off x="4941" y="14944"/>
              <a:ext cx="1620" cy="9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s-ES" sz="1400" b="1"/>
                <a:t>Por tipo de clientes</a:t>
              </a:r>
              <a:endParaRPr lang="es-ES"/>
            </a:p>
          </p:txBody>
        </p:sp>
        <p:sp>
          <p:nvSpPr>
            <p:cNvPr id="12" name="Text Box 13"/>
            <p:cNvSpPr txBox="1">
              <a:spLocks noChangeArrowheads="1"/>
            </p:cNvSpPr>
            <p:nvPr/>
          </p:nvSpPr>
          <p:spPr bwMode="auto">
            <a:xfrm>
              <a:off x="8901" y="14944"/>
              <a:ext cx="1620" cy="9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/>
              <a:r>
                <a:rPr lang="es-ES" sz="1400" b="1"/>
                <a:t>Por producto</a:t>
              </a:r>
              <a:endParaRPr lang="es-ES"/>
            </a:p>
          </p:txBody>
        </p:sp>
        <p:sp>
          <p:nvSpPr>
            <p:cNvPr id="13" name="Line 14"/>
            <p:cNvSpPr>
              <a:spLocks noChangeShapeType="1"/>
            </p:cNvSpPr>
            <p:nvPr/>
          </p:nvSpPr>
          <p:spPr bwMode="auto">
            <a:xfrm>
              <a:off x="5661" y="14224"/>
              <a:ext cx="0" cy="7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4" name="Line 15"/>
            <p:cNvSpPr>
              <a:spLocks noChangeShapeType="1"/>
            </p:cNvSpPr>
            <p:nvPr/>
          </p:nvSpPr>
          <p:spPr bwMode="auto">
            <a:xfrm>
              <a:off x="9081" y="14224"/>
              <a:ext cx="540" cy="7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 type="triangle" w="med" len="med"/>
              <a:tailEnd/>
            </a:ln>
          </p:spPr>
          <p:txBody>
            <a:bodyPr/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477180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ES" dirty="0">
                <a:cs typeface="Times New Roman" pitchFamily="18" charset="0"/>
              </a:rPr>
              <a:t>4.1.1. Agrupación de unidades</a:t>
            </a:r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31E6992-B48E-4E13-A9CD-F20B6AAC6FC2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15</a:t>
            </a:fld>
            <a:endParaRPr lang="es-ES"/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250825" y="1096511"/>
            <a:ext cx="464422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bIns="0" anchor="ctr">
            <a:spAutoFit/>
          </a:bodyPr>
          <a:lstStyle/>
          <a:p>
            <a:pPr eaLnBrk="0" hangingPunct="0"/>
            <a:r>
              <a:rPr lang="es-ES_tradnl" b="1" dirty="0">
                <a:solidFill>
                  <a:srgbClr val="C00000"/>
                </a:solidFill>
              </a:rPr>
              <a:t>Departamentalización por criterio mixto</a:t>
            </a:r>
            <a:endParaRPr lang="es-ES_tradnl" dirty="0">
              <a:solidFill>
                <a:srgbClr val="C00000"/>
              </a:solidFill>
            </a:endParaRPr>
          </a:p>
        </p:txBody>
      </p:sp>
      <p:grpSp>
        <p:nvGrpSpPr>
          <p:cNvPr id="75" name="Grupo 74">
            <a:extLst>
              <a:ext uri="{FF2B5EF4-FFF2-40B4-BE49-F238E27FC236}">
                <a16:creationId xmlns:a16="http://schemas.microsoft.com/office/drawing/2014/main" id="{0ED21683-55F9-487A-A3B5-A61A4D9C3455}"/>
              </a:ext>
            </a:extLst>
          </p:cNvPr>
          <p:cNvGrpSpPr/>
          <p:nvPr/>
        </p:nvGrpSpPr>
        <p:grpSpPr>
          <a:xfrm>
            <a:off x="755576" y="1772816"/>
            <a:ext cx="7641902" cy="3888431"/>
            <a:chOff x="683568" y="2019952"/>
            <a:chExt cx="7560840" cy="3179101"/>
          </a:xfrm>
        </p:grpSpPr>
        <p:sp>
          <p:nvSpPr>
            <p:cNvPr id="76" name="Forma libre 3">
              <a:extLst>
                <a:ext uri="{FF2B5EF4-FFF2-40B4-BE49-F238E27FC236}">
                  <a16:creationId xmlns:a16="http://schemas.microsoft.com/office/drawing/2014/main" id="{810EBC8E-184A-4CF1-B631-F18B2F4993E4}"/>
                </a:ext>
              </a:extLst>
            </p:cNvPr>
            <p:cNvSpPr/>
            <p:nvPr/>
          </p:nvSpPr>
          <p:spPr>
            <a:xfrm>
              <a:off x="7149808" y="3847460"/>
              <a:ext cx="142773" cy="1113637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130014"/>
                  </a:lnTo>
                  <a:lnTo>
                    <a:pt x="144873" y="1130014"/>
                  </a:lnTo>
                </a:path>
              </a:pathLst>
            </a:custGeom>
            <a:noFill/>
            <a:ln w="12700" cap="flat" cmpd="sng" algn="ctr">
              <a:solidFill>
                <a:srgbClr val="BBE0E3">
                  <a:shade val="8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77" name="Forma libre 7">
              <a:extLst>
                <a:ext uri="{FF2B5EF4-FFF2-40B4-BE49-F238E27FC236}">
                  <a16:creationId xmlns:a16="http://schemas.microsoft.com/office/drawing/2014/main" id="{AE417E77-76B9-4B76-9D73-AB841E0EBCC8}"/>
                </a:ext>
              </a:extLst>
            </p:cNvPr>
            <p:cNvSpPr/>
            <p:nvPr/>
          </p:nvSpPr>
          <p:spPr>
            <a:xfrm>
              <a:off x="7149808" y="3847460"/>
              <a:ext cx="142773" cy="43784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444279"/>
                  </a:lnTo>
                  <a:lnTo>
                    <a:pt x="144873" y="444279"/>
                  </a:lnTo>
                </a:path>
              </a:pathLst>
            </a:custGeom>
            <a:noFill/>
            <a:ln w="12700" cap="flat" cmpd="sng" algn="ctr">
              <a:solidFill>
                <a:srgbClr val="BBE0E3">
                  <a:shade val="8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78" name="Forma libre 8">
              <a:extLst>
                <a:ext uri="{FF2B5EF4-FFF2-40B4-BE49-F238E27FC236}">
                  <a16:creationId xmlns:a16="http://schemas.microsoft.com/office/drawing/2014/main" id="{477B43E9-68BF-41F5-89D1-44B034BC3E93}"/>
                </a:ext>
              </a:extLst>
            </p:cNvPr>
            <p:cNvSpPr/>
            <p:nvPr/>
          </p:nvSpPr>
          <p:spPr>
            <a:xfrm>
              <a:off x="6954684" y="3171663"/>
              <a:ext cx="575855" cy="19988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01411"/>
                  </a:lnTo>
                  <a:lnTo>
                    <a:pt x="584323" y="101411"/>
                  </a:lnTo>
                  <a:lnTo>
                    <a:pt x="584323" y="202823"/>
                  </a:lnTo>
                </a:path>
              </a:pathLst>
            </a:custGeom>
            <a:noFill/>
            <a:ln w="12700" cap="flat" cmpd="sng" algn="ctr">
              <a:solidFill>
                <a:srgbClr val="BBE0E3">
                  <a:shade val="8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79" name="Forma libre 9">
              <a:extLst>
                <a:ext uri="{FF2B5EF4-FFF2-40B4-BE49-F238E27FC236}">
                  <a16:creationId xmlns:a16="http://schemas.microsoft.com/office/drawing/2014/main" id="{4D6DE807-217B-4DB8-B61B-6CB1238CE8F8}"/>
                </a:ext>
              </a:extLst>
            </p:cNvPr>
            <p:cNvSpPr/>
            <p:nvPr/>
          </p:nvSpPr>
          <p:spPr>
            <a:xfrm>
              <a:off x="6378828" y="3171663"/>
              <a:ext cx="575855" cy="19988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584323" y="0"/>
                  </a:moveTo>
                  <a:lnTo>
                    <a:pt x="584323" y="101411"/>
                  </a:lnTo>
                  <a:lnTo>
                    <a:pt x="0" y="101411"/>
                  </a:lnTo>
                  <a:lnTo>
                    <a:pt x="0" y="202823"/>
                  </a:lnTo>
                </a:path>
              </a:pathLst>
            </a:custGeom>
            <a:noFill/>
            <a:ln w="12700" cap="flat" cmpd="sng" algn="ctr">
              <a:solidFill>
                <a:srgbClr val="BBE0E3">
                  <a:shade val="8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80" name="Forma libre 10">
              <a:extLst>
                <a:ext uri="{FF2B5EF4-FFF2-40B4-BE49-F238E27FC236}">
                  <a16:creationId xmlns:a16="http://schemas.microsoft.com/office/drawing/2014/main" id="{B258C484-92F0-42C6-87B9-08C54BB3029F}"/>
                </a:ext>
              </a:extLst>
            </p:cNvPr>
            <p:cNvSpPr/>
            <p:nvPr/>
          </p:nvSpPr>
          <p:spPr>
            <a:xfrm>
              <a:off x="4528344" y="2495866"/>
              <a:ext cx="2134601" cy="199884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01411"/>
                  </a:lnTo>
                  <a:lnTo>
                    <a:pt x="2337294" y="101411"/>
                  </a:lnTo>
                  <a:lnTo>
                    <a:pt x="2337294" y="202823"/>
                  </a:lnTo>
                </a:path>
              </a:pathLst>
            </a:custGeom>
            <a:noFill/>
            <a:ln w="12700" cap="flat" cmpd="sng" algn="ctr">
              <a:solidFill>
                <a:srgbClr val="BBE0E3">
                  <a:shade val="6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81" name="Forma libre 11">
              <a:extLst>
                <a:ext uri="{FF2B5EF4-FFF2-40B4-BE49-F238E27FC236}">
                  <a16:creationId xmlns:a16="http://schemas.microsoft.com/office/drawing/2014/main" id="{7183BD55-6312-40BC-B701-27CF1AE3E289}"/>
                </a:ext>
              </a:extLst>
            </p:cNvPr>
            <p:cNvSpPr/>
            <p:nvPr/>
          </p:nvSpPr>
          <p:spPr>
            <a:xfrm>
              <a:off x="4528344" y="3171663"/>
              <a:ext cx="575855" cy="19988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01411"/>
                  </a:lnTo>
                  <a:lnTo>
                    <a:pt x="584323" y="101411"/>
                  </a:lnTo>
                  <a:lnTo>
                    <a:pt x="584323" y="202823"/>
                  </a:lnTo>
                </a:path>
              </a:pathLst>
            </a:custGeom>
            <a:noFill/>
            <a:ln w="12700" cap="flat" cmpd="sng" algn="ctr">
              <a:solidFill>
                <a:srgbClr val="BBE0E3">
                  <a:shade val="8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82" name="Forma libre 12">
              <a:extLst>
                <a:ext uri="{FF2B5EF4-FFF2-40B4-BE49-F238E27FC236}">
                  <a16:creationId xmlns:a16="http://schemas.microsoft.com/office/drawing/2014/main" id="{4493B4D7-98D3-41C0-B569-6CA0D1886CD1}"/>
                </a:ext>
              </a:extLst>
            </p:cNvPr>
            <p:cNvSpPr/>
            <p:nvPr/>
          </p:nvSpPr>
          <p:spPr>
            <a:xfrm>
              <a:off x="3952489" y="3847460"/>
              <a:ext cx="575855" cy="19988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01411"/>
                  </a:lnTo>
                  <a:lnTo>
                    <a:pt x="584323" y="101411"/>
                  </a:lnTo>
                  <a:lnTo>
                    <a:pt x="584323" y="202823"/>
                  </a:lnTo>
                </a:path>
              </a:pathLst>
            </a:custGeom>
            <a:noFill/>
            <a:ln w="12700" cap="flat" cmpd="sng" algn="ctr">
              <a:solidFill>
                <a:srgbClr val="BBE0E3">
                  <a:shade val="8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83" name="Forma libre 13">
              <a:extLst>
                <a:ext uri="{FF2B5EF4-FFF2-40B4-BE49-F238E27FC236}">
                  <a16:creationId xmlns:a16="http://schemas.microsoft.com/office/drawing/2014/main" id="{87984D1A-FD9E-44CE-BC32-BC3CB794EC6D}"/>
                </a:ext>
              </a:extLst>
            </p:cNvPr>
            <p:cNvSpPr/>
            <p:nvPr/>
          </p:nvSpPr>
          <p:spPr>
            <a:xfrm>
              <a:off x="3376634" y="3847460"/>
              <a:ext cx="575855" cy="19988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584323" y="0"/>
                  </a:moveTo>
                  <a:lnTo>
                    <a:pt x="584323" y="101411"/>
                  </a:lnTo>
                  <a:lnTo>
                    <a:pt x="0" y="101411"/>
                  </a:lnTo>
                  <a:lnTo>
                    <a:pt x="0" y="202823"/>
                  </a:lnTo>
                </a:path>
              </a:pathLst>
            </a:custGeom>
            <a:noFill/>
            <a:ln w="12700" cap="flat" cmpd="sng" algn="ctr">
              <a:solidFill>
                <a:srgbClr val="BBE0E3">
                  <a:shade val="8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84" name="Forma libre 14">
              <a:extLst>
                <a:ext uri="{FF2B5EF4-FFF2-40B4-BE49-F238E27FC236}">
                  <a16:creationId xmlns:a16="http://schemas.microsoft.com/office/drawing/2014/main" id="{E468B841-9CDF-425B-A3F9-579E93A8BEB8}"/>
                </a:ext>
              </a:extLst>
            </p:cNvPr>
            <p:cNvSpPr/>
            <p:nvPr/>
          </p:nvSpPr>
          <p:spPr>
            <a:xfrm>
              <a:off x="3952489" y="3171663"/>
              <a:ext cx="575855" cy="19988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584323" y="0"/>
                  </a:moveTo>
                  <a:lnTo>
                    <a:pt x="584323" y="101411"/>
                  </a:lnTo>
                  <a:lnTo>
                    <a:pt x="0" y="101411"/>
                  </a:lnTo>
                  <a:lnTo>
                    <a:pt x="0" y="202823"/>
                  </a:lnTo>
                </a:path>
              </a:pathLst>
            </a:custGeom>
            <a:noFill/>
            <a:ln w="12700" cap="flat" cmpd="sng" algn="ctr">
              <a:solidFill>
                <a:srgbClr val="BBE0E3">
                  <a:shade val="8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85" name="Forma libre 15">
              <a:extLst>
                <a:ext uri="{FF2B5EF4-FFF2-40B4-BE49-F238E27FC236}">
                  <a16:creationId xmlns:a16="http://schemas.microsoft.com/office/drawing/2014/main" id="{4E08E579-0CCD-4D3E-84F2-EB5FDDE6979E}"/>
                </a:ext>
              </a:extLst>
            </p:cNvPr>
            <p:cNvSpPr/>
            <p:nvPr/>
          </p:nvSpPr>
          <p:spPr>
            <a:xfrm>
              <a:off x="4455509" y="2495866"/>
              <a:ext cx="91440" cy="19988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45720" y="0"/>
                  </a:moveTo>
                  <a:lnTo>
                    <a:pt x="45720" y="202823"/>
                  </a:lnTo>
                </a:path>
              </a:pathLst>
            </a:custGeom>
            <a:noFill/>
            <a:ln w="12700" cap="flat" cmpd="sng" algn="ctr">
              <a:solidFill>
                <a:srgbClr val="BBE0E3">
                  <a:shade val="6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86" name="Forma libre 16">
              <a:extLst>
                <a:ext uri="{FF2B5EF4-FFF2-40B4-BE49-F238E27FC236}">
                  <a16:creationId xmlns:a16="http://schemas.microsoft.com/office/drawing/2014/main" id="{9C8F947E-02CD-4CC3-ACF0-9DB7E6CF3608}"/>
                </a:ext>
              </a:extLst>
            </p:cNvPr>
            <p:cNvSpPr/>
            <p:nvPr/>
          </p:nvSpPr>
          <p:spPr>
            <a:xfrm>
              <a:off x="1738720" y="3171663"/>
              <a:ext cx="528159" cy="19988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101411"/>
                  </a:lnTo>
                  <a:lnTo>
                    <a:pt x="584323" y="101411"/>
                  </a:lnTo>
                  <a:lnTo>
                    <a:pt x="584323" y="202823"/>
                  </a:lnTo>
                </a:path>
              </a:pathLst>
            </a:custGeom>
            <a:noFill/>
            <a:ln w="12700" cap="flat" cmpd="sng" algn="ctr">
              <a:solidFill>
                <a:srgbClr val="BBE0E3">
                  <a:shade val="8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87" name="Forma libre 17">
              <a:extLst>
                <a:ext uri="{FF2B5EF4-FFF2-40B4-BE49-F238E27FC236}">
                  <a16:creationId xmlns:a16="http://schemas.microsoft.com/office/drawing/2014/main" id="{8AE0F861-84CC-4E44-B520-E3A6BAFAB214}"/>
                </a:ext>
              </a:extLst>
            </p:cNvPr>
            <p:cNvSpPr/>
            <p:nvPr/>
          </p:nvSpPr>
          <p:spPr>
            <a:xfrm>
              <a:off x="1159482" y="3171663"/>
              <a:ext cx="626201" cy="199883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584323" y="0"/>
                  </a:moveTo>
                  <a:lnTo>
                    <a:pt x="584323" y="101411"/>
                  </a:lnTo>
                  <a:lnTo>
                    <a:pt x="0" y="101411"/>
                  </a:lnTo>
                  <a:lnTo>
                    <a:pt x="0" y="202823"/>
                  </a:lnTo>
                </a:path>
              </a:pathLst>
            </a:custGeom>
            <a:noFill/>
            <a:ln w="12700" cap="flat" cmpd="sng" algn="ctr">
              <a:solidFill>
                <a:srgbClr val="BBE0E3">
                  <a:shade val="8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88" name="Forma libre 18">
              <a:extLst>
                <a:ext uri="{FF2B5EF4-FFF2-40B4-BE49-F238E27FC236}">
                  <a16:creationId xmlns:a16="http://schemas.microsoft.com/office/drawing/2014/main" id="{FDA28C8A-E482-41F1-919C-26D7E3BCC17A}"/>
                </a:ext>
              </a:extLst>
            </p:cNvPr>
            <p:cNvSpPr/>
            <p:nvPr/>
          </p:nvSpPr>
          <p:spPr>
            <a:xfrm>
              <a:off x="2175778" y="2495864"/>
              <a:ext cx="3188310" cy="45719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2337294" y="0"/>
                  </a:moveTo>
                  <a:lnTo>
                    <a:pt x="2337294" y="101411"/>
                  </a:lnTo>
                  <a:lnTo>
                    <a:pt x="0" y="101411"/>
                  </a:lnTo>
                  <a:lnTo>
                    <a:pt x="0" y="202823"/>
                  </a:lnTo>
                </a:path>
              </a:pathLst>
            </a:custGeom>
            <a:noFill/>
            <a:ln w="12700" cap="flat" cmpd="sng" algn="ctr">
              <a:solidFill>
                <a:srgbClr val="BBE0E3">
                  <a:shade val="60000"/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s-ES"/>
            </a:p>
          </p:txBody>
        </p:sp>
        <p:sp>
          <p:nvSpPr>
            <p:cNvPr id="89" name="Forma libre 19">
              <a:extLst>
                <a:ext uri="{FF2B5EF4-FFF2-40B4-BE49-F238E27FC236}">
                  <a16:creationId xmlns:a16="http://schemas.microsoft.com/office/drawing/2014/main" id="{D10F0C28-0558-4007-8BB1-3E4C77983A13}"/>
                </a:ext>
              </a:extLst>
            </p:cNvPr>
            <p:cNvSpPr/>
            <p:nvPr/>
          </p:nvSpPr>
          <p:spPr>
            <a:xfrm>
              <a:off x="4052222" y="2019952"/>
              <a:ext cx="951826" cy="475913"/>
            </a:xfrm>
            <a:custGeom>
              <a:avLst/>
              <a:gdLst>
                <a:gd name="connsiteX0" fmla="*/ 0 w 951826"/>
                <a:gd name="connsiteY0" fmla="*/ 0 h 475913"/>
                <a:gd name="connsiteX1" fmla="*/ 951826 w 951826"/>
                <a:gd name="connsiteY1" fmla="*/ 0 h 475913"/>
                <a:gd name="connsiteX2" fmla="*/ 951826 w 951826"/>
                <a:gd name="connsiteY2" fmla="*/ 475913 h 475913"/>
                <a:gd name="connsiteX3" fmla="*/ 0 w 951826"/>
                <a:gd name="connsiteY3" fmla="*/ 475913 h 475913"/>
                <a:gd name="connsiteX4" fmla="*/ 0 w 951826"/>
                <a:gd name="connsiteY4" fmla="*/ 0 h 47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1826" h="475913">
                  <a:moveTo>
                    <a:pt x="0" y="0"/>
                  </a:moveTo>
                  <a:lnTo>
                    <a:pt x="951826" y="0"/>
                  </a:lnTo>
                  <a:lnTo>
                    <a:pt x="951826" y="475913"/>
                  </a:lnTo>
                  <a:lnTo>
                    <a:pt x="0" y="4759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E0E3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s-ES" altLang="es-US" sz="1400" b="0" i="0" u="none" strike="noStrike" kern="1200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+mn-ea"/>
                  <a:cs typeface="+mn-cs"/>
                </a:rPr>
                <a:t>Director 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s-ES" altLang="es-US" sz="1400" b="0" i="0" u="none" strike="noStrike" kern="1200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+mn-ea"/>
                  <a:cs typeface="+mn-cs"/>
                </a:rPr>
                <a:t>General</a:t>
              </a:r>
            </a:p>
          </p:txBody>
        </p:sp>
        <p:sp>
          <p:nvSpPr>
            <p:cNvPr id="90" name="Forma libre 20">
              <a:extLst>
                <a:ext uri="{FF2B5EF4-FFF2-40B4-BE49-F238E27FC236}">
                  <a16:creationId xmlns:a16="http://schemas.microsoft.com/office/drawing/2014/main" id="{4BAD3034-B5F4-409F-B48D-1CF60C146009}"/>
                </a:ext>
              </a:extLst>
            </p:cNvPr>
            <p:cNvSpPr/>
            <p:nvPr/>
          </p:nvSpPr>
          <p:spPr>
            <a:xfrm>
              <a:off x="1309769" y="2695749"/>
              <a:ext cx="1172155" cy="475913"/>
            </a:xfrm>
            <a:custGeom>
              <a:avLst/>
              <a:gdLst>
                <a:gd name="connsiteX0" fmla="*/ 0 w 951826"/>
                <a:gd name="connsiteY0" fmla="*/ 0 h 475913"/>
                <a:gd name="connsiteX1" fmla="*/ 951826 w 951826"/>
                <a:gd name="connsiteY1" fmla="*/ 0 h 475913"/>
                <a:gd name="connsiteX2" fmla="*/ 951826 w 951826"/>
                <a:gd name="connsiteY2" fmla="*/ 475913 h 475913"/>
                <a:gd name="connsiteX3" fmla="*/ 0 w 951826"/>
                <a:gd name="connsiteY3" fmla="*/ 475913 h 475913"/>
                <a:gd name="connsiteX4" fmla="*/ 0 w 951826"/>
                <a:gd name="connsiteY4" fmla="*/ 0 h 47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1826" h="475913">
                  <a:moveTo>
                    <a:pt x="0" y="0"/>
                  </a:moveTo>
                  <a:lnTo>
                    <a:pt x="951826" y="0"/>
                  </a:lnTo>
                  <a:lnTo>
                    <a:pt x="951826" y="475913"/>
                  </a:lnTo>
                  <a:lnTo>
                    <a:pt x="0" y="4759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E0E3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s-ES" altLang="es-US" sz="1400" b="0" i="0" u="none" strike="noStrike" kern="1200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+mn-ea"/>
                  <a:cs typeface="+mn-cs"/>
                </a:rPr>
                <a:t>Dirección de Producción</a:t>
              </a:r>
            </a:p>
          </p:txBody>
        </p:sp>
        <p:sp>
          <p:nvSpPr>
            <p:cNvPr id="91" name="Forma libre 21">
              <a:extLst>
                <a:ext uri="{FF2B5EF4-FFF2-40B4-BE49-F238E27FC236}">
                  <a16:creationId xmlns:a16="http://schemas.microsoft.com/office/drawing/2014/main" id="{BA54BA98-CF75-41A3-933E-E9F3B8E88C22}"/>
                </a:ext>
              </a:extLst>
            </p:cNvPr>
            <p:cNvSpPr/>
            <p:nvPr/>
          </p:nvSpPr>
          <p:spPr>
            <a:xfrm>
              <a:off x="683568" y="3371546"/>
              <a:ext cx="951826" cy="475913"/>
            </a:xfrm>
            <a:custGeom>
              <a:avLst/>
              <a:gdLst>
                <a:gd name="connsiteX0" fmla="*/ 0 w 951826"/>
                <a:gd name="connsiteY0" fmla="*/ 0 h 475913"/>
                <a:gd name="connsiteX1" fmla="*/ 951826 w 951826"/>
                <a:gd name="connsiteY1" fmla="*/ 0 h 475913"/>
                <a:gd name="connsiteX2" fmla="*/ 951826 w 951826"/>
                <a:gd name="connsiteY2" fmla="*/ 475913 h 475913"/>
                <a:gd name="connsiteX3" fmla="*/ 0 w 951826"/>
                <a:gd name="connsiteY3" fmla="*/ 475913 h 475913"/>
                <a:gd name="connsiteX4" fmla="*/ 0 w 951826"/>
                <a:gd name="connsiteY4" fmla="*/ 0 h 47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1826" h="475913">
                  <a:moveTo>
                    <a:pt x="0" y="0"/>
                  </a:moveTo>
                  <a:lnTo>
                    <a:pt x="951826" y="0"/>
                  </a:lnTo>
                  <a:lnTo>
                    <a:pt x="951826" y="475913"/>
                  </a:lnTo>
                  <a:lnTo>
                    <a:pt x="0" y="4759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E0E3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s-ES" altLang="es-US" sz="1400" b="0" i="0" u="none" strike="noStrike" kern="1200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+mn-ea"/>
                  <a:cs typeface="+mn-cs"/>
                </a:rPr>
                <a:t>Vehículos</a:t>
              </a:r>
            </a:p>
          </p:txBody>
        </p:sp>
        <p:sp>
          <p:nvSpPr>
            <p:cNvPr id="92" name="Forma libre 22">
              <a:extLst>
                <a:ext uri="{FF2B5EF4-FFF2-40B4-BE49-F238E27FC236}">
                  <a16:creationId xmlns:a16="http://schemas.microsoft.com/office/drawing/2014/main" id="{16DAC0EC-B4A4-44FE-AF3D-05BBD110D59C}"/>
                </a:ext>
              </a:extLst>
            </p:cNvPr>
            <p:cNvSpPr/>
            <p:nvPr/>
          </p:nvSpPr>
          <p:spPr>
            <a:xfrm>
              <a:off x="1787582" y="3371546"/>
              <a:ext cx="1160834" cy="475913"/>
            </a:xfrm>
            <a:custGeom>
              <a:avLst/>
              <a:gdLst>
                <a:gd name="connsiteX0" fmla="*/ 0 w 1052520"/>
                <a:gd name="connsiteY0" fmla="*/ 0 h 475913"/>
                <a:gd name="connsiteX1" fmla="*/ 1052520 w 1052520"/>
                <a:gd name="connsiteY1" fmla="*/ 0 h 475913"/>
                <a:gd name="connsiteX2" fmla="*/ 1052520 w 1052520"/>
                <a:gd name="connsiteY2" fmla="*/ 475913 h 475913"/>
                <a:gd name="connsiteX3" fmla="*/ 0 w 1052520"/>
                <a:gd name="connsiteY3" fmla="*/ 475913 h 475913"/>
                <a:gd name="connsiteX4" fmla="*/ 0 w 1052520"/>
                <a:gd name="connsiteY4" fmla="*/ 0 h 47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2520" h="475913">
                  <a:moveTo>
                    <a:pt x="0" y="0"/>
                  </a:moveTo>
                  <a:lnTo>
                    <a:pt x="1052520" y="0"/>
                  </a:lnTo>
                  <a:lnTo>
                    <a:pt x="1052520" y="475913"/>
                  </a:lnTo>
                  <a:lnTo>
                    <a:pt x="0" y="4759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E0E3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s-ES" altLang="es-US" sz="1400" b="0" i="0" u="none" strike="noStrike" kern="1200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+mn-ea"/>
                  <a:cs typeface="+mn-cs"/>
                </a:rPr>
                <a:t>Instrumentos musicales</a:t>
              </a:r>
            </a:p>
          </p:txBody>
        </p:sp>
        <p:sp>
          <p:nvSpPr>
            <p:cNvPr id="93" name="Forma libre 23">
              <a:extLst>
                <a:ext uri="{FF2B5EF4-FFF2-40B4-BE49-F238E27FC236}">
                  <a16:creationId xmlns:a16="http://schemas.microsoft.com/office/drawing/2014/main" id="{91D795FC-9C7F-44A4-855E-9525C287CF02}"/>
                </a:ext>
              </a:extLst>
            </p:cNvPr>
            <p:cNvSpPr/>
            <p:nvPr/>
          </p:nvSpPr>
          <p:spPr>
            <a:xfrm>
              <a:off x="4052430" y="2695749"/>
              <a:ext cx="1102261" cy="475913"/>
            </a:xfrm>
            <a:custGeom>
              <a:avLst/>
              <a:gdLst>
                <a:gd name="connsiteX0" fmla="*/ 0 w 951826"/>
                <a:gd name="connsiteY0" fmla="*/ 0 h 475913"/>
                <a:gd name="connsiteX1" fmla="*/ 951826 w 951826"/>
                <a:gd name="connsiteY1" fmla="*/ 0 h 475913"/>
                <a:gd name="connsiteX2" fmla="*/ 951826 w 951826"/>
                <a:gd name="connsiteY2" fmla="*/ 475913 h 475913"/>
                <a:gd name="connsiteX3" fmla="*/ 0 w 951826"/>
                <a:gd name="connsiteY3" fmla="*/ 475913 h 475913"/>
                <a:gd name="connsiteX4" fmla="*/ 0 w 951826"/>
                <a:gd name="connsiteY4" fmla="*/ 0 h 47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1826" h="475913">
                  <a:moveTo>
                    <a:pt x="0" y="0"/>
                  </a:moveTo>
                  <a:lnTo>
                    <a:pt x="951826" y="0"/>
                  </a:lnTo>
                  <a:lnTo>
                    <a:pt x="951826" y="475913"/>
                  </a:lnTo>
                  <a:lnTo>
                    <a:pt x="0" y="4759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E0E3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s-ES" altLang="es-US" sz="1400" b="0" i="0" u="none" strike="noStrike" kern="1200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+mn-ea"/>
                  <a:cs typeface="+mn-cs"/>
                </a:rPr>
                <a:t>Dirección de Marketing</a:t>
              </a:r>
            </a:p>
          </p:txBody>
        </p:sp>
        <p:sp>
          <p:nvSpPr>
            <p:cNvPr id="94" name="Forma libre 24">
              <a:extLst>
                <a:ext uri="{FF2B5EF4-FFF2-40B4-BE49-F238E27FC236}">
                  <a16:creationId xmlns:a16="http://schemas.microsoft.com/office/drawing/2014/main" id="{BF9A57E5-998D-47C3-B1E3-2DC03AB0729C}"/>
                </a:ext>
              </a:extLst>
            </p:cNvPr>
            <p:cNvSpPr/>
            <p:nvPr/>
          </p:nvSpPr>
          <p:spPr>
            <a:xfrm>
              <a:off x="3476576" y="3371546"/>
              <a:ext cx="951826" cy="475913"/>
            </a:xfrm>
            <a:custGeom>
              <a:avLst/>
              <a:gdLst>
                <a:gd name="connsiteX0" fmla="*/ 0 w 951826"/>
                <a:gd name="connsiteY0" fmla="*/ 0 h 475913"/>
                <a:gd name="connsiteX1" fmla="*/ 951826 w 951826"/>
                <a:gd name="connsiteY1" fmla="*/ 0 h 475913"/>
                <a:gd name="connsiteX2" fmla="*/ 951826 w 951826"/>
                <a:gd name="connsiteY2" fmla="*/ 475913 h 475913"/>
                <a:gd name="connsiteX3" fmla="*/ 0 w 951826"/>
                <a:gd name="connsiteY3" fmla="*/ 475913 h 475913"/>
                <a:gd name="connsiteX4" fmla="*/ 0 w 951826"/>
                <a:gd name="connsiteY4" fmla="*/ 0 h 47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1826" h="475913">
                  <a:moveTo>
                    <a:pt x="0" y="0"/>
                  </a:moveTo>
                  <a:lnTo>
                    <a:pt x="951826" y="0"/>
                  </a:lnTo>
                  <a:lnTo>
                    <a:pt x="951826" y="475913"/>
                  </a:lnTo>
                  <a:lnTo>
                    <a:pt x="0" y="4759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E0E3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s-ES" altLang="es-US" sz="1400" b="0" i="0" u="none" strike="noStrike" kern="1200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+mn-ea"/>
                  <a:cs typeface="+mn-cs"/>
                </a:rPr>
                <a:t>Gestión comercial</a:t>
              </a:r>
            </a:p>
          </p:txBody>
        </p:sp>
        <p:sp>
          <p:nvSpPr>
            <p:cNvPr id="95" name="Forma libre 25">
              <a:extLst>
                <a:ext uri="{FF2B5EF4-FFF2-40B4-BE49-F238E27FC236}">
                  <a16:creationId xmlns:a16="http://schemas.microsoft.com/office/drawing/2014/main" id="{63439101-A3BE-4B67-B20D-DAF73D3A6046}"/>
                </a:ext>
              </a:extLst>
            </p:cNvPr>
            <p:cNvSpPr/>
            <p:nvPr/>
          </p:nvSpPr>
          <p:spPr>
            <a:xfrm>
              <a:off x="2900720" y="4047343"/>
              <a:ext cx="951826" cy="475913"/>
            </a:xfrm>
            <a:custGeom>
              <a:avLst/>
              <a:gdLst>
                <a:gd name="connsiteX0" fmla="*/ 0 w 951826"/>
                <a:gd name="connsiteY0" fmla="*/ 0 h 475913"/>
                <a:gd name="connsiteX1" fmla="*/ 951826 w 951826"/>
                <a:gd name="connsiteY1" fmla="*/ 0 h 475913"/>
                <a:gd name="connsiteX2" fmla="*/ 951826 w 951826"/>
                <a:gd name="connsiteY2" fmla="*/ 475913 h 475913"/>
                <a:gd name="connsiteX3" fmla="*/ 0 w 951826"/>
                <a:gd name="connsiteY3" fmla="*/ 475913 h 475913"/>
                <a:gd name="connsiteX4" fmla="*/ 0 w 951826"/>
                <a:gd name="connsiteY4" fmla="*/ 0 h 47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1826" h="475913">
                  <a:moveTo>
                    <a:pt x="0" y="0"/>
                  </a:moveTo>
                  <a:lnTo>
                    <a:pt x="951826" y="0"/>
                  </a:lnTo>
                  <a:lnTo>
                    <a:pt x="951826" y="475913"/>
                  </a:lnTo>
                  <a:lnTo>
                    <a:pt x="0" y="4759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E0E3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s-ES" altLang="es-US" sz="1400" b="0" i="0" u="none" strike="noStrike" kern="1200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+mn-ea"/>
                  <a:cs typeface="+mn-cs"/>
                </a:rPr>
                <a:t>Europa</a:t>
              </a:r>
            </a:p>
          </p:txBody>
        </p:sp>
        <p:sp>
          <p:nvSpPr>
            <p:cNvPr id="96" name="Forma libre 26">
              <a:extLst>
                <a:ext uri="{FF2B5EF4-FFF2-40B4-BE49-F238E27FC236}">
                  <a16:creationId xmlns:a16="http://schemas.microsoft.com/office/drawing/2014/main" id="{855A2CA1-0BC8-42BC-B5AC-02B7D64C6C6A}"/>
                </a:ext>
              </a:extLst>
            </p:cNvPr>
            <p:cNvSpPr/>
            <p:nvPr/>
          </p:nvSpPr>
          <p:spPr>
            <a:xfrm>
              <a:off x="4052431" y="4047343"/>
              <a:ext cx="951826" cy="475913"/>
            </a:xfrm>
            <a:custGeom>
              <a:avLst/>
              <a:gdLst>
                <a:gd name="connsiteX0" fmla="*/ 0 w 951826"/>
                <a:gd name="connsiteY0" fmla="*/ 0 h 475913"/>
                <a:gd name="connsiteX1" fmla="*/ 951826 w 951826"/>
                <a:gd name="connsiteY1" fmla="*/ 0 h 475913"/>
                <a:gd name="connsiteX2" fmla="*/ 951826 w 951826"/>
                <a:gd name="connsiteY2" fmla="*/ 475913 h 475913"/>
                <a:gd name="connsiteX3" fmla="*/ 0 w 951826"/>
                <a:gd name="connsiteY3" fmla="*/ 475913 h 475913"/>
                <a:gd name="connsiteX4" fmla="*/ 0 w 951826"/>
                <a:gd name="connsiteY4" fmla="*/ 0 h 47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1826" h="475913">
                  <a:moveTo>
                    <a:pt x="0" y="0"/>
                  </a:moveTo>
                  <a:lnTo>
                    <a:pt x="951826" y="0"/>
                  </a:lnTo>
                  <a:lnTo>
                    <a:pt x="951826" y="475913"/>
                  </a:lnTo>
                  <a:lnTo>
                    <a:pt x="0" y="4759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E0E3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s-ES" altLang="es-US" sz="1400" b="0" i="0" u="none" strike="noStrike" kern="1200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+mn-ea"/>
                  <a:cs typeface="+mn-cs"/>
                </a:rPr>
                <a:t>América</a:t>
              </a:r>
            </a:p>
          </p:txBody>
        </p:sp>
        <p:sp>
          <p:nvSpPr>
            <p:cNvPr id="97" name="Forma libre 27">
              <a:extLst>
                <a:ext uri="{FF2B5EF4-FFF2-40B4-BE49-F238E27FC236}">
                  <a16:creationId xmlns:a16="http://schemas.microsoft.com/office/drawing/2014/main" id="{70832E07-5145-40FE-A675-AE2C6620CBE7}"/>
                </a:ext>
              </a:extLst>
            </p:cNvPr>
            <p:cNvSpPr/>
            <p:nvPr/>
          </p:nvSpPr>
          <p:spPr>
            <a:xfrm>
              <a:off x="4628286" y="3371546"/>
              <a:ext cx="951826" cy="475913"/>
            </a:xfrm>
            <a:custGeom>
              <a:avLst/>
              <a:gdLst>
                <a:gd name="connsiteX0" fmla="*/ 0 w 951826"/>
                <a:gd name="connsiteY0" fmla="*/ 0 h 475913"/>
                <a:gd name="connsiteX1" fmla="*/ 951826 w 951826"/>
                <a:gd name="connsiteY1" fmla="*/ 0 h 475913"/>
                <a:gd name="connsiteX2" fmla="*/ 951826 w 951826"/>
                <a:gd name="connsiteY2" fmla="*/ 475913 h 475913"/>
                <a:gd name="connsiteX3" fmla="*/ 0 w 951826"/>
                <a:gd name="connsiteY3" fmla="*/ 475913 h 475913"/>
                <a:gd name="connsiteX4" fmla="*/ 0 w 951826"/>
                <a:gd name="connsiteY4" fmla="*/ 0 h 47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1826" h="475913">
                  <a:moveTo>
                    <a:pt x="0" y="0"/>
                  </a:moveTo>
                  <a:lnTo>
                    <a:pt x="951826" y="0"/>
                  </a:lnTo>
                  <a:lnTo>
                    <a:pt x="951826" y="475913"/>
                  </a:lnTo>
                  <a:lnTo>
                    <a:pt x="0" y="4759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E0E3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s-ES" altLang="es-US" sz="1400" b="0" i="0" u="none" strike="noStrike" kern="1200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+mn-ea"/>
                  <a:cs typeface="+mn-cs"/>
                </a:rPr>
                <a:t>Publicidad</a:t>
              </a:r>
            </a:p>
          </p:txBody>
        </p:sp>
        <p:sp>
          <p:nvSpPr>
            <p:cNvPr id="98" name="Forma libre 28">
              <a:extLst>
                <a:ext uri="{FF2B5EF4-FFF2-40B4-BE49-F238E27FC236}">
                  <a16:creationId xmlns:a16="http://schemas.microsoft.com/office/drawing/2014/main" id="{708ED66F-2FD9-4437-9B54-3536A9F50626}"/>
                </a:ext>
              </a:extLst>
            </p:cNvPr>
            <p:cNvSpPr/>
            <p:nvPr/>
          </p:nvSpPr>
          <p:spPr>
            <a:xfrm>
              <a:off x="6414446" y="2695749"/>
              <a:ext cx="1338953" cy="475913"/>
            </a:xfrm>
            <a:custGeom>
              <a:avLst/>
              <a:gdLst>
                <a:gd name="connsiteX0" fmla="*/ 0 w 1080475"/>
                <a:gd name="connsiteY0" fmla="*/ 0 h 475913"/>
                <a:gd name="connsiteX1" fmla="*/ 1080475 w 1080475"/>
                <a:gd name="connsiteY1" fmla="*/ 0 h 475913"/>
                <a:gd name="connsiteX2" fmla="*/ 1080475 w 1080475"/>
                <a:gd name="connsiteY2" fmla="*/ 475913 h 475913"/>
                <a:gd name="connsiteX3" fmla="*/ 0 w 1080475"/>
                <a:gd name="connsiteY3" fmla="*/ 475913 h 475913"/>
                <a:gd name="connsiteX4" fmla="*/ 0 w 1080475"/>
                <a:gd name="connsiteY4" fmla="*/ 0 h 47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0475" h="475913">
                  <a:moveTo>
                    <a:pt x="0" y="0"/>
                  </a:moveTo>
                  <a:lnTo>
                    <a:pt x="1080475" y="0"/>
                  </a:lnTo>
                  <a:lnTo>
                    <a:pt x="1080475" y="475913"/>
                  </a:lnTo>
                  <a:lnTo>
                    <a:pt x="0" y="4759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E0E3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s-ES" altLang="es-US" sz="1400" b="0" i="0" u="none" strike="noStrike" kern="1200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+mn-ea"/>
                  <a:cs typeface="+mn-cs"/>
                </a:rPr>
                <a:t>Administración</a:t>
              </a:r>
            </a:p>
          </p:txBody>
        </p:sp>
        <p:sp>
          <p:nvSpPr>
            <p:cNvPr id="99" name="Forma libre 29">
              <a:extLst>
                <a:ext uri="{FF2B5EF4-FFF2-40B4-BE49-F238E27FC236}">
                  <a16:creationId xmlns:a16="http://schemas.microsoft.com/office/drawing/2014/main" id="{61083014-6252-4B22-9D82-E9C2CCF11EB0}"/>
                </a:ext>
              </a:extLst>
            </p:cNvPr>
            <p:cNvSpPr/>
            <p:nvPr/>
          </p:nvSpPr>
          <p:spPr>
            <a:xfrm>
              <a:off x="5902915" y="3371546"/>
              <a:ext cx="1051768" cy="475913"/>
            </a:xfrm>
            <a:custGeom>
              <a:avLst/>
              <a:gdLst>
                <a:gd name="connsiteX0" fmla="*/ 0 w 951826"/>
                <a:gd name="connsiteY0" fmla="*/ 0 h 475913"/>
                <a:gd name="connsiteX1" fmla="*/ 951826 w 951826"/>
                <a:gd name="connsiteY1" fmla="*/ 0 h 475913"/>
                <a:gd name="connsiteX2" fmla="*/ 951826 w 951826"/>
                <a:gd name="connsiteY2" fmla="*/ 475913 h 475913"/>
                <a:gd name="connsiteX3" fmla="*/ 0 w 951826"/>
                <a:gd name="connsiteY3" fmla="*/ 475913 h 475913"/>
                <a:gd name="connsiteX4" fmla="*/ 0 w 951826"/>
                <a:gd name="connsiteY4" fmla="*/ 0 h 47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1826" h="475913">
                  <a:moveTo>
                    <a:pt x="0" y="0"/>
                  </a:moveTo>
                  <a:lnTo>
                    <a:pt x="951826" y="0"/>
                  </a:lnTo>
                  <a:lnTo>
                    <a:pt x="951826" y="475913"/>
                  </a:lnTo>
                  <a:lnTo>
                    <a:pt x="0" y="4759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E0E3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s-ES" altLang="es-US" sz="1400" b="0" i="0" u="none" strike="noStrike" kern="1200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+mn-ea"/>
                  <a:cs typeface="+mn-cs"/>
                </a:rPr>
                <a:t>Contabilidad</a:t>
              </a:r>
            </a:p>
          </p:txBody>
        </p:sp>
        <p:sp>
          <p:nvSpPr>
            <p:cNvPr id="100" name="Forma libre 30">
              <a:extLst>
                <a:ext uri="{FF2B5EF4-FFF2-40B4-BE49-F238E27FC236}">
                  <a16:creationId xmlns:a16="http://schemas.microsoft.com/office/drawing/2014/main" id="{BE3EA993-BC29-40EA-80C0-92E394F4F4EF}"/>
                </a:ext>
              </a:extLst>
            </p:cNvPr>
            <p:cNvSpPr/>
            <p:nvPr/>
          </p:nvSpPr>
          <p:spPr>
            <a:xfrm>
              <a:off x="7054625" y="3371546"/>
              <a:ext cx="951826" cy="475913"/>
            </a:xfrm>
            <a:custGeom>
              <a:avLst/>
              <a:gdLst>
                <a:gd name="connsiteX0" fmla="*/ 0 w 951826"/>
                <a:gd name="connsiteY0" fmla="*/ 0 h 475913"/>
                <a:gd name="connsiteX1" fmla="*/ 951826 w 951826"/>
                <a:gd name="connsiteY1" fmla="*/ 0 h 475913"/>
                <a:gd name="connsiteX2" fmla="*/ 951826 w 951826"/>
                <a:gd name="connsiteY2" fmla="*/ 475913 h 475913"/>
                <a:gd name="connsiteX3" fmla="*/ 0 w 951826"/>
                <a:gd name="connsiteY3" fmla="*/ 475913 h 475913"/>
                <a:gd name="connsiteX4" fmla="*/ 0 w 951826"/>
                <a:gd name="connsiteY4" fmla="*/ 0 h 47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1826" h="475913">
                  <a:moveTo>
                    <a:pt x="0" y="0"/>
                  </a:moveTo>
                  <a:lnTo>
                    <a:pt x="951826" y="0"/>
                  </a:lnTo>
                  <a:lnTo>
                    <a:pt x="951826" y="475913"/>
                  </a:lnTo>
                  <a:lnTo>
                    <a:pt x="0" y="4759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E0E3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s-ES" altLang="es-US" sz="1400" b="0" i="0" u="none" strike="noStrike" kern="1200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+mn-ea"/>
                  <a:cs typeface="+mn-cs"/>
                </a:rPr>
                <a:t>Personal</a:t>
              </a:r>
            </a:p>
          </p:txBody>
        </p:sp>
        <p:sp>
          <p:nvSpPr>
            <p:cNvPr id="101" name="Forma libre 31">
              <a:extLst>
                <a:ext uri="{FF2B5EF4-FFF2-40B4-BE49-F238E27FC236}">
                  <a16:creationId xmlns:a16="http://schemas.microsoft.com/office/drawing/2014/main" id="{17999F0A-36D3-460F-83A2-EFC6BCB6E35F}"/>
                </a:ext>
              </a:extLst>
            </p:cNvPr>
            <p:cNvSpPr/>
            <p:nvPr/>
          </p:nvSpPr>
          <p:spPr>
            <a:xfrm>
              <a:off x="7292582" y="4047343"/>
              <a:ext cx="951826" cy="475913"/>
            </a:xfrm>
            <a:custGeom>
              <a:avLst/>
              <a:gdLst>
                <a:gd name="connsiteX0" fmla="*/ 0 w 951826"/>
                <a:gd name="connsiteY0" fmla="*/ 0 h 475913"/>
                <a:gd name="connsiteX1" fmla="*/ 951826 w 951826"/>
                <a:gd name="connsiteY1" fmla="*/ 0 h 475913"/>
                <a:gd name="connsiteX2" fmla="*/ 951826 w 951826"/>
                <a:gd name="connsiteY2" fmla="*/ 475913 h 475913"/>
                <a:gd name="connsiteX3" fmla="*/ 0 w 951826"/>
                <a:gd name="connsiteY3" fmla="*/ 475913 h 475913"/>
                <a:gd name="connsiteX4" fmla="*/ 0 w 951826"/>
                <a:gd name="connsiteY4" fmla="*/ 0 h 47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1826" h="475913">
                  <a:moveTo>
                    <a:pt x="0" y="0"/>
                  </a:moveTo>
                  <a:lnTo>
                    <a:pt x="951826" y="0"/>
                  </a:lnTo>
                  <a:lnTo>
                    <a:pt x="951826" y="475913"/>
                  </a:lnTo>
                  <a:lnTo>
                    <a:pt x="0" y="4759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E0E3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s-ES" altLang="es-US" sz="1400" b="0" i="0" u="none" strike="noStrike" kern="1200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+mn-ea"/>
                  <a:cs typeface="+mn-cs"/>
                </a:rPr>
                <a:t>Análisis de puestos</a:t>
              </a:r>
            </a:p>
          </p:txBody>
        </p:sp>
        <p:sp>
          <p:nvSpPr>
            <p:cNvPr id="102" name="Forma libre 32">
              <a:extLst>
                <a:ext uri="{FF2B5EF4-FFF2-40B4-BE49-F238E27FC236}">
                  <a16:creationId xmlns:a16="http://schemas.microsoft.com/office/drawing/2014/main" id="{449B7C25-CCD6-4C62-87B4-C216B8D73AB6}"/>
                </a:ext>
              </a:extLst>
            </p:cNvPr>
            <p:cNvSpPr/>
            <p:nvPr/>
          </p:nvSpPr>
          <p:spPr>
            <a:xfrm>
              <a:off x="7292582" y="4723140"/>
              <a:ext cx="951826" cy="475913"/>
            </a:xfrm>
            <a:custGeom>
              <a:avLst/>
              <a:gdLst>
                <a:gd name="connsiteX0" fmla="*/ 0 w 951826"/>
                <a:gd name="connsiteY0" fmla="*/ 0 h 475913"/>
                <a:gd name="connsiteX1" fmla="*/ 951826 w 951826"/>
                <a:gd name="connsiteY1" fmla="*/ 0 h 475913"/>
                <a:gd name="connsiteX2" fmla="*/ 951826 w 951826"/>
                <a:gd name="connsiteY2" fmla="*/ 475913 h 475913"/>
                <a:gd name="connsiteX3" fmla="*/ 0 w 951826"/>
                <a:gd name="connsiteY3" fmla="*/ 475913 h 475913"/>
                <a:gd name="connsiteX4" fmla="*/ 0 w 951826"/>
                <a:gd name="connsiteY4" fmla="*/ 0 h 47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1826" h="475913">
                  <a:moveTo>
                    <a:pt x="0" y="0"/>
                  </a:moveTo>
                  <a:lnTo>
                    <a:pt x="951826" y="0"/>
                  </a:lnTo>
                  <a:lnTo>
                    <a:pt x="951826" y="475913"/>
                  </a:lnTo>
                  <a:lnTo>
                    <a:pt x="0" y="4759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BE0E3">
                <a:hueOff val="0"/>
                <a:satOff val="0"/>
                <a:lumOff val="0"/>
                <a:alphaOff val="0"/>
              </a:srgbClr>
            </a:solidFill>
            <a:ln w="12700" cap="flat" cmpd="sng" algn="ctr">
              <a:solidFill>
                <a:srgbClr val="FFFFFF">
                  <a:hueOff val="0"/>
                  <a:satOff val="0"/>
                  <a:lumOff val="0"/>
                  <a:alphaOff val="0"/>
                </a:srgbClr>
              </a:solidFill>
              <a:prstDash val="solid"/>
              <a:miter lim="800000"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" tIns="7620" rIns="7620" bIns="7620" numCol="1" spcCol="1270" anchor="ctr" anchorCtr="0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s-ES" altLang="es-US" sz="1400" b="0" i="0" u="none" strike="noStrike" kern="1200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j-lt"/>
                  <a:ea typeface="+mn-ea"/>
                  <a:cs typeface="+mn-cs"/>
                </a:rPr>
                <a:t>Nóminas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78912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ES" dirty="0">
                <a:cs typeface="Times New Roman" pitchFamily="18" charset="0"/>
              </a:rPr>
              <a:t>4.1.1. Agrupación de unidades</a:t>
            </a:r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31E6992-B48E-4E13-A9CD-F20B6AAC6FC2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16</a:t>
            </a:fld>
            <a:endParaRPr lang="es-ES"/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F044A645-00DF-EB35-F1EA-80714764EB26}"/>
              </a:ext>
            </a:extLst>
          </p:cNvPr>
          <p:cNvSpPr txBox="1">
            <a:spLocks/>
          </p:cNvSpPr>
          <p:nvPr/>
        </p:nvSpPr>
        <p:spPr>
          <a:xfrm>
            <a:off x="472440" y="1706212"/>
            <a:ext cx="2903220" cy="1577792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s-ES" altLang="es-ES" sz="1350" b="1" kern="0">
                <a:solidFill>
                  <a:schemeClr val="tx2"/>
                </a:solidFill>
              </a:rPr>
              <a:t>Estructura virtual en Red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  <a:defRPr/>
            </a:pPr>
            <a:r>
              <a:rPr lang="es-ES" altLang="es-ES" sz="1350" kern="0">
                <a:solidFill>
                  <a:schemeClr val="tx2"/>
                </a:solidFill>
              </a:rPr>
              <a:t>Estructura pequeña, flexible y con gran capacidad de innovación</a:t>
            </a:r>
          </a:p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  <a:defRPr/>
            </a:pPr>
            <a:r>
              <a:rPr lang="es-ES" sz="1350" kern="0">
                <a:solidFill>
                  <a:schemeClr val="tx2"/>
                </a:solidFill>
              </a:rPr>
              <a:t>Temporalidad en el desarrollo de proyectos, estructura difusa, menor identificación de los empleados con la organización. </a:t>
            </a:r>
          </a:p>
          <a:p>
            <a:pPr marL="0" indent="0">
              <a:buFontTx/>
              <a:buNone/>
              <a:defRPr/>
            </a:pPr>
            <a:endParaRPr lang="es-ES" sz="1350" b="1" kern="0" dirty="0">
              <a:solidFill>
                <a:schemeClr val="tx2"/>
              </a:solidFill>
            </a:endParaRP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1911A788-00F7-EE3D-1377-82138DDC67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84049949"/>
              </p:ext>
            </p:extLst>
          </p:nvPr>
        </p:nvGraphicFramePr>
        <p:xfrm>
          <a:off x="121441" y="3140968"/>
          <a:ext cx="5193510" cy="3240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6E16DD6E-E6E6-6E6A-C9AA-91AE82084DE4}"/>
              </a:ext>
            </a:extLst>
          </p:cNvPr>
          <p:cNvSpPr txBox="1"/>
          <p:nvPr/>
        </p:nvSpPr>
        <p:spPr>
          <a:xfrm>
            <a:off x="4537202" y="1149562"/>
            <a:ext cx="4498848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s-ES" sz="1350" b="1" dirty="0">
                <a:solidFill>
                  <a:schemeClr val="tx2"/>
                </a:solidFill>
              </a:rPr>
              <a:t>Estructura en Trébol: </a:t>
            </a:r>
          </a:p>
          <a:p>
            <a:pPr>
              <a:defRPr/>
            </a:pPr>
            <a:r>
              <a:rPr lang="es-ES" sz="1350" dirty="0">
                <a:solidFill>
                  <a:schemeClr val="tx2"/>
                </a:solidFill>
              </a:rPr>
              <a:t>La empresa es el núcleo y giran en su eje tres hojas:</a:t>
            </a:r>
          </a:p>
          <a:p>
            <a:pPr marL="214313" indent="-214313">
              <a:buFont typeface="Arial" pitchFamily="34" charset="0"/>
              <a:buChar char="•"/>
              <a:defRPr/>
            </a:pPr>
            <a:r>
              <a:rPr lang="es-ES" sz="1200" b="1" dirty="0">
                <a:solidFill>
                  <a:schemeClr val="tx2"/>
                </a:solidFill>
                <a:latin typeface="Arial" charset="0"/>
              </a:rPr>
              <a:t>Primera</a:t>
            </a:r>
            <a:r>
              <a:rPr lang="es-ES" sz="1350" b="1" dirty="0">
                <a:solidFill>
                  <a:schemeClr val="tx2"/>
                </a:solidFill>
                <a:latin typeface="Arial" charset="0"/>
              </a:rPr>
              <a:t> :</a:t>
            </a:r>
            <a:r>
              <a:rPr lang="es-ES" sz="1350" dirty="0">
                <a:solidFill>
                  <a:schemeClr val="tx2"/>
                </a:solidFill>
                <a:latin typeface="Arial" charset="0"/>
              </a:rPr>
              <a:t> núcleo profesional que tiene todas las actividades propias y únicas de la empresa. </a:t>
            </a:r>
          </a:p>
          <a:p>
            <a:pPr marL="214313" indent="-214313">
              <a:buFont typeface="Arial" pitchFamily="34" charset="0"/>
              <a:buChar char="•"/>
              <a:defRPr/>
            </a:pPr>
            <a:r>
              <a:rPr lang="es-ES" sz="1200" b="1" dirty="0">
                <a:solidFill>
                  <a:schemeClr val="tx2"/>
                </a:solidFill>
                <a:latin typeface="Arial" charset="0"/>
              </a:rPr>
              <a:t>Segunda</a:t>
            </a:r>
            <a:r>
              <a:rPr lang="es-ES" sz="1350" dirty="0">
                <a:solidFill>
                  <a:schemeClr val="tx2"/>
                </a:solidFill>
                <a:latin typeface="Arial" charset="0"/>
              </a:rPr>
              <a:t>: subcontratación de todo el trabajo no esencial para la organización.</a:t>
            </a:r>
          </a:p>
          <a:p>
            <a:pPr marL="214313" indent="-214313">
              <a:buFont typeface="Arial" pitchFamily="34" charset="0"/>
              <a:buChar char="•"/>
              <a:defRPr/>
            </a:pPr>
            <a:r>
              <a:rPr lang="es-ES" sz="1200" b="1" dirty="0">
                <a:solidFill>
                  <a:schemeClr val="tx2"/>
                </a:solidFill>
                <a:latin typeface="Arial" charset="0"/>
              </a:rPr>
              <a:t>Tercera</a:t>
            </a:r>
            <a:r>
              <a:rPr lang="es-ES" sz="1350" dirty="0">
                <a:solidFill>
                  <a:schemeClr val="tx2"/>
                </a:solidFill>
                <a:latin typeface="Arial" charset="0"/>
              </a:rPr>
              <a:t>: fuerza de trabajo flexible, trabajadores a tiempo parcial s/necesidades.</a:t>
            </a:r>
          </a:p>
          <a:p>
            <a:pPr marL="214313" indent="-214313">
              <a:buFont typeface="Arial" pitchFamily="34" charset="0"/>
              <a:buChar char="•"/>
              <a:defRPr/>
            </a:pPr>
            <a:r>
              <a:rPr lang="es-ES" sz="1200" b="1" dirty="0">
                <a:solidFill>
                  <a:schemeClr val="tx2"/>
                </a:solidFill>
                <a:latin typeface="Arial" charset="0"/>
              </a:rPr>
              <a:t>Cuarta</a:t>
            </a:r>
            <a:r>
              <a:rPr lang="es-ES" sz="1200" dirty="0">
                <a:solidFill>
                  <a:schemeClr val="tx2"/>
                </a:solidFill>
                <a:latin typeface="Arial" charset="0"/>
              </a:rPr>
              <a:t>:</a:t>
            </a:r>
            <a:r>
              <a:rPr lang="es-ES" sz="1350" dirty="0">
                <a:solidFill>
                  <a:schemeClr val="tx2"/>
                </a:solidFill>
                <a:latin typeface="Arial" charset="0"/>
              </a:rPr>
              <a:t> trabajo que se traspasa a los clientes</a:t>
            </a:r>
          </a:p>
          <a:p>
            <a:endParaRPr lang="es-ES" sz="1350" dirty="0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4286C06B-EAA9-C768-F1C2-CBBDE5EA8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4951" y="3352217"/>
            <a:ext cx="3361505" cy="2400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E9AC948E-7B0D-9F2A-A05E-C0F6E9755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096511"/>
            <a:ext cx="3898824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bIns="0" anchor="ctr">
            <a:spAutoFit/>
          </a:bodyPr>
          <a:lstStyle/>
          <a:p>
            <a:pPr eaLnBrk="0" hangingPunct="0"/>
            <a:r>
              <a:rPr lang="es-ES_tradnl" b="1" dirty="0">
                <a:solidFill>
                  <a:srgbClr val="C00000"/>
                </a:solidFill>
              </a:rPr>
              <a:t>Nuevas estructuras organizativas</a:t>
            </a:r>
            <a:endParaRPr lang="es-ES_tradnl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5505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ES" dirty="0">
                <a:cs typeface="Times New Roman" pitchFamily="18" charset="0"/>
              </a:rPr>
              <a:t>4.1.1. Agrupación de unidades</a:t>
            </a:r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31E6992-B48E-4E13-A9CD-F20B6AAC6FC2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17</a:t>
            </a:fld>
            <a:endParaRPr lang="es-ES"/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250825" y="1096511"/>
            <a:ext cx="3898824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bIns="0" anchor="ctr">
            <a:spAutoFit/>
          </a:bodyPr>
          <a:lstStyle/>
          <a:p>
            <a:pPr eaLnBrk="0" hangingPunct="0"/>
            <a:r>
              <a:rPr lang="es-ES_tradnl" b="1" dirty="0">
                <a:solidFill>
                  <a:srgbClr val="C00000"/>
                </a:solidFill>
              </a:rPr>
              <a:t>Nuevas estructuras organizativas</a:t>
            </a:r>
            <a:endParaRPr lang="es-ES_tradnl" dirty="0">
              <a:solidFill>
                <a:srgbClr val="C00000"/>
              </a:solidFill>
            </a:endParaRPr>
          </a:p>
        </p:txBody>
      </p: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171508A6-A2BD-46C8-2C01-F3E4B88E5A52}"/>
              </a:ext>
            </a:extLst>
          </p:cNvPr>
          <p:cNvSpPr txBox="1">
            <a:spLocks/>
          </p:cNvSpPr>
          <p:nvPr/>
        </p:nvSpPr>
        <p:spPr>
          <a:xfrm>
            <a:off x="3986212" y="1548077"/>
            <a:ext cx="4700588" cy="31700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s-ES" sz="1275" b="1" kern="0">
                <a:solidFill>
                  <a:schemeClr val="tx2"/>
                </a:solidFill>
              </a:rPr>
              <a:t>Estructura hipertexto</a:t>
            </a:r>
          </a:p>
          <a:p>
            <a:pPr marL="0" indent="0" eaLnBrk="1" hangingPunct="1">
              <a:buFontTx/>
              <a:buNone/>
              <a:defRPr/>
            </a:pPr>
            <a:r>
              <a:rPr lang="es-ES" altLang="es-ES" sz="1275" kern="0">
                <a:solidFill>
                  <a:srgbClr val="000000"/>
                </a:solidFill>
              </a:rPr>
              <a:t>Capa de sistema de negocios: es la capa central, que desarrolla las operaciones normales de una organización. </a:t>
            </a:r>
          </a:p>
          <a:p>
            <a:pPr marL="0" indent="0" eaLnBrk="1" hangingPunct="1">
              <a:buFontTx/>
              <a:buNone/>
              <a:defRPr/>
            </a:pPr>
            <a:r>
              <a:rPr lang="es-ES" sz="1275" kern="0">
                <a:solidFill>
                  <a:srgbClr val="000000"/>
                </a:solidFill>
              </a:rPr>
              <a:t>Capa equipo de proyecto: múltiples equipos de diferentes unidades de la empresa,  realizan actividades creadoras de conocimiento, según la visión corporativa diseñada por la dirección de organización. </a:t>
            </a:r>
          </a:p>
          <a:p>
            <a:pPr marL="0" indent="0" eaLnBrk="1" hangingPunct="1">
              <a:buFontTx/>
              <a:buNone/>
              <a:defRPr/>
            </a:pPr>
            <a:r>
              <a:rPr lang="es-ES" sz="1275" kern="0">
                <a:solidFill>
                  <a:srgbClr val="000000"/>
                </a:solidFill>
              </a:rPr>
              <a:t>Capa base de conocimientos: mezcla el conocimiento generado en los niveles anteriores, recontextualizándolo y recategorizándolo, para que pueda ser transmitido a los demás miembros de la organización.</a:t>
            </a:r>
            <a:endParaRPr lang="es-ES" altLang="es-ES" sz="1275" kern="0">
              <a:solidFill>
                <a:srgbClr val="000000"/>
              </a:solidFill>
            </a:endParaRPr>
          </a:p>
          <a:p>
            <a:pPr marL="0" indent="0">
              <a:buFontTx/>
              <a:buNone/>
            </a:pPr>
            <a:endParaRPr lang="es-ES" sz="1275" kern="0" dirty="0">
              <a:solidFill>
                <a:srgbClr val="000000"/>
              </a:solidFill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BEFF371-688F-88C8-3D6B-78820E61E4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04" r="16593" b="-1"/>
          <a:stretch/>
        </p:blipFill>
        <p:spPr bwMode="auto">
          <a:xfrm>
            <a:off x="16" y="1760220"/>
            <a:ext cx="3415889" cy="3575257"/>
          </a:xfrm>
          <a:custGeom>
            <a:avLst/>
            <a:gdLst/>
            <a:ahLst/>
            <a:cxnLst/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noFill/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8279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ES" dirty="0">
                <a:cs typeface="Times New Roman" pitchFamily="18" charset="0"/>
              </a:rPr>
              <a:t>4.1.2. Cadena de mando</a:t>
            </a:r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3" name="2 Marcador de número de diapositiva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31E6992-B48E-4E13-A9CD-F20B6AAC6FC2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18</a:t>
            </a:fld>
            <a:endParaRPr lang="es-ES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87524" y="1014114"/>
            <a:ext cx="8568952" cy="5400675"/>
          </a:xfrm>
          <a:prstGeom prst="rect">
            <a:avLst/>
          </a:prstGeom>
        </p:spPr>
        <p:txBody>
          <a:bodyPr/>
          <a:lstStyle/>
          <a:p>
            <a:pPr marL="342900" indent="-342900" algn="just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</a:pPr>
            <a:r>
              <a:rPr lang="es-ES" b="1" dirty="0">
                <a:solidFill>
                  <a:srgbClr val="C00000"/>
                </a:solidFill>
                <a:cs typeface="Times New Roman" pitchFamily="18" charset="0"/>
              </a:rPr>
              <a:t>DIFERENCIACIÓN VERTICAL</a:t>
            </a:r>
            <a:endParaRPr lang="es-ES" b="1" dirty="0">
              <a:solidFill>
                <a:srgbClr val="C00000"/>
              </a:solidFill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s-E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spcBef>
                <a:spcPts val="600"/>
              </a:spcBef>
              <a:spcAft>
                <a:spcPct val="0"/>
              </a:spcAft>
              <a:buSzPct val="80000"/>
              <a:buFont typeface="Wingdings" pitchFamily="2" charset="2"/>
              <a:buChar char="q"/>
              <a:tabLst/>
              <a:defRPr/>
            </a:pPr>
            <a:r>
              <a:rPr kumimoji="0" lang="es-E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Implica la división del trabajo según el </a:t>
            </a:r>
            <a:r>
              <a:rPr kumimoji="0" lang="es-ES" b="1" i="0" u="sng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principio de jerarquía</a:t>
            </a:r>
            <a:r>
              <a:rPr kumimoji="0" lang="es-E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, las funciones y responsabilidades de las actividades quedan repartidas entre el superior y el subordinado </a:t>
            </a:r>
            <a:r>
              <a:rPr kumimoji="0" lang="es-E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  <a:sym typeface="Wingdings" pitchFamily="2" charset="2"/>
              </a:rPr>
              <a:t></a:t>
            </a:r>
            <a:r>
              <a:rPr kumimoji="0" lang="es-ES" b="0" i="0" u="none" strike="noStrike" kern="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s-ES" b="1" i="0" u="none" strike="noStrike" kern="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CADENA DE MANDO</a:t>
            </a:r>
            <a:r>
              <a:rPr kumimoji="0" lang="es-ES" b="0" i="0" u="none" strike="noStrike" kern="0" cap="none" spc="0" normalizeH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: </a:t>
            </a:r>
            <a:r>
              <a:rPr kumimoji="0" lang="es-ES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línea ininterrumpida de autoridad y comunicación que desciende del máximo nivel de la organización al nivel más bajo y aclara quién reporta a quién y ante quién se responde.</a:t>
            </a:r>
            <a:endParaRPr lang="es-ES" kern="0" baseline="0" dirty="0">
              <a:solidFill>
                <a:srgbClr val="C00000"/>
              </a:solidFill>
            </a:endParaRPr>
          </a:p>
          <a:p>
            <a:pPr marL="342900" marR="0" lvl="0" indent="-342900" algn="just" defTabSz="914400" rtl="0" eaLnBrk="1" fontAlgn="base" latinLnBrk="0" hangingPunct="1">
              <a:spcBef>
                <a:spcPts val="600"/>
              </a:spcBef>
              <a:spcAft>
                <a:spcPct val="0"/>
              </a:spcAft>
              <a:buSzPct val="80000"/>
              <a:buFont typeface="Wingdings" pitchFamily="2" charset="2"/>
              <a:buChar char="q"/>
              <a:tabLst/>
              <a:defRPr/>
            </a:pPr>
            <a:r>
              <a:rPr kumimoji="0" lang="es-ES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Conceptos complementarios:</a:t>
            </a:r>
          </a:p>
          <a:p>
            <a:pPr marL="723900" lvl="1" indent="-266700" algn="just" fontAlgn="base">
              <a:spcBef>
                <a:spcPts val="600"/>
              </a:spcBef>
              <a:spcAft>
                <a:spcPct val="0"/>
              </a:spcAft>
              <a:buSzPct val="80000"/>
              <a:buFont typeface="Courier New" pitchFamily="49" charset="0"/>
              <a:buChar char="o"/>
            </a:pPr>
            <a:r>
              <a:rPr lang="es-ES" u="sng" kern="0" baseline="0" dirty="0">
                <a:solidFill>
                  <a:srgbClr val="C00000"/>
                </a:solidFill>
              </a:rPr>
              <a:t>Autoridad</a:t>
            </a:r>
            <a:r>
              <a:rPr lang="es-ES" kern="0" baseline="0" dirty="0"/>
              <a:t>:</a:t>
            </a:r>
            <a:r>
              <a:rPr lang="es-ES" kern="0" dirty="0"/>
              <a:t> se refiere a los derechos inherente a un puesto directivo para </a:t>
            </a:r>
            <a:r>
              <a:rPr lang="es-ES_tradnl" dirty="0"/>
              <a:t>hacer que la gente sea responsable de sus acciones y, de este modo, influir en lo que hacen y cómo lo hacen.</a:t>
            </a:r>
          </a:p>
          <a:p>
            <a:pPr marL="723900" lvl="1" indent="-266700" algn="just" fontAlgn="base">
              <a:spcBef>
                <a:spcPts val="600"/>
              </a:spcBef>
              <a:spcAft>
                <a:spcPct val="0"/>
              </a:spcAft>
              <a:buSzPct val="80000"/>
              <a:buFont typeface="Courier New" pitchFamily="49" charset="0"/>
              <a:buChar char="o"/>
            </a:pPr>
            <a:r>
              <a:rPr kumimoji="0" lang="es-ES_tradnl" b="0" i="0" u="sng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ea typeface="+mn-ea"/>
                <a:cs typeface="+mn-cs"/>
              </a:rPr>
              <a:t>Principio de unidad de mando</a:t>
            </a:r>
            <a:r>
              <a:rPr kumimoji="0" lang="es-ES_tradnl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: establece que una persona tiene que</a:t>
            </a:r>
            <a:r>
              <a:rPr kumimoji="0" lang="es-ES_tradnl" b="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tener un superior, y sólo uno, ante quien es directamente responsable.</a:t>
            </a:r>
          </a:p>
          <a:p>
            <a:pPr marL="285750" indent="-285750" algn="just" fontAlgn="base">
              <a:spcBef>
                <a:spcPts val="600"/>
              </a:spcBef>
              <a:spcAft>
                <a:spcPct val="0"/>
              </a:spcAft>
              <a:buSzPct val="80000"/>
              <a:buFont typeface="Wingdings" panose="05000000000000000000" pitchFamily="2" charset="2"/>
              <a:buChar char="q"/>
            </a:pPr>
            <a:r>
              <a:rPr lang="es-ES" dirty="0"/>
              <a:t>Distinción entre la línea y el nivel:</a:t>
            </a:r>
          </a:p>
          <a:p>
            <a:pPr marL="742950" lvl="1" indent="-285750" algn="just">
              <a:lnSpc>
                <a:spcPct val="80000"/>
              </a:lnSpc>
              <a:spcAft>
                <a:spcPts val="600"/>
              </a:spcAft>
              <a:buSzPct val="80000"/>
              <a:buFont typeface="Courier New" panose="02070309020205020404" pitchFamily="49" charset="0"/>
              <a:buChar char="o"/>
            </a:pPr>
            <a:r>
              <a:rPr lang="es-ES" u="sng" dirty="0">
                <a:solidFill>
                  <a:srgbClr val="C00000"/>
                </a:solidFill>
              </a:rPr>
              <a:t>La línea</a:t>
            </a:r>
            <a:r>
              <a:rPr lang="es-ES" dirty="0"/>
              <a:t>: formada por las relaciones superior-subordinado. Define la estructura básica de autoridad y comunicación.</a:t>
            </a:r>
          </a:p>
          <a:p>
            <a:pPr marL="742950" lvl="1" indent="-285750" algn="just">
              <a:lnSpc>
                <a:spcPct val="80000"/>
              </a:lnSpc>
              <a:buSzPct val="80000"/>
              <a:buFont typeface="Courier New" panose="02070309020205020404" pitchFamily="49" charset="0"/>
              <a:buChar char="o"/>
            </a:pPr>
            <a:r>
              <a:rPr lang="es-ES" u="sng" dirty="0">
                <a:solidFill>
                  <a:srgbClr val="C00000"/>
                </a:solidFill>
              </a:rPr>
              <a:t>El nivel</a:t>
            </a:r>
            <a:r>
              <a:rPr lang="es-ES" dirty="0"/>
              <a:t>: es cada posición dentro de la línea. Más o menos niveles dan lugar a estructuras altas o planas. </a:t>
            </a:r>
          </a:p>
        </p:txBody>
      </p:sp>
      <p:sp>
        <p:nvSpPr>
          <p:cNvPr id="5" name="1 Título"/>
          <p:cNvSpPr>
            <a:spLocks/>
          </p:cNvSpPr>
          <p:nvPr/>
        </p:nvSpPr>
        <p:spPr bwMode="auto">
          <a:xfrm>
            <a:off x="457200" y="457200"/>
            <a:ext cx="82296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rIns="0" bIns="0" anchor="b"/>
          <a:lstStyle/>
          <a:p>
            <a:endParaRPr lang="es-ES" sz="2300" b="1" dirty="0">
              <a:solidFill>
                <a:srgbClr val="0000CC"/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0028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95536" y="1678039"/>
            <a:ext cx="3816424" cy="4127225"/>
            <a:chOff x="240" y="1843"/>
            <a:chExt cx="2304" cy="2333"/>
          </a:xfrm>
        </p:grpSpPr>
        <p:grpSp>
          <p:nvGrpSpPr>
            <p:cNvPr id="3" name="Group 4"/>
            <p:cNvGrpSpPr>
              <a:grpSpLocks/>
            </p:cNvGrpSpPr>
            <p:nvPr/>
          </p:nvGrpSpPr>
          <p:grpSpPr bwMode="auto">
            <a:xfrm>
              <a:off x="240" y="2208"/>
              <a:ext cx="2304" cy="1968"/>
              <a:chOff x="144" y="2208"/>
              <a:chExt cx="2304" cy="1968"/>
            </a:xfrm>
          </p:grpSpPr>
          <p:sp>
            <p:nvSpPr>
              <p:cNvPr id="15365" name="Rectangle 5"/>
              <p:cNvSpPr>
                <a:spLocks noChangeArrowheads="1"/>
              </p:cNvSpPr>
              <p:nvPr/>
            </p:nvSpPr>
            <p:spPr bwMode="auto">
              <a:xfrm>
                <a:off x="864" y="2208"/>
                <a:ext cx="384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366" name="Rectangle 6"/>
              <p:cNvSpPr>
                <a:spLocks noChangeArrowheads="1"/>
              </p:cNvSpPr>
              <p:nvPr/>
            </p:nvSpPr>
            <p:spPr bwMode="auto">
              <a:xfrm>
                <a:off x="336" y="2640"/>
                <a:ext cx="384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367" name="Rectangle 7"/>
              <p:cNvSpPr>
                <a:spLocks noChangeArrowheads="1"/>
              </p:cNvSpPr>
              <p:nvPr/>
            </p:nvSpPr>
            <p:spPr bwMode="auto">
              <a:xfrm>
                <a:off x="1392" y="2640"/>
                <a:ext cx="384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368" name="Rectangle 8"/>
              <p:cNvSpPr>
                <a:spLocks noChangeArrowheads="1"/>
              </p:cNvSpPr>
              <p:nvPr/>
            </p:nvSpPr>
            <p:spPr bwMode="auto">
              <a:xfrm>
                <a:off x="144" y="3072"/>
                <a:ext cx="384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369" name="Rectangle 9"/>
              <p:cNvSpPr>
                <a:spLocks noChangeArrowheads="1"/>
              </p:cNvSpPr>
              <p:nvPr/>
            </p:nvSpPr>
            <p:spPr bwMode="auto">
              <a:xfrm>
                <a:off x="624" y="3072"/>
                <a:ext cx="384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370" name="Rectangle 10"/>
              <p:cNvSpPr>
                <a:spLocks noChangeArrowheads="1"/>
              </p:cNvSpPr>
              <p:nvPr/>
            </p:nvSpPr>
            <p:spPr bwMode="auto">
              <a:xfrm>
                <a:off x="960" y="3504"/>
                <a:ext cx="384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371" name="Rectangle 11"/>
              <p:cNvSpPr>
                <a:spLocks noChangeArrowheads="1"/>
              </p:cNvSpPr>
              <p:nvPr/>
            </p:nvSpPr>
            <p:spPr bwMode="auto">
              <a:xfrm>
                <a:off x="336" y="3504"/>
                <a:ext cx="384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grpSp>
            <p:nvGrpSpPr>
              <p:cNvPr id="4" name="Group 12"/>
              <p:cNvGrpSpPr>
                <a:grpSpLocks/>
              </p:cNvGrpSpPr>
              <p:nvPr/>
            </p:nvGrpSpPr>
            <p:grpSpPr bwMode="auto">
              <a:xfrm>
                <a:off x="576" y="2448"/>
                <a:ext cx="1008" cy="192"/>
                <a:chOff x="528" y="2448"/>
                <a:chExt cx="1008" cy="192"/>
              </a:xfrm>
            </p:grpSpPr>
            <p:sp>
              <p:nvSpPr>
                <p:cNvPr id="15373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528" y="2544"/>
                  <a:ext cx="1008" cy="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374" name="Line 14"/>
                <p:cNvSpPr>
                  <a:spLocks noChangeShapeType="1"/>
                </p:cNvSpPr>
                <p:nvPr/>
              </p:nvSpPr>
              <p:spPr bwMode="auto">
                <a:xfrm>
                  <a:off x="1056" y="2448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375" name="Line 15"/>
                <p:cNvSpPr>
                  <a:spLocks noChangeShapeType="1"/>
                </p:cNvSpPr>
                <p:nvPr/>
              </p:nvSpPr>
              <p:spPr bwMode="auto">
                <a:xfrm>
                  <a:off x="528" y="2544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376" name="Line 16"/>
                <p:cNvSpPr>
                  <a:spLocks noChangeShapeType="1"/>
                </p:cNvSpPr>
                <p:nvPr/>
              </p:nvSpPr>
              <p:spPr bwMode="auto">
                <a:xfrm>
                  <a:off x="1536" y="2544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</p:grpSp>
          <p:grpSp>
            <p:nvGrpSpPr>
              <p:cNvPr id="5" name="Group 17"/>
              <p:cNvGrpSpPr>
                <a:grpSpLocks/>
              </p:cNvGrpSpPr>
              <p:nvPr/>
            </p:nvGrpSpPr>
            <p:grpSpPr bwMode="auto">
              <a:xfrm>
                <a:off x="240" y="2880"/>
                <a:ext cx="672" cy="192"/>
                <a:chOff x="528" y="2448"/>
                <a:chExt cx="1008" cy="192"/>
              </a:xfrm>
            </p:grpSpPr>
            <p:sp>
              <p:nvSpPr>
                <p:cNvPr id="15378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528" y="2544"/>
                  <a:ext cx="1008" cy="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379" name="Line 19"/>
                <p:cNvSpPr>
                  <a:spLocks noChangeShapeType="1"/>
                </p:cNvSpPr>
                <p:nvPr/>
              </p:nvSpPr>
              <p:spPr bwMode="auto">
                <a:xfrm>
                  <a:off x="1056" y="2448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380" name="Line 20"/>
                <p:cNvSpPr>
                  <a:spLocks noChangeShapeType="1"/>
                </p:cNvSpPr>
                <p:nvPr/>
              </p:nvSpPr>
              <p:spPr bwMode="auto">
                <a:xfrm>
                  <a:off x="528" y="2544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381" name="Line 21"/>
                <p:cNvSpPr>
                  <a:spLocks noChangeShapeType="1"/>
                </p:cNvSpPr>
                <p:nvPr/>
              </p:nvSpPr>
              <p:spPr bwMode="auto">
                <a:xfrm>
                  <a:off x="1536" y="2544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</p:grpSp>
          <p:grpSp>
            <p:nvGrpSpPr>
              <p:cNvPr id="6" name="Group 22"/>
              <p:cNvGrpSpPr>
                <a:grpSpLocks/>
              </p:cNvGrpSpPr>
              <p:nvPr/>
            </p:nvGrpSpPr>
            <p:grpSpPr bwMode="auto">
              <a:xfrm>
                <a:off x="480" y="3312"/>
                <a:ext cx="672" cy="192"/>
                <a:chOff x="528" y="2448"/>
                <a:chExt cx="1008" cy="192"/>
              </a:xfrm>
            </p:grpSpPr>
            <p:sp>
              <p:nvSpPr>
                <p:cNvPr id="15383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528" y="2544"/>
                  <a:ext cx="1008" cy="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384" name="Line 24"/>
                <p:cNvSpPr>
                  <a:spLocks noChangeShapeType="1"/>
                </p:cNvSpPr>
                <p:nvPr/>
              </p:nvSpPr>
              <p:spPr bwMode="auto">
                <a:xfrm>
                  <a:off x="1056" y="2448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385" name="Line 25"/>
                <p:cNvSpPr>
                  <a:spLocks noChangeShapeType="1"/>
                </p:cNvSpPr>
                <p:nvPr/>
              </p:nvSpPr>
              <p:spPr bwMode="auto">
                <a:xfrm>
                  <a:off x="528" y="2544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386" name="Line 26"/>
                <p:cNvSpPr>
                  <a:spLocks noChangeShapeType="1"/>
                </p:cNvSpPr>
                <p:nvPr/>
              </p:nvSpPr>
              <p:spPr bwMode="auto">
                <a:xfrm>
                  <a:off x="1536" y="2544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</p:grpSp>
          <p:grpSp>
            <p:nvGrpSpPr>
              <p:cNvPr id="7" name="Group 27"/>
              <p:cNvGrpSpPr>
                <a:grpSpLocks/>
              </p:cNvGrpSpPr>
              <p:nvPr/>
            </p:nvGrpSpPr>
            <p:grpSpPr bwMode="auto">
              <a:xfrm>
                <a:off x="1200" y="2880"/>
                <a:ext cx="768" cy="192"/>
                <a:chOff x="1200" y="2880"/>
                <a:chExt cx="816" cy="192"/>
              </a:xfrm>
            </p:grpSpPr>
            <p:sp>
              <p:nvSpPr>
                <p:cNvPr id="15388" name="Line 28"/>
                <p:cNvSpPr>
                  <a:spLocks noChangeShapeType="1"/>
                </p:cNvSpPr>
                <p:nvPr/>
              </p:nvSpPr>
              <p:spPr bwMode="auto">
                <a:xfrm flipH="1">
                  <a:off x="1200" y="2976"/>
                  <a:ext cx="816" cy="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389" name="Line 29"/>
                <p:cNvSpPr>
                  <a:spLocks noChangeShapeType="1"/>
                </p:cNvSpPr>
                <p:nvPr/>
              </p:nvSpPr>
              <p:spPr bwMode="auto">
                <a:xfrm>
                  <a:off x="1632" y="2880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390" name="Line 30"/>
                <p:cNvSpPr>
                  <a:spLocks noChangeShapeType="1"/>
                </p:cNvSpPr>
                <p:nvPr/>
              </p:nvSpPr>
              <p:spPr bwMode="auto">
                <a:xfrm>
                  <a:off x="1200" y="297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391" name="Line 31"/>
                <p:cNvSpPr>
                  <a:spLocks noChangeShapeType="1"/>
                </p:cNvSpPr>
                <p:nvPr/>
              </p:nvSpPr>
              <p:spPr bwMode="auto">
                <a:xfrm>
                  <a:off x="1632" y="297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392" name="Line 32"/>
                <p:cNvSpPr>
                  <a:spLocks noChangeShapeType="1"/>
                </p:cNvSpPr>
                <p:nvPr/>
              </p:nvSpPr>
              <p:spPr bwMode="auto">
                <a:xfrm>
                  <a:off x="2016" y="2976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</p:grpSp>
          <p:grpSp>
            <p:nvGrpSpPr>
              <p:cNvPr id="8" name="Group 33"/>
              <p:cNvGrpSpPr>
                <a:grpSpLocks/>
              </p:cNvGrpSpPr>
              <p:nvPr/>
            </p:nvGrpSpPr>
            <p:grpSpPr bwMode="auto">
              <a:xfrm>
                <a:off x="1632" y="3360"/>
                <a:ext cx="672" cy="192"/>
                <a:chOff x="528" y="2448"/>
                <a:chExt cx="1008" cy="192"/>
              </a:xfrm>
            </p:grpSpPr>
            <p:sp>
              <p:nvSpPr>
                <p:cNvPr id="15394" name="Line 34"/>
                <p:cNvSpPr>
                  <a:spLocks noChangeShapeType="1"/>
                </p:cNvSpPr>
                <p:nvPr/>
              </p:nvSpPr>
              <p:spPr bwMode="auto">
                <a:xfrm flipH="1">
                  <a:off x="528" y="2544"/>
                  <a:ext cx="1008" cy="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395" name="Line 35"/>
                <p:cNvSpPr>
                  <a:spLocks noChangeShapeType="1"/>
                </p:cNvSpPr>
                <p:nvPr/>
              </p:nvSpPr>
              <p:spPr bwMode="auto">
                <a:xfrm>
                  <a:off x="1056" y="2448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396" name="Line 36"/>
                <p:cNvSpPr>
                  <a:spLocks noChangeShapeType="1"/>
                </p:cNvSpPr>
                <p:nvPr/>
              </p:nvSpPr>
              <p:spPr bwMode="auto">
                <a:xfrm>
                  <a:off x="528" y="2544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397" name="Line 37"/>
                <p:cNvSpPr>
                  <a:spLocks noChangeShapeType="1"/>
                </p:cNvSpPr>
                <p:nvPr/>
              </p:nvSpPr>
              <p:spPr bwMode="auto">
                <a:xfrm>
                  <a:off x="1536" y="2544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</p:grpSp>
          <p:grpSp>
            <p:nvGrpSpPr>
              <p:cNvPr id="9" name="Group 38"/>
              <p:cNvGrpSpPr>
                <a:grpSpLocks/>
              </p:cNvGrpSpPr>
              <p:nvPr/>
            </p:nvGrpSpPr>
            <p:grpSpPr bwMode="auto">
              <a:xfrm>
                <a:off x="240" y="3744"/>
                <a:ext cx="480" cy="192"/>
                <a:chOff x="528" y="2448"/>
                <a:chExt cx="1008" cy="192"/>
              </a:xfrm>
            </p:grpSpPr>
            <p:sp>
              <p:nvSpPr>
                <p:cNvPr id="15399" name="Line 39"/>
                <p:cNvSpPr>
                  <a:spLocks noChangeShapeType="1"/>
                </p:cNvSpPr>
                <p:nvPr/>
              </p:nvSpPr>
              <p:spPr bwMode="auto">
                <a:xfrm flipH="1">
                  <a:off x="528" y="2544"/>
                  <a:ext cx="1008" cy="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00" name="Line 40"/>
                <p:cNvSpPr>
                  <a:spLocks noChangeShapeType="1"/>
                </p:cNvSpPr>
                <p:nvPr/>
              </p:nvSpPr>
              <p:spPr bwMode="auto">
                <a:xfrm>
                  <a:off x="1056" y="2448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01" name="Line 41"/>
                <p:cNvSpPr>
                  <a:spLocks noChangeShapeType="1"/>
                </p:cNvSpPr>
                <p:nvPr/>
              </p:nvSpPr>
              <p:spPr bwMode="auto">
                <a:xfrm>
                  <a:off x="528" y="2544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02" name="Line 42"/>
                <p:cNvSpPr>
                  <a:spLocks noChangeShapeType="1"/>
                </p:cNvSpPr>
                <p:nvPr/>
              </p:nvSpPr>
              <p:spPr bwMode="auto">
                <a:xfrm>
                  <a:off x="1536" y="2544"/>
                  <a:ext cx="0" cy="96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</p:grpSp>
          <p:sp>
            <p:nvSpPr>
              <p:cNvPr id="15403" name="Rectangle 43"/>
              <p:cNvSpPr>
                <a:spLocks noChangeArrowheads="1"/>
              </p:cNvSpPr>
              <p:nvPr/>
            </p:nvSpPr>
            <p:spPr bwMode="auto">
              <a:xfrm>
                <a:off x="192" y="3936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04" name="Rectangle 44"/>
              <p:cNvSpPr>
                <a:spLocks noChangeArrowheads="1"/>
              </p:cNvSpPr>
              <p:nvPr/>
            </p:nvSpPr>
            <p:spPr bwMode="auto">
              <a:xfrm>
                <a:off x="528" y="3936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05" name="Rectangle 45"/>
              <p:cNvSpPr>
                <a:spLocks noChangeArrowheads="1"/>
              </p:cNvSpPr>
              <p:nvPr/>
            </p:nvSpPr>
            <p:spPr bwMode="auto">
              <a:xfrm>
                <a:off x="2064" y="3552"/>
                <a:ext cx="384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06" name="Rectangle 46"/>
              <p:cNvSpPr>
                <a:spLocks noChangeArrowheads="1"/>
              </p:cNvSpPr>
              <p:nvPr/>
            </p:nvSpPr>
            <p:spPr bwMode="auto">
              <a:xfrm>
                <a:off x="1440" y="3552"/>
                <a:ext cx="384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07" name="Rectangle 47"/>
              <p:cNvSpPr>
                <a:spLocks noChangeArrowheads="1"/>
              </p:cNvSpPr>
              <p:nvPr/>
            </p:nvSpPr>
            <p:spPr bwMode="auto">
              <a:xfrm>
                <a:off x="1104" y="3072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08" name="Rectangle 48"/>
              <p:cNvSpPr>
                <a:spLocks noChangeArrowheads="1"/>
              </p:cNvSpPr>
              <p:nvPr/>
            </p:nvSpPr>
            <p:spPr bwMode="auto">
              <a:xfrm>
                <a:off x="1824" y="3072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09" name="Rectangle 49"/>
              <p:cNvSpPr>
                <a:spLocks noChangeArrowheads="1"/>
              </p:cNvSpPr>
              <p:nvPr/>
            </p:nvSpPr>
            <p:spPr bwMode="auto">
              <a:xfrm>
                <a:off x="1488" y="3072"/>
                <a:ext cx="240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</p:grpSp>
        <p:sp>
          <p:nvSpPr>
            <p:cNvPr id="15410" name="Rectangle 50"/>
            <p:cNvSpPr>
              <a:spLocks noChangeArrowheads="1"/>
            </p:cNvSpPr>
            <p:nvPr/>
          </p:nvSpPr>
          <p:spPr bwMode="auto">
            <a:xfrm>
              <a:off x="654" y="1843"/>
              <a:ext cx="1331" cy="2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s-ES" sz="2200" dirty="0">
                  <a:solidFill>
                    <a:srgbClr val="C00000"/>
                  </a:solidFill>
                  <a:latin typeface="Comic Sans MS" pitchFamily="66" charset="0"/>
                </a:rPr>
                <a:t>Estructura alta</a:t>
              </a:r>
            </a:p>
          </p:txBody>
        </p:sp>
      </p:grpSp>
      <p:grpSp>
        <p:nvGrpSpPr>
          <p:cNvPr id="10" name="Group 51"/>
          <p:cNvGrpSpPr>
            <a:grpSpLocks/>
          </p:cNvGrpSpPr>
          <p:nvPr/>
        </p:nvGrpSpPr>
        <p:grpSpPr bwMode="auto">
          <a:xfrm>
            <a:off x="3923928" y="1678487"/>
            <a:ext cx="5040560" cy="2549988"/>
            <a:chOff x="2544" y="1877"/>
            <a:chExt cx="3072" cy="1435"/>
          </a:xfrm>
        </p:grpSpPr>
        <p:grpSp>
          <p:nvGrpSpPr>
            <p:cNvPr id="11" name="Group 52"/>
            <p:cNvGrpSpPr>
              <a:grpSpLocks/>
            </p:cNvGrpSpPr>
            <p:nvPr/>
          </p:nvGrpSpPr>
          <p:grpSpPr bwMode="auto">
            <a:xfrm>
              <a:off x="2544" y="2208"/>
              <a:ext cx="3072" cy="1104"/>
              <a:chOff x="2544" y="2208"/>
              <a:chExt cx="3072" cy="1104"/>
            </a:xfrm>
          </p:grpSpPr>
          <p:sp>
            <p:nvSpPr>
              <p:cNvPr id="15413" name="Rectangle 53"/>
              <p:cNvSpPr>
                <a:spLocks noChangeArrowheads="1"/>
              </p:cNvSpPr>
              <p:nvPr/>
            </p:nvSpPr>
            <p:spPr bwMode="auto">
              <a:xfrm>
                <a:off x="2544" y="2688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14" name="Rectangle 54"/>
              <p:cNvSpPr>
                <a:spLocks noChangeArrowheads="1"/>
              </p:cNvSpPr>
              <p:nvPr/>
            </p:nvSpPr>
            <p:spPr bwMode="auto">
              <a:xfrm>
                <a:off x="3888" y="2208"/>
                <a:ext cx="384" cy="240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15" name="Rectangle 55"/>
              <p:cNvSpPr>
                <a:spLocks noChangeArrowheads="1"/>
              </p:cNvSpPr>
              <p:nvPr/>
            </p:nvSpPr>
            <p:spPr bwMode="auto">
              <a:xfrm>
                <a:off x="2784" y="2688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16" name="Rectangle 56"/>
              <p:cNvSpPr>
                <a:spLocks noChangeArrowheads="1"/>
              </p:cNvSpPr>
              <p:nvPr/>
            </p:nvSpPr>
            <p:spPr bwMode="auto">
              <a:xfrm>
                <a:off x="3024" y="2688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grpSp>
            <p:nvGrpSpPr>
              <p:cNvPr id="12" name="Group 57"/>
              <p:cNvGrpSpPr>
                <a:grpSpLocks/>
              </p:cNvGrpSpPr>
              <p:nvPr/>
            </p:nvGrpSpPr>
            <p:grpSpPr bwMode="auto">
              <a:xfrm>
                <a:off x="2640" y="2448"/>
                <a:ext cx="2928" cy="240"/>
                <a:chOff x="3264" y="2448"/>
                <a:chExt cx="2304" cy="240"/>
              </a:xfrm>
            </p:grpSpPr>
            <p:sp>
              <p:nvSpPr>
                <p:cNvPr id="15418" name="Line 58"/>
                <p:cNvSpPr>
                  <a:spLocks noChangeShapeType="1"/>
                </p:cNvSpPr>
                <p:nvPr/>
              </p:nvSpPr>
              <p:spPr bwMode="auto">
                <a:xfrm>
                  <a:off x="4416" y="2448"/>
                  <a:ext cx="0" cy="24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19" name="Line 59"/>
                <p:cNvSpPr>
                  <a:spLocks noChangeShapeType="1"/>
                </p:cNvSpPr>
                <p:nvPr/>
              </p:nvSpPr>
              <p:spPr bwMode="auto">
                <a:xfrm flipH="1">
                  <a:off x="3264" y="2544"/>
                  <a:ext cx="2304" cy="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20" name="Line 60"/>
                <p:cNvSpPr>
                  <a:spLocks noChangeShapeType="1"/>
                </p:cNvSpPr>
                <p:nvPr/>
              </p:nvSpPr>
              <p:spPr bwMode="auto">
                <a:xfrm>
                  <a:off x="3264" y="2544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21" name="Line 61"/>
                <p:cNvSpPr>
                  <a:spLocks noChangeShapeType="1"/>
                </p:cNvSpPr>
                <p:nvPr/>
              </p:nvSpPr>
              <p:spPr bwMode="auto">
                <a:xfrm>
                  <a:off x="3456" y="2544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22" name="Line 62"/>
                <p:cNvSpPr>
                  <a:spLocks noChangeShapeType="1"/>
                </p:cNvSpPr>
                <p:nvPr/>
              </p:nvSpPr>
              <p:spPr bwMode="auto">
                <a:xfrm>
                  <a:off x="3840" y="2544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23" name="Line 63"/>
                <p:cNvSpPr>
                  <a:spLocks noChangeShapeType="1"/>
                </p:cNvSpPr>
                <p:nvPr/>
              </p:nvSpPr>
              <p:spPr bwMode="auto">
                <a:xfrm>
                  <a:off x="3648" y="2544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24" name="Line 64"/>
                <p:cNvSpPr>
                  <a:spLocks noChangeShapeType="1"/>
                </p:cNvSpPr>
                <p:nvPr/>
              </p:nvSpPr>
              <p:spPr bwMode="auto">
                <a:xfrm>
                  <a:off x="4032" y="2544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25" name="Line 65"/>
                <p:cNvSpPr>
                  <a:spLocks noChangeShapeType="1"/>
                </p:cNvSpPr>
                <p:nvPr/>
              </p:nvSpPr>
              <p:spPr bwMode="auto">
                <a:xfrm>
                  <a:off x="5376" y="2544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26" name="Line 66"/>
                <p:cNvSpPr>
                  <a:spLocks noChangeShapeType="1"/>
                </p:cNvSpPr>
                <p:nvPr/>
              </p:nvSpPr>
              <p:spPr bwMode="auto">
                <a:xfrm>
                  <a:off x="4608" y="2544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27" name="Line 67"/>
                <p:cNvSpPr>
                  <a:spLocks noChangeShapeType="1"/>
                </p:cNvSpPr>
                <p:nvPr/>
              </p:nvSpPr>
              <p:spPr bwMode="auto">
                <a:xfrm>
                  <a:off x="4992" y="2544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28" name="Line 68"/>
                <p:cNvSpPr>
                  <a:spLocks noChangeShapeType="1"/>
                </p:cNvSpPr>
                <p:nvPr/>
              </p:nvSpPr>
              <p:spPr bwMode="auto">
                <a:xfrm>
                  <a:off x="4800" y="2544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29" name="Line 69"/>
                <p:cNvSpPr>
                  <a:spLocks noChangeShapeType="1"/>
                </p:cNvSpPr>
                <p:nvPr/>
              </p:nvSpPr>
              <p:spPr bwMode="auto">
                <a:xfrm>
                  <a:off x="5184" y="2544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30" name="Line 70"/>
                <p:cNvSpPr>
                  <a:spLocks noChangeShapeType="1"/>
                </p:cNvSpPr>
                <p:nvPr/>
              </p:nvSpPr>
              <p:spPr bwMode="auto">
                <a:xfrm>
                  <a:off x="4224" y="2544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31" name="Line 71"/>
                <p:cNvSpPr>
                  <a:spLocks noChangeShapeType="1"/>
                </p:cNvSpPr>
                <p:nvPr/>
              </p:nvSpPr>
              <p:spPr bwMode="auto">
                <a:xfrm>
                  <a:off x="5568" y="2544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</p:grpSp>
          <p:sp>
            <p:nvSpPr>
              <p:cNvPr id="15432" name="Rectangle 72"/>
              <p:cNvSpPr>
                <a:spLocks noChangeArrowheads="1"/>
              </p:cNvSpPr>
              <p:nvPr/>
            </p:nvSpPr>
            <p:spPr bwMode="auto">
              <a:xfrm>
                <a:off x="3744" y="2688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33" name="Rectangle 73"/>
              <p:cNvSpPr>
                <a:spLocks noChangeArrowheads="1"/>
              </p:cNvSpPr>
              <p:nvPr/>
            </p:nvSpPr>
            <p:spPr bwMode="auto">
              <a:xfrm>
                <a:off x="3984" y="2688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34" name="Rectangle 74"/>
              <p:cNvSpPr>
                <a:spLocks noChangeArrowheads="1"/>
              </p:cNvSpPr>
              <p:nvPr/>
            </p:nvSpPr>
            <p:spPr bwMode="auto">
              <a:xfrm>
                <a:off x="4464" y="2688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35" name="Rectangle 75"/>
              <p:cNvSpPr>
                <a:spLocks noChangeArrowheads="1"/>
              </p:cNvSpPr>
              <p:nvPr/>
            </p:nvSpPr>
            <p:spPr bwMode="auto">
              <a:xfrm>
                <a:off x="4704" y="2688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36" name="Rectangle 76"/>
              <p:cNvSpPr>
                <a:spLocks noChangeArrowheads="1"/>
              </p:cNvSpPr>
              <p:nvPr/>
            </p:nvSpPr>
            <p:spPr bwMode="auto">
              <a:xfrm>
                <a:off x="5184" y="2688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37" name="Rectangle 77"/>
              <p:cNvSpPr>
                <a:spLocks noChangeArrowheads="1"/>
              </p:cNvSpPr>
              <p:nvPr/>
            </p:nvSpPr>
            <p:spPr bwMode="auto">
              <a:xfrm>
                <a:off x="5424" y="2688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38" name="Rectangle 78"/>
              <p:cNvSpPr>
                <a:spLocks noChangeArrowheads="1"/>
              </p:cNvSpPr>
              <p:nvPr/>
            </p:nvSpPr>
            <p:spPr bwMode="auto">
              <a:xfrm>
                <a:off x="3264" y="2688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39" name="Rectangle 79"/>
              <p:cNvSpPr>
                <a:spLocks noChangeArrowheads="1"/>
              </p:cNvSpPr>
              <p:nvPr/>
            </p:nvSpPr>
            <p:spPr bwMode="auto">
              <a:xfrm>
                <a:off x="3504" y="2688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40" name="Rectangle 80"/>
              <p:cNvSpPr>
                <a:spLocks noChangeArrowheads="1"/>
              </p:cNvSpPr>
              <p:nvPr/>
            </p:nvSpPr>
            <p:spPr bwMode="auto">
              <a:xfrm>
                <a:off x="4224" y="2688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41" name="Rectangle 81"/>
              <p:cNvSpPr>
                <a:spLocks noChangeArrowheads="1"/>
              </p:cNvSpPr>
              <p:nvPr/>
            </p:nvSpPr>
            <p:spPr bwMode="auto">
              <a:xfrm>
                <a:off x="4944" y="2688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grpSp>
            <p:nvGrpSpPr>
              <p:cNvPr id="13" name="Group 82"/>
              <p:cNvGrpSpPr>
                <a:grpSpLocks/>
              </p:cNvGrpSpPr>
              <p:nvPr/>
            </p:nvGrpSpPr>
            <p:grpSpPr bwMode="auto">
              <a:xfrm>
                <a:off x="2688" y="2880"/>
                <a:ext cx="1200" cy="240"/>
                <a:chOff x="2688" y="2880"/>
                <a:chExt cx="1152" cy="240"/>
              </a:xfrm>
            </p:grpSpPr>
            <p:sp>
              <p:nvSpPr>
                <p:cNvPr id="15443" name="Line 83"/>
                <p:cNvSpPr>
                  <a:spLocks noChangeShapeType="1"/>
                </p:cNvSpPr>
                <p:nvPr/>
              </p:nvSpPr>
              <p:spPr bwMode="auto">
                <a:xfrm>
                  <a:off x="3364" y="2880"/>
                  <a:ext cx="0" cy="24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44" name="Line 84"/>
                <p:cNvSpPr>
                  <a:spLocks noChangeShapeType="1"/>
                </p:cNvSpPr>
                <p:nvPr/>
              </p:nvSpPr>
              <p:spPr bwMode="auto">
                <a:xfrm flipH="1">
                  <a:off x="2688" y="2976"/>
                  <a:ext cx="1152" cy="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45" name="Line 85"/>
                <p:cNvSpPr>
                  <a:spLocks noChangeShapeType="1"/>
                </p:cNvSpPr>
                <p:nvPr/>
              </p:nvSpPr>
              <p:spPr bwMode="auto">
                <a:xfrm>
                  <a:off x="2688" y="2976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46" name="Line 86"/>
                <p:cNvSpPr>
                  <a:spLocks noChangeShapeType="1"/>
                </p:cNvSpPr>
                <p:nvPr/>
              </p:nvSpPr>
              <p:spPr bwMode="auto">
                <a:xfrm>
                  <a:off x="2913" y="2976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47" name="Line 87"/>
                <p:cNvSpPr>
                  <a:spLocks noChangeShapeType="1"/>
                </p:cNvSpPr>
                <p:nvPr/>
              </p:nvSpPr>
              <p:spPr bwMode="auto">
                <a:xfrm>
                  <a:off x="3139" y="2976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48" name="Line 88"/>
                <p:cNvSpPr>
                  <a:spLocks noChangeShapeType="1"/>
                </p:cNvSpPr>
                <p:nvPr/>
              </p:nvSpPr>
              <p:spPr bwMode="auto">
                <a:xfrm>
                  <a:off x="3590" y="2976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49" name="Line 89"/>
                <p:cNvSpPr>
                  <a:spLocks noChangeShapeType="1"/>
                </p:cNvSpPr>
                <p:nvPr/>
              </p:nvSpPr>
              <p:spPr bwMode="auto">
                <a:xfrm>
                  <a:off x="3840" y="2976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</p:grpSp>
          <p:sp>
            <p:nvSpPr>
              <p:cNvPr id="15450" name="Rectangle 90"/>
              <p:cNvSpPr>
                <a:spLocks noChangeArrowheads="1"/>
              </p:cNvSpPr>
              <p:nvPr/>
            </p:nvSpPr>
            <p:spPr bwMode="auto">
              <a:xfrm>
                <a:off x="2592" y="3120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51" name="Rectangle 91"/>
              <p:cNvSpPr>
                <a:spLocks noChangeArrowheads="1"/>
              </p:cNvSpPr>
              <p:nvPr/>
            </p:nvSpPr>
            <p:spPr bwMode="auto">
              <a:xfrm>
                <a:off x="2832" y="3120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52" name="Rectangle 92"/>
              <p:cNvSpPr>
                <a:spLocks noChangeArrowheads="1"/>
              </p:cNvSpPr>
              <p:nvPr/>
            </p:nvSpPr>
            <p:spPr bwMode="auto">
              <a:xfrm>
                <a:off x="3072" y="3120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53" name="Rectangle 93"/>
              <p:cNvSpPr>
                <a:spLocks noChangeArrowheads="1"/>
              </p:cNvSpPr>
              <p:nvPr/>
            </p:nvSpPr>
            <p:spPr bwMode="auto">
              <a:xfrm>
                <a:off x="3792" y="3120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54" name="Rectangle 94"/>
              <p:cNvSpPr>
                <a:spLocks noChangeArrowheads="1"/>
              </p:cNvSpPr>
              <p:nvPr/>
            </p:nvSpPr>
            <p:spPr bwMode="auto">
              <a:xfrm>
                <a:off x="3312" y="3120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55" name="Rectangle 95"/>
              <p:cNvSpPr>
                <a:spLocks noChangeArrowheads="1"/>
              </p:cNvSpPr>
              <p:nvPr/>
            </p:nvSpPr>
            <p:spPr bwMode="auto">
              <a:xfrm>
                <a:off x="3552" y="3120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grpSp>
            <p:nvGrpSpPr>
              <p:cNvPr id="14" name="Group 96"/>
              <p:cNvGrpSpPr>
                <a:grpSpLocks/>
              </p:cNvGrpSpPr>
              <p:nvPr/>
            </p:nvGrpSpPr>
            <p:grpSpPr bwMode="auto">
              <a:xfrm>
                <a:off x="4320" y="2880"/>
                <a:ext cx="1200" cy="240"/>
                <a:chOff x="2688" y="2880"/>
                <a:chExt cx="1152" cy="240"/>
              </a:xfrm>
            </p:grpSpPr>
            <p:sp>
              <p:nvSpPr>
                <p:cNvPr id="15457" name="Line 97"/>
                <p:cNvSpPr>
                  <a:spLocks noChangeShapeType="1"/>
                </p:cNvSpPr>
                <p:nvPr/>
              </p:nvSpPr>
              <p:spPr bwMode="auto">
                <a:xfrm>
                  <a:off x="3364" y="2880"/>
                  <a:ext cx="0" cy="24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58" name="Line 98"/>
                <p:cNvSpPr>
                  <a:spLocks noChangeShapeType="1"/>
                </p:cNvSpPr>
                <p:nvPr/>
              </p:nvSpPr>
              <p:spPr bwMode="auto">
                <a:xfrm flipH="1">
                  <a:off x="2688" y="2976"/>
                  <a:ext cx="1152" cy="0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59" name="Line 99"/>
                <p:cNvSpPr>
                  <a:spLocks noChangeShapeType="1"/>
                </p:cNvSpPr>
                <p:nvPr/>
              </p:nvSpPr>
              <p:spPr bwMode="auto">
                <a:xfrm>
                  <a:off x="2688" y="2976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60" name="Line 100"/>
                <p:cNvSpPr>
                  <a:spLocks noChangeShapeType="1"/>
                </p:cNvSpPr>
                <p:nvPr/>
              </p:nvSpPr>
              <p:spPr bwMode="auto">
                <a:xfrm>
                  <a:off x="2913" y="2976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61" name="Line 101"/>
                <p:cNvSpPr>
                  <a:spLocks noChangeShapeType="1"/>
                </p:cNvSpPr>
                <p:nvPr/>
              </p:nvSpPr>
              <p:spPr bwMode="auto">
                <a:xfrm>
                  <a:off x="3139" y="2976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62" name="Line 102"/>
                <p:cNvSpPr>
                  <a:spLocks noChangeShapeType="1"/>
                </p:cNvSpPr>
                <p:nvPr/>
              </p:nvSpPr>
              <p:spPr bwMode="auto">
                <a:xfrm>
                  <a:off x="3590" y="2976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  <p:sp>
              <p:nvSpPr>
                <p:cNvPr id="15463" name="Line 103"/>
                <p:cNvSpPr>
                  <a:spLocks noChangeShapeType="1"/>
                </p:cNvSpPr>
                <p:nvPr/>
              </p:nvSpPr>
              <p:spPr bwMode="auto">
                <a:xfrm>
                  <a:off x="3840" y="2976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2"/>
                  </a:solidFill>
                  <a:round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endParaRPr lang="es-ES"/>
                </a:p>
              </p:txBody>
            </p:sp>
          </p:grpSp>
          <p:sp>
            <p:nvSpPr>
              <p:cNvPr id="15464" name="Rectangle 104"/>
              <p:cNvSpPr>
                <a:spLocks noChangeArrowheads="1"/>
              </p:cNvSpPr>
              <p:nvPr/>
            </p:nvSpPr>
            <p:spPr bwMode="auto">
              <a:xfrm>
                <a:off x="4224" y="3120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65" name="Rectangle 105"/>
              <p:cNvSpPr>
                <a:spLocks noChangeArrowheads="1"/>
              </p:cNvSpPr>
              <p:nvPr/>
            </p:nvSpPr>
            <p:spPr bwMode="auto">
              <a:xfrm>
                <a:off x="4464" y="3120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66" name="Rectangle 106"/>
              <p:cNvSpPr>
                <a:spLocks noChangeArrowheads="1"/>
              </p:cNvSpPr>
              <p:nvPr/>
            </p:nvSpPr>
            <p:spPr bwMode="auto">
              <a:xfrm>
                <a:off x="4704" y="3120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67" name="Rectangle 107"/>
              <p:cNvSpPr>
                <a:spLocks noChangeArrowheads="1"/>
              </p:cNvSpPr>
              <p:nvPr/>
            </p:nvSpPr>
            <p:spPr bwMode="auto">
              <a:xfrm>
                <a:off x="5424" y="3120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68" name="Rectangle 108"/>
              <p:cNvSpPr>
                <a:spLocks noChangeArrowheads="1"/>
              </p:cNvSpPr>
              <p:nvPr/>
            </p:nvSpPr>
            <p:spPr bwMode="auto">
              <a:xfrm>
                <a:off x="4944" y="3120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  <p:sp>
            <p:nvSpPr>
              <p:cNvPr id="15469" name="Rectangle 109"/>
              <p:cNvSpPr>
                <a:spLocks noChangeArrowheads="1"/>
              </p:cNvSpPr>
              <p:nvPr/>
            </p:nvSpPr>
            <p:spPr bwMode="auto">
              <a:xfrm>
                <a:off x="5184" y="3120"/>
                <a:ext cx="192" cy="192"/>
              </a:xfrm>
              <a:prstGeom prst="rect">
                <a:avLst/>
              </a:prstGeom>
              <a:solidFill>
                <a:schemeClr val="folHlink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endParaRPr lang="es-ES"/>
              </a:p>
            </p:txBody>
          </p:sp>
        </p:grpSp>
        <p:sp>
          <p:nvSpPr>
            <p:cNvPr id="15470" name="Rectangle 110"/>
            <p:cNvSpPr>
              <a:spLocks noChangeArrowheads="1"/>
            </p:cNvSpPr>
            <p:nvPr/>
          </p:nvSpPr>
          <p:spPr bwMode="auto">
            <a:xfrm>
              <a:off x="3364" y="1877"/>
              <a:ext cx="1444" cy="2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s-ES" sz="2200" dirty="0">
                  <a:solidFill>
                    <a:srgbClr val="C00000"/>
                  </a:solidFill>
                  <a:latin typeface="Comic Sans MS" pitchFamily="66" charset="0"/>
                </a:rPr>
                <a:t>Estructura plana</a:t>
              </a:r>
            </a:p>
          </p:txBody>
        </p:sp>
      </p:grpSp>
      <p:sp>
        <p:nvSpPr>
          <p:cNvPr id="1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ES" dirty="0">
                <a:cs typeface="Times New Roman" pitchFamily="18" charset="0"/>
              </a:rPr>
              <a:t>4.1.2. Cadena de mando</a:t>
            </a:r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113" name="112 Marcador de número de diapositiva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031E6992-B48E-4E13-A9CD-F20B6AAC6FC2}" type="slidenum">
              <a:rPr lang="es-ES" smtClean="0"/>
              <a:pPr>
                <a:defRPr/>
              </a:pPr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769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B6D06086-273F-4927-B298-B9922C2E9E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s-E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FD85AB-65AE-4D06-BD33-5A4AB74792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024" y="1196975"/>
            <a:ext cx="4259262" cy="511175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0" lang="es-E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ESTRUCTURAS PLANAS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itchFamily="2" charset="2"/>
              <a:buChar char="¨"/>
              <a:tabLst/>
              <a:defRPr/>
            </a:pP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Ámbitos de control amplios.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itchFamily="2" charset="2"/>
              <a:buChar char="¨"/>
              <a:tabLst/>
              <a:defRPr/>
            </a:pP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Pocos niveles horizontales.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itchFamily="2" charset="2"/>
              <a:buChar char="¨"/>
              <a:tabLst/>
              <a:defRPr/>
            </a:pP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Cada nivel está compuesto por un </a:t>
            </a:r>
            <a:r>
              <a:rPr kumimoji="0" lang="es-E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nivel relativamente alto de directivos 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que informan al nivel superior.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itchFamily="2" charset="2"/>
              <a:buChar char="¨"/>
              <a:tabLst/>
              <a:defRPr/>
            </a:pP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Acortan de forma considerable los canales de comunicación.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itchFamily="2" charset="2"/>
              <a:buChar char="¨"/>
              <a:tabLst/>
              <a:defRPr/>
            </a:pP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mic Sans MS"/>
                <a:ea typeface="+mn-ea"/>
                <a:cs typeface="+mn-cs"/>
              </a:rPr>
              <a:t>Menores problemas de comunicación, motivación y costes que las estructuras altas.</a:t>
            </a:r>
          </a:p>
          <a:p>
            <a:pPr marL="742950" marR="0" lvl="1" indent="-285750" algn="just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7D">
                  <a:lumMod val="20000"/>
                  <a:lumOff val="80000"/>
                </a:srgbClr>
              </a:buClr>
              <a:buSzPct val="76000"/>
              <a:buFont typeface="Wingdings" pitchFamily="2" charset="2"/>
              <a:buChar char="¨"/>
              <a:tabLst/>
              <a:defRPr/>
            </a:pPr>
            <a:endParaRPr kumimoji="0" lang="es-E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AE49E8A-CBD1-4BC2-9590-0A13FB957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196975"/>
            <a:ext cx="4402832" cy="518435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75000"/>
              <a:buFontTx/>
              <a:buNone/>
              <a:tabLst/>
              <a:defRPr/>
            </a:pPr>
            <a:r>
              <a:rPr kumimoji="0" lang="es-E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</a:rPr>
              <a:t>ESTRUCTURAS ALTAS</a:t>
            </a: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itchFamily="2" charset="2"/>
              <a:buChar char="¨"/>
              <a:tabLst/>
              <a:defRPr/>
            </a:pP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Ámbitos de control estrechos.</a:t>
            </a: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itchFamily="2" charset="2"/>
              <a:buChar char="¨"/>
              <a:tabLst/>
              <a:defRPr/>
            </a:pP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Muchos niveles horizontales.</a:t>
            </a: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itchFamily="2" charset="2"/>
              <a:buChar char="¨"/>
              <a:tabLst/>
              <a:defRPr/>
            </a:pP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Cada nivel está compuesto por un </a:t>
            </a:r>
            <a:r>
              <a:rPr kumimoji="0" lang="es-ES" sz="2000" b="0" i="0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nivel relativamente pequeño de directivos </a:t>
            </a: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que informan al nivel superior.</a:t>
            </a:r>
          </a:p>
          <a:p>
            <a:pPr marL="285750" marR="0" lvl="0" indent="-28575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itchFamily="2" charset="2"/>
              <a:buChar char="¨"/>
              <a:tabLst/>
              <a:defRPr/>
            </a:pP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Problemas que presentan:</a:t>
            </a:r>
          </a:p>
          <a:p>
            <a:pPr marL="615950" marR="0" lvl="1" indent="-15875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65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Problemas de comunicación.</a:t>
            </a:r>
          </a:p>
          <a:p>
            <a:pPr marL="615950" marR="0" lvl="1" indent="-15875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65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Problemas de motivación.</a:t>
            </a:r>
          </a:p>
          <a:p>
            <a:pPr marL="615950" marR="0" lvl="1" indent="-15875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SzPct val="65000"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Mayores costes burocráticos.</a:t>
            </a:r>
          </a:p>
          <a:p>
            <a:pPr marL="1143000" marR="0" lvl="2" indent="-22860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7D"/>
              </a:buClr>
              <a:buSzPct val="65000"/>
              <a:buFont typeface="Wingdings" pitchFamily="2" charset="2"/>
              <a:buChar char="n"/>
              <a:tabLst/>
              <a:defRPr/>
            </a:pPr>
            <a:endParaRPr kumimoji="0" lang="es-E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35EEFE47-060B-41AE-A50B-88F0F911B4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" y="115888"/>
            <a:ext cx="8928100" cy="720725"/>
          </a:xfrm>
        </p:spPr>
        <p:txBody>
          <a:bodyPr/>
          <a:lstStyle/>
          <a:p>
            <a:pPr algn="just"/>
            <a:r>
              <a:rPr lang="es-ES" dirty="0">
                <a:cs typeface="Times New Roman" pitchFamily="18" charset="0"/>
              </a:rPr>
              <a:t>4.1.2. Cadena de mando</a:t>
            </a:r>
            <a:endParaRPr lang="es-E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882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ES" dirty="0">
                <a:cs typeface="Times New Roman" pitchFamily="18" charset="0"/>
              </a:rPr>
              <a:t>4.1.4. Coordinación de unidades</a:t>
            </a:r>
            <a:endParaRPr lang="es-ES" dirty="0">
              <a:solidFill>
                <a:schemeClr val="tx2"/>
              </a:solidFill>
            </a:endParaRPr>
          </a:p>
        </p:txBody>
      </p:sp>
      <p:sp>
        <p:nvSpPr>
          <p:cNvPr id="10" name="9 Marcador de número de diapositiva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9579D8-9CF7-41F1-8F17-EDF36F4F8DEE}" type="slidenum">
              <a:rPr lang="es-ES" smtClean="0"/>
              <a:pPr/>
              <a:t>21</a:t>
            </a:fld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4294967295"/>
          </p:nvPr>
        </p:nvSpPr>
        <p:spPr>
          <a:xfrm>
            <a:off x="0" y="2636838"/>
            <a:ext cx="3598863" cy="39608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" sz="1900" b="1" dirty="0">
                <a:solidFill>
                  <a:srgbClr val="C00000"/>
                </a:solidFill>
              </a:rPr>
              <a:t>Integración de Actividades</a:t>
            </a:r>
          </a:p>
          <a:p>
            <a:pPr marL="0" indent="0" algn="just">
              <a:buNone/>
            </a:pPr>
            <a:r>
              <a:rPr lang="es-ES_tradnl" sz="1900" dirty="0"/>
              <a:t>Es  el conjunto de procesos orientados a dar unidad a ese conjunto de actividades  diferenciadas que realiza cada departamento.</a:t>
            </a:r>
          </a:p>
          <a:p>
            <a:pPr marL="0" indent="0" algn="just">
              <a:buNone/>
            </a:pPr>
            <a:r>
              <a:rPr lang="es-ES_tradnl" sz="1900" dirty="0"/>
              <a:t>El objetivo es garantizar la  consecución de objetivos y optimizar las actividades que realiza cada departamento, lo que se consigue mediante la coordinación y el control. </a:t>
            </a:r>
          </a:p>
          <a:p>
            <a:pPr algn="just"/>
            <a:endParaRPr lang="es-ES_tradnl" sz="1900" dirty="0"/>
          </a:p>
          <a:p>
            <a:endParaRPr lang="es-ES" sz="1900" dirty="0">
              <a:latin typeface="Century Gothic" pitchFamily="34" charset="0"/>
            </a:endParaRPr>
          </a:p>
        </p:txBody>
      </p:sp>
      <p:sp>
        <p:nvSpPr>
          <p:cNvPr id="6" name="5 Rectángulo"/>
          <p:cNvSpPr/>
          <p:nvPr/>
        </p:nvSpPr>
        <p:spPr>
          <a:xfrm>
            <a:off x="539552" y="1148551"/>
            <a:ext cx="79928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S_tradnl" dirty="0"/>
              <a:t>Una vez divididas y repartidas las distintas actividades entre los distintos individuos o grupos, surge la necesidad de armonizar e integrar dichas actividades para que la acción colectiva se oriente de forma coherente y coordinada hacia la consecución de las metas y objetivos estratégicos</a:t>
            </a:r>
          </a:p>
        </p:txBody>
      </p:sp>
      <p:sp>
        <p:nvSpPr>
          <p:cNvPr id="7" name="6 Rectángulo"/>
          <p:cNvSpPr/>
          <p:nvPr/>
        </p:nvSpPr>
        <p:spPr>
          <a:xfrm>
            <a:off x="4860032" y="2658105"/>
            <a:ext cx="3888432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s-ES_tradnl" sz="1900" b="1" dirty="0">
                <a:solidFill>
                  <a:srgbClr val="C00000"/>
                </a:solidFill>
              </a:rPr>
              <a:t>Mecanismos de coordinación</a:t>
            </a:r>
            <a:endParaRPr lang="es-ES_tradnl" sz="1900" b="1" dirty="0"/>
          </a:p>
          <a:p>
            <a:pPr marL="0" indent="0" algn="just">
              <a:buNone/>
            </a:pPr>
            <a:r>
              <a:rPr lang="es-ES_tradnl" sz="1900" dirty="0"/>
              <a:t>Instrumentos para cubrir las necesidades de información y resolución de problemas derivados de la forma de organizar el trabajo en los distintos niveles de la organización.</a:t>
            </a:r>
          </a:p>
        </p:txBody>
      </p:sp>
      <p:sp>
        <p:nvSpPr>
          <p:cNvPr id="8" name="7 Rectángulo"/>
          <p:cNvSpPr/>
          <p:nvPr/>
        </p:nvSpPr>
        <p:spPr>
          <a:xfrm>
            <a:off x="4860032" y="5734997"/>
            <a:ext cx="4032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ES" dirty="0">
                <a:sym typeface="Wingdings" pitchFamily="2" charset="2"/>
              </a:rPr>
              <a:t>BASE para elegir los adecuados: la  </a:t>
            </a:r>
            <a:r>
              <a:rPr lang="es-ES" b="1" dirty="0">
                <a:solidFill>
                  <a:srgbClr val="C00000"/>
                </a:solidFill>
              </a:rPr>
              <a:t>INTERDEPENDENCIA</a:t>
            </a:r>
            <a:r>
              <a:rPr lang="es-ES" dirty="0"/>
              <a:t> DE TAREAS</a:t>
            </a:r>
            <a:r>
              <a:rPr lang="es-ES" dirty="0">
                <a:sym typeface="Wingdings" pitchFamily="2" charset="2"/>
              </a:rPr>
              <a:t> </a:t>
            </a:r>
          </a:p>
        </p:txBody>
      </p:sp>
      <p:sp>
        <p:nvSpPr>
          <p:cNvPr id="9" name="8 Flecha a la derecha con muesca"/>
          <p:cNvSpPr/>
          <p:nvPr/>
        </p:nvSpPr>
        <p:spPr>
          <a:xfrm rot="5400000">
            <a:off x="6480212" y="5121188"/>
            <a:ext cx="540060" cy="540060"/>
          </a:xfrm>
          <a:prstGeom prst="notched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492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BDF2665-9EE1-4C09-9488-D9B54C6A8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A50B82F-E44A-4FE6-8B99-53CD253DED7E}" type="slidenum">
              <a:rPr lang="es-E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es-ES" dirty="0"/>
          </a:p>
        </p:txBody>
      </p:sp>
      <p:sp>
        <p:nvSpPr>
          <p:cNvPr id="4" name="14 Rectángulo">
            <a:extLst>
              <a:ext uri="{FF2B5EF4-FFF2-40B4-BE49-F238E27FC236}">
                <a16:creationId xmlns:a16="http://schemas.microsoft.com/office/drawing/2014/main" id="{1291027B-96BF-4599-AAED-9371B091C921}"/>
              </a:ext>
            </a:extLst>
          </p:cNvPr>
          <p:cNvSpPr/>
          <p:nvPr/>
        </p:nvSpPr>
        <p:spPr>
          <a:xfrm>
            <a:off x="233523" y="1484784"/>
            <a:ext cx="23762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ES" sz="1600" b="1" dirty="0">
                <a:solidFill>
                  <a:srgbClr val="C00000"/>
                </a:solidFill>
                <a:cs typeface="Arial" charset="0"/>
                <a:sym typeface="Wingdings" pitchFamily="2" charset="2"/>
              </a:rPr>
              <a:t>INTERDEPENDENCIA  DE ACTIVIDADES</a:t>
            </a:r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ABE122F8-CB5D-48FE-96E9-1C9BA565D041}"/>
              </a:ext>
            </a:extLst>
          </p:cNvPr>
          <p:cNvSpPr/>
          <p:nvPr/>
        </p:nvSpPr>
        <p:spPr>
          <a:xfrm>
            <a:off x="2609787" y="1556792"/>
            <a:ext cx="306029" cy="432048"/>
          </a:xfrm>
          <a:prstGeom prst="rightArrow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/>
              <a:ea typeface="+mn-ea"/>
              <a:cs typeface="+mn-cs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C0DA3280-1CB0-4E19-A84E-1DE4F2186B2A}"/>
              </a:ext>
            </a:extLst>
          </p:cNvPr>
          <p:cNvGrpSpPr/>
          <p:nvPr/>
        </p:nvGrpSpPr>
        <p:grpSpPr>
          <a:xfrm>
            <a:off x="931444" y="2794866"/>
            <a:ext cx="6292952" cy="1324600"/>
            <a:chOff x="2699792" y="740023"/>
            <a:chExt cx="6292952" cy="1324600"/>
          </a:xfrm>
        </p:grpSpPr>
        <p:sp>
          <p:nvSpPr>
            <p:cNvPr id="7" name="14 Rectángulo">
              <a:extLst>
                <a:ext uri="{FF2B5EF4-FFF2-40B4-BE49-F238E27FC236}">
                  <a16:creationId xmlns:a16="http://schemas.microsoft.com/office/drawing/2014/main" id="{BEAF3BC0-F5AF-4CC6-93CB-E3570F4E70A8}"/>
                </a:ext>
              </a:extLst>
            </p:cNvPr>
            <p:cNvSpPr/>
            <p:nvPr/>
          </p:nvSpPr>
          <p:spPr>
            <a:xfrm>
              <a:off x="2699792" y="1158716"/>
              <a:ext cx="23762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Arial" charset="0"/>
                  <a:sym typeface="Wingdings" pitchFamily="2" charset="2"/>
                </a:rPr>
                <a:t>NECESIDADES</a:t>
              </a:r>
            </a:p>
          </p:txBody>
        </p: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C881B627-7162-4F7B-A1F7-126BE0FA00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8024" y="926143"/>
              <a:ext cx="432048" cy="355684"/>
            </a:xfrm>
            <a:prstGeom prst="line">
              <a:avLst/>
            </a:prstGeom>
            <a:noFill/>
            <a:ln w="9525" cap="flat" cmpd="sng" algn="ctr">
              <a:solidFill>
                <a:srgbClr val="9999FF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DE0AE86A-00FF-4DFA-81D4-173ED67E30A4}"/>
                </a:ext>
              </a:extLst>
            </p:cNvPr>
            <p:cNvCxnSpPr>
              <a:cxnSpLocks/>
            </p:cNvCxnSpPr>
            <p:nvPr/>
          </p:nvCxnSpPr>
          <p:spPr>
            <a:xfrm>
              <a:off x="4788024" y="1489140"/>
              <a:ext cx="432048" cy="296743"/>
            </a:xfrm>
            <a:prstGeom prst="line">
              <a:avLst/>
            </a:prstGeom>
            <a:noFill/>
            <a:ln w="9525" cap="flat" cmpd="sng" algn="ctr">
              <a:solidFill>
                <a:srgbClr val="9999FF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sp>
          <p:nvSpPr>
            <p:cNvPr id="10" name="14 Rectángulo">
              <a:extLst>
                <a:ext uri="{FF2B5EF4-FFF2-40B4-BE49-F238E27FC236}">
                  <a16:creationId xmlns:a16="http://schemas.microsoft.com/office/drawing/2014/main" id="{9BFB0898-3AF9-47E0-99E1-51B7253E2E77}"/>
                </a:ext>
              </a:extLst>
            </p:cNvPr>
            <p:cNvSpPr/>
            <p:nvPr/>
          </p:nvSpPr>
          <p:spPr>
            <a:xfrm>
              <a:off x="5292080" y="740023"/>
              <a:ext cx="216854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Arial" charset="0"/>
                  <a:sym typeface="Wingdings" pitchFamily="2" charset="2"/>
                </a:rPr>
                <a:t>DE INFORMACIÓN</a:t>
              </a:r>
            </a:p>
          </p:txBody>
        </p:sp>
        <p:sp>
          <p:nvSpPr>
            <p:cNvPr id="11" name="14 Rectángulo">
              <a:extLst>
                <a:ext uri="{FF2B5EF4-FFF2-40B4-BE49-F238E27FC236}">
                  <a16:creationId xmlns:a16="http://schemas.microsoft.com/office/drawing/2014/main" id="{367F21B8-9C84-4FBF-8B7A-795D056998E9}"/>
                </a:ext>
              </a:extLst>
            </p:cNvPr>
            <p:cNvSpPr/>
            <p:nvPr/>
          </p:nvSpPr>
          <p:spPr>
            <a:xfrm>
              <a:off x="5292080" y="1726069"/>
              <a:ext cx="37006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Arial" charset="0"/>
                  <a:sym typeface="Wingdings" pitchFamily="2" charset="2"/>
                </a:rPr>
                <a:t>DE RESOLUCIÓN DE CONFLICTOS</a:t>
              </a:r>
            </a:p>
          </p:txBody>
        </p:sp>
      </p:grpSp>
      <p:sp>
        <p:nvSpPr>
          <p:cNvPr id="12" name="Flecha: hacia abajo 11">
            <a:extLst>
              <a:ext uri="{FF2B5EF4-FFF2-40B4-BE49-F238E27FC236}">
                <a16:creationId xmlns:a16="http://schemas.microsoft.com/office/drawing/2014/main" id="{280706A9-A828-40A4-9C70-BD9AB4E0B2D5}"/>
              </a:ext>
            </a:extLst>
          </p:cNvPr>
          <p:cNvSpPr/>
          <p:nvPr/>
        </p:nvSpPr>
        <p:spPr>
          <a:xfrm>
            <a:off x="3388715" y="4294976"/>
            <a:ext cx="504056" cy="525542"/>
          </a:xfrm>
          <a:prstGeom prst="downArrow">
            <a:avLst/>
          </a:prstGeom>
          <a:solidFill>
            <a:srgbClr val="C0000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/>
              <a:ea typeface="+mn-ea"/>
              <a:cs typeface="+mn-cs"/>
            </a:endParaRPr>
          </a:p>
        </p:txBody>
      </p:sp>
      <p:sp>
        <p:nvSpPr>
          <p:cNvPr id="13" name="Flecha: hacia abajo 12">
            <a:extLst>
              <a:ext uri="{FF2B5EF4-FFF2-40B4-BE49-F238E27FC236}">
                <a16:creationId xmlns:a16="http://schemas.microsoft.com/office/drawing/2014/main" id="{D3FDC690-47DB-41AF-B2D5-6D63BAFFE040}"/>
              </a:ext>
            </a:extLst>
          </p:cNvPr>
          <p:cNvSpPr/>
          <p:nvPr/>
        </p:nvSpPr>
        <p:spPr>
          <a:xfrm>
            <a:off x="3388715" y="2184512"/>
            <a:ext cx="432048" cy="403041"/>
          </a:xfrm>
          <a:prstGeom prst="downArrow">
            <a:avLst/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/>
              <a:ea typeface="+mn-ea"/>
              <a:cs typeface="+mn-cs"/>
            </a:endParaRPr>
          </a:p>
        </p:txBody>
      </p:sp>
      <p:sp>
        <p:nvSpPr>
          <p:cNvPr id="14" name="14 Rectángulo">
            <a:extLst>
              <a:ext uri="{FF2B5EF4-FFF2-40B4-BE49-F238E27FC236}">
                <a16:creationId xmlns:a16="http://schemas.microsoft.com/office/drawing/2014/main" id="{15A36449-9113-47C0-B362-9AAEF8C38F2A}"/>
              </a:ext>
            </a:extLst>
          </p:cNvPr>
          <p:cNvSpPr/>
          <p:nvPr/>
        </p:nvSpPr>
        <p:spPr>
          <a:xfrm>
            <a:off x="683568" y="4980945"/>
            <a:ext cx="7704856" cy="14003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lang="es-ES" sz="1600" b="1" dirty="0">
                <a:solidFill>
                  <a:srgbClr val="C00000"/>
                </a:solidFill>
                <a:cs typeface="Arial" charset="0"/>
                <a:sym typeface="Wingdings" pitchFamily="2" charset="2"/>
              </a:rPr>
              <a:t>DECISIÓN DE D.O  ELECCIÓN DE UN CONJUNTO DE MECANISMOS DE COORDINACIÓN QUE PERMITA</a:t>
            </a:r>
            <a:r>
              <a:rPr lang="es-ES" sz="1600" dirty="0">
                <a:solidFill>
                  <a:srgbClr val="000000"/>
                </a:solidFill>
                <a:cs typeface="Arial" charset="0"/>
                <a:sym typeface="Wingdings" pitchFamily="2" charset="2"/>
              </a:rPr>
              <a:t>:</a:t>
            </a: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s-ES" sz="1600" dirty="0">
                <a:solidFill>
                  <a:srgbClr val="000000"/>
                </a:solidFill>
                <a:cs typeface="Arial" charset="0"/>
                <a:sym typeface="Wingdings" pitchFamily="2" charset="2"/>
              </a:rPr>
              <a:t>Enlazar los flujos de trabajo.</a:t>
            </a: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s-ES" sz="1600" dirty="0">
                <a:solidFill>
                  <a:srgbClr val="000000"/>
                </a:solidFill>
                <a:cs typeface="Arial" charset="0"/>
                <a:sym typeface="Wingdings" pitchFamily="2" charset="2"/>
              </a:rPr>
              <a:t>Mantener el contacto entre los distintos especialistas.</a:t>
            </a:r>
          </a:p>
          <a:p>
            <a:pPr marL="342900" indent="-342900" algn="just" fontAlgn="base">
              <a:spcBef>
                <a:spcPct val="0"/>
              </a:spcBef>
              <a:spcAft>
                <a:spcPct val="0"/>
              </a:spcAft>
              <a:buFont typeface="+mj-lt"/>
              <a:buAutoNum type="alphaLcParenR"/>
            </a:pPr>
            <a:r>
              <a:rPr lang="es-ES" sz="1600" dirty="0">
                <a:solidFill>
                  <a:srgbClr val="000000"/>
                </a:solidFill>
                <a:cs typeface="Arial" charset="0"/>
                <a:sym typeface="Wingdings" pitchFamily="2" charset="2"/>
              </a:rPr>
              <a:t>Resolver los problemas que puedan surgir.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958AC16-10F1-47B5-9C16-186BB43966C4}"/>
              </a:ext>
            </a:extLst>
          </p:cNvPr>
          <p:cNvGrpSpPr/>
          <p:nvPr/>
        </p:nvGrpSpPr>
        <p:grpSpPr>
          <a:xfrm>
            <a:off x="2555776" y="1228312"/>
            <a:ext cx="6574147" cy="1264584"/>
            <a:chOff x="374117" y="2472003"/>
            <a:chExt cx="6574147" cy="1264584"/>
          </a:xfrm>
        </p:grpSpPr>
        <p:sp>
          <p:nvSpPr>
            <p:cNvPr id="16" name="14 Rectángulo">
              <a:extLst>
                <a:ext uri="{FF2B5EF4-FFF2-40B4-BE49-F238E27FC236}">
                  <a16:creationId xmlns:a16="http://schemas.microsoft.com/office/drawing/2014/main" id="{27032F64-6E14-4E1C-8E9D-ED5984070D33}"/>
                </a:ext>
              </a:extLst>
            </p:cNvPr>
            <p:cNvSpPr/>
            <p:nvPr/>
          </p:nvSpPr>
          <p:spPr>
            <a:xfrm>
              <a:off x="374117" y="2909176"/>
              <a:ext cx="237626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Arial" charset="0"/>
                  <a:sym typeface="Wingdings" pitchFamily="2" charset="2"/>
                </a:rPr>
                <a:t>NECESIDADES</a:t>
              </a:r>
            </a:p>
          </p:txBody>
        </p: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022640B2-4939-4ADF-9A24-326102526168}"/>
                </a:ext>
              </a:extLst>
            </p:cNvPr>
            <p:cNvCxnSpPr>
              <a:cxnSpLocks/>
              <a:endCxn id="19" idx="1"/>
            </p:cNvCxnSpPr>
            <p:nvPr/>
          </p:nvCxnSpPr>
          <p:spPr>
            <a:xfrm flipV="1">
              <a:off x="2390341" y="2641280"/>
              <a:ext cx="360040" cy="355684"/>
            </a:xfrm>
            <a:prstGeom prst="line">
              <a:avLst/>
            </a:prstGeom>
            <a:noFill/>
            <a:ln w="9525" cap="flat" cmpd="sng" algn="ctr">
              <a:solidFill>
                <a:srgbClr val="9999FF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51E6D501-C7FB-4D74-A5A4-935E4B798D5A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>
              <a:off x="2390341" y="3182009"/>
              <a:ext cx="432048" cy="385301"/>
            </a:xfrm>
            <a:prstGeom prst="line">
              <a:avLst/>
            </a:prstGeom>
            <a:noFill/>
            <a:ln w="9525" cap="flat" cmpd="sng" algn="ctr">
              <a:solidFill>
                <a:srgbClr val="9999FF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sp>
          <p:nvSpPr>
            <p:cNvPr id="19" name="14 Rectángulo">
              <a:extLst>
                <a:ext uri="{FF2B5EF4-FFF2-40B4-BE49-F238E27FC236}">
                  <a16:creationId xmlns:a16="http://schemas.microsoft.com/office/drawing/2014/main" id="{79AEF30F-FF04-44C9-A78F-071F9E70157B}"/>
                </a:ext>
              </a:extLst>
            </p:cNvPr>
            <p:cNvSpPr/>
            <p:nvPr/>
          </p:nvSpPr>
          <p:spPr>
            <a:xfrm>
              <a:off x="2750381" y="2472003"/>
              <a:ext cx="216024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Arial" charset="0"/>
                  <a:sym typeface="Wingdings" pitchFamily="2" charset="2"/>
                </a:rPr>
                <a:t>DE COOPERACIÓN</a:t>
              </a:r>
            </a:p>
          </p:txBody>
        </p:sp>
        <p:sp>
          <p:nvSpPr>
            <p:cNvPr id="20" name="14 Rectángulo">
              <a:extLst>
                <a:ext uri="{FF2B5EF4-FFF2-40B4-BE49-F238E27FC236}">
                  <a16:creationId xmlns:a16="http://schemas.microsoft.com/office/drawing/2014/main" id="{2BB47193-FADA-4B73-9905-599E019151F1}"/>
                </a:ext>
              </a:extLst>
            </p:cNvPr>
            <p:cNvSpPr/>
            <p:nvPr/>
          </p:nvSpPr>
          <p:spPr>
            <a:xfrm>
              <a:off x="2822389" y="3398033"/>
              <a:ext cx="1656184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Arial" charset="0"/>
                  <a:sym typeface="Wingdings" pitchFamily="2" charset="2"/>
                </a:rPr>
                <a:t>DE ESFUERZO</a:t>
              </a:r>
            </a:p>
          </p:txBody>
        </p: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BDCD40AB-6F91-4F1E-AF19-61B5FF2CDCC1}"/>
                </a:ext>
              </a:extLst>
            </p:cNvPr>
            <p:cNvCxnSpPr>
              <a:cxnSpLocks/>
            </p:cNvCxnSpPr>
            <p:nvPr/>
          </p:nvCxnSpPr>
          <p:spPr>
            <a:xfrm>
              <a:off x="4860032" y="2660823"/>
              <a:ext cx="288032" cy="355684"/>
            </a:xfrm>
            <a:prstGeom prst="line">
              <a:avLst/>
            </a:prstGeom>
            <a:noFill/>
            <a:ln w="9525" cap="flat" cmpd="sng" algn="ctr">
              <a:solidFill>
                <a:srgbClr val="9999FF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75381C80-F753-45AD-84AA-301F949A4992}"/>
                </a:ext>
              </a:extLst>
            </p:cNvPr>
            <p:cNvCxnSpPr/>
            <p:nvPr/>
          </p:nvCxnSpPr>
          <p:spPr>
            <a:xfrm flipV="1">
              <a:off x="4766605" y="3160523"/>
              <a:ext cx="360040" cy="382778"/>
            </a:xfrm>
            <a:prstGeom prst="line">
              <a:avLst/>
            </a:prstGeom>
            <a:noFill/>
            <a:ln w="9525" cap="flat" cmpd="sng" algn="ctr">
              <a:solidFill>
                <a:srgbClr val="9999FF">
                  <a:shade val="95000"/>
                  <a:satMod val="105000"/>
                </a:srgbClr>
              </a:solidFill>
              <a:prstDash val="solid"/>
            </a:ln>
            <a:effectLst/>
          </p:spPr>
        </p:cxnSp>
        <p:sp>
          <p:nvSpPr>
            <p:cNvPr id="23" name="14 Rectángulo">
              <a:extLst>
                <a:ext uri="{FF2B5EF4-FFF2-40B4-BE49-F238E27FC236}">
                  <a16:creationId xmlns:a16="http://schemas.microsoft.com/office/drawing/2014/main" id="{9E43BCE6-E8AB-47A9-B587-7824705CB2EA}"/>
                </a:ext>
              </a:extLst>
            </p:cNvPr>
            <p:cNvSpPr/>
            <p:nvPr/>
          </p:nvSpPr>
          <p:spPr>
            <a:xfrm>
              <a:off x="5161166" y="2791772"/>
              <a:ext cx="1787098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cs typeface="Arial" charset="0"/>
                  <a:sym typeface="Wingdings" pitchFamily="2" charset="2"/>
                </a:rPr>
                <a:t>DE TODOS LOS IMPLICADOS</a:t>
              </a:r>
            </a:p>
          </p:txBody>
        </p:sp>
      </p:grpSp>
      <p:sp>
        <p:nvSpPr>
          <p:cNvPr id="24" name="Rectangle 2">
            <a:extLst>
              <a:ext uri="{FF2B5EF4-FFF2-40B4-BE49-F238E27FC236}">
                <a16:creationId xmlns:a16="http://schemas.microsoft.com/office/drawing/2014/main" id="{C8425402-C7EB-4C33-955E-9D3B061E0B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7950" y="115888"/>
            <a:ext cx="8928100" cy="720725"/>
          </a:xfrm>
        </p:spPr>
        <p:txBody>
          <a:bodyPr/>
          <a:lstStyle/>
          <a:p>
            <a:pPr algn="just"/>
            <a:r>
              <a:rPr lang="es-ES" dirty="0">
                <a:cs typeface="Times New Roman" pitchFamily="18" charset="0"/>
              </a:rPr>
              <a:t>4.1.4. Coordinación de unidades</a:t>
            </a:r>
            <a:endParaRPr lang="es-E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68105"/>
      </p:ext>
    </p:extLst>
  </p:cSld>
  <p:clrMapOvr>
    <a:masterClrMapping/>
  </p:clrMapOvr>
</p:sld>
</file>

<file path=ppt/theme/theme1.xml><?xml version="1.0" encoding="utf-8"?>
<a:theme xmlns:a="http://schemas.openxmlformats.org/drawingml/2006/main" name="1_urjc_pwpt_ins">
  <a:themeElements>
    <a:clrScheme name="minimal_urjc 4">
      <a:dk1>
        <a:srgbClr val="000000"/>
      </a:dk1>
      <a:lt1>
        <a:srgbClr val="DEF6F1"/>
      </a:lt1>
      <a:dk2>
        <a:srgbClr val="000000"/>
      </a:dk2>
      <a:lt2>
        <a:srgbClr val="969696"/>
      </a:lt2>
      <a:accent1>
        <a:srgbClr val="FFFFFF"/>
      </a:accent1>
      <a:accent2>
        <a:srgbClr val="8DC6FF"/>
      </a:accent2>
      <a:accent3>
        <a:srgbClr val="ECFAF7"/>
      </a:accent3>
      <a:accent4>
        <a:srgbClr val="000000"/>
      </a:accent4>
      <a:accent5>
        <a:srgbClr val="FFFFFF"/>
      </a:accent5>
      <a:accent6>
        <a:srgbClr val="7FB3E7"/>
      </a:accent6>
      <a:hlink>
        <a:srgbClr val="0066CC"/>
      </a:hlink>
      <a:folHlink>
        <a:srgbClr val="00A800"/>
      </a:folHlink>
    </a:clrScheme>
    <a:fontScheme name="Personalizado 1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Vértice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inimal_urj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nimal_urjc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nimal_urjc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nimal_urjc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nimal_urjc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inimal_urjc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nimal_urjc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nimal_urjc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nimal_urjc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nimal_urjc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nimal_urjc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inimal_urjc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1808</TotalTime>
  <Words>1895</Words>
  <Application>Microsoft Office PowerPoint</Application>
  <PresentationFormat>Presentación en pantalla (4:3)</PresentationFormat>
  <Paragraphs>258</Paragraphs>
  <Slides>22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3" baseType="lpstr">
      <vt:lpstr>Arial</vt:lpstr>
      <vt:lpstr>Calibri</vt:lpstr>
      <vt:lpstr>Century Gothic</vt:lpstr>
      <vt:lpstr>Comic Sans MS</vt:lpstr>
      <vt:lpstr>Courier New</vt:lpstr>
      <vt:lpstr>Symbol</vt:lpstr>
      <vt:lpstr>Tahoma</vt:lpstr>
      <vt:lpstr>Times New Roman</vt:lpstr>
      <vt:lpstr>Wingdings</vt:lpstr>
      <vt:lpstr>Wingdings 2</vt:lpstr>
      <vt:lpstr>1_urjc_pwpt_ins</vt:lpstr>
      <vt:lpstr>EMPRENDIMIENTO E INNOVACIÓN EN ROBÓTICA 2024-2025</vt:lpstr>
      <vt:lpstr>TEMA 4: ORGANIZAR Y DIRIGIR</vt:lpstr>
      <vt:lpstr>Tema 4: Organizar y Dirigir</vt:lpstr>
      <vt:lpstr>4.1. Organización</vt:lpstr>
      <vt:lpstr>4.1. Organización</vt:lpstr>
      <vt:lpstr>4.1. Organización</vt:lpstr>
      <vt:lpstr>4.1. Organización</vt:lpstr>
      <vt:lpstr>4.1. Organización</vt:lpstr>
      <vt:lpstr>4.1. Organización</vt:lpstr>
      <vt:lpstr>4.1. Organización</vt:lpstr>
      <vt:lpstr>4.1.1. Agrupación de unidades</vt:lpstr>
      <vt:lpstr>4.1.1. Agrupación de unidades</vt:lpstr>
      <vt:lpstr>4.1.1. Agrupación de unidades</vt:lpstr>
      <vt:lpstr>4.1.1. Agrupación de unidades</vt:lpstr>
      <vt:lpstr>4.1.1. Agrupación de unidades</vt:lpstr>
      <vt:lpstr>4.1.1. Agrupación de unidades</vt:lpstr>
      <vt:lpstr>4.1.1. Agrupación de unidades</vt:lpstr>
      <vt:lpstr>4.1.2. Cadena de mando</vt:lpstr>
      <vt:lpstr>4.1.2. Cadena de mando</vt:lpstr>
      <vt:lpstr>4.1.2. Cadena de mando</vt:lpstr>
      <vt:lpstr>4.1.4. Coordinación de unidades</vt:lpstr>
      <vt:lpstr>4.1.4. Coordinación de unidades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EMPRESA DE COMUNICACIÓN Y DISEÑO Curso 2017-2018</dc:title>
  <dc:creator>Sara</dc:creator>
  <cp:lastModifiedBy>María Elena Fernández Gascueña</cp:lastModifiedBy>
  <cp:revision>187</cp:revision>
  <dcterms:created xsi:type="dcterms:W3CDTF">2018-03-11T20:49:26Z</dcterms:created>
  <dcterms:modified xsi:type="dcterms:W3CDTF">2024-10-14T09:05:23Z</dcterms:modified>
</cp:coreProperties>
</file>