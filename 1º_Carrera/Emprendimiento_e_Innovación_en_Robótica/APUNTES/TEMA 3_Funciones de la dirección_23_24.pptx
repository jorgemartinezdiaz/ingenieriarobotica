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64"/>
  </p:notesMasterIdLst>
  <p:handoutMasterIdLst>
    <p:handoutMasterId r:id="rId65"/>
  </p:handoutMasterIdLst>
  <p:sldIdLst>
    <p:sldId id="282" r:id="rId2"/>
    <p:sldId id="283" r:id="rId3"/>
    <p:sldId id="284" r:id="rId4"/>
    <p:sldId id="295" r:id="rId5"/>
    <p:sldId id="360" r:id="rId6"/>
    <p:sldId id="868" r:id="rId7"/>
    <p:sldId id="869" r:id="rId8"/>
    <p:sldId id="285" r:id="rId9"/>
    <p:sldId id="288" r:id="rId10"/>
    <p:sldId id="289" r:id="rId11"/>
    <p:sldId id="361" r:id="rId12"/>
    <p:sldId id="291" r:id="rId13"/>
    <p:sldId id="292" r:id="rId14"/>
    <p:sldId id="293" r:id="rId15"/>
    <p:sldId id="362" r:id="rId16"/>
    <p:sldId id="294" r:id="rId17"/>
    <p:sldId id="815" r:id="rId18"/>
    <p:sldId id="817" r:id="rId19"/>
    <p:sldId id="813" r:id="rId20"/>
    <p:sldId id="1873" r:id="rId21"/>
    <p:sldId id="819" r:id="rId22"/>
    <p:sldId id="860" r:id="rId23"/>
    <p:sldId id="1868" r:id="rId24"/>
    <p:sldId id="863" r:id="rId25"/>
    <p:sldId id="864" r:id="rId26"/>
    <p:sldId id="865" r:id="rId27"/>
    <p:sldId id="880" r:id="rId28"/>
    <p:sldId id="296" r:id="rId29"/>
    <p:sldId id="364" r:id="rId30"/>
    <p:sldId id="297" r:id="rId31"/>
    <p:sldId id="366" r:id="rId32"/>
    <p:sldId id="298" r:id="rId33"/>
    <p:sldId id="367" r:id="rId34"/>
    <p:sldId id="368" r:id="rId35"/>
    <p:sldId id="302" r:id="rId36"/>
    <p:sldId id="303" r:id="rId37"/>
    <p:sldId id="370" r:id="rId38"/>
    <p:sldId id="327" r:id="rId39"/>
    <p:sldId id="371" r:id="rId40"/>
    <p:sldId id="372" r:id="rId41"/>
    <p:sldId id="373" r:id="rId42"/>
    <p:sldId id="374" r:id="rId43"/>
    <p:sldId id="375" r:id="rId44"/>
    <p:sldId id="380" r:id="rId45"/>
    <p:sldId id="376" r:id="rId46"/>
    <p:sldId id="535" r:id="rId47"/>
    <p:sldId id="331" r:id="rId48"/>
    <p:sldId id="339" r:id="rId49"/>
    <p:sldId id="342" r:id="rId50"/>
    <p:sldId id="343" r:id="rId51"/>
    <p:sldId id="355" r:id="rId52"/>
    <p:sldId id="356" r:id="rId53"/>
    <p:sldId id="347" r:id="rId54"/>
    <p:sldId id="348" r:id="rId55"/>
    <p:sldId id="357" r:id="rId56"/>
    <p:sldId id="349" r:id="rId57"/>
    <p:sldId id="358" r:id="rId58"/>
    <p:sldId id="351" r:id="rId59"/>
    <p:sldId id="352" r:id="rId60"/>
    <p:sldId id="354" r:id="rId61"/>
    <p:sldId id="472" r:id="rId62"/>
    <p:sldId id="554" r:id="rId63"/>
  </p:sldIdLst>
  <p:sldSz cx="9144000" cy="6858000" type="screen4x3"/>
  <p:notesSz cx="7099300" cy="10234613"/>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D85B"/>
    <a:srgbClr val="007A37"/>
    <a:srgbClr val="FF4343"/>
    <a:srgbClr val="CC3300"/>
    <a:srgbClr val="FF0909"/>
    <a:srgbClr val="FF2121"/>
    <a:srgbClr val="DB77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EAFAAD-47AA-45E9-8FEA-C8CEDF9E1A85}" v="139" dt="2023-10-31T13:49:11.856"/>
  </p1510:revLst>
</p1510:revInfo>
</file>

<file path=ppt/tableStyles.xml><?xml version="1.0" encoding="utf-8"?>
<a:tblStyleLst xmlns:a="http://schemas.openxmlformats.org/drawingml/2006/main" def="{5C22544A-7EE6-4342-B048-85BDC9FD1C3A}">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85" autoAdjust="0"/>
    <p:restoredTop sz="93792" autoAdjust="0"/>
  </p:normalViewPr>
  <p:slideViewPr>
    <p:cSldViewPr>
      <p:cViewPr varScale="1">
        <p:scale>
          <a:sx n="67" d="100"/>
          <a:sy n="67" d="100"/>
        </p:scale>
        <p:origin x="1424"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6"/>
    </p:cViewPr>
  </p:sorterViewPr>
  <p:notesViewPr>
    <p:cSldViewPr>
      <p:cViewPr varScale="1">
        <p:scale>
          <a:sx n="50" d="100"/>
          <a:sy n="50" d="100"/>
        </p:scale>
        <p:origin x="-1824" y="-11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ía Elena Fernández Gascueña" userId="8298997d-b71a-4e0a-adff-66140120cb1e" providerId="ADAL" clId="{B96E5A31-1D93-42D0-8ABC-22F6E0693797}"/>
    <pc:docChg chg="undo custSel addSld delSld modSld sldOrd">
      <pc:chgData name="María Elena Fernández Gascueña" userId="8298997d-b71a-4e0a-adff-66140120cb1e" providerId="ADAL" clId="{B96E5A31-1D93-42D0-8ABC-22F6E0693797}" dt="2023-10-30T07:33:50.555" v="311"/>
      <pc:docMkLst>
        <pc:docMk/>
      </pc:docMkLst>
      <pc:sldChg chg="modSp mod modClrScheme chgLayout">
        <pc:chgData name="María Elena Fernández Gascueña" userId="8298997d-b71a-4e0a-adff-66140120cb1e" providerId="ADAL" clId="{B96E5A31-1D93-42D0-8ABC-22F6E0693797}" dt="2023-10-17T05:34:36.538" v="78" actId="700"/>
        <pc:sldMkLst>
          <pc:docMk/>
          <pc:sldMk cId="0" sldId="282"/>
        </pc:sldMkLst>
        <pc:spChg chg="mod ord">
          <ac:chgData name="María Elena Fernández Gascueña" userId="8298997d-b71a-4e0a-adff-66140120cb1e" providerId="ADAL" clId="{B96E5A31-1D93-42D0-8ABC-22F6E0693797}" dt="2023-10-17T05:34:36.538" v="78" actId="700"/>
          <ac:spMkLst>
            <pc:docMk/>
            <pc:sldMk cId="0" sldId="282"/>
            <ac:spMk id="2" creationId="{00000000-0000-0000-0000-000000000000}"/>
          </ac:spMkLst>
        </pc:spChg>
        <pc:spChg chg="mod ord">
          <ac:chgData name="María Elena Fernández Gascueña" userId="8298997d-b71a-4e0a-adff-66140120cb1e" providerId="ADAL" clId="{B96E5A31-1D93-42D0-8ABC-22F6E0693797}" dt="2023-10-17T05:34:36.538" v="78" actId="700"/>
          <ac:spMkLst>
            <pc:docMk/>
            <pc:sldMk cId="0" sldId="282"/>
            <ac:spMk id="3" creationId="{00000000-0000-0000-0000-000000000000}"/>
          </ac:spMkLst>
        </pc:spChg>
      </pc:sldChg>
      <pc:sldChg chg="addSp delSp modSp add mod chgLayout modNotes">
        <pc:chgData name="María Elena Fernández Gascueña" userId="8298997d-b71a-4e0a-adff-66140120cb1e" providerId="ADAL" clId="{B96E5A31-1D93-42D0-8ABC-22F6E0693797}" dt="2023-10-30T07:33:34.175" v="309" actId="207"/>
        <pc:sldMkLst>
          <pc:docMk/>
          <pc:sldMk cId="2545597879" sldId="331"/>
        </pc:sldMkLst>
        <pc:spChg chg="mod">
          <ac:chgData name="María Elena Fernández Gascueña" userId="8298997d-b71a-4e0a-adff-66140120cb1e" providerId="ADAL" clId="{B96E5A31-1D93-42D0-8ABC-22F6E0693797}" dt="2023-10-30T07:30:55.450" v="280" actId="1076"/>
          <ac:spMkLst>
            <pc:docMk/>
            <pc:sldMk cId="2545597879" sldId="331"/>
            <ac:spMk id="2" creationId="{F60B8B4C-C367-3168-8FFD-81097E27D63C}"/>
          </ac:spMkLst>
        </pc:spChg>
        <pc:spChg chg="add del mod ord">
          <ac:chgData name="María Elena Fernández Gascueña" userId="8298997d-b71a-4e0a-adff-66140120cb1e" providerId="ADAL" clId="{B96E5A31-1D93-42D0-8ABC-22F6E0693797}" dt="2023-10-30T07:28:30.471" v="242"/>
          <ac:spMkLst>
            <pc:docMk/>
            <pc:sldMk cId="2545597879" sldId="331"/>
            <ac:spMk id="3" creationId="{A3B724FD-6FF7-6E63-CBF5-0BD940A4EDEC}"/>
          </ac:spMkLst>
        </pc:spChg>
        <pc:spChg chg="add mod">
          <ac:chgData name="María Elena Fernández Gascueña" userId="8298997d-b71a-4e0a-adff-66140120cb1e" providerId="ADAL" clId="{B96E5A31-1D93-42D0-8ABC-22F6E0693797}" dt="2023-10-30T07:28:30.471" v="242"/>
          <ac:spMkLst>
            <pc:docMk/>
            <pc:sldMk cId="2545597879" sldId="331"/>
            <ac:spMk id="4" creationId="{9C8918B4-7A9D-241B-AFC1-E8F62B5157B6}"/>
          </ac:spMkLst>
        </pc:spChg>
        <pc:spChg chg="mod">
          <ac:chgData name="María Elena Fernández Gascueña" userId="8298997d-b71a-4e0a-adff-66140120cb1e" providerId="ADAL" clId="{B96E5A31-1D93-42D0-8ABC-22F6E0693797}" dt="2023-10-30T07:33:34.175" v="309" actId="207"/>
          <ac:spMkLst>
            <pc:docMk/>
            <pc:sldMk cId="2545597879" sldId="331"/>
            <ac:spMk id="5" creationId="{00000000-0000-0000-0000-000000000000}"/>
          </ac:spMkLst>
        </pc:spChg>
        <pc:spChg chg="mod">
          <ac:chgData name="María Elena Fernández Gascueña" userId="8298997d-b71a-4e0a-adff-66140120cb1e" providerId="ADAL" clId="{B96E5A31-1D93-42D0-8ABC-22F6E0693797}" dt="2023-10-30T07:33:30.044" v="308" actId="207"/>
          <ac:spMkLst>
            <pc:docMk/>
            <pc:sldMk cId="2545597879" sldId="331"/>
            <ac:spMk id="8" creationId="{D97ED6C8-94C9-49E8-B2D8-274E2F421DB2}"/>
          </ac:spMkLst>
        </pc:spChg>
        <pc:spChg chg="mod">
          <ac:chgData name="María Elena Fernández Gascueña" userId="8298997d-b71a-4e0a-adff-66140120cb1e" providerId="ADAL" clId="{B96E5A31-1D93-42D0-8ABC-22F6E0693797}" dt="2023-10-30T07:30:42.377" v="276" actId="255"/>
          <ac:spMkLst>
            <pc:docMk/>
            <pc:sldMk cId="2545597879" sldId="331"/>
            <ac:spMk id="9" creationId="{20651921-D06D-4ED5-ACB8-6E1E2B2DDC0A}"/>
          </ac:spMkLst>
        </pc:spChg>
      </pc:sldChg>
      <pc:sldChg chg="addSp delSp modSp add mod chgLayout">
        <pc:chgData name="María Elena Fernández Gascueña" userId="8298997d-b71a-4e0a-adff-66140120cb1e" providerId="ADAL" clId="{B96E5A31-1D93-42D0-8ABC-22F6E0693797}" dt="2023-10-30T07:28:59.226" v="250" actId="403"/>
        <pc:sldMkLst>
          <pc:docMk/>
          <pc:sldMk cId="544988279" sldId="339"/>
        </pc:sldMkLst>
        <pc:spChg chg="add del mod ord">
          <ac:chgData name="María Elena Fernández Gascueña" userId="8298997d-b71a-4e0a-adff-66140120cb1e" providerId="ADAL" clId="{B96E5A31-1D93-42D0-8ABC-22F6E0693797}" dt="2023-10-30T07:28:35.884" v="244"/>
          <ac:spMkLst>
            <pc:docMk/>
            <pc:sldMk cId="544988279" sldId="339"/>
            <ac:spMk id="2" creationId="{729BA561-E4CB-293D-4AD2-FEF6C3EF8C04}"/>
          </ac:spMkLst>
        </pc:spChg>
        <pc:spChg chg="add mod">
          <ac:chgData name="María Elena Fernández Gascueña" userId="8298997d-b71a-4e0a-adff-66140120cb1e" providerId="ADAL" clId="{B96E5A31-1D93-42D0-8ABC-22F6E0693797}" dt="2023-10-30T07:28:35.884" v="244"/>
          <ac:spMkLst>
            <pc:docMk/>
            <pc:sldMk cId="544988279" sldId="339"/>
            <ac:spMk id="3" creationId="{27F452CD-63FF-3BFD-0A5C-18E4E9D49F62}"/>
          </ac:spMkLst>
        </pc:spChg>
        <pc:spChg chg="mod ord">
          <ac:chgData name="María Elena Fernández Gascueña" userId="8298997d-b71a-4e0a-adff-66140120cb1e" providerId="ADAL" clId="{B96E5A31-1D93-42D0-8ABC-22F6E0693797}" dt="2023-10-30T07:28:59.226" v="250" actId="403"/>
          <ac:spMkLst>
            <pc:docMk/>
            <pc:sldMk cId="544988279" sldId="339"/>
            <ac:spMk id="20482" creationId="{3DE2CDC9-5ACA-48B6-BE8A-A46E809925C2}"/>
          </ac:spMkLst>
        </pc:spChg>
        <pc:picChg chg="mod">
          <ac:chgData name="María Elena Fernández Gascueña" userId="8298997d-b71a-4e0a-adff-66140120cb1e" providerId="ADAL" clId="{B96E5A31-1D93-42D0-8ABC-22F6E0693797}" dt="2023-10-30T07:28:52.924" v="247" actId="14100"/>
          <ac:picMkLst>
            <pc:docMk/>
            <pc:sldMk cId="544988279" sldId="339"/>
            <ac:picMk id="20484" creationId="{7959CC8C-8665-4D78-AE00-F37B22109B19}"/>
          </ac:picMkLst>
        </pc:picChg>
      </pc:sldChg>
      <pc:sldChg chg="modSp mod">
        <pc:chgData name="María Elena Fernández Gascueña" userId="8298997d-b71a-4e0a-adff-66140120cb1e" providerId="ADAL" clId="{B96E5A31-1D93-42D0-8ABC-22F6E0693797}" dt="2023-10-17T05:38:29.745" v="79" actId="1076"/>
        <pc:sldMkLst>
          <pc:docMk/>
          <pc:sldMk cId="0" sldId="360"/>
        </pc:sldMkLst>
        <pc:spChg chg="mod">
          <ac:chgData name="María Elena Fernández Gascueña" userId="8298997d-b71a-4e0a-adff-66140120cb1e" providerId="ADAL" clId="{B96E5A31-1D93-42D0-8ABC-22F6E0693797}" dt="2023-10-17T05:38:29.745" v="79" actId="1076"/>
          <ac:spMkLst>
            <pc:docMk/>
            <pc:sldMk cId="0" sldId="360"/>
            <ac:spMk id="35" creationId="{00000000-0000-0000-0000-000000000000}"/>
          </ac:spMkLst>
        </pc:spChg>
      </pc:sldChg>
      <pc:sldChg chg="ord">
        <pc:chgData name="María Elena Fernández Gascueña" userId="8298997d-b71a-4e0a-adff-66140120cb1e" providerId="ADAL" clId="{B96E5A31-1D93-42D0-8ABC-22F6E0693797}" dt="2023-10-30T07:33:50.555" v="311"/>
        <pc:sldMkLst>
          <pc:docMk/>
          <pc:sldMk cId="0" sldId="376"/>
        </pc:sldMkLst>
      </pc:sldChg>
      <pc:sldChg chg="del">
        <pc:chgData name="María Elena Fernández Gascueña" userId="8298997d-b71a-4e0a-adff-66140120cb1e" providerId="ADAL" clId="{B96E5A31-1D93-42D0-8ABC-22F6E0693797}" dt="2023-10-30T07:27:11.964" v="235" actId="47"/>
        <pc:sldMkLst>
          <pc:docMk/>
          <pc:sldMk cId="0" sldId="377"/>
        </pc:sldMkLst>
      </pc:sldChg>
      <pc:sldChg chg="ord">
        <pc:chgData name="María Elena Fernández Gascueña" userId="8298997d-b71a-4e0a-adff-66140120cb1e" providerId="ADAL" clId="{B96E5A31-1D93-42D0-8ABC-22F6E0693797}" dt="2023-10-30T07:33:50.555" v="311"/>
        <pc:sldMkLst>
          <pc:docMk/>
          <pc:sldMk cId="0" sldId="378"/>
        </pc:sldMkLst>
      </pc:sldChg>
      <pc:sldChg chg="modSp add mod chgLayout">
        <pc:chgData name="María Elena Fernández Gascueña" userId="8298997d-b71a-4e0a-adff-66140120cb1e" providerId="ADAL" clId="{B96E5A31-1D93-42D0-8ABC-22F6E0693797}" dt="2023-10-30T07:22:01.832" v="234" actId="14100"/>
        <pc:sldMkLst>
          <pc:docMk/>
          <pc:sldMk cId="0" sldId="472"/>
        </pc:sldMkLst>
        <pc:spChg chg="mod ord">
          <ac:chgData name="María Elena Fernández Gascueña" userId="8298997d-b71a-4e0a-adff-66140120cb1e" providerId="ADAL" clId="{B96E5A31-1D93-42D0-8ABC-22F6E0693797}" dt="2023-10-30T07:21:16.141" v="198" actId="20577"/>
          <ac:spMkLst>
            <pc:docMk/>
            <pc:sldMk cId="0" sldId="472"/>
            <ac:spMk id="2" creationId="{73437F70-6940-454B-AF65-ADF1F5BC8888}"/>
          </ac:spMkLst>
        </pc:spChg>
        <pc:spChg chg="mod ord">
          <ac:chgData name="María Elena Fernández Gascueña" userId="8298997d-b71a-4e0a-adff-66140120cb1e" providerId="ADAL" clId="{B96E5A31-1D93-42D0-8ABC-22F6E0693797}" dt="2023-10-30T07:20:54.348" v="174" actId="700"/>
          <ac:spMkLst>
            <pc:docMk/>
            <pc:sldMk cId="0" sldId="472"/>
            <ac:spMk id="4" creationId="{1398EF68-2BDD-4B9F-8579-CC3161840B80}"/>
          </ac:spMkLst>
        </pc:spChg>
        <pc:spChg chg="mod">
          <ac:chgData name="María Elena Fernández Gascueña" userId="8298997d-b71a-4e0a-adff-66140120cb1e" providerId="ADAL" clId="{B96E5A31-1D93-42D0-8ABC-22F6E0693797}" dt="2023-10-30T07:21:34.848" v="202" actId="1076"/>
          <ac:spMkLst>
            <pc:docMk/>
            <pc:sldMk cId="0" sldId="472"/>
            <ac:spMk id="6" creationId="{CAC4E044-29FE-4BC0-9886-BDFA6B200C8D}"/>
          </ac:spMkLst>
        </pc:spChg>
        <pc:spChg chg="mod ord">
          <ac:chgData name="María Elena Fernández Gascueña" userId="8298997d-b71a-4e0a-adff-66140120cb1e" providerId="ADAL" clId="{B96E5A31-1D93-42D0-8ABC-22F6E0693797}" dt="2023-10-30T07:21:21.584" v="200" actId="403"/>
          <ac:spMkLst>
            <pc:docMk/>
            <pc:sldMk cId="0" sldId="472"/>
            <ac:spMk id="48131" creationId="{37CB01AE-5AB6-4207-8589-D6EB318E02D7}"/>
          </ac:spMkLst>
        </pc:spChg>
        <pc:graphicFrameChg chg="mod modGraphic">
          <ac:chgData name="María Elena Fernández Gascueña" userId="8298997d-b71a-4e0a-adff-66140120cb1e" providerId="ADAL" clId="{B96E5A31-1D93-42D0-8ABC-22F6E0693797}" dt="2023-10-30T07:22:01.832" v="234" actId="14100"/>
          <ac:graphicFrameMkLst>
            <pc:docMk/>
            <pc:sldMk cId="0" sldId="472"/>
            <ac:graphicFrameMk id="3" creationId="{09A9733D-1724-4961-8EFE-DD288DCBBDDB}"/>
          </ac:graphicFrameMkLst>
        </pc:graphicFrameChg>
      </pc:sldChg>
      <pc:sldChg chg="addSp delSp modSp add mod chgLayout modNotes">
        <pc:chgData name="María Elena Fernández Gascueña" userId="8298997d-b71a-4e0a-adff-66140120cb1e" providerId="ADAL" clId="{B96E5A31-1D93-42D0-8ABC-22F6E0693797}" dt="2023-10-30T07:32:34.323" v="302" actId="1076"/>
        <pc:sldMkLst>
          <pc:docMk/>
          <pc:sldMk cId="1173792890" sldId="535"/>
        </pc:sldMkLst>
        <pc:spChg chg="mod">
          <ac:chgData name="María Elena Fernández Gascueña" userId="8298997d-b71a-4e0a-adff-66140120cb1e" providerId="ADAL" clId="{B96E5A31-1D93-42D0-8ABC-22F6E0693797}" dt="2023-10-30T07:32:34.323" v="302" actId="1076"/>
          <ac:spMkLst>
            <pc:docMk/>
            <pc:sldMk cId="1173792890" sldId="535"/>
            <ac:spMk id="2" creationId="{00042324-6EA2-5B05-F87B-487B8B96E31B}"/>
          </ac:spMkLst>
        </pc:spChg>
        <pc:spChg chg="mod">
          <ac:chgData name="María Elena Fernández Gascueña" userId="8298997d-b71a-4e0a-adff-66140120cb1e" providerId="ADAL" clId="{B96E5A31-1D93-42D0-8ABC-22F6E0693797}" dt="2023-10-30T07:32:07.940" v="295" actId="1076"/>
          <ac:spMkLst>
            <pc:docMk/>
            <pc:sldMk cId="1173792890" sldId="535"/>
            <ac:spMk id="3" creationId="{3342C8E8-884F-5480-4EEC-72BD35747EE2}"/>
          </ac:spMkLst>
        </pc:spChg>
        <pc:spChg chg="add del mod ord">
          <ac:chgData name="María Elena Fernández Gascueña" userId="8298997d-b71a-4e0a-adff-66140120cb1e" providerId="ADAL" clId="{B96E5A31-1D93-42D0-8ABC-22F6E0693797}" dt="2023-10-30T07:28:11.394" v="240"/>
          <ac:spMkLst>
            <pc:docMk/>
            <pc:sldMk cId="1173792890" sldId="535"/>
            <ac:spMk id="4" creationId="{D2169E8C-68A1-AB54-C0F1-0BB84C907899}"/>
          </ac:spMkLst>
        </pc:spChg>
        <pc:spChg chg="add mod">
          <ac:chgData name="María Elena Fernández Gascueña" userId="8298997d-b71a-4e0a-adff-66140120cb1e" providerId="ADAL" clId="{B96E5A31-1D93-42D0-8ABC-22F6E0693797}" dt="2023-10-30T07:28:11.394" v="240"/>
          <ac:spMkLst>
            <pc:docMk/>
            <pc:sldMk cId="1173792890" sldId="535"/>
            <ac:spMk id="5" creationId="{EC721869-B871-ACEA-B692-E895FD214D4E}"/>
          </ac:spMkLst>
        </pc:spChg>
        <pc:spChg chg="mod">
          <ac:chgData name="María Elena Fernández Gascueña" userId="8298997d-b71a-4e0a-adff-66140120cb1e" providerId="ADAL" clId="{B96E5A31-1D93-42D0-8ABC-22F6E0693797}" dt="2023-10-30T07:32:10.815" v="296" actId="1076"/>
          <ac:spMkLst>
            <pc:docMk/>
            <pc:sldMk cId="1173792890" sldId="535"/>
            <ac:spMk id="6" creationId="{00000000-0000-0000-0000-000000000000}"/>
          </ac:spMkLst>
        </pc:spChg>
        <pc:spChg chg="mod">
          <ac:chgData name="María Elena Fernández Gascueña" userId="8298997d-b71a-4e0a-adff-66140120cb1e" providerId="ADAL" clId="{B96E5A31-1D93-42D0-8ABC-22F6E0693797}" dt="2023-10-30T07:32:15.543" v="298" actId="14100"/>
          <ac:spMkLst>
            <pc:docMk/>
            <pc:sldMk cId="1173792890" sldId="535"/>
            <ac:spMk id="7" creationId="{00000000-0000-0000-0000-000000000000}"/>
          </ac:spMkLst>
        </pc:spChg>
      </pc:sldChg>
      <pc:sldChg chg="modSp add mod chgLayout">
        <pc:chgData name="María Elena Fernández Gascueña" userId="8298997d-b71a-4e0a-adff-66140120cb1e" providerId="ADAL" clId="{B96E5A31-1D93-42D0-8ABC-22F6E0693797}" dt="2023-10-30T07:21:55.271" v="233" actId="14100"/>
        <pc:sldMkLst>
          <pc:docMk/>
          <pc:sldMk cId="0" sldId="554"/>
        </pc:sldMkLst>
        <pc:spChg chg="mod ord">
          <ac:chgData name="María Elena Fernández Gascueña" userId="8298997d-b71a-4e0a-adff-66140120cb1e" providerId="ADAL" clId="{B96E5A31-1D93-42D0-8ABC-22F6E0693797}" dt="2023-10-30T07:20:58.543" v="176" actId="700"/>
          <ac:spMkLst>
            <pc:docMk/>
            <pc:sldMk cId="0" sldId="554"/>
            <ac:spMk id="2" creationId="{83AC301E-BF5C-409E-8CFA-4AFE3E566BE0}"/>
          </ac:spMkLst>
        </pc:spChg>
        <pc:spChg chg="mod ord">
          <ac:chgData name="María Elena Fernández Gascueña" userId="8298997d-b71a-4e0a-adff-66140120cb1e" providerId="ADAL" clId="{B96E5A31-1D93-42D0-8ABC-22F6E0693797}" dt="2023-10-30T07:21:47.280" v="231" actId="20577"/>
          <ac:spMkLst>
            <pc:docMk/>
            <pc:sldMk cId="0" sldId="554"/>
            <ac:spMk id="216066" creationId="{8A7BC0AE-9900-439C-A06C-863CD38F709D}"/>
          </ac:spMkLst>
        </pc:spChg>
        <pc:picChg chg="mod">
          <ac:chgData name="María Elena Fernández Gascueña" userId="8298997d-b71a-4e0a-adff-66140120cb1e" providerId="ADAL" clId="{B96E5A31-1D93-42D0-8ABC-22F6E0693797}" dt="2023-10-30T07:21:55.271" v="233" actId="14100"/>
          <ac:picMkLst>
            <pc:docMk/>
            <pc:sldMk cId="0" sldId="554"/>
            <ac:picMk id="216067" creationId="{57CBBBC4-B27E-4A0B-B256-4570EE9D4569}"/>
          </ac:picMkLst>
        </pc:picChg>
      </pc:sldChg>
      <pc:sldChg chg="modSp del mod">
        <pc:chgData name="María Elena Fernández Gascueña" userId="8298997d-b71a-4e0a-adff-66140120cb1e" providerId="ADAL" clId="{B96E5A31-1D93-42D0-8ABC-22F6E0693797}" dt="2023-10-30T07:09:44.485" v="92" actId="47"/>
        <pc:sldMkLst>
          <pc:docMk/>
          <pc:sldMk cId="2066023790" sldId="719"/>
        </pc:sldMkLst>
        <pc:spChg chg="mod">
          <ac:chgData name="María Elena Fernández Gascueña" userId="8298997d-b71a-4e0a-adff-66140120cb1e" providerId="ADAL" clId="{B96E5A31-1D93-42D0-8ABC-22F6E0693797}" dt="2023-10-30T07:09:04.527" v="89" actId="207"/>
          <ac:spMkLst>
            <pc:docMk/>
            <pc:sldMk cId="2066023790" sldId="719"/>
            <ac:spMk id="6" creationId="{13B86B18-3CC2-4721-890C-17C575A840D5}"/>
          </ac:spMkLst>
        </pc:spChg>
      </pc:sldChg>
      <pc:sldChg chg="modSp del mod">
        <pc:chgData name="María Elena Fernández Gascueña" userId="8298997d-b71a-4e0a-adff-66140120cb1e" providerId="ADAL" clId="{B96E5A31-1D93-42D0-8ABC-22F6E0693797}" dt="2023-10-30T07:09:45.927" v="93" actId="47"/>
        <pc:sldMkLst>
          <pc:docMk/>
          <pc:sldMk cId="751685626" sldId="735"/>
        </pc:sldMkLst>
        <pc:spChg chg="mod">
          <ac:chgData name="María Elena Fernández Gascueña" userId="8298997d-b71a-4e0a-adff-66140120cb1e" providerId="ADAL" clId="{B96E5A31-1D93-42D0-8ABC-22F6E0693797}" dt="2023-10-30T07:09:10.270" v="91" actId="207"/>
          <ac:spMkLst>
            <pc:docMk/>
            <pc:sldMk cId="751685626" sldId="735"/>
            <ac:spMk id="6" creationId="{13B86B18-3CC2-4721-890C-17C575A840D5}"/>
          </ac:spMkLst>
        </pc:spChg>
      </pc:sldChg>
      <pc:sldChg chg="del">
        <pc:chgData name="María Elena Fernández Gascueña" userId="8298997d-b71a-4e0a-adff-66140120cb1e" providerId="ADAL" clId="{B96E5A31-1D93-42D0-8ABC-22F6E0693797}" dt="2023-10-30T07:08:40.006" v="85" actId="47"/>
        <pc:sldMkLst>
          <pc:docMk/>
          <pc:sldMk cId="2910629996" sldId="802"/>
        </pc:sldMkLst>
      </pc:sldChg>
      <pc:sldChg chg="addSp modSp mod">
        <pc:chgData name="María Elena Fernández Gascueña" userId="8298997d-b71a-4e0a-adff-66140120cb1e" providerId="ADAL" clId="{B96E5A31-1D93-42D0-8ABC-22F6E0693797}" dt="2023-10-17T05:09:42.611" v="48" actId="113"/>
        <pc:sldMkLst>
          <pc:docMk/>
          <pc:sldMk cId="95896043" sldId="813"/>
        </pc:sldMkLst>
        <pc:spChg chg="mod">
          <ac:chgData name="María Elena Fernández Gascueña" userId="8298997d-b71a-4e0a-adff-66140120cb1e" providerId="ADAL" clId="{B96E5A31-1D93-42D0-8ABC-22F6E0693797}" dt="2023-10-17T05:08:58.178" v="26" actId="14100"/>
          <ac:spMkLst>
            <pc:docMk/>
            <pc:sldMk cId="95896043" sldId="813"/>
            <ac:spMk id="2" creationId="{00000000-0000-0000-0000-000000000000}"/>
          </ac:spMkLst>
        </pc:spChg>
        <pc:spChg chg="mod">
          <ac:chgData name="María Elena Fernández Gascueña" userId="8298997d-b71a-4e0a-adff-66140120cb1e" providerId="ADAL" clId="{B96E5A31-1D93-42D0-8ABC-22F6E0693797}" dt="2023-10-17T05:07:15.296" v="3" actId="1076"/>
          <ac:spMkLst>
            <pc:docMk/>
            <pc:sldMk cId="95896043" sldId="813"/>
            <ac:spMk id="3" creationId="{00000000-0000-0000-0000-000000000000}"/>
          </ac:spMkLst>
        </pc:spChg>
        <pc:spChg chg="mod">
          <ac:chgData name="María Elena Fernández Gascueña" userId="8298997d-b71a-4e0a-adff-66140120cb1e" providerId="ADAL" clId="{B96E5A31-1D93-42D0-8ABC-22F6E0693797}" dt="2023-10-17T05:08:42.541" v="22" actId="14100"/>
          <ac:spMkLst>
            <pc:docMk/>
            <pc:sldMk cId="95896043" sldId="813"/>
            <ac:spMk id="5" creationId="{00000000-0000-0000-0000-000000000000}"/>
          </ac:spMkLst>
        </pc:spChg>
        <pc:spChg chg="mod">
          <ac:chgData name="María Elena Fernández Gascueña" userId="8298997d-b71a-4e0a-adff-66140120cb1e" providerId="ADAL" clId="{B96E5A31-1D93-42D0-8ABC-22F6E0693797}" dt="2023-10-17T05:08:48.047" v="23" actId="14100"/>
          <ac:spMkLst>
            <pc:docMk/>
            <pc:sldMk cId="95896043" sldId="813"/>
            <ac:spMk id="6" creationId="{00000000-0000-0000-0000-000000000000}"/>
          </ac:spMkLst>
        </pc:spChg>
        <pc:spChg chg="mod">
          <ac:chgData name="María Elena Fernández Gascueña" userId="8298997d-b71a-4e0a-adff-66140120cb1e" providerId="ADAL" clId="{B96E5A31-1D93-42D0-8ABC-22F6E0693797}" dt="2023-10-17T05:08:02.724" v="14" actId="1076"/>
          <ac:spMkLst>
            <pc:docMk/>
            <pc:sldMk cId="95896043" sldId="813"/>
            <ac:spMk id="8" creationId="{00000000-0000-0000-0000-000000000000}"/>
          </ac:spMkLst>
        </pc:spChg>
        <pc:spChg chg="mod">
          <ac:chgData name="María Elena Fernández Gascueña" userId="8298997d-b71a-4e0a-adff-66140120cb1e" providerId="ADAL" clId="{B96E5A31-1D93-42D0-8ABC-22F6E0693797}" dt="2023-10-17T05:07:56.020" v="12" actId="1076"/>
          <ac:spMkLst>
            <pc:docMk/>
            <pc:sldMk cId="95896043" sldId="813"/>
            <ac:spMk id="9" creationId="{00000000-0000-0000-0000-000000000000}"/>
          </ac:spMkLst>
        </pc:spChg>
        <pc:spChg chg="mod">
          <ac:chgData name="María Elena Fernández Gascueña" userId="8298997d-b71a-4e0a-adff-66140120cb1e" providerId="ADAL" clId="{B96E5A31-1D93-42D0-8ABC-22F6E0693797}" dt="2023-10-17T05:08:50.416" v="24" actId="14100"/>
          <ac:spMkLst>
            <pc:docMk/>
            <pc:sldMk cId="95896043" sldId="813"/>
            <ac:spMk id="10" creationId="{00000000-0000-0000-0000-000000000000}"/>
          </ac:spMkLst>
        </pc:spChg>
        <pc:spChg chg="mod">
          <ac:chgData name="María Elena Fernández Gascueña" userId="8298997d-b71a-4e0a-adff-66140120cb1e" providerId="ADAL" clId="{B96E5A31-1D93-42D0-8ABC-22F6E0693797}" dt="2023-10-17T05:08:54.939" v="25" actId="14100"/>
          <ac:spMkLst>
            <pc:docMk/>
            <pc:sldMk cId="95896043" sldId="813"/>
            <ac:spMk id="11" creationId="{00000000-0000-0000-0000-000000000000}"/>
          </ac:spMkLst>
        </pc:spChg>
        <pc:spChg chg="add mod">
          <ac:chgData name="María Elena Fernández Gascueña" userId="8298997d-b71a-4e0a-adff-66140120cb1e" providerId="ADAL" clId="{B96E5A31-1D93-42D0-8ABC-22F6E0693797}" dt="2023-10-17T05:09:42.611" v="48" actId="113"/>
          <ac:spMkLst>
            <pc:docMk/>
            <pc:sldMk cId="95896043" sldId="813"/>
            <ac:spMk id="14" creationId="{8E9D8CEC-6B22-2F1E-4594-FA620F89FEDB}"/>
          </ac:spMkLst>
        </pc:spChg>
      </pc:sldChg>
      <pc:sldChg chg="modSp mod">
        <pc:chgData name="María Elena Fernández Gascueña" userId="8298997d-b71a-4e0a-adff-66140120cb1e" providerId="ADAL" clId="{B96E5A31-1D93-42D0-8ABC-22F6E0693797}" dt="2023-10-30T07:08:56.843" v="88" actId="207"/>
        <pc:sldMkLst>
          <pc:docMk/>
          <pc:sldMk cId="3013163703" sldId="815"/>
        </pc:sldMkLst>
        <pc:spChg chg="mod">
          <ac:chgData name="María Elena Fernández Gascueña" userId="8298997d-b71a-4e0a-adff-66140120cb1e" providerId="ADAL" clId="{B96E5A31-1D93-42D0-8ABC-22F6E0693797}" dt="2023-10-30T07:08:56.843" v="88" actId="207"/>
          <ac:spMkLst>
            <pc:docMk/>
            <pc:sldMk cId="3013163703" sldId="815"/>
            <ac:spMk id="2" creationId="{00000000-0000-0000-0000-000000000000}"/>
          </ac:spMkLst>
        </pc:spChg>
      </pc:sldChg>
      <pc:sldChg chg="addSp modSp mod ord">
        <pc:chgData name="María Elena Fernández Gascueña" userId="8298997d-b71a-4e0a-adff-66140120cb1e" providerId="ADAL" clId="{B96E5A31-1D93-42D0-8ABC-22F6E0693797}" dt="2023-10-30T07:11:14.412" v="105" actId="14100"/>
        <pc:sldMkLst>
          <pc:docMk/>
          <pc:sldMk cId="3379190688" sldId="817"/>
        </pc:sldMkLst>
        <pc:spChg chg="mod">
          <ac:chgData name="María Elena Fernández Gascueña" userId="8298997d-b71a-4e0a-adff-66140120cb1e" providerId="ADAL" clId="{B96E5A31-1D93-42D0-8ABC-22F6E0693797}" dt="2023-10-30T07:11:14.412" v="105" actId="14100"/>
          <ac:spMkLst>
            <pc:docMk/>
            <pc:sldMk cId="3379190688" sldId="817"/>
            <ac:spMk id="3" creationId="{4DDF797D-17DC-4F6E-8427-441E17F985D1}"/>
          </ac:spMkLst>
        </pc:spChg>
        <pc:spChg chg="mod">
          <ac:chgData name="María Elena Fernández Gascueña" userId="8298997d-b71a-4e0a-adff-66140120cb1e" providerId="ADAL" clId="{B96E5A31-1D93-42D0-8ABC-22F6E0693797}" dt="2023-10-30T07:11:06.604" v="103" actId="1076"/>
          <ac:spMkLst>
            <pc:docMk/>
            <pc:sldMk cId="3379190688" sldId="817"/>
            <ac:spMk id="4" creationId="{00000000-0000-0000-0000-000000000000}"/>
          </ac:spMkLst>
        </pc:spChg>
        <pc:spChg chg="add mod">
          <ac:chgData name="María Elena Fernández Gascueña" userId="8298997d-b71a-4e0a-adff-66140120cb1e" providerId="ADAL" clId="{B96E5A31-1D93-42D0-8ABC-22F6E0693797}" dt="2023-10-17T05:10:28.603" v="54" actId="1076"/>
          <ac:spMkLst>
            <pc:docMk/>
            <pc:sldMk cId="3379190688" sldId="817"/>
            <ac:spMk id="5" creationId="{CFBB79A9-4ACE-E53A-3C61-52AF6BEF780D}"/>
          </ac:spMkLst>
        </pc:spChg>
        <pc:picChg chg="mod">
          <ac:chgData name="María Elena Fernández Gascueña" userId="8298997d-b71a-4e0a-adff-66140120cb1e" providerId="ADAL" clId="{B96E5A31-1D93-42D0-8ABC-22F6E0693797}" dt="2023-10-30T07:11:09.418" v="104" actId="1076"/>
          <ac:picMkLst>
            <pc:docMk/>
            <pc:sldMk cId="3379190688" sldId="817"/>
            <ac:picMk id="6" creationId="{00000000-0000-0000-0000-000000000000}"/>
          </ac:picMkLst>
        </pc:picChg>
      </pc:sldChg>
      <pc:sldChg chg="modSp mod">
        <pc:chgData name="María Elena Fernández Gascueña" userId="8298997d-b71a-4e0a-adff-66140120cb1e" providerId="ADAL" clId="{B96E5A31-1D93-42D0-8ABC-22F6E0693797}" dt="2023-10-17T05:11:22.687" v="69" actId="1076"/>
        <pc:sldMkLst>
          <pc:docMk/>
          <pc:sldMk cId="479417208" sldId="819"/>
        </pc:sldMkLst>
        <pc:spChg chg="mod">
          <ac:chgData name="María Elena Fernández Gascueña" userId="8298997d-b71a-4e0a-adff-66140120cb1e" providerId="ADAL" clId="{B96E5A31-1D93-42D0-8ABC-22F6E0693797}" dt="2023-10-17T05:11:18.293" v="68" actId="1076"/>
          <ac:spMkLst>
            <pc:docMk/>
            <pc:sldMk cId="479417208" sldId="819"/>
            <ac:spMk id="3" creationId="{00000000-0000-0000-0000-000000000000}"/>
          </ac:spMkLst>
        </pc:spChg>
        <pc:spChg chg="mod">
          <ac:chgData name="María Elena Fernández Gascueña" userId="8298997d-b71a-4e0a-adff-66140120cb1e" providerId="ADAL" clId="{B96E5A31-1D93-42D0-8ABC-22F6E0693797}" dt="2023-10-17T05:11:05.325" v="63" actId="20577"/>
          <ac:spMkLst>
            <pc:docMk/>
            <pc:sldMk cId="479417208" sldId="819"/>
            <ac:spMk id="6" creationId="{00000000-0000-0000-0000-000000000000}"/>
          </ac:spMkLst>
        </pc:spChg>
        <pc:spChg chg="mod">
          <ac:chgData name="María Elena Fernández Gascueña" userId="8298997d-b71a-4e0a-adff-66140120cb1e" providerId="ADAL" clId="{B96E5A31-1D93-42D0-8ABC-22F6E0693797}" dt="2023-10-17T05:11:10.189" v="65" actId="403"/>
          <ac:spMkLst>
            <pc:docMk/>
            <pc:sldMk cId="479417208" sldId="819"/>
            <ac:spMk id="8" creationId="{00000000-0000-0000-0000-000000000000}"/>
          </ac:spMkLst>
        </pc:spChg>
        <pc:picChg chg="mod">
          <ac:chgData name="María Elena Fernández Gascueña" userId="8298997d-b71a-4e0a-adff-66140120cb1e" providerId="ADAL" clId="{B96E5A31-1D93-42D0-8ABC-22F6E0693797}" dt="2023-10-17T05:11:22.687" v="69" actId="1076"/>
          <ac:picMkLst>
            <pc:docMk/>
            <pc:sldMk cId="479417208" sldId="819"/>
            <ac:picMk id="9" creationId="{00000000-0000-0000-0000-000000000000}"/>
          </ac:picMkLst>
        </pc:picChg>
      </pc:sldChg>
      <pc:sldChg chg="modSp mod">
        <pc:chgData name="María Elena Fernández Gascueña" userId="8298997d-b71a-4e0a-adff-66140120cb1e" providerId="ADAL" clId="{B96E5A31-1D93-42D0-8ABC-22F6E0693797}" dt="2023-10-17T05:11:28.688" v="70" actId="207"/>
        <pc:sldMkLst>
          <pc:docMk/>
          <pc:sldMk cId="1979279065" sldId="860"/>
        </pc:sldMkLst>
        <pc:spChg chg="mod">
          <ac:chgData name="María Elena Fernández Gascueña" userId="8298997d-b71a-4e0a-adff-66140120cb1e" providerId="ADAL" clId="{B96E5A31-1D93-42D0-8ABC-22F6E0693797}" dt="2023-10-17T05:11:28.688" v="70" actId="207"/>
          <ac:spMkLst>
            <pc:docMk/>
            <pc:sldMk cId="1979279065" sldId="860"/>
            <ac:spMk id="3" creationId="{00000000-0000-0000-0000-000000000000}"/>
          </ac:spMkLst>
        </pc:spChg>
      </pc:sldChg>
      <pc:sldChg chg="modSp mod modShow">
        <pc:chgData name="María Elena Fernández Gascueña" userId="8298997d-b71a-4e0a-adff-66140120cb1e" providerId="ADAL" clId="{B96E5A31-1D93-42D0-8ABC-22F6E0693797}" dt="2023-10-30T07:12:50.462" v="144" actId="1076"/>
        <pc:sldMkLst>
          <pc:docMk/>
          <pc:sldMk cId="1933915597" sldId="863"/>
        </pc:sldMkLst>
        <pc:spChg chg="mod">
          <ac:chgData name="María Elena Fernández Gascueña" userId="8298997d-b71a-4e0a-adff-66140120cb1e" providerId="ADAL" clId="{B96E5A31-1D93-42D0-8ABC-22F6E0693797}" dt="2023-10-30T07:12:42.137" v="142" actId="403"/>
          <ac:spMkLst>
            <pc:docMk/>
            <pc:sldMk cId="1933915597" sldId="863"/>
            <ac:spMk id="54274" creationId="{00000000-0000-0000-0000-000000000000}"/>
          </ac:spMkLst>
        </pc:spChg>
        <pc:spChg chg="mod">
          <ac:chgData name="María Elena Fernández Gascueña" userId="8298997d-b71a-4e0a-adff-66140120cb1e" providerId="ADAL" clId="{B96E5A31-1D93-42D0-8ABC-22F6E0693797}" dt="2023-10-30T07:12:45.761" v="143" actId="1076"/>
          <ac:spMkLst>
            <pc:docMk/>
            <pc:sldMk cId="1933915597" sldId="863"/>
            <ac:spMk id="54275" creationId="{00000000-0000-0000-0000-000000000000}"/>
          </ac:spMkLst>
        </pc:spChg>
        <pc:picChg chg="mod">
          <ac:chgData name="María Elena Fernández Gascueña" userId="8298997d-b71a-4e0a-adff-66140120cb1e" providerId="ADAL" clId="{B96E5A31-1D93-42D0-8ABC-22F6E0693797}" dt="2023-10-30T07:12:50.462" v="144" actId="1076"/>
          <ac:picMkLst>
            <pc:docMk/>
            <pc:sldMk cId="1933915597" sldId="863"/>
            <ac:picMk id="5" creationId="{00000000-0000-0000-0000-000000000000}"/>
          </ac:picMkLst>
        </pc:picChg>
      </pc:sldChg>
      <pc:sldChg chg="modSp mod">
        <pc:chgData name="María Elena Fernández Gascueña" userId="8298997d-b71a-4e0a-adff-66140120cb1e" providerId="ADAL" clId="{B96E5A31-1D93-42D0-8ABC-22F6E0693797}" dt="2023-10-30T07:12:57.591" v="145" actId="1076"/>
        <pc:sldMkLst>
          <pc:docMk/>
          <pc:sldMk cId="2191900622" sldId="864"/>
        </pc:sldMkLst>
        <pc:spChg chg="mod">
          <ac:chgData name="María Elena Fernández Gascueña" userId="8298997d-b71a-4e0a-adff-66140120cb1e" providerId="ADAL" clId="{B96E5A31-1D93-42D0-8ABC-22F6E0693797}" dt="2023-10-30T07:12:57.591" v="145" actId="1076"/>
          <ac:spMkLst>
            <pc:docMk/>
            <pc:sldMk cId="2191900622" sldId="864"/>
            <ac:spMk id="10" creationId="{00000000-0000-0000-0000-000000000000}"/>
          </ac:spMkLst>
        </pc:spChg>
      </pc:sldChg>
      <pc:sldChg chg="addSp delSp modSp mod">
        <pc:chgData name="María Elena Fernández Gascueña" userId="8298997d-b71a-4e0a-adff-66140120cb1e" providerId="ADAL" clId="{B96E5A31-1D93-42D0-8ABC-22F6E0693797}" dt="2023-10-30T07:16:29.308" v="171" actId="208"/>
        <pc:sldMkLst>
          <pc:docMk/>
          <pc:sldMk cId="1052683095" sldId="865"/>
        </pc:sldMkLst>
        <pc:spChg chg="add mod">
          <ac:chgData name="María Elena Fernández Gascueña" userId="8298997d-b71a-4e0a-adff-66140120cb1e" providerId="ADAL" clId="{B96E5A31-1D93-42D0-8ABC-22F6E0693797}" dt="2023-10-30T07:16:15.338" v="169" actId="207"/>
          <ac:spMkLst>
            <pc:docMk/>
            <pc:sldMk cId="1052683095" sldId="865"/>
            <ac:spMk id="3" creationId="{AB821791-E076-23FB-6F73-6835D19A8686}"/>
          </ac:spMkLst>
        </pc:spChg>
        <pc:picChg chg="mod">
          <ac:chgData name="María Elena Fernández Gascueña" userId="8298997d-b71a-4e0a-adff-66140120cb1e" providerId="ADAL" clId="{B96E5A31-1D93-42D0-8ABC-22F6E0693797}" dt="2023-10-30T07:14:57.923" v="146" actId="1076"/>
          <ac:picMkLst>
            <pc:docMk/>
            <pc:sldMk cId="1052683095" sldId="865"/>
            <ac:picMk id="58370" creationId="{00000000-0000-0000-0000-000000000000}"/>
          </ac:picMkLst>
        </pc:picChg>
        <pc:cxnChg chg="add del">
          <ac:chgData name="María Elena Fernández Gascueña" userId="8298997d-b71a-4e0a-adff-66140120cb1e" providerId="ADAL" clId="{B96E5A31-1D93-42D0-8ABC-22F6E0693797}" dt="2023-10-30T07:15:47.330" v="166" actId="478"/>
          <ac:cxnSpMkLst>
            <pc:docMk/>
            <pc:sldMk cId="1052683095" sldId="865"/>
            <ac:cxnSpMk id="5" creationId="{12753639-2E20-C9C1-2CCA-E6F5B48764F2}"/>
          </ac:cxnSpMkLst>
        </pc:cxnChg>
        <pc:cxnChg chg="add mod">
          <ac:chgData name="María Elena Fernández Gascueña" userId="8298997d-b71a-4e0a-adff-66140120cb1e" providerId="ADAL" clId="{B96E5A31-1D93-42D0-8ABC-22F6E0693797}" dt="2023-10-30T07:16:29.308" v="171" actId="208"/>
          <ac:cxnSpMkLst>
            <pc:docMk/>
            <pc:sldMk cId="1052683095" sldId="865"/>
            <ac:cxnSpMk id="7" creationId="{BF702ED0-9E2A-2821-A87D-313DC0400E4E}"/>
          </ac:cxnSpMkLst>
        </pc:cxnChg>
      </pc:sldChg>
      <pc:sldChg chg="del ord">
        <pc:chgData name="María Elena Fernández Gascueña" userId="8298997d-b71a-4e0a-adff-66140120cb1e" providerId="ADAL" clId="{B96E5A31-1D93-42D0-8ABC-22F6E0693797}" dt="2023-10-30T07:10:16.258" v="96" actId="47"/>
        <pc:sldMkLst>
          <pc:docMk/>
          <pc:sldMk cId="791338235" sldId="874"/>
        </pc:sldMkLst>
      </pc:sldChg>
      <pc:sldChg chg="addSp modSp del">
        <pc:chgData name="María Elena Fernández Gascueña" userId="8298997d-b71a-4e0a-adff-66140120cb1e" providerId="ADAL" clId="{B96E5A31-1D93-42D0-8ABC-22F6E0693797}" dt="2023-10-30T07:10:33.712" v="97" actId="47"/>
        <pc:sldMkLst>
          <pc:docMk/>
          <pc:sldMk cId="838964837" sldId="875"/>
        </pc:sldMkLst>
        <pc:spChg chg="add mod">
          <ac:chgData name="María Elena Fernández Gascueña" userId="8298997d-b71a-4e0a-adff-66140120cb1e" providerId="ADAL" clId="{B96E5A31-1D93-42D0-8ABC-22F6E0693797}" dt="2023-10-17T05:09:57.711" v="49"/>
          <ac:spMkLst>
            <pc:docMk/>
            <pc:sldMk cId="838964837" sldId="875"/>
            <ac:spMk id="5" creationId="{D1B34454-8214-1AF0-4998-672C71D3864F}"/>
          </ac:spMkLst>
        </pc:spChg>
      </pc:sldChg>
      <pc:sldChg chg="modSp mod">
        <pc:chgData name="María Elena Fernández Gascueña" userId="8298997d-b71a-4e0a-adff-66140120cb1e" providerId="ADAL" clId="{B96E5A31-1D93-42D0-8ABC-22F6E0693797}" dt="2023-10-30T07:16:47.184" v="172" actId="2711"/>
        <pc:sldMkLst>
          <pc:docMk/>
          <pc:sldMk cId="687129654" sldId="880"/>
        </pc:sldMkLst>
        <pc:spChg chg="mod">
          <ac:chgData name="María Elena Fernández Gascueña" userId="8298997d-b71a-4e0a-adff-66140120cb1e" providerId="ADAL" clId="{B96E5A31-1D93-42D0-8ABC-22F6E0693797}" dt="2023-10-30T07:16:47.184" v="172" actId="2711"/>
          <ac:spMkLst>
            <pc:docMk/>
            <pc:sldMk cId="687129654" sldId="880"/>
            <ac:spMk id="2" creationId="{00000000-0000-0000-0000-000000000000}"/>
          </ac:spMkLst>
        </pc:spChg>
      </pc:sldChg>
      <pc:sldChg chg="modSp mod modShow">
        <pc:chgData name="María Elena Fernández Gascueña" userId="8298997d-b71a-4e0a-adff-66140120cb1e" providerId="ADAL" clId="{B96E5A31-1D93-42D0-8ABC-22F6E0693797}" dt="2023-10-30T07:12:21.070" v="139" actId="20577"/>
        <pc:sldMkLst>
          <pc:docMk/>
          <pc:sldMk cId="2933997147" sldId="1868"/>
        </pc:sldMkLst>
        <pc:spChg chg="mod">
          <ac:chgData name="María Elena Fernández Gascueña" userId="8298997d-b71a-4e0a-adff-66140120cb1e" providerId="ADAL" clId="{B96E5A31-1D93-42D0-8ABC-22F6E0693797}" dt="2023-10-30T07:12:11.820" v="106" actId="1076"/>
          <ac:spMkLst>
            <pc:docMk/>
            <pc:sldMk cId="2933997147" sldId="1868"/>
            <ac:spMk id="2" creationId="{00000000-0000-0000-0000-000000000000}"/>
          </ac:spMkLst>
        </pc:spChg>
        <pc:spChg chg="mod">
          <ac:chgData name="María Elena Fernández Gascueña" userId="8298997d-b71a-4e0a-adff-66140120cb1e" providerId="ADAL" clId="{B96E5A31-1D93-42D0-8ABC-22F6E0693797}" dt="2023-10-30T07:12:21.070" v="139" actId="20577"/>
          <ac:spMkLst>
            <pc:docMk/>
            <pc:sldMk cId="2933997147" sldId="1868"/>
            <ac:spMk id="4" creationId="{D6BA27FF-090E-269F-C381-6CE95BBCC10C}"/>
          </ac:spMkLst>
        </pc:spChg>
      </pc:sldChg>
      <pc:sldChg chg="modSp mod">
        <pc:chgData name="María Elena Fernández Gascueña" userId="8298997d-b71a-4e0a-adff-66140120cb1e" providerId="ADAL" clId="{B96E5A31-1D93-42D0-8ABC-22F6E0693797}" dt="2023-10-17T05:10:24.771" v="53" actId="1076"/>
        <pc:sldMkLst>
          <pc:docMk/>
          <pc:sldMk cId="436705919" sldId="1873"/>
        </pc:sldMkLst>
        <pc:spChg chg="mod">
          <ac:chgData name="María Elena Fernández Gascueña" userId="8298997d-b71a-4e0a-adff-66140120cb1e" providerId="ADAL" clId="{B96E5A31-1D93-42D0-8ABC-22F6E0693797}" dt="2023-10-17T05:10:24.771" v="53" actId="1076"/>
          <ac:spMkLst>
            <pc:docMk/>
            <pc:sldMk cId="436705919" sldId="1873"/>
            <ac:spMk id="6" creationId="{00000000-0000-0000-0000-000000000000}"/>
          </ac:spMkLst>
        </pc:spChg>
      </pc:sldChg>
    </pc:docChg>
  </pc:docChgLst>
  <pc:docChgLst>
    <pc:chgData name="María Elena Fernández Gascueña" userId="8298997d-b71a-4e0a-adff-66140120cb1e" providerId="ADAL" clId="{FCEAFAAD-47AA-45E9-8FEA-C8CEDF9E1A85}"/>
    <pc:docChg chg="custSel delSld modSld sldOrd">
      <pc:chgData name="María Elena Fernández Gascueña" userId="8298997d-b71a-4e0a-adff-66140120cb1e" providerId="ADAL" clId="{FCEAFAAD-47AA-45E9-8FEA-C8CEDF9E1A85}" dt="2023-10-31T13:49:11.856" v="152" actId="6549"/>
      <pc:docMkLst>
        <pc:docMk/>
      </pc:docMkLst>
      <pc:sldChg chg="ord">
        <pc:chgData name="María Elena Fernández Gascueña" userId="8298997d-b71a-4e0a-adff-66140120cb1e" providerId="ADAL" clId="{FCEAFAAD-47AA-45E9-8FEA-C8CEDF9E1A85}" dt="2023-10-30T13:46:53.352" v="12"/>
        <pc:sldMkLst>
          <pc:docMk/>
          <pc:sldMk cId="0" sldId="342"/>
        </pc:sldMkLst>
      </pc:sldChg>
      <pc:sldChg chg="modSp modAnim">
        <pc:chgData name="María Elena Fernández Gascueña" userId="8298997d-b71a-4e0a-adff-66140120cb1e" providerId="ADAL" clId="{FCEAFAAD-47AA-45E9-8FEA-C8CEDF9E1A85}" dt="2023-10-31T13:49:11.856" v="152" actId="6549"/>
        <pc:sldMkLst>
          <pc:docMk/>
          <pc:sldMk cId="0" sldId="356"/>
        </pc:sldMkLst>
        <pc:spChg chg="mod">
          <ac:chgData name="María Elena Fernández Gascueña" userId="8298997d-b71a-4e0a-adff-66140120cb1e" providerId="ADAL" clId="{FCEAFAAD-47AA-45E9-8FEA-C8CEDF9E1A85}" dt="2023-10-31T13:49:11.856" v="152" actId="6549"/>
          <ac:spMkLst>
            <pc:docMk/>
            <pc:sldMk cId="0" sldId="356"/>
            <ac:spMk id="4" creationId="{00000000-0000-0000-0000-000000000000}"/>
          </ac:spMkLst>
        </pc:spChg>
      </pc:sldChg>
      <pc:sldChg chg="modSp mod modClrScheme chgLayout">
        <pc:chgData name="María Elena Fernández Gascueña" userId="8298997d-b71a-4e0a-adff-66140120cb1e" providerId="ADAL" clId="{FCEAFAAD-47AA-45E9-8FEA-C8CEDF9E1A85}" dt="2023-10-17T13:56:49.666" v="1" actId="700"/>
        <pc:sldMkLst>
          <pc:docMk/>
          <pc:sldMk cId="0" sldId="360"/>
        </pc:sldMkLst>
        <pc:spChg chg="mod ord">
          <ac:chgData name="María Elena Fernández Gascueña" userId="8298997d-b71a-4e0a-adff-66140120cb1e" providerId="ADAL" clId="{FCEAFAAD-47AA-45E9-8FEA-C8CEDF9E1A85}" dt="2023-10-17T13:56:49.666" v="1" actId="700"/>
          <ac:spMkLst>
            <pc:docMk/>
            <pc:sldMk cId="0" sldId="360"/>
            <ac:spMk id="2" creationId="{00000000-0000-0000-0000-000000000000}"/>
          </ac:spMkLst>
        </pc:spChg>
        <pc:spChg chg="mod ord">
          <ac:chgData name="María Elena Fernández Gascueña" userId="8298997d-b71a-4e0a-adff-66140120cb1e" providerId="ADAL" clId="{FCEAFAAD-47AA-45E9-8FEA-C8CEDF9E1A85}" dt="2023-10-17T13:56:49.666" v="1" actId="700"/>
          <ac:spMkLst>
            <pc:docMk/>
            <pc:sldMk cId="0" sldId="360"/>
            <ac:spMk id="3" creationId="{00000000-0000-0000-0000-000000000000}"/>
          </ac:spMkLst>
        </pc:spChg>
      </pc:sldChg>
      <pc:sldChg chg="modSp">
        <pc:chgData name="María Elena Fernández Gascueña" userId="8298997d-b71a-4e0a-adff-66140120cb1e" providerId="ADAL" clId="{FCEAFAAD-47AA-45E9-8FEA-C8CEDF9E1A85}" dt="2023-10-17T13:58:05.259" v="10" actId="20577"/>
        <pc:sldMkLst>
          <pc:docMk/>
          <pc:sldMk cId="0" sldId="364"/>
        </pc:sldMkLst>
        <pc:spChg chg="mod">
          <ac:chgData name="María Elena Fernández Gascueña" userId="8298997d-b71a-4e0a-adff-66140120cb1e" providerId="ADAL" clId="{FCEAFAAD-47AA-45E9-8FEA-C8CEDF9E1A85}" dt="2023-10-17T13:57:58.172" v="8" actId="20577"/>
          <ac:spMkLst>
            <pc:docMk/>
            <pc:sldMk cId="0" sldId="364"/>
            <ac:spMk id="5" creationId="{CE825AB3-032E-4D9E-883C-E7D839A726AB}"/>
          </ac:spMkLst>
        </pc:spChg>
        <pc:spChg chg="mod">
          <ac:chgData name="María Elena Fernández Gascueña" userId="8298997d-b71a-4e0a-adff-66140120cb1e" providerId="ADAL" clId="{FCEAFAAD-47AA-45E9-8FEA-C8CEDF9E1A85}" dt="2023-10-17T13:58:01.872" v="9" actId="20577"/>
          <ac:spMkLst>
            <pc:docMk/>
            <pc:sldMk cId="0" sldId="364"/>
            <ac:spMk id="16" creationId="{E0B162C6-233B-4869-9D59-63AB41DE8DAC}"/>
          </ac:spMkLst>
        </pc:spChg>
        <pc:spChg chg="mod">
          <ac:chgData name="María Elena Fernández Gascueña" userId="8298997d-b71a-4e0a-adff-66140120cb1e" providerId="ADAL" clId="{FCEAFAAD-47AA-45E9-8FEA-C8CEDF9E1A85}" dt="2023-10-17T13:58:05.259" v="10" actId="20577"/>
          <ac:spMkLst>
            <pc:docMk/>
            <pc:sldMk cId="0" sldId="364"/>
            <ac:spMk id="17" creationId="{C602F009-0B86-4D1C-B1E8-AAA5ACFE0C80}"/>
          </ac:spMkLst>
        </pc:spChg>
        <pc:spChg chg="mod">
          <ac:chgData name="María Elena Fernández Gascueña" userId="8298997d-b71a-4e0a-adff-66140120cb1e" providerId="ADAL" clId="{FCEAFAAD-47AA-45E9-8FEA-C8CEDF9E1A85}" dt="2023-10-17T13:57:47.604" v="5" actId="20577"/>
          <ac:spMkLst>
            <pc:docMk/>
            <pc:sldMk cId="0" sldId="364"/>
            <ac:spMk id="18" creationId="{41D58D5C-0BEA-4694-B87F-BBF107DE302B}"/>
          </ac:spMkLst>
        </pc:spChg>
      </pc:sldChg>
      <pc:sldChg chg="modSp del">
        <pc:chgData name="María Elena Fernández Gascueña" userId="8298997d-b71a-4e0a-adff-66140120cb1e" providerId="ADAL" clId="{FCEAFAAD-47AA-45E9-8FEA-C8CEDF9E1A85}" dt="2023-10-30T14:01:35.702" v="14" actId="47"/>
        <pc:sldMkLst>
          <pc:docMk/>
          <pc:sldMk cId="0" sldId="378"/>
        </pc:sldMkLst>
        <pc:spChg chg="mod">
          <ac:chgData name="María Elena Fernández Gascueña" userId="8298997d-b71a-4e0a-adff-66140120cb1e" providerId="ADAL" clId="{FCEAFAAD-47AA-45E9-8FEA-C8CEDF9E1A85}" dt="2023-10-30T14:01:21.985" v="13" actId="6549"/>
          <ac:spMkLst>
            <pc:docMk/>
            <pc:sldMk cId="0" sldId="378"/>
            <ac:spMk id="4" creationId="{00000000-0000-0000-0000-000000000000}"/>
          </ac:spMkLst>
        </pc:spChg>
      </pc:sldChg>
      <pc:sldChg chg="modSp mod">
        <pc:chgData name="María Elena Fernández Gascueña" userId="8298997d-b71a-4e0a-adff-66140120cb1e" providerId="ADAL" clId="{FCEAFAAD-47AA-45E9-8FEA-C8CEDF9E1A85}" dt="2023-10-17T13:56:58.668" v="2"/>
        <pc:sldMkLst>
          <pc:docMk/>
          <pc:sldMk cId="1410122258" sldId="868"/>
        </pc:sldMkLst>
        <pc:spChg chg="mod">
          <ac:chgData name="María Elena Fernández Gascueña" userId="8298997d-b71a-4e0a-adff-66140120cb1e" providerId="ADAL" clId="{FCEAFAAD-47AA-45E9-8FEA-C8CEDF9E1A85}" dt="2023-10-17T13:56:58.668" v="2"/>
          <ac:spMkLst>
            <pc:docMk/>
            <pc:sldMk cId="1410122258" sldId="868"/>
            <ac:spMk id="4" creationId="{6B15D0D8-C291-1BF8-2FD3-178760DB189C}"/>
          </ac:spMkLst>
        </pc:spChg>
      </pc:sldChg>
      <pc:sldChg chg="addSp modSp mod chgLayout">
        <pc:chgData name="María Elena Fernández Gascueña" userId="8298997d-b71a-4e0a-adff-66140120cb1e" providerId="ADAL" clId="{FCEAFAAD-47AA-45E9-8FEA-C8CEDF9E1A85}" dt="2023-10-17T13:57:11.785" v="4"/>
        <pc:sldMkLst>
          <pc:docMk/>
          <pc:sldMk cId="1107390106" sldId="869"/>
        </pc:sldMkLst>
        <pc:spChg chg="add mod ord">
          <ac:chgData name="María Elena Fernández Gascueña" userId="8298997d-b71a-4e0a-adff-66140120cb1e" providerId="ADAL" clId="{FCEAFAAD-47AA-45E9-8FEA-C8CEDF9E1A85}" dt="2023-10-17T13:57:11.785" v="4"/>
          <ac:spMkLst>
            <pc:docMk/>
            <pc:sldMk cId="1107390106" sldId="869"/>
            <ac:spMk id="4" creationId="{EBFC58B7-5C93-E56B-A9CC-836CEE9D81D3}"/>
          </ac:spMkLst>
        </pc:spChg>
      </pc:sldChg>
    </pc:docChg>
  </pc:docChgLst>
  <pc:docChgLst>
    <pc:chgData name="María Elena Fernández Gascueña" userId="8298997d-b71a-4e0a-adff-66140120cb1e" providerId="ADAL" clId="{A519E368-1679-40A5-9950-B6D8D11FD071}"/>
    <pc:docChg chg="modSld">
      <pc:chgData name="María Elena Fernández Gascueña" userId="8298997d-b71a-4e0a-adff-66140120cb1e" providerId="ADAL" clId="{A519E368-1679-40A5-9950-B6D8D11FD071}" dt="2023-09-08T16:03:37.625" v="57" actId="20577"/>
      <pc:docMkLst>
        <pc:docMk/>
      </pc:docMkLst>
      <pc:sldChg chg="modSp mod">
        <pc:chgData name="María Elena Fernández Gascueña" userId="8298997d-b71a-4e0a-adff-66140120cb1e" providerId="ADAL" clId="{A519E368-1679-40A5-9950-B6D8D11FD071}" dt="2023-09-08T16:03:37.625" v="57" actId="20577"/>
        <pc:sldMkLst>
          <pc:docMk/>
          <pc:sldMk cId="0" sldId="282"/>
        </pc:sldMkLst>
        <pc:spChg chg="mod">
          <ac:chgData name="María Elena Fernández Gascueña" userId="8298997d-b71a-4e0a-adff-66140120cb1e" providerId="ADAL" clId="{A519E368-1679-40A5-9950-B6D8D11FD071}" dt="2023-09-08T16:03:10.697" v="5" actId="6549"/>
          <ac:spMkLst>
            <pc:docMk/>
            <pc:sldMk cId="0" sldId="282"/>
            <ac:spMk id="2" creationId="{00000000-0000-0000-0000-000000000000}"/>
          </ac:spMkLst>
        </pc:spChg>
        <pc:spChg chg="mod">
          <ac:chgData name="María Elena Fernández Gascueña" userId="8298997d-b71a-4e0a-adff-66140120cb1e" providerId="ADAL" clId="{A519E368-1679-40A5-9950-B6D8D11FD071}" dt="2023-09-08T16:03:37.625" v="57" actId="20577"/>
          <ac:spMkLst>
            <pc:docMk/>
            <pc:sldMk cId="0" sldId="282"/>
            <ac:spMk id="5" creationId="{00000000-0000-0000-0000-000000000000}"/>
          </ac:spMkLst>
        </pc:spChg>
      </pc:sldChg>
    </pc:docChg>
  </pc:docChgLst>
  <pc:docChgLst>
    <pc:chgData name="María Elena Fernández Gascueña" userId="8298997d-b71a-4e0a-adff-66140120cb1e" providerId="ADAL" clId="{DEF0CF08-90BD-4A5D-9F87-C3F9FE84F034}"/>
    <pc:docChg chg="undo custSel addSld modSld">
      <pc:chgData name="María Elena Fernández Gascueña" userId="8298997d-b71a-4e0a-adff-66140120cb1e" providerId="ADAL" clId="{DEF0CF08-90BD-4A5D-9F87-C3F9FE84F034}" dt="2023-10-10T09:41:50.621" v="58"/>
      <pc:docMkLst>
        <pc:docMk/>
      </pc:docMkLst>
      <pc:sldChg chg="addSp delSp modSp add mod chgLayout">
        <pc:chgData name="María Elena Fernández Gascueña" userId="8298997d-b71a-4e0a-adff-66140120cb1e" providerId="ADAL" clId="{DEF0CF08-90BD-4A5D-9F87-C3F9FE84F034}" dt="2023-10-10T09:41:09.620" v="46"/>
        <pc:sldMkLst>
          <pc:docMk/>
          <pc:sldMk cId="2066023790" sldId="719"/>
        </pc:sldMkLst>
        <pc:spChg chg="mod ord">
          <ac:chgData name="María Elena Fernández Gascueña" userId="8298997d-b71a-4e0a-adff-66140120cb1e" providerId="ADAL" clId="{DEF0CF08-90BD-4A5D-9F87-C3F9FE84F034}" dt="2023-10-10T09:39:36.937" v="30" actId="700"/>
          <ac:spMkLst>
            <pc:docMk/>
            <pc:sldMk cId="2066023790" sldId="719"/>
            <ac:spMk id="2" creationId="{B0D17D60-E8D3-44CD-BBAC-9B6B6FC906CE}"/>
          </ac:spMkLst>
        </pc:spChg>
        <pc:spChg chg="add del mod ord">
          <ac:chgData name="María Elena Fernández Gascueña" userId="8298997d-b71a-4e0a-adff-66140120cb1e" providerId="ADAL" clId="{DEF0CF08-90BD-4A5D-9F87-C3F9FE84F034}" dt="2023-10-10T09:39:36.937" v="30" actId="700"/>
          <ac:spMkLst>
            <pc:docMk/>
            <pc:sldMk cId="2066023790" sldId="719"/>
            <ac:spMk id="4" creationId="{8DAA955B-B150-2F2F-F53B-E492C0A7725C}"/>
          </ac:spMkLst>
        </pc:spChg>
        <pc:spChg chg="add mod ord">
          <ac:chgData name="María Elena Fernández Gascueña" userId="8298997d-b71a-4e0a-adff-66140120cb1e" providerId="ADAL" clId="{DEF0CF08-90BD-4A5D-9F87-C3F9FE84F034}" dt="2023-10-10T09:41:09.620" v="46"/>
          <ac:spMkLst>
            <pc:docMk/>
            <pc:sldMk cId="2066023790" sldId="719"/>
            <ac:spMk id="5" creationId="{A5BF9D06-8D76-DC13-FC4A-32CDEC35B793}"/>
          </ac:spMkLst>
        </pc:spChg>
        <pc:spChg chg="add del">
          <ac:chgData name="María Elena Fernández Gascueña" userId="8298997d-b71a-4e0a-adff-66140120cb1e" providerId="ADAL" clId="{DEF0CF08-90BD-4A5D-9F87-C3F9FE84F034}" dt="2023-10-10T09:39:33.588" v="29" actId="26606"/>
          <ac:spMkLst>
            <pc:docMk/>
            <pc:sldMk cId="2066023790" sldId="719"/>
            <ac:spMk id="6" creationId="{13B86B18-3CC2-4721-890C-17C575A840D5}"/>
          </ac:spMkLst>
        </pc:spChg>
        <pc:spChg chg="add del mod">
          <ac:chgData name="María Elena Fernández Gascueña" userId="8298997d-b71a-4e0a-adff-66140120cb1e" providerId="ADAL" clId="{DEF0CF08-90BD-4A5D-9F87-C3F9FE84F034}" dt="2023-10-10T09:39:33.588" v="29" actId="26606"/>
          <ac:spMkLst>
            <pc:docMk/>
            <pc:sldMk cId="2066023790" sldId="719"/>
            <ac:spMk id="11" creationId="{5E23B556-C01F-BAE1-AD65-F4A14F6FBB21}"/>
          </ac:spMkLst>
        </pc:spChg>
        <pc:spChg chg="add del mod">
          <ac:chgData name="María Elena Fernández Gascueña" userId="8298997d-b71a-4e0a-adff-66140120cb1e" providerId="ADAL" clId="{DEF0CF08-90BD-4A5D-9F87-C3F9FE84F034}" dt="2023-10-10T09:39:33.588" v="29" actId="26606"/>
          <ac:spMkLst>
            <pc:docMk/>
            <pc:sldMk cId="2066023790" sldId="719"/>
            <ac:spMk id="13" creationId="{9426602D-726C-876C-3897-DBC1B6D7BB67}"/>
          </ac:spMkLst>
        </pc:spChg>
        <pc:spChg chg="add del mod">
          <ac:chgData name="María Elena Fernández Gascueña" userId="8298997d-b71a-4e0a-adff-66140120cb1e" providerId="ADAL" clId="{DEF0CF08-90BD-4A5D-9F87-C3F9FE84F034}" dt="2023-10-10T09:39:33.588" v="29" actId="26606"/>
          <ac:spMkLst>
            <pc:docMk/>
            <pc:sldMk cId="2066023790" sldId="719"/>
            <ac:spMk id="15" creationId="{75974B84-A4AD-CF9D-9DFA-6531E26D11F1}"/>
          </ac:spMkLst>
        </pc:spChg>
        <pc:picChg chg="mod">
          <ac:chgData name="María Elena Fernández Gascueña" userId="8298997d-b71a-4e0a-adff-66140120cb1e" providerId="ADAL" clId="{DEF0CF08-90BD-4A5D-9F87-C3F9FE84F034}" dt="2023-10-10T09:39:33.588" v="29" actId="26606"/>
          <ac:picMkLst>
            <pc:docMk/>
            <pc:sldMk cId="2066023790" sldId="719"/>
            <ac:picMk id="3" creationId="{F853A7AA-D591-4891-8784-255A7D863FF3}"/>
          </ac:picMkLst>
        </pc:picChg>
      </pc:sldChg>
      <pc:sldChg chg="addSp modSp add mod chgLayout">
        <pc:chgData name="María Elena Fernández Gascueña" userId="8298997d-b71a-4e0a-adff-66140120cb1e" providerId="ADAL" clId="{DEF0CF08-90BD-4A5D-9F87-C3F9FE84F034}" dt="2023-10-10T09:41:12.502" v="47"/>
        <pc:sldMkLst>
          <pc:docMk/>
          <pc:sldMk cId="751685626" sldId="735"/>
        </pc:sldMkLst>
        <pc:spChg chg="mod ord">
          <ac:chgData name="María Elena Fernández Gascueña" userId="8298997d-b71a-4e0a-adff-66140120cb1e" providerId="ADAL" clId="{DEF0CF08-90BD-4A5D-9F87-C3F9FE84F034}" dt="2023-10-10T09:39:44.105" v="31" actId="700"/>
          <ac:spMkLst>
            <pc:docMk/>
            <pc:sldMk cId="751685626" sldId="735"/>
            <ac:spMk id="2" creationId="{21BD54C6-45A6-4A5A-ADD5-4E64687E73C3}"/>
          </ac:spMkLst>
        </pc:spChg>
        <pc:spChg chg="add mod ord">
          <ac:chgData name="María Elena Fernández Gascueña" userId="8298997d-b71a-4e0a-adff-66140120cb1e" providerId="ADAL" clId="{DEF0CF08-90BD-4A5D-9F87-C3F9FE84F034}" dt="2023-10-10T09:41:12.502" v="47"/>
          <ac:spMkLst>
            <pc:docMk/>
            <pc:sldMk cId="751685626" sldId="735"/>
            <ac:spMk id="3" creationId="{A5F38531-54B7-8514-0DFD-971EE4FC9544}"/>
          </ac:spMkLst>
        </pc:spChg>
      </pc:sldChg>
      <pc:sldChg chg="addSp modSp add mod chgLayout">
        <pc:chgData name="María Elena Fernández Gascueña" userId="8298997d-b71a-4e0a-adff-66140120cb1e" providerId="ADAL" clId="{DEF0CF08-90BD-4A5D-9F87-C3F9FE84F034}" dt="2023-10-10T09:41:03.330" v="44"/>
        <pc:sldMkLst>
          <pc:docMk/>
          <pc:sldMk cId="2910629996" sldId="802"/>
        </pc:sldMkLst>
        <pc:spChg chg="add mod ord">
          <ac:chgData name="María Elena Fernández Gascueña" userId="8298997d-b71a-4e0a-adff-66140120cb1e" providerId="ADAL" clId="{DEF0CF08-90BD-4A5D-9F87-C3F9FE84F034}" dt="2023-10-10T09:41:03.330" v="44"/>
          <ac:spMkLst>
            <pc:docMk/>
            <pc:sldMk cId="2910629996" sldId="802"/>
            <ac:spMk id="2" creationId="{896210FF-021B-0879-A53E-E70447B033E7}"/>
          </ac:spMkLst>
        </pc:spChg>
      </pc:sldChg>
      <pc:sldChg chg="addSp modSp add mod chgLayout modNotes">
        <pc:chgData name="María Elena Fernández Gascueña" userId="8298997d-b71a-4e0a-adff-66140120cb1e" providerId="ADAL" clId="{DEF0CF08-90BD-4A5D-9F87-C3F9FE84F034}" dt="2023-10-10T09:41:17.884" v="49"/>
        <pc:sldMkLst>
          <pc:docMk/>
          <pc:sldMk cId="95896043" sldId="813"/>
        </pc:sldMkLst>
        <pc:spChg chg="add mod ord">
          <ac:chgData name="María Elena Fernández Gascueña" userId="8298997d-b71a-4e0a-adff-66140120cb1e" providerId="ADAL" clId="{DEF0CF08-90BD-4A5D-9F87-C3F9FE84F034}" dt="2023-10-10T09:41:17.884" v="49"/>
          <ac:spMkLst>
            <pc:docMk/>
            <pc:sldMk cId="95896043" sldId="813"/>
            <ac:spMk id="13" creationId="{9210A726-EE65-464A-2366-FF3F00100854}"/>
          </ac:spMkLst>
        </pc:spChg>
      </pc:sldChg>
      <pc:sldChg chg="addSp modSp add mod chgLayout modNotes">
        <pc:chgData name="María Elena Fernández Gascueña" userId="8298997d-b71a-4e0a-adff-66140120cb1e" providerId="ADAL" clId="{DEF0CF08-90BD-4A5D-9F87-C3F9FE84F034}" dt="2023-10-10T09:41:06.695" v="45"/>
        <pc:sldMkLst>
          <pc:docMk/>
          <pc:sldMk cId="3013163703" sldId="815"/>
        </pc:sldMkLst>
        <pc:spChg chg="add mod ord">
          <ac:chgData name="María Elena Fernández Gascueña" userId="8298997d-b71a-4e0a-adff-66140120cb1e" providerId="ADAL" clId="{DEF0CF08-90BD-4A5D-9F87-C3F9FE84F034}" dt="2023-10-10T09:41:06.695" v="45"/>
          <ac:spMkLst>
            <pc:docMk/>
            <pc:sldMk cId="3013163703" sldId="815"/>
            <ac:spMk id="6" creationId="{A95E7970-894F-413B-3354-BBEE71AFFB58}"/>
          </ac:spMkLst>
        </pc:spChg>
      </pc:sldChg>
      <pc:sldChg chg="modSp add mod chgLayout">
        <pc:chgData name="María Elena Fernández Gascueña" userId="8298997d-b71a-4e0a-adff-66140120cb1e" providerId="ADAL" clId="{DEF0CF08-90BD-4A5D-9F87-C3F9FE84F034}" dt="2023-10-10T09:40:10.343" v="35" actId="700"/>
        <pc:sldMkLst>
          <pc:docMk/>
          <pc:sldMk cId="3379190688" sldId="817"/>
        </pc:sldMkLst>
        <pc:spChg chg="mod ord">
          <ac:chgData name="María Elena Fernández Gascueña" userId="8298997d-b71a-4e0a-adff-66140120cb1e" providerId="ADAL" clId="{DEF0CF08-90BD-4A5D-9F87-C3F9FE84F034}" dt="2023-10-10T09:40:10.343" v="35" actId="700"/>
          <ac:spMkLst>
            <pc:docMk/>
            <pc:sldMk cId="3379190688" sldId="817"/>
            <ac:spMk id="2" creationId="{4CFD79DC-34FB-45D1-AE6E-64A36E1A7533}"/>
          </ac:spMkLst>
        </pc:spChg>
        <pc:spChg chg="mod ord">
          <ac:chgData name="María Elena Fernández Gascueña" userId="8298997d-b71a-4e0a-adff-66140120cb1e" providerId="ADAL" clId="{DEF0CF08-90BD-4A5D-9F87-C3F9FE84F034}" dt="2023-10-10T09:40:10.343" v="35" actId="700"/>
          <ac:spMkLst>
            <pc:docMk/>
            <pc:sldMk cId="3379190688" sldId="817"/>
            <ac:spMk id="3" creationId="{4DDF797D-17DC-4F6E-8427-441E17F985D1}"/>
          </ac:spMkLst>
        </pc:spChg>
      </pc:sldChg>
      <pc:sldChg chg="addSp modSp add mod chgLayout modNotes">
        <pc:chgData name="María Elena Fernández Gascueña" userId="8298997d-b71a-4e0a-adff-66140120cb1e" providerId="ADAL" clId="{DEF0CF08-90BD-4A5D-9F87-C3F9FE84F034}" dt="2023-10-10T09:41:32.253" v="52"/>
        <pc:sldMkLst>
          <pc:docMk/>
          <pc:sldMk cId="479417208" sldId="819"/>
        </pc:sldMkLst>
        <pc:spChg chg="add mod ord">
          <ac:chgData name="María Elena Fernández Gascueña" userId="8298997d-b71a-4e0a-adff-66140120cb1e" providerId="ADAL" clId="{DEF0CF08-90BD-4A5D-9F87-C3F9FE84F034}" dt="2023-10-10T09:41:32.253" v="52"/>
          <ac:spMkLst>
            <pc:docMk/>
            <pc:sldMk cId="479417208" sldId="819"/>
            <ac:spMk id="4" creationId="{8BAD6C04-AB10-FE63-471D-6506544E07B2}"/>
          </ac:spMkLst>
        </pc:spChg>
      </pc:sldChg>
      <pc:sldChg chg="addSp modSp add mod chgLayout modNotes">
        <pc:chgData name="María Elena Fernández Gascueña" userId="8298997d-b71a-4e0a-adff-66140120cb1e" providerId="ADAL" clId="{DEF0CF08-90BD-4A5D-9F87-C3F9FE84F034}" dt="2023-10-10T09:41:35.017" v="53"/>
        <pc:sldMkLst>
          <pc:docMk/>
          <pc:sldMk cId="1979279065" sldId="860"/>
        </pc:sldMkLst>
        <pc:spChg chg="add mod ord">
          <ac:chgData name="María Elena Fernández Gascueña" userId="8298997d-b71a-4e0a-adff-66140120cb1e" providerId="ADAL" clId="{DEF0CF08-90BD-4A5D-9F87-C3F9FE84F034}" dt="2023-10-10T09:41:35.017" v="53"/>
          <ac:spMkLst>
            <pc:docMk/>
            <pc:sldMk cId="1979279065" sldId="860"/>
            <ac:spMk id="7" creationId="{281669A9-8FEC-BBA9-4B29-3910CEF70D01}"/>
          </ac:spMkLst>
        </pc:spChg>
      </pc:sldChg>
      <pc:sldChg chg="addSp modSp add mod chgLayout modNotes">
        <pc:chgData name="María Elena Fernández Gascueña" userId="8298997d-b71a-4e0a-adff-66140120cb1e" providerId="ADAL" clId="{DEF0CF08-90BD-4A5D-9F87-C3F9FE84F034}" dt="2023-10-10T09:41:40.886" v="55"/>
        <pc:sldMkLst>
          <pc:docMk/>
          <pc:sldMk cId="1933915597" sldId="863"/>
        </pc:sldMkLst>
        <pc:spChg chg="add mod ord">
          <ac:chgData name="María Elena Fernández Gascueña" userId="8298997d-b71a-4e0a-adff-66140120cb1e" providerId="ADAL" clId="{DEF0CF08-90BD-4A5D-9F87-C3F9FE84F034}" dt="2023-10-10T09:41:40.886" v="55"/>
          <ac:spMkLst>
            <pc:docMk/>
            <pc:sldMk cId="1933915597" sldId="863"/>
            <ac:spMk id="3" creationId="{8F6F0F99-4B86-33ED-3E9A-8947E469C3CC}"/>
          </ac:spMkLst>
        </pc:spChg>
      </pc:sldChg>
      <pc:sldChg chg="addSp modSp add mod chgLayout">
        <pc:chgData name="María Elena Fernández Gascueña" userId="8298997d-b71a-4e0a-adff-66140120cb1e" providerId="ADAL" clId="{DEF0CF08-90BD-4A5D-9F87-C3F9FE84F034}" dt="2023-10-10T09:41:44.498" v="56"/>
        <pc:sldMkLst>
          <pc:docMk/>
          <pc:sldMk cId="2191900622" sldId="864"/>
        </pc:sldMkLst>
        <pc:spChg chg="add mod ord">
          <ac:chgData name="María Elena Fernández Gascueña" userId="8298997d-b71a-4e0a-adff-66140120cb1e" providerId="ADAL" clId="{DEF0CF08-90BD-4A5D-9F87-C3F9FE84F034}" dt="2023-10-10T09:41:44.498" v="56"/>
          <ac:spMkLst>
            <pc:docMk/>
            <pc:sldMk cId="2191900622" sldId="864"/>
            <ac:spMk id="2" creationId="{C6FB3CB3-52C3-6047-70B4-5FF582936530}"/>
          </ac:spMkLst>
        </pc:spChg>
      </pc:sldChg>
      <pc:sldChg chg="addSp modSp add mod chgLayout">
        <pc:chgData name="María Elena Fernández Gascueña" userId="8298997d-b71a-4e0a-adff-66140120cb1e" providerId="ADAL" clId="{DEF0CF08-90BD-4A5D-9F87-C3F9FE84F034}" dt="2023-10-10T09:41:47.729" v="57"/>
        <pc:sldMkLst>
          <pc:docMk/>
          <pc:sldMk cId="1052683095" sldId="865"/>
        </pc:sldMkLst>
        <pc:spChg chg="add mod ord">
          <ac:chgData name="María Elena Fernández Gascueña" userId="8298997d-b71a-4e0a-adff-66140120cb1e" providerId="ADAL" clId="{DEF0CF08-90BD-4A5D-9F87-C3F9FE84F034}" dt="2023-10-10T09:41:47.729" v="57"/>
          <ac:spMkLst>
            <pc:docMk/>
            <pc:sldMk cId="1052683095" sldId="865"/>
            <ac:spMk id="2" creationId="{0B072BB2-6463-7123-1984-1F71E89F7925}"/>
          </ac:spMkLst>
        </pc:spChg>
      </pc:sldChg>
      <pc:sldChg chg="addSp modSp add mod chgLayout">
        <pc:chgData name="María Elena Fernández Gascueña" userId="8298997d-b71a-4e0a-adff-66140120cb1e" providerId="ADAL" clId="{DEF0CF08-90BD-4A5D-9F87-C3F9FE84F034}" dt="2023-10-10T09:28:27.591" v="8" actId="700"/>
        <pc:sldMkLst>
          <pc:docMk/>
          <pc:sldMk cId="1410122258" sldId="868"/>
        </pc:sldMkLst>
        <pc:spChg chg="add mod ord">
          <ac:chgData name="María Elena Fernández Gascueña" userId="8298997d-b71a-4e0a-adff-66140120cb1e" providerId="ADAL" clId="{DEF0CF08-90BD-4A5D-9F87-C3F9FE84F034}" dt="2023-10-10T09:28:27.591" v="8" actId="700"/>
          <ac:spMkLst>
            <pc:docMk/>
            <pc:sldMk cId="1410122258" sldId="868"/>
            <ac:spMk id="4" creationId="{6B15D0D8-C291-1BF8-2FD3-178760DB189C}"/>
          </ac:spMkLst>
        </pc:spChg>
      </pc:sldChg>
      <pc:sldChg chg="addSp delSp modSp add mod chgLayout">
        <pc:chgData name="María Elena Fernández Gascueña" userId="8298997d-b71a-4e0a-adff-66140120cb1e" providerId="ADAL" clId="{DEF0CF08-90BD-4A5D-9F87-C3F9FE84F034}" dt="2023-10-10T09:28:48.392" v="10" actId="700"/>
        <pc:sldMkLst>
          <pc:docMk/>
          <pc:sldMk cId="1107390106" sldId="869"/>
        </pc:sldMkLst>
        <pc:spChg chg="mod">
          <ac:chgData name="María Elena Fernández Gascueña" userId="8298997d-b71a-4e0a-adff-66140120cb1e" providerId="ADAL" clId="{DEF0CF08-90BD-4A5D-9F87-C3F9FE84F034}" dt="2023-10-10T09:28:03.009" v="7" actId="1076"/>
          <ac:spMkLst>
            <pc:docMk/>
            <pc:sldMk cId="1107390106" sldId="869"/>
            <ac:spMk id="2" creationId="{00000000-0000-0000-0000-000000000000}"/>
          </ac:spMkLst>
        </pc:spChg>
        <pc:spChg chg="add del mod ord">
          <ac:chgData name="María Elena Fernández Gascueña" userId="8298997d-b71a-4e0a-adff-66140120cb1e" providerId="ADAL" clId="{DEF0CF08-90BD-4A5D-9F87-C3F9FE84F034}" dt="2023-10-10T09:28:48.392" v="10" actId="700"/>
          <ac:spMkLst>
            <pc:docMk/>
            <pc:sldMk cId="1107390106" sldId="869"/>
            <ac:spMk id="4" creationId="{00B5A642-0D65-C012-35F0-B5C53A85C527}"/>
          </ac:spMkLst>
        </pc:spChg>
      </pc:sldChg>
      <pc:sldChg chg="addSp modSp add mod chgLayout">
        <pc:chgData name="María Elena Fernández Gascueña" userId="8298997d-b71a-4e0a-adff-66140120cb1e" providerId="ADAL" clId="{DEF0CF08-90BD-4A5D-9F87-C3F9FE84F034}" dt="2023-10-10T09:41:15.499" v="48"/>
        <pc:sldMkLst>
          <pc:docMk/>
          <pc:sldMk cId="791338235" sldId="874"/>
        </pc:sldMkLst>
        <pc:spChg chg="add mod ord">
          <ac:chgData name="María Elena Fernández Gascueña" userId="8298997d-b71a-4e0a-adff-66140120cb1e" providerId="ADAL" clId="{DEF0CF08-90BD-4A5D-9F87-C3F9FE84F034}" dt="2023-10-10T09:41:15.499" v="48"/>
          <ac:spMkLst>
            <pc:docMk/>
            <pc:sldMk cId="791338235" sldId="874"/>
            <ac:spMk id="4" creationId="{F5947691-DCB7-4935-B05F-34C1CF54699D}"/>
          </ac:spMkLst>
        </pc:spChg>
      </pc:sldChg>
      <pc:sldChg chg="addSp modSp add mod chgLayout">
        <pc:chgData name="María Elena Fernández Gascueña" userId="8298997d-b71a-4e0a-adff-66140120cb1e" providerId="ADAL" clId="{DEF0CF08-90BD-4A5D-9F87-C3F9FE84F034}" dt="2023-10-10T09:41:21.303" v="50"/>
        <pc:sldMkLst>
          <pc:docMk/>
          <pc:sldMk cId="838964837" sldId="875"/>
        </pc:sldMkLst>
        <pc:spChg chg="add mod ord">
          <ac:chgData name="María Elena Fernández Gascueña" userId="8298997d-b71a-4e0a-adff-66140120cb1e" providerId="ADAL" clId="{DEF0CF08-90BD-4A5D-9F87-C3F9FE84F034}" dt="2023-10-10T09:41:21.303" v="50"/>
          <ac:spMkLst>
            <pc:docMk/>
            <pc:sldMk cId="838964837" sldId="875"/>
            <ac:spMk id="4" creationId="{9F06C6D1-3878-EC00-12D4-8A5D38CC1952}"/>
          </ac:spMkLst>
        </pc:spChg>
      </pc:sldChg>
      <pc:sldChg chg="addSp modSp add mod chgLayout modNotes">
        <pc:chgData name="María Elena Fernández Gascueña" userId="8298997d-b71a-4e0a-adff-66140120cb1e" providerId="ADAL" clId="{DEF0CF08-90BD-4A5D-9F87-C3F9FE84F034}" dt="2023-10-10T09:41:50.621" v="58"/>
        <pc:sldMkLst>
          <pc:docMk/>
          <pc:sldMk cId="687129654" sldId="880"/>
        </pc:sldMkLst>
        <pc:spChg chg="add mod ord">
          <ac:chgData name="María Elena Fernández Gascueña" userId="8298997d-b71a-4e0a-adff-66140120cb1e" providerId="ADAL" clId="{DEF0CF08-90BD-4A5D-9F87-C3F9FE84F034}" dt="2023-10-10T09:41:50.621" v="58"/>
          <ac:spMkLst>
            <pc:docMk/>
            <pc:sldMk cId="687129654" sldId="880"/>
            <ac:spMk id="4" creationId="{DA88A776-91E2-C637-D809-14ABC570BC7F}"/>
          </ac:spMkLst>
        </pc:spChg>
      </pc:sldChg>
      <pc:sldChg chg="addSp modSp add mod chgLayout modNotes">
        <pc:chgData name="María Elena Fernández Gascueña" userId="8298997d-b71a-4e0a-adff-66140120cb1e" providerId="ADAL" clId="{DEF0CF08-90BD-4A5D-9F87-C3F9FE84F034}" dt="2023-10-10T09:41:37.925" v="54"/>
        <pc:sldMkLst>
          <pc:docMk/>
          <pc:sldMk cId="2933997147" sldId="1868"/>
        </pc:sldMkLst>
        <pc:spChg chg="add mod ord">
          <ac:chgData name="María Elena Fernández Gascueña" userId="8298997d-b71a-4e0a-adff-66140120cb1e" providerId="ADAL" clId="{DEF0CF08-90BD-4A5D-9F87-C3F9FE84F034}" dt="2023-10-10T09:41:37.925" v="54"/>
          <ac:spMkLst>
            <pc:docMk/>
            <pc:sldMk cId="2933997147" sldId="1868"/>
            <ac:spMk id="4" creationId="{D6BA27FF-090E-269F-C381-6CE95BBCC10C}"/>
          </ac:spMkLst>
        </pc:spChg>
      </pc:sldChg>
      <pc:sldChg chg="addSp modSp add mod chgLayout modNotes">
        <pc:chgData name="María Elena Fernández Gascueña" userId="8298997d-b71a-4e0a-adff-66140120cb1e" providerId="ADAL" clId="{DEF0CF08-90BD-4A5D-9F87-C3F9FE84F034}" dt="2023-10-10T09:41:29.135" v="51"/>
        <pc:sldMkLst>
          <pc:docMk/>
          <pc:sldMk cId="436705919" sldId="1873"/>
        </pc:sldMkLst>
        <pc:spChg chg="add mod ord">
          <ac:chgData name="María Elena Fernández Gascueña" userId="8298997d-b71a-4e0a-adff-66140120cb1e" providerId="ADAL" clId="{DEF0CF08-90BD-4A5D-9F87-C3F9FE84F034}" dt="2023-10-10T09:41:29.135" v="51"/>
          <ac:spMkLst>
            <pc:docMk/>
            <pc:sldMk cId="436705919" sldId="1873"/>
            <ac:spMk id="3" creationId="{A0DB220B-8BA7-4AB8-667E-FF65C07A5C9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pPr>
              <a:defRPr/>
            </a:pPr>
            <a:endParaRPr lang="es-ES"/>
          </a:p>
        </p:txBody>
      </p:sp>
      <p:sp>
        <p:nvSpPr>
          <p:cNvPr id="3" name="2 Marcador de fecha"/>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pPr>
              <a:defRPr/>
            </a:pPr>
            <a:fld id="{D3D24588-B831-400F-968C-E246148FFC5B}" type="datetimeFigureOut">
              <a:rPr lang="es-ES"/>
              <a:pPr>
                <a:defRPr/>
              </a:pPr>
              <a:t>31/10/2023</a:t>
            </a:fld>
            <a:endParaRPr lang="es-ES"/>
          </a:p>
        </p:txBody>
      </p:sp>
      <p:sp>
        <p:nvSpPr>
          <p:cNvPr id="4" name="3 Marcador de pie de página"/>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pPr>
              <a:defRPr/>
            </a:pPr>
            <a:endParaRPr lang="es-ES"/>
          </a:p>
        </p:txBody>
      </p:sp>
      <p:sp>
        <p:nvSpPr>
          <p:cNvPr id="5" name="4 Marcador de número de diapositiva"/>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pPr>
              <a:defRPr/>
            </a:pPr>
            <a:fld id="{271FEAED-C98A-4CC8-8159-A25FA874085E}" type="slidenum">
              <a:rPr lang="es-ES"/>
              <a:pPr>
                <a:defRPr/>
              </a:pPr>
              <a:t>‹Nº›</a:t>
            </a:fld>
            <a:endParaRPr lang="es-ES"/>
          </a:p>
        </p:txBody>
      </p:sp>
    </p:spTree>
    <p:extLst>
      <p:ext uri="{BB962C8B-B14F-4D97-AF65-F5344CB8AC3E}">
        <p14:creationId xmlns:p14="http://schemas.microsoft.com/office/powerpoint/2010/main" val="2923175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076575" cy="511175"/>
          </a:xfrm>
          <a:prstGeom prst="rect">
            <a:avLst/>
          </a:prstGeom>
        </p:spPr>
        <p:txBody>
          <a:bodyPr vert="horz" lIns="99048" tIns="49524" rIns="99048" bIns="49524" rtlCol="0"/>
          <a:lstStyle>
            <a:lvl1pPr algn="l" fontAlgn="auto">
              <a:spcBef>
                <a:spcPts val="0"/>
              </a:spcBef>
              <a:spcAft>
                <a:spcPts val="0"/>
              </a:spcAft>
              <a:defRPr sz="1300">
                <a:latin typeface="+mn-lt"/>
              </a:defRPr>
            </a:lvl1pPr>
          </a:lstStyle>
          <a:p>
            <a:pPr>
              <a:defRPr/>
            </a:pPr>
            <a:endParaRPr lang="es-ES"/>
          </a:p>
        </p:txBody>
      </p:sp>
      <p:sp>
        <p:nvSpPr>
          <p:cNvPr id="3" name="2 Marcador de fecha"/>
          <p:cNvSpPr>
            <a:spLocks noGrp="1"/>
          </p:cNvSpPr>
          <p:nvPr>
            <p:ph type="dt" idx="1"/>
          </p:nvPr>
        </p:nvSpPr>
        <p:spPr>
          <a:xfrm>
            <a:off x="4021138" y="0"/>
            <a:ext cx="3076575" cy="511175"/>
          </a:xfrm>
          <a:prstGeom prst="rect">
            <a:avLst/>
          </a:prstGeom>
        </p:spPr>
        <p:txBody>
          <a:bodyPr vert="horz" lIns="99048" tIns="49524" rIns="99048" bIns="49524" rtlCol="0"/>
          <a:lstStyle>
            <a:lvl1pPr algn="r" fontAlgn="auto">
              <a:spcBef>
                <a:spcPts val="0"/>
              </a:spcBef>
              <a:spcAft>
                <a:spcPts val="0"/>
              </a:spcAft>
              <a:defRPr sz="1300">
                <a:latin typeface="+mn-lt"/>
              </a:defRPr>
            </a:lvl1pPr>
          </a:lstStyle>
          <a:p>
            <a:pPr>
              <a:defRPr/>
            </a:pPr>
            <a:fld id="{3C364CFE-BC93-4E3F-B046-6A753AE2E53D}" type="datetimeFigureOut">
              <a:rPr lang="es-ES"/>
              <a:pPr>
                <a:defRPr/>
              </a:pPr>
              <a:t>31/10/2023</a:t>
            </a:fld>
            <a:endParaRPr lang="es-ES"/>
          </a:p>
        </p:txBody>
      </p:sp>
      <p:sp>
        <p:nvSpPr>
          <p:cNvPr id="4" name="3 Marcador de imagen de diapositiva"/>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es-ES" noProof="0"/>
          </a:p>
        </p:txBody>
      </p:sp>
      <p:sp>
        <p:nvSpPr>
          <p:cNvPr id="5" name="4 Marcador de notas"/>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es-ES" noProof="0" dirty="0"/>
              <a:t>Haga clic para modificar el estilo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6" name="5 Marcador de pie de página"/>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sz="1300">
                <a:latin typeface="+mn-lt"/>
              </a:defRPr>
            </a:lvl1pPr>
          </a:lstStyle>
          <a:p>
            <a:pPr>
              <a:defRPr/>
            </a:pPr>
            <a:endParaRPr lang="es-ES"/>
          </a:p>
        </p:txBody>
      </p:sp>
      <p:sp>
        <p:nvSpPr>
          <p:cNvPr id="7" name="6 Marcador de número de diapositiva"/>
          <p:cNvSpPr>
            <a:spLocks noGrp="1"/>
          </p:cNvSpPr>
          <p:nvPr>
            <p:ph type="sldNum" sz="quarter" idx="5"/>
          </p:nvPr>
        </p:nvSpPr>
        <p:spPr>
          <a:xfrm>
            <a:off x="4021138" y="9721850"/>
            <a:ext cx="3076575" cy="511175"/>
          </a:xfrm>
          <a:prstGeom prst="rect">
            <a:avLst/>
          </a:prstGeom>
        </p:spPr>
        <p:txBody>
          <a:bodyPr vert="horz" lIns="99048" tIns="49524" rIns="99048" bIns="49524" rtlCol="0" anchor="b"/>
          <a:lstStyle>
            <a:lvl1pPr algn="r" fontAlgn="auto">
              <a:spcBef>
                <a:spcPts val="0"/>
              </a:spcBef>
              <a:spcAft>
                <a:spcPts val="0"/>
              </a:spcAft>
              <a:defRPr sz="1300">
                <a:latin typeface="+mn-lt"/>
              </a:defRPr>
            </a:lvl1pPr>
          </a:lstStyle>
          <a:p>
            <a:pPr>
              <a:defRPr/>
            </a:pPr>
            <a:fld id="{3514CA29-BFD1-4AA3-A682-789E844EB009}" type="slidenum">
              <a:rPr lang="es-ES"/>
              <a:pPr>
                <a:defRPr/>
              </a:pPr>
              <a:t>‹Nº›</a:t>
            </a:fld>
            <a:endParaRPr lang="es-ES"/>
          </a:p>
        </p:txBody>
      </p:sp>
    </p:spTree>
    <p:extLst>
      <p:ext uri="{BB962C8B-B14F-4D97-AF65-F5344CB8AC3E}">
        <p14:creationId xmlns:p14="http://schemas.microsoft.com/office/powerpoint/2010/main" val="1912397225"/>
      </p:ext>
    </p:extLst>
  </p:cSld>
  <p:clrMap bg1="lt1" tx1="dk1" bg2="lt2" tx2="dk2" accent1="accent1" accent2="accent2" accent3="accent3" accent4="accent4" accent5="accent5" accent6="accent6" hlink="hlink" folHlink="folHlink"/>
  <p:notesStyle>
    <a:lvl1pPr algn="just"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1pPr>
    <a:lvl2pPr marL="457200" algn="just"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2pPr>
    <a:lvl3pPr marL="914400" algn="just"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3pPr>
    <a:lvl4pPr marL="1371600" algn="just"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4pPr>
    <a:lvl5pPr marL="1828800" algn="just" rtl="0" eaLnBrk="0" fontAlgn="base" hangingPunct="0">
      <a:spcBef>
        <a:spcPct val="30000"/>
      </a:spcBef>
      <a:spcAft>
        <a:spcPct val="0"/>
      </a:spcAft>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estiopolis.com/escuelas-pensamiento-administrativo/"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8" Type="http://schemas.openxmlformats.org/officeDocument/2006/relationships/hyperlink" Target="https://es.wikipedia.org/wiki/Tel%C3%A9fono" TargetMode="External"/><Relationship Id="rId13" Type="http://schemas.openxmlformats.org/officeDocument/2006/relationships/hyperlink" Target="https://es.wikipedia.org/wiki/Revoluciones_industriales#cite_note-Segunda_Revoluci%C3%B3n_Industrial_elerg-16" TargetMode="External"/><Relationship Id="rId3" Type="http://schemas.openxmlformats.org/officeDocument/2006/relationships/hyperlink" Target="https://es.wikipedia.org/wiki/Segunda_Revoluci%C3%B3n_Industrial" TargetMode="External"/><Relationship Id="rId7" Type="http://schemas.openxmlformats.org/officeDocument/2006/relationships/hyperlink" Target="https://es.wikipedia.org/wiki/Autom%C3%B3vil" TargetMode="External"/><Relationship Id="rId12" Type="http://schemas.openxmlformats.org/officeDocument/2006/relationships/hyperlink" Target="https://es.wikipedia.org/wiki/Internacionalizaci%C3%B3n_productiva"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es.wikipedia.org/wiki/Avi%C3%B3n" TargetMode="External"/><Relationship Id="rId11" Type="http://schemas.openxmlformats.org/officeDocument/2006/relationships/hyperlink" Target="https://es.wikipedia.org/wiki/Primera_globalizaci%C3%B3n" TargetMode="External"/><Relationship Id="rId5" Type="http://schemas.openxmlformats.org/officeDocument/2006/relationships/hyperlink" Target="https://es.wikipedia.org/wiki/1914" TargetMode="External"/><Relationship Id="rId10" Type="http://schemas.openxmlformats.org/officeDocument/2006/relationships/hyperlink" Target="https://es.wikipedia.org/wiki/Revoluciones_industriales#cite_note-Segunda_Revoluci%C3%B3n_Industrial_Bilbao-15" TargetMode="External"/><Relationship Id="rId4" Type="http://schemas.openxmlformats.org/officeDocument/2006/relationships/hyperlink" Target="https://es.wikipedia.org/wiki/1870" TargetMode="External"/><Relationship Id="rId9" Type="http://schemas.openxmlformats.org/officeDocument/2006/relationships/hyperlink" Target="https://es.wikipedia.org/wiki/Radio_(medio_de_comunicaci%C3%B3n)" TargetMode="External"/><Relationship Id="rId14" Type="http://schemas.openxmlformats.org/officeDocument/2006/relationships/hyperlink" Target="https://es.wikipedia.org/wiki/Revoluciones_industriales#cite_note-Segunda_Revoluci%C3%B3n_Industrial_CC-17"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OJO!!! VALORAR/PROPONER PRÓXIMO CURSO CAMBIAR DIRECCIÓN POR ADMINISTRACIÓN.</a:t>
            </a:r>
          </a:p>
        </p:txBody>
      </p:sp>
      <p:sp>
        <p:nvSpPr>
          <p:cNvPr id="4" name="Marcador de número de diapositiva 3"/>
          <p:cNvSpPr>
            <a:spLocks noGrp="1"/>
          </p:cNvSpPr>
          <p:nvPr>
            <p:ph type="sldNum" sz="quarter" idx="5"/>
          </p:nvPr>
        </p:nvSpPr>
        <p:spPr/>
        <p:txBody>
          <a:bodyPr/>
          <a:lstStyle/>
          <a:p>
            <a:pPr>
              <a:defRPr/>
            </a:pPr>
            <a:fld id="{3514CA29-BFD1-4AA3-A682-789E844EB009}" type="slidenum">
              <a:rPr lang="es-ES" smtClean="0"/>
              <a:pPr>
                <a:defRPr/>
              </a:pPr>
              <a:t>1</a:t>
            </a:fld>
            <a:endParaRPr lang="es-ES"/>
          </a:p>
        </p:txBody>
      </p:sp>
    </p:spTree>
    <p:extLst>
      <p:ext uri="{BB962C8B-B14F-4D97-AF65-F5344CB8AC3E}">
        <p14:creationId xmlns:p14="http://schemas.microsoft.com/office/powerpoint/2010/main" val="71373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3</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b="1" dirty="0">
                <a:sym typeface="Wingdings" panose="05000000000000000000" pitchFamily="2" charset="2"/>
              </a:rPr>
              <a:t> VER TEMA 2 LIBRO DE ROBBINS</a:t>
            </a:r>
            <a:endParaRPr lang="es-ES" b="1"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4</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25000" lnSpcReduction="20000"/>
          </a:bodyPr>
          <a:lstStyle/>
          <a:p>
            <a:r>
              <a:rPr lang="es-ES" sz="1000" kern="1200" dirty="0">
                <a:solidFill>
                  <a:schemeClr val="tx1"/>
                </a:solidFill>
                <a:latin typeface="Arial" pitchFamily="34" charset="0"/>
                <a:ea typeface="+mn-ea"/>
                <a:cs typeface="Arial" pitchFamily="34" charset="0"/>
              </a:rPr>
              <a:t>Apuntes de Cristina:</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Antes de meternos a explicar las funciones directivas básicas, es importante hacer un repaso previo sobre la evolución del pensamiento administrativo, destacando, especialmente, el papel que para la administración de empresas, han tenido reconocidos autores.</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Una vez establecida la clasificación de las principales corrientes de pensamiento administrativo, definimos:</a:t>
            </a:r>
          </a:p>
          <a:p>
            <a:pPr>
              <a:buFont typeface="Arial" pitchFamily="34" charset="0"/>
              <a:buChar char="•"/>
            </a:pPr>
            <a:r>
              <a:rPr lang="es-ES" sz="1000" kern="1200" dirty="0">
                <a:solidFill>
                  <a:schemeClr val="tx1"/>
                </a:solidFill>
                <a:latin typeface="Arial" pitchFamily="34" charset="0"/>
                <a:ea typeface="+mn-ea"/>
                <a:cs typeface="Arial" pitchFamily="34" charset="0"/>
              </a:rPr>
              <a:t> Administración: consiste en coordinar las actividades de trabajo de modo que se realicen de manera eficiente y eficaz con otras personas y a través de ellas. Integra dos niveles:</a:t>
            </a:r>
          </a:p>
          <a:p>
            <a:pPr lvl="0">
              <a:buFont typeface="Arial" pitchFamily="34" charset="0"/>
              <a:buChar char="•"/>
            </a:pPr>
            <a:r>
              <a:rPr lang="es-ES" sz="1000" kern="1200" dirty="0">
                <a:solidFill>
                  <a:schemeClr val="tx1"/>
                </a:solidFill>
                <a:latin typeface="Arial" pitchFamily="34" charset="0"/>
                <a:ea typeface="+mn-ea"/>
                <a:cs typeface="Arial" pitchFamily="34" charset="0"/>
              </a:rPr>
              <a:t> Dirección: primer nivel de actuación de la administración. Objetivo es fijar objetivos y estrategias para orientar el comportamiento empresarial y controlarlo</a:t>
            </a:r>
          </a:p>
          <a:p>
            <a:pPr lvl="0">
              <a:buFont typeface="Arial" pitchFamily="34" charset="0"/>
              <a:buChar char="•"/>
            </a:pPr>
            <a:r>
              <a:rPr lang="es-ES" sz="1000" kern="1200" dirty="0">
                <a:solidFill>
                  <a:schemeClr val="tx1"/>
                </a:solidFill>
                <a:latin typeface="Arial" pitchFamily="34" charset="0"/>
                <a:ea typeface="+mn-ea"/>
                <a:cs typeface="Arial" pitchFamily="34" charset="0"/>
              </a:rPr>
              <a:t> Gestión: segundo nivel de actuación de la administración. Llevan a cabo actividades para conseguir previamente los objetivos establecidos por la dirección.</a:t>
            </a:r>
          </a:p>
          <a:p>
            <a:r>
              <a:rPr lang="es-ES" sz="1000" kern="1200" dirty="0">
                <a:solidFill>
                  <a:schemeClr val="tx1"/>
                </a:solidFill>
                <a:latin typeface="Arial" pitchFamily="34" charset="0"/>
                <a:ea typeface="+mn-ea"/>
                <a:cs typeface="Arial" pitchFamily="34" charset="0"/>
              </a:rPr>
              <a:t> </a:t>
            </a:r>
          </a:p>
          <a:p>
            <a:r>
              <a:rPr lang="es-ES" sz="1000" b="1" kern="1200" dirty="0">
                <a:solidFill>
                  <a:schemeClr val="tx1"/>
                </a:solidFill>
                <a:latin typeface="Arial" pitchFamily="34" charset="0"/>
                <a:ea typeface="+mn-ea"/>
                <a:cs typeface="Arial" pitchFamily="34" charset="0"/>
              </a:rPr>
              <a:t>Evolución del Pensamiento Administrativo</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 </a:t>
            </a:r>
          </a:p>
          <a:p>
            <a:r>
              <a:rPr lang="es-ES" sz="1000" kern="1200" dirty="0">
                <a:solidFill>
                  <a:schemeClr val="tx1"/>
                </a:solidFill>
                <a:latin typeface="Arial" pitchFamily="34" charset="0"/>
                <a:ea typeface="+mn-ea"/>
                <a:cs typeface="Arial" pitchFamily="34" charset="0"/>
              </a:rPr>
              <a:t>El arte y la práctica de la administración han sido usados desde hace muchos siglos para planificar, organizar y controlar a las personas y otros recursos. Desarrollar y construir inmensos proyectos de carácter público como son la muralla china, las pirámides de Egipto y los acueductos que preveían de agua a las ciudades del Imperio romano requerían de una buena administración. Desde hace mucho tiempo, la administración ha sido considerada como un arte, y fue trasladada verbalmente sin principios teóricos documentados que pudieran ser usados por generaciones futuras de directivos. Sin embargo, un grupo de primeros pensadores fundaron las escuelas de pensamiento sobre la administración, como la clásica o la del comportamiento, que aparecieron durante el último siglo.</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(Libro de </a:t>
            </a:r>
            <a:r>
              <a:rPr lang="es-ES" sz="1000" kern="1200" dirty="0" err="1">
                <a:solidFill>
                  <a:schemeClr val="tx1"/>
                </a:solidFill>
                <a:latin typeface="Arial" pitchFamily="34" charset="0"/>
                <a:ea typeface="+mn-ea"/>
                <a:cs typeface="Arial" pitchFamily="34" charset="0"/>
              </a:rPr>
              <a:t>Robbins</a:t>
            </a:r>
            <a:r>
              <a:rPr lang="es-ES" sz="1000" kern="1200" dirty="0">
                <a:solidFill>
                  <a:schemeClr val="tx1"/>
                </a:solidFill>
                <a:latin typeface="Arial" pitchFamily="34" charset="0"/>
                <a:ea typeface="+mn-ea"/>
                <a:cs typeface="Arial" pitchFamily="34" charset="0"/>
              </a:rPr>
              <a:t>:</a:t>
            </a:r>
          </a:p>
          <a:p>
            <a:r>
              <a:rPr lang="es-ES" sz="1000" kern="1200" dirty="0">
                <a:solidFill>
                  <a:schemeClr val="tx1"/>
                </a:solidFill>
                <a:latin typeface="Arial" pitchFamily="34" charset="0"/>
                <a:ea typeface="+mn-ea"/>
                <a:cs typeface="Arial" pitchFamily="34" charset="0"/>
              </a:rPr>
              <a:t>En la historia de la Admón.</a:t>
            </a:r>
            <a:r>
              <a:rPr lang="es-ES" sz="1000" kern="1200" baseline="0" dirty="0">
                <a:solidFill>
                  <a:schemeClr val="tx1"/>
                </a:solidFill>
                <a:latin typeface="Arial" pitchFamily="34" charset="0"/>
                <a:ea typeface="+mn-ea"/>
                <a:cs typeface="Arial" pitchFamily="34" charset="0"/>
              </a:rPr>
              <a:t> hay dos hechos particularmente importantes:</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En </a:t>
            </a:r>
            <a:r>
              <a:rPr lang="es-ES" sz="1000" b="1" kern="1200" baseline="0" dirty="0">
                <a:solidFill>
                  <a:schemeClr val="tx1"/>
                </a:solidFill>
                <a:latin typeface="Arial" pitchFamily="34" charset="0"/>
                <a:ea typeface="+mn-ea"/>
                <a:cs typeface="Arial" pitchFamily="34" charset="0"/>
              </a:rPr>
              <a:t>1776 Adam Smith </a:t>
            </a:r>
            <a:r>
              <a:rPr lang="es-ES" sz="1000" kern="1200" baseline="0" dirty="0">
                <a:solidFill>
                  <a:schemeClr val="tx1"/>
                </a:solidFill>
                <a:latin typeface="Arial" pitchFamily="34" charset="0"/>
                <a:ea typeface="+mn-ea"/>
                <a:cs typeface="Arial" pitchFamily="34" charset="0"/>
              </a:rPr>
              <a:t>publicó </a:t>
            </a:r>
            <a:r>
              <a:rPr lang="es-ES" sz="1000" b="1" kern="1200" baseline="0" dirty="0">
                <a:solidFill>
                  <a:schemeClr val="tx1"/>
                </a:solidFill>
                <a:latin typeface="Arial" pitchFamily="34" charset="0"/>
                <a:ea typeface="+mn-ea"/>
                <a:cs typeface="Arial" pitchFamily="34" charset="0"/>
              </a:rPr>
              <a:t>La riqueza de las Naciones</a:t>
            </a:r>
            <a:r>
              <a:rPr lang="es-ES" sz="1000" kern="1200" baseline="0" dirty="0">
                <a:solidFill>
                  <a:schemeClr val="tx1"/>
                </a:solidFill>
                <a:latin typeface="Arial" pitchFamily="34" charset="0"/>
                <a:ea typeface="+mn-ea"/>
                <a:cs typeface="Arial" pitchFamily="34" charset="0"/>
              </a:rPr>
              <a:t>, donde planteó las ventajas económicas que las organizaciones y la sociedad obtendrían a partir de la división del trabajo (o especialización laboral), es decir, la separación de los trabajos en tareas específicas y repetitivas. (…). Con la industria de los alfileres como ejemplo, Smith explicó que 10 individuos, cada uno con una tarea especializada, producían aproximadamente 48,000 alfileres por día. Sin embargo, si cada persona trabajara sola, realizando cada tarea de forma individual, sería todo un logro producir incluso ¡10 alfileres diarios! Smith concluyó que la división del trabajo aumentaba la productividad, ya que se mejoraba la habilidad y destreza de cada trabajador, se evitaba la pérdida de tiempo en el cambio entre una tarea y otra, y con inventos y maquinaria se ahorraba en mano de obra. La especialización laboral sigue siendo popular. Por ejemplo, piense en las tareas especializadas que realizan los miembros de un equipo de cirugía en un hospital, las labores que llevan a cabo los empleados de cocina de los restaurantes o las posiciones de los jugadores de un equipo de fútbol.</a:t>
            </a:r>
          </a:p>
          <a:p>
            <a:pPr marL="228600" indent="-228600">
              <a:buAutoNum type="arabicPeriod"/>
            </a:pPr>
            <a:r>
              <a:rPr lang="es-ES" sz="1000" b="1" kern="1200" baseline="0" dirty="0">
                <a:solidFill>
                  <a:schemeClr val="tx1"/>
                </a:solidFill>
                <a:latin typeface="Arial" pitchFamily="34" charset="0"/>
                <a:ea typeface="+mn-ea"/>
                <a:cs typeface="Arial" pitchFamily="34" charset="0"/>
              </a:rPr>
              <a:t>La Revolución Industrial</a:t>
            </a:r>
            <a:r>
              <a:rPr lang="es-ES" sz="1000" kern="1200" baseline="0" dirty="0">
                <a:solidFill>
                  <a:schemeClr val="tx1"/>
                </a:solidFill>
                <a:latin typeface="Arial" pitchFamily="34" charset="0"/>
                <a:ea typeface="+mn-ea"/>
                <a:cs typeface="Arial" pitchFamily="34" charset="0"/>
              </a:rPr>
              <a:t>, iniciada a finales del s. XVIII cuando el poder de las máquinas sustituyó a la fuerza humana y se volvió más económico manufacturar productos en las fábricas que en los hogares. Estas grandes y eficientes fábricas necesitaban a alguien que previera la demanda, que garantizara que los materiales necesarios para la fabricación de productos estuvieran disponibles, que asignara tareas a la gente, que dirigiera actividades diarias, etcétera. Ese "alguien" era un gerente, y ese gerente necesitaría teorías formales para poder dirigir estas grandes organizaciones. Sin embargo, los primeros pasos para desarrollar tales teorías se dieron a principios del siglo XX.</a:t>
            </a:r>
          </a:p>
          <a:p>
            <a:pPr marL="228600" indent="-228600">
              <a:buNone/>
            </a:pPr>
            <a:endParaRPr lang="es-ES" sz="1000" kern="1200" baseline="0" dirty="0">
              <a:solidFill>
                <a:schemeClr val="tx1"/>
              </a:solidFill>
              <a:latin typeface="Arial" pitchFamily="34" charset="0"/>
              <a:ea typeface="+mn-ea"/>
              <a:cs typeface="Arial" pitchFamily="34" charset="0"/>
            </a:endParaRPr>
          </a:p>
          <a:p>
            <a:pPr marL="228600" indent="-228600">
              <a:buNone/>
            </a:pPr>
            <a:endParaRPr lang="es-ES" sz="1000" kern="1200" dirty="0">
              <a:solidFill>
                <a:schemeClr val="tx1"/>
              </a:solidFill>
              <a:latin typeface="Arial" pitchFamily="34" charset="0"/>
              <a:ea typeface="+mn-ea"/>
              <a:cs typeface="Arial" pitchFamily="34" charset="0"/>
            </a:endParaRPr>
          </a:p>
          <a:p>
            <a:pPr lvl="0"/>
            <a:r>
              <a:rPr lang="es-ES" sz="1000" b="1" u="sng" kern="1200" dirty="0">
                <a:solidFill>
                  <a:schemeClr val="tx1"/>
                </a:solidFill>
                <a:latin typeface="Arial" pitchFamily="34" charset="0"/>
                <a:ea typeface="+mn-ea"/>
                <a:cs typeface="Arial" pitchFamily="34" charset="0"/>
              </a:rPr>
              <a:t>ESCUELA, TEORÍA O PERSPECTIVA CLÁSICA (siglo XIX y principios siglo XX)</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Este enfoque incluye las aportaciones clásicas de F.W. Taylor, de H. Fayol, así como el modelo burocrático de M. Weber. Este planteamiento representa por primera vez, un estudio riguroso, sistemático y general de los procesos básicos o trabajos que se desarrollan en una organización y que integran lo que entonces se empieza a entender por Administración, aportaciones que tienen como denominador común la concepción racionalista de los procesos de las organizaciones, concebidas como sistemas cerrados y estructurados por un conjunto de principios de organización, funciones y métodos de producción. </a:t>
            </a:r>
          </a:p>
          <a:p>
            <a:r>
              <a:rPr lang="es-ES" sz="1000" kern="1200" dirty="0">
                <a:solidFill>
                  <a:schemeClr val="tx1"/>
                </a:solidFill>
                <a:latin typeface="Arial" pitchFamily="34" charset="0"/>
                <a:ea typeface="+mn-ea"/>
                <a:cs typeface="Arial" pitchFamily="34" charset="0"/>
              </a:rPr>
              <a:t>La perspectiva clásica intenta aplicar la lógica y el método científico a la administración, para intentar descubrir y practicar el mejor modo de realizar un trabajo o de desarrollar una organización.</a:t>
            </a:r>
          </a:p>
          <a:p>
            <a:endParaRPr lang="es-ES" b="1" dirty="0"/>
          </a:p>
          <a:p>
            <a:pPr lvl="0"/>
            <a:r>
              <a:rPr lang="es-ES" sz="1000" b="1" u="sng" kern="1200" dirty="0">
                <a:solidFill>
                  <a:schemeClr val="tx1"/>
                </a:solidFill>
                <a:latin typeface="Arial" pitchFamily="34" charset="0"/>
                <a:ea typeface="+mn-ea"/>
                <a:cs typeface="Arial" pitchFamily="34" charset="0"/>
              </a:rPr>
              <a:t>PERSPECTIVA DEL COMPORTAMIENTO</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Intenta explicar cómo el conocimiento de la dirección sobre la psicología y el proceso del comportamiento humano puede resultar favorecedor para la productividad y la satisfacción en el trabajo. La perspectiva del comportamiento argumenta que los factores humanos pueden afectar a la eficiencia del trabajo.</a:t>
            </a:r>
          </a:p>
          <a:p>
            <a:r>
              <a:rPr lang="es-ES" sz="1000" kern="1200" dirty="0">
                <a:solidFill>
                  <a:schemeClr val="tx1"/>
                </a:solidFill>
                <a:latin typeface="Arial" pitchFamily="34" charset="0"/>
                <a:ea typeface="+mn-ea"/>
                <a:cs typeface="Arial" pitchFamily="34" charset="0"/>
              </a:rPr>
              <a:t>Es una visión de la dirección en la que el conocimiento de los procesos psicológicos y sociales del comportamiento humano es esencial para provocar mejoras en la productividad y en la satisfacción en el trabajo.</a:t>
            </a:r>
          </a:p>
          <a:p>
            <a:r>
              <a:rPr lang="es-ES" sz="1000" kern="1200" dirty="0">
                <a:solidFill>
                  <a:schemeClr val="tx1"/>
                </a:solidFill>
                <a:latin typeface="Arial" pitchFamily="34" charset="0"/>
                <a:ea typeface="+mn-ea"/>
                <a:cs typeface="Arial" pitchFamily="34" charset="0"/>
              </a:rPr>
              <a:t>Tiene sus raíces en los estudios de Hawthorne.</a:t>
            </a:r>
          </a:p>
          <a:p>
            <a:endParaRPr lang="es-ES" b="1" dirty="0"/>
          </a:p>
          <a:p>
            <a:endParaRPr lang="es-ES" b="1" dirty="0"/>
          </a:p>
          <a:p>
            <a:r>
              <a:rPr lang="es-ES" b="1" dirty="0"/>
              <a:t>https://www.eaeprogramas.es/internacionalizacion/que-escuelas-de-pensamiento-administrativo-existen</a:t>
            </a:r>
          </a:p>
          <a:p>
            <a:endParaRPr lang="es-ES" b="0" dirty="0"/>
          </a:p>
          <a:p>
            <a:r>
              <a:rPr lang="es-ES" dirty="0"/>
              <a:t>Una de las tareas que define al ser humano es la gestión de la administración, una actividad que puede interpretarse desde el plano teórico de una escuela de pensamiento. El ser humano es social por naturaleza, pero también forma parte de una comunidad. La combinación constante de lo público y lo privado por medio de la atención al ser individual y al ser social, también está presente en el núcleo mismo de la cuestión.</a:t>
            </a:r>
          </a:p>
          <a:p>
            <a:r>
              <a:rPr lang="es-ES" dirty="0"/>
              <a:t>Estas distintas </a:t>
            </a:r>
            <a:r>
              <a:rPr lang="es-ES" dirty="0">
                <a:hlinkClick r:id="rId3"/>
              </a:rPr>
              <a:t>escuelas de pensamiento</a:t>
            </a:r>
            <a:r>
              <a:rPr lang="es-ES" dirty="0"/>
              <a:t> muestran cómo, aunque la realidad es la que es, la interpretación de la misma puede cambiar según el enfoque adoptado en el análisis. ¿Cuáles son las escuelas más importantes que debes conocer?</a:t>
            </a:r>
          </a:p>
          <a:p>
            <a:r>
              <a:rPr lang="es-ES" dirty="0"/>
              <a:t> </a:t>
            </a:r>
          </a:p>
          <a:p>
            <a:pPr>
              <a:buFont typeface="Arial" pitchFamily="34" charset="0"/>
              <a:buChar char="•"/>
            </a:pPr>
            <a:r>
              <a:rPr lang="es-ES" b="1" dirty="0"/>
              <a:t> Escuela administrativa clásica</a:t>
            </a:r>
            <a:endParaRPr lang="es-ES" dirty="0"/>
          </a:p>
          <a:p>
            <a:r>
              <a:rPr lang="es-ES" dirty="0"/>
              <a:t>Esta es una filosofía de cómo debe organizarse una empresa para optimizar su éxito a través de un plan de acción que tiene características básicas. Por ejemplo, el componente de la división del trabajo que también se enmarca en un contexto de organización jerárquica en la que el poder descansa de manera centralizada.</a:t>
            </a:r>
          </a:p>
          <a:p>
            <a:r>
              <a:rPr lang="es-ES" dirty="0"/>
              <a:t>Desde esta perspectiva, el personal necesita de un control, evaluación y seguimiento constante para garantizar los resultados en el plazo establecido. Este tipo de modelo también se alimenta de la fuerza de la costumbre en la manera de hacer las cosas, es decir, es una escuela integrada en una zona de confort limitante que deja poco espacio a la innovación.</a:t>
            </a:r>
          </a:p>
          <a:p>
            <a:endParaRPr lang="es-ES" b="1" dirty="0"/>
          </a:p>
          <a:p>
            <a:pPr>
              <a:buFont typeface="Arial" pitchFamily="34" charset="0"/>
              <a:buChar char="•"/>
            </a:pPr>
            <a:r>
              <a:rPr lang="es-ES" b="1" dirty="0"/>
              <a:t> Escuela conductista de la administración</a:t>
            </a:r>
            <a:endParaRPr lang="es-ES" dirty="0"/>
          </a:p>
          <a:p>
            <a:r>
              <a:rPr lang="es-ES" dirty="0"/>
              <a:t>Esta corriente nace como una respuesta a los reducidos patrones de la administración clásica en relación con la naturaleza del ser humano como un ser que funciona de manera mecánica en el ámbito de la empresa. La escuela del comportamiento, por el contrario, profundiza en nuevos modelos de gestión de personal. Esta filosofía pone de relieve la dignidad humana al entender el verdadero significado de las motivaciones, el crecimiento interior y la superación.</a:t>
            </a:r>
          </a:p>
          <a:p>
            <a:endParaRPr lang="es-ES" b="0" dirty="0"/>
          </a:p>
          <a:p>
            <a:r>
              <a:rPr lang="es-ES" dirty="0"/>
              <a:t>La Pirámide de </a:t>
            </a:r>
            <a:r>
              <a:rPr lang="es-ES" dirty="0" err="1"/>
              <a:t>Maslow</a:t>
            </a:r>
            <a:r>
              <a:rPr lang="es-ES" dirty="0"/>
              <a:t> es un ejemplo de ello. Una pirámide que analiza las necesidades esenciales hasta llegar a la más elevada: la autorrealización. Desde este plano, el protagonista busca su felicidad. Según esta teoría elaborada por este pensador, alguien solo puede llegar a desarrollarse plenamente cuando tiene sus necesidades básicas perfectamente cubiertas. Como persona, convives con distintas expectativas. Sin embargo, no todas tienen el mismo alcance en tu existencia. Una de las aportaciones más significativas de este experto humanista es la ordenación de las prioridades principales.</a:t>
            </a:r>
          </a:p>
          <a:p>
            <a:endParaRPr lang="es-ES" b="1" dirty="0"/>
          </a:p>
          <a:p>
            <a:pPr>
              <a:buFont typeface="Arial" pitchFamily="34" charset="0"/>
              <a:buChar char="•"/>
            </a:pPr>
            <a:r>
              <a:rPr lang="es-ES" b="1" dirty="0"/>
              <a:t> Escuela sistémica de la administración</a:t>
            </a:r>
            <a:endParaRPr lang="es-ES" dirty="0"/>
          </a:p>
          <a:p>
            <a:r>
              <a:rPr lang="es-ES" dirty="0"/>
              <a:t>Esta forma de administrar aplica una mirada holística de la realidad al observar la relación que existe entre una entidad y su composición en forma de sistema. Gracias a este enfoque, la empresa es vista como una unidad. A su vez, ese tejido sistémico no solo tiene entidad como realidad global, sino también como una estructura en la que cada elemento se relaciona con los demás. Lo innovador de esta nueva propuesta es la capacidad de realizar diagnósticos de contexto que antes eran inviables por no haber alcanzado esa mirada completa.</a:t>
            </a:r>
          </a:p>
          <a:p>
            <a:r>
              <a:rPr lang="es-ES" dirty="0"/>
              <a:t>Por tanto, estas son tres escuelas de pensamiento de la administración, cada una con su propia teoría.</a:t>
            </a:r>
          </a:p>
          <a:p>
            <a:endParaRPr lang="es-ES" b="0" dirty="0"/>
          </a:p>
          <a:p>
            <a:pPr>
              <a:buFont typeface="Wingdings"/>
              <a:buChar char="à"/>
            </a:pPr>
            <a:r>
              <a:rPr lang="es-ES" b="0" dirty="0">
                <a:sym typeface="Wingdings" pitchFamily="2" charset="2"/>
              </a:rPr>
              <a:t>Ver: </a:t>
            </a:r>
            <a:r>
              <a:rPr lang="es-ES" b="0" dirty="0"/>
              <a:t>https://es.slideshare.net/WGPA1960/escuelas-del-pensamiento-administrativos</a:t>
            </a:r>
          </a:p>
          <a:p>
            <a:endParaRPr lang="es-ES" b="1" dirty="0"/>
          </a:p>
          <a:p>
            <a:r>
              <a:rPr lang="es-ES" b="1" dirty="0"/>
              <a:t>https://www.gestiopolis.com/escuelas-pensamiento-administrativo/</a:t>
            </a:r>
          </a:p>
          <a:p>
            <a:r>
              <a:rPr lang="es-ES" dirty="0"/>
              <a:t>La observación ha logrado que los mecanismos de administración se adecuen a los tiempos que van corriendo, ya que muchas veces las organizaciones se veían estancadas en diversos problemas por no adaptarse a una filosofía concreta que estaba siendo utilizada en aquel momento, sin embargo, todo ello nos lleva a lograr los avances con los que hoy contamos, en los que se consideran distintos factores de la empresa como un solo mecanismo u órgano, en el que cada una de sus partes es importante, en el que es necesario tomar en cuenta el capital humano, la producción, la relación con el cliente, entre muchas otras para alcanzar el éxito.</a:t>
            </a:r>
          </a:p>
          <a:p>
            <a:endParaRPr lang="es-ES" b="1" dirty="0"/>
          </a:p>
          <a:p>
            <a:r>
              <a:rPr lang="es-ES" b="1" dirty="0"/>
              <a:t>Escuela Clásica</a:t>
            </a:r>
          </a:p>
          <a:p>
            <a:r>
              <a:rPr lang="es-ES" dirty="0"/>
              <a:t>Este conjunto de pensadores se enfocaban en aplicar la ciencia a los principios de la administración, de tal modo que la eficiencia se elevara lo más posible, intentando eliminar la morosidad de los obreros que causa bajas en la productividad.</a:t>
            </a:r>
          </a:p>
          <a:p>
            <a:r>
              <a:rPr lang="es-ES" dirty="0"/>
              <a:t>Algo importante es que desde estos tiempos, se intentaba encontrar la mejorar manera de realizar una tarea, de tal manera que se optimizara y que tanto los obreros como los patrones tenía la responsabilidad de los niveles de producción y de las ganancias.</a:t>
            </a:r>
          </a:p>
          <a:p>
            <a:endParaRPr lang="es-ES" dirty="0"/>
          </a:p>
          <a:p>
            <a:r>
              <a:rPr lang="es-ES" dirty="0"/>
              <a:t>Entre los gurús de esta escuela se encuentran </a:t>
            </a:r>
            <a:r>
              <a:rPr lang="es-ES" dirty="0" err="1"/>
              <a:t>Fayol</a:t>
            </a:r>
            <a:r>
              <a:rPr lang="es-ES" dirty="0"/>
              <a:t>, Taylor, Gantt, Weber, el matrimonio </a:t>
            </a:r>
            <a:r>
              <a:rPr lang="es-ES" dirty="0" err="1"/>
              <a:t>Gilbreth</a:t>
            </a:r>
            <a:r>
              <a:rPr lang="es-ES" dirty="0"/>
              <a:t> y </a:t>
            </a:r>
            <a:r>
              <a:rPr lang="es-ES" dirty="0" err="1"/>
              <a:t>Sloan</a:t>
            </a:r>
            <a:r>
              <a:rPr lang="es-ES" dirty="0"/>
              <a:t>.</a:t>
            </a:r>
          </a:p>
          <a:p>
            <a:endParaRPr lang="es-ES" b="1" dirty="0"/>
          </a:p>
          <a:p>
            <a:r>
              <a:rPr lang="es-ES" b="1" dirty="0"/>
              <a:t>Escuela conductual y del comportamiento</a:t>
            </a:r>
          </a:p>
          <a:p>
            <a:r>
              <a:rPr lang="es-ES" dirty="0"/>
              <a:t>Esta escuela se encuentra integrada por grupo de pensadores que perseguían el objetivo de proponer maneras más eficaces para dirigir a las personas dentro de una organización, logrando romper con los esquemas que se tenían anteriormente de la escuela clásica, aunque seguían conservando una unión bastante estrecha. En esta escuela se consideran conceptos mucho más amplios en el aspecto del elemento humano.</a:t>
            </a:r>
          </a:p>
          <a:p>
            <a:r>
              <a:rPr lang="es-ES" dirty="0"/>
              <a:t>Esta escuela surge de la frustración de los directivos al darse cuenta que los colaboradores se comportaban diferente frente a cambios y que no reaccionaban con patrones de conducta como se tenía predeterminado.</a:t>
            </a:r>
          </a:p>
          <a:p>
            <a:r>
              <a:rPr lang="es-ES" dirty="0"/>
              <a:t>Dentro de los principales aportadores a esta escuela se encuentran: Mary Parker </a:t>
            </a:r>
            <a:r>
              <a:rPr lang="es-ES" dirty="0" err="1"/>
              <a:t>Follet</a:t>
            </a:r>
            <a:r>
              <a:rPr lang="es-ES" dirty="0"/>
              <a:t>, Elton Mayo, Douglas Mc </a:t>
            </a:r>
            <a:r>
              <a:rPr lang="es-ES" dirty="0" err="1"/>
              <a:t>Gregor</a:t>
            </a:r>
            <a:r>
              <a:rPr lang="es-ES" dirty="0"/>
              <a:t> y Chester I. </a:t>
            </a:r>
            <a:r>
              <a:rPr lang="es-ES" dirty="0" err="1"/>
              <a:t>Barnard</a:t>
            </a:r>
            <a:r>
              <a:rPr lang="es-ES" dirty="0"/>
              <a:t>.</a:t>
            </a:r>
          </a:p>
          <a:p>
            <a:endParaRPr lang="es-ES" b="1" dirty="0"/>
          </a:p>
          <a:p>
            <a:r>
              <a:rPr lang="es-ES" b="1" dirty="0"/>
              <a:t>Escuela de sistemas</a:t>
            </a:r>
          </a:p>
          <a:p>
            <a:r>
              <a:rPr lang="es-ES" dirty="0"/>
              <a:t>La Escuela de los Sistemas (TGS), también conocida como de  enfoque sistémico, es un esfuerzo por encontrar las “entidades” llamadas sistemas, que se presentan en todos los niveles de la realidad, pero que tradicionalmente son objetivos de diferentes disciplinas. Se le atribuye al biólogo </a:t>
            </a:r>
            <a:r>
              <a:rPr lang="es-ES" dirty="0" err="1"/>
              <a:t>Ludwin</a:t>
            </a:r>
            <a:r>
              <a:rPr lang="es-ES" dirty="0"/>
              <a:t> Von </a:t>
            </a:r>
            <a:r>
              <a:rPr lang="es-ES" dirty="0" err="1"/>
              <a:t>Bertalanffy</a:t>
            </a:r>
            <a:r>
              <a:rPr lang="es-ES" dirty="0"/>
              <a:t>.</a:t>
            </a:r>
          </a:p>
          <a:p>
            <a:endParaRPr lang="es-ES" b="1" dirty="0"/>
          </a:p>
          <a:p>
            <a:r>
              <a:rPr lang="es-ES" b="1" dirty="0"/>
              <a:t>Escuela de contingencias</a:t>
            </a:r>
          </a:p>
          <a:p>
            <a:r>
              <a:rPr lang="es-ES" dirty="0"/>
              <a:t>De acuerdo a la Real Academia de la Lengua Española, una contingencia es: “Posibilidad de que algo suceda o no suceda”, la teoría de la contingencia </a:t>
            </a:r>
            <a:r>
              <a:rPr lang="es-ES" b="0" dirty="0"/>
              <a:t>no</a:t>
            </a:r>
            <a:r>
              <a:rPr lang="es-ES" dirty="0"/>
              <a:t> pretende establecer ninguna pauta o principios universales que conlleven a la toma de decisiones de acuerdo a una situación en particular, sino que enfatiza que no existe algo absoluto en las organizaciones o en la teoría administrativa, puesto que todo depende del enfoque contingente, toda vez que existe una relación funcional entre las condiciones del ambiente y las técnicas administrativas apropiadas para alcanzar de forma eficaz los objetivos de la organización. De esta forma la tecnología, el tamaño y el ambiente son factores imprescindibles en un plan contingente debido a que una diferencia mínima en el devenir de las empresas marca pauta inicial en la elección adecuada de la tecnología en sus producciones y procesos.</a:t>
            </a:r>
          </a:p>
          <a:p>
            <a:endParaRPr lang="es-ES" b="1" dirty="0"/>
          </a:p>
          <a:p>
            <a:r>
              <a:rPr lang="es-ES" b="0" dirty="0"/>
              <a:t>Autores: Tom Burns y G.M.</a:t>
            </a:r>
            <a:r>
              <a:rPr lang="es-ES" b="0" baseline="0" dirty="0"/>
              <a:t> </a:t>
            </a:r>
            <a:r>
              <a:rPr lang="es-ES" b="0" baseline="0" dirty="0" err="1"/>
              <a:t>Stalker</a:t>
            </a:r>
            <a:r>
              <a:rPr lang="es-ES" b="0" baseline="0" dirty="0"/>
              <a:t>, Joan </a:t>
            </a:r>
            <a:r>
              <a:rPr lang="es-ES" b="0" baseline="0" dirty="0" err="1"/>
              <a:t>Woodward</a:t>
            </a:r>
            <a:endParaRPr lang="es-ES" b="0" dirty="0"/>
          </a:p>
          <a:p>
            <a:endParaRPr lang="es-ES" b="1" dirty="0"/>
          </a:p>
          <a:p>
            <a:r>
              <a:rPr lang="es-ES" b="1" dirty="0"/>
              <a:t>Escuela moderna</a:t>
            </a:r>
          </a:p>
          <a:p>
            <a:endParaRPr lang="es-ES" b="1" dirty="0"/>
          </a:p>
          <a:p>
            <a:r>
              <a:rPr lang="es-ES" b="1" dirty="0"/>
              <a:t>W. Edwards </a:t>
            </a:r>
            <a:r>
              <a:rPr lang="es-ES" b="1" dirty="0" err="1"/>
              <a:t>Deming</a:t>
            </a:r>
            <a:r>
              <a:rPr lang="es-ES" b="1" dirty="0"/>
              <a:t> (1900-1993)</a:t>
            </a:r>
          </a:p>
          <a:p>
            <a:r>
              <a:rPr lang="es-ES" dirty="0"/>
              <a:t>Fue un profesor y estadístico estadounidense, pionero en el área de la calidad. Se le considera el fundador del movimiento moderno de la calidad, y se le asocia con el desarrollo y crecimiento de Japón después de la segunda guerra mundial.</a:t>
            </a:r>
          </a:p>
          <a:p>
            <a:r>
              <a:rPr lang="es-ES" dirty="0"/>
              <a:t>Se le asocian diversas herramientas o técnicas, entre las cuales están: </a:t>
            </a:r>
          </a:p>
          <a:p>
            <a:pPr>
              <a:buFont typeface="Arial" pitchFamily="34" charset="0"/>
              <a:buChar char="•"/>
            </a:pPr>
            <a:r>
              <a:rPr lang="es-ES" dirty="0"/>
              <a:t> Crear constancia para una mejora continua de los procesos.</a:t>
            </a:r>
          </a:p>
          <a:p>
            <a:pPr>
              <a:buFont typeface="Arial" pitchFamily="34" charset="0"/>
              <a:buChar char="•"/>
            </a:pPr>
            <a:r>
              <a:rPr lang="es-ES" dirty="0"/>
              <a:t> Adoptar nueva filosofía de calidad creada en Japón.</a:t>
            </a:r>
          </a:p>
          <a:p>
            <a:pPr>
              <a:buFont typeface="Arial" pitchFamily="34" charset="0"/>
              <a:buChar char="•"/>
            </a:pPr>
            <a:r>
              <a:rPr lang="es-ES" dirty="0"/>
              <a:t> Crear calidad en el producto desde el principio.</a:t>
            </a:r>
          </a:p>
          <a:p>
            <a:pPr>
              <a:buFont typeface="Arial" pitchFamily="34" charset="0"/>
              <a:buChar char="•"/>
            </a:pPr>
            <a:r>
              <a:rPr lang="es-ES" dirty="0"/>
              <a:t> Mejorar constantemente cada proceso de planeación, producción y servicio.</a:t>
            </a:r>
          </a:p>
          <a:p>
            <a:pPr>
              <a:buFont typeface="Arial" pitchFamily="34" charset="0"/>
              <a:buChar char="•"/>
            </a:pPr>
            <a:r>
              <a:rPr lang="es-ES" dirty="0"/>
              <a:t> Instituir modernos métodos de entrenamiento en el trabajo.</a:t>
            </a:r>
          </a:p>
          <a:p>
            <a:pPr>
              <a:buFont typeface="Arial" pitchFamily="34" charset="0"/>
              <a:buChar char="•"/>
            </a:pPr>
            <a:r>
              <a:rPr lang="es-ES" dirty="0"/>
              <a:t> Motivar la educación y </a:t>
            </a:r>
            <a:r>
              <a:rPr lang="es-ES" dirty="0" err="1"/>
              <a:t>automejora</a:t>
            </a:r>
            <a:r>
              <a:rPr lang="es-ES" dirty="0"/>
              <a:t> para todos.</a:t>
            </a:r>
          </a:p>
          <a:p>
            <a:pPr>
              <a:buFont typeface="Arial" pitchFamily="34" charset="0"/>
              <a:buChar char="•"/>
            </a:pPr>
            <a:r>
              <a:rPr lang="es-ES" dirty="0"/>
              <a:t> Remover barreras para el orgullo del trabajador.</a:t>
            </a:r>
          </a:p>
          <a:p>
            <a:pPr>
              <a:buFont typeface="Arial" pitchFamily="34" charset="0"/>
              <a:buChar char="•"/>
            </a:pPr>
            <a:r>
              <a:rPr lang="es-ES" dirty="0"/>
              <a:t> La calidad reduce los costes y mejora la productividad</a:t>
            </a:r>
          </a:p>
          <a:p>
            <a:pPr>
              <a:buFont typeface="Arial" pitchFamily="34" charset="0"/>
              <a:buChar char="•"/>
            </a:pPr>
            <a:r>
              <a:rPr lang="es-ES" dirty="0"/>
              <a:t> La calidad conduce a mayores ventas, mayor penetración en el mercado y mayores beneficios</a:t>
            </a:r>
          </a:p>
          <a:p>
            <a:pPr>
              <a:buFont typeface="Arial" pitchFamily="34" charset="0"/>
              <a:buChar char="•"/>
            </a:pPr>
            <a:r>
              <a:rPr lang="es-ES" dirty="0"/>
              <a:t> Desarrollo de clientes leales</a:t>
            </a:r>
          </a:p>
          <a:p>
            <a:pPr>
              <a:buFont typeface="Arial" pitchFamily="34" charset="0"/>
              <a:buChar char="•"/>
            </a:pPr>
            <a:r>
              <a:rPr lang="es-ES" dirty="0"/>
              <a:t> Eliminar la evaluación por méritos  No evaluar al personal</a:t>
            </a:r>
          </a:p>
          <a:p>
            <a:pPr>
              <a:buFont typeface="Arial" pitchFamily="34" charset="0"/>
              <a:buChar char="•"/>
            </a:pPr>
            <a:r>
              <a:rPr lang="es-ES" dirty="0"/>
              <a:t> Para comunicar su pensamiento sobre la administración, ideó 14 puntos:</a:t>
            </a:r>
          </a:p>
          <a:p>
            <a:pPr>
              <a:buFont typeface="Arial" pitchFamily="34" charset="0"/>
              <a:buChar char="•"/>
            </a:pPr>
            <a:r>
              <a:rPr lang="es-ES" dirty="0"/>
              <a:t> Ser constantes en el propósito de mejorar.</a:t>
            </a:r>
          </a:p>
          <a:p>
            <a:pPr>
              <a:buFont typeface="Arial" pitchFamily="34" charset="0"/>
              <a:buChar char="•"/>
            </a:pPr>
            <a:r>
              <a:rPr lang="es-ES" dirty="0"/>
              <a:t> Adoptar la nueva filosofía para afrontar la nueva economía.</a:t>
            </a:r>
          </a:p>
          <a:p>
            <a:pPr>
              <a:buFont typeface="Arial" pitchFamily="34" charset="0"/>
              <a:buChar char="•"/>
            </a:pPr>
            <a:r>
              <a:rPr lang="es-ES" dirty="0"/>
              <a:t> Cesar la dependencia de la inspección para lograr la calidad.</a:t>
            </a:r>
          </a:p>
          <a:p>
            <a:pPr>
              <a:buFont typeface="Arial" pitchFamily="34" charset="0"/>
              <a:buChar char="•"/>
            </a:pPr>
            <a:r>
              <a:rPr lang="es-ES" dirty="0"/>
              <a:t> Eliminar la práctica de comprar solo en base al precio.</a:t>
            </a:r>
          </a:p>
          <a:p>
            <a:pPr>
              <a:buFont typeface="Arial" pitchFamily="34" charset="0"/>
              <a:buChar char="•"/>
            </a:pPr>
            <a:r>
              <a:rPr lang="es-ES" dirty="0"/>
              <a:t> Mejorar constantemente el sistema.</a:t>
            </a:r>
          </a:p>
          <a:p>
            <a:pPr>
              <a:buFont typeface="Arial" pitchFamily="34" charset="0"/>
              <a:buChar char="•"/>
            </a:pPr>
            <a:r>
              <a:rPr lang="es-ES" dirty="0"/>
              <a:t> Instituir el entrenamiento en el trabajo.</a:t>
            </a:r>
          </a:p>
          <a:p>
            <a:pPr>
              <a:buFont typeface="Arial" pitchFamily="34" charset="0"/>
              <a:buChar char="•"/>
            </a:pPr>
            <a:r>
              <a:rPr lang="es-ES" dirty="0"/>
              <a:t> Adoptar el liderazgo para la dirección de personas.</a:t>
            </a:r>
          </a:p>
          <a:p>
            <a:pPr>
              <a:buFont typeface="Arial" pitchFamily="34" charset="0"/>
              <a:buChar char="•"/>
            </a:pPr>
            <a:r>
              <a:rPr lang="es-ES" dirty="0"/>
              <a:t> Eliminar el miedo, de forma que todos puedan trabajar con eficacia.</a:t>
            </a:r>
          </a:p>
          <a:p>
            <a:pPr>
              <a:buFont typeface="Arial" pitchFamily="34" charset="0"/>
              <a:buChar char="•"/>
            </a:pPr>
            <a:r>
              <a:rPr lang="es-ES" dirty="0"/>
              <a:t> Eliminar barreras entre los departamentos.</a:t>
            </a:r>
          </a:p>
          <a:p>
            <a:pPr>
              <a:buFont typeface="Arial" pitchFamily="34" charset="0"/>
              <a:buChar char="•"/>
            </a:pPr>
            <a:r>
              <a:rPr lang="es-ES" dirty="0"/>
              <a:t> Eliminar los eslóganes y exhortaciones hacia la calidad.</a:t>
            </a:r>
          </a:p>
          <a:p>
            <a:pPr>
              <a:buFont typeface="Arial" pitchFamily="34" charset="0"/>
              <a:buChar char="•"/>
            </a:pPr>
            <a:r>
              <a:rPr lang="es-ES" dirty="0"/>
              <a:t> Eliminar las cuotas a los trabajadores ya que sustituyen al liderazgo.</a:t>
            </a:r>
          </a:p>
          <a:p>
            <a:pPr>
              <a:buFont typeface="Arial" pitchFamily="34" charset="0"/>
              <a:buChar char="•"/>
            </a:pPr>
            <a:r>
              <a:rPr lang="es-ES" dirty="0"/>
              <a:t> Eliminar los obstáculos que llevan a los trabajadores a enorgullecerse de su trabajo.</a:t>
            </a:r>
          </a:p>
          <a:p>
            <a:pPr>
              <a:buFont typeface="Arial" pitchFamily="34" charset="0"/>
              <a:buChar char="•"/>
            </a:pPr>
            <a:r>
              <a:rPr lang="es-ES" dirty="0"/>
              <a:t> Instituir un programa de educación y auto mejora.</a:t>
            </a:r>
          </a:p>
          <a:p>
            <a:pPr>
              <a:buFont typeface="Arial" pitchFamily="34" charset="0"/>
              <a:buChar char="•"/>
            </a:pPr>
            <a:r>
              <a:rPr lang="es-ES" dirty="0"/>
              <a:t> Poner a todo el mundo a conseguir la transformación ya que ésta es trabajo de todos.</a:t>
            </a:r>
          </a:p>
          <a:p>
            <a:endParaRPr lang="es-ES" b="1" dirty="0"/>
          </a:p>
          <a:p>
            <a:r>
              <a:rPr lang="es-ES" b="1" dirty="0"/>
              <a:t>Peter </a:t>
            </a:r>
            <a:r>
              <a:rPr lang="es-ES" b="1" dirty="0" err="1"/>
              <a:t>Drucker</a:t>
            </a:r>
            <a:r>
              <a:rPr lang="es-ES" b="1" dirty="0"/>
              <a:t> (1909-2005)</a:t>
            </a:r>
          </a:p>
          <a:p>
            <a:r>
              <a:rPr lang="es-ES" dirty="0"/>
              <a:t>Fue un abogado austriaco, nacido en Viena en 1909, considerado como el líder de los gurús americanos en materia de administración.</a:t>
            </a:r>
          </a:p>
          <a:p>
            <a:r>
              <a:rPr lang="es-ES" dirty="0"/>
              <a:t>Fue uno de los primeros en mencionar la palabra estrategia en la organización, la cual planteaba en respuesta a dos preguntas:</a:t>
            </a:r>
          </a:p>
          <a:p>
            <a:pPr>
              <a:buFont typeface="Wingdings" pitchFamily="2" charset="2"/>
              <a:buChar char="Ø"/>
            </a:pPr>
            <a:r>
              <a:rPr lang="es-ES" dirty="0"/>
              <a:t> ¿Qué es nuestro negocio?</a:t>
            </a:r>
          </a:p>
          <a:p>
            <a:pPr>
              <a:buFont typeface="Wingdings" pitchFamily="2" charset="2"/>
              <a:buChar char="Ø"/>
            </a:pPr>
            <a:r>
              <a:rPr lang="es-ES" dirty="0"/>
              <a:t> ¿Qué debería de ser?</a:t>
            </a:r>
          </a:p>
          <a:p>
            <a:pPr>
              <a:buFont typeface="Arial" pitchFamily="34" charset="0"/>
              <a:buChar char="•"/>
            </a:pPr>
            <a:r>
              <a:rPr lang="es-ES" dirty="0"/>
              <a:t> Descentralización como principio de efectividad y productividad.</a:t>
            </a:r>
          </a:p>
          <a:p>
            <a:pPr>
              <a:buFont typeface="Arial" pitchFamily="34" charset="0"/>
              <a:buChar char="•"/>
            </a:pPr>
            <a:r>
              <a:rPr lang="es-ES" dirty="0"/>
              <a:t> Énfasis en la alta calidad de administración de personal.</a:t>
            </a:r>
          </a:p>
          <a:p>
            <a:pPr>
              <a:buFont typeface="Arial" pitchFamily="34" charset="0"/>
              <a:buChar char="•"/>
            </a:pPr>
            <a:r>
              <a:rPr lang="es-ES" dirty="0"/>
              <a:t> Educación, desarrollo y entrenamiento del administrador.</a:t>
            </a:r>
          </a:p>
          <a:p>
            <a:pPr>
              <a:buFont typeface="Arial" pitchFamily="34" charset="0"/>
              <a:buChar char="•"/>
            </a:pPr>
            <a:r>
              <a:rPr lang="es-ES" dirty="0"/>
              <a:t> Información de alta calidad para la toma de decisiones.</a:t>
            </a:r>
          </a:p>
          <a:p>
            <a:pPr>
              <a:buFont typeface="Arial" pitchFamily="34" charset="0"/>
              <a:buChar char="•"/>
            </a:pPr>
            <a:r>
              <a:rPr lang="es-ES" dirty="0"/>
              <a:t> Énfasis en la mercadotecnia.</a:t>
            </a:r>
          </a:p>
          <a:p>
            <a:pPr>
              <a:buFont typeface="Arial" pitchFamily="34" charset="0"/>
              <a:buChar char="•"/>
            </a:pPr>
            <a:r>
              <a:rPr lang="es-ES" dirty="0"/>
              <a:t> Planeación a largo plazo.</a:t>
            </a:r>
          </a:p>
          <a:p>
            <a:pPr>
              <a:buFont typeface="Arial" pitchFamily="34" charset="0"/>
              <a:buChar char="•"/>
            </a:pPr>
            <a:r>
              <a:rPr lang="es-ES" dirty="0"/>
              <a:t> Administración basada en el planteamiento de objetivos.</a:t>
            </a:r>
          </a:p>
          <a:p>
            <a:pPr>
              <a:buFont typeface="Arial" pitchFamily="34" charset="0"/>
              <a:buChar char="•"/>
            </a:pPr>
            <a:r>
              <a:rPr lang="es-ES" dirty="0"/>
              <a:t> Administración por resultados.</a:t>
            </a:r>
          </a:p>
          <a:p>
            <a:r>
              <a:rPr lang="es-ES" dirty="0"/>
              <a:t>Las organizaciones con fines de lucro, también deben de ser vistas como estructuras humanas y sociales más que como económicas.</a:t>
            </a:r>
          </a:p>
          <a:p>
            <a:endParaRPr lang="es-ES" b="1" dirty="0"/>
          </a:p>
          <a:p>
            <a:r>
              <a:rPr lang="es-ES" b="1" dirty="0"/>
              <a:t>Gary S. Becker (1930-2014)</a:t>
            </a:r>
          </a:p>
          <a:p>
            <a:r>
              <a:rPr lang="es-ES" dirty="0"/>
              <a:t>Fue un economista estadounidense. Ganó el premio Nobel de economía en 1992, sus aportaciones se usan en distintos campos como sociología, ciencias políticas, demografía o criminología.</a:t>
            </a:r>
          </a:p>
          <a:p>
            <a:r>
              <a:rPr lang="es-ES" dirty="0"/>
              <a:t>Se aventuró a salir de lo común investigando sobre discriminación, racismo, la inmigración, la familia, la educación, el salario mínimo, el altruismo, el coste de los restaurantes, el capital humano, competencia o democracia, convirtiéndose en uno de los autores más citados entre sus pares.</a:t>
            </a:r>
          </a:p>
          <a:p>
            <a:r>
              <a:rPr lang="es-ES" dirty="0"/>
              <a:t>Su modelo se sustenta sobre la idea de que los seres humanos toman decisiones por un motivo, que valoran pros y contras, barajan opciones y responden a incentivos. Que hay interés propio, egoísmo, búsqueda de la riqueza, sí, pero no sólo ni principalmente siquiera. Becker insistió una y otra vez en que todos respondemos a múltiples estímulos e influencias, en banquero, el adolescente enamorado y el drogadicto. Y por ello, prácticamente todo aspecto del comportamiento humano no le es o no le debería ser ajeno a la ciencia económica.</a:t>
            </a:r>
          </a:p>
          <a:p>
            <a:endParaRPr lang="es-ES" b="1" dirty="0"/>
          </a:p>
          <a:p>
            <a:r>
              <a:rPr lang="es-ES" b="1" dirty="0"/>
              <a:t>Charles Handy (1932)</a:t>
            </a:r>
          </a:p>
          <a:p>
            <a:r>
              <a:rPr lang="es-ES" dirty="0"/>
              <a:t>Es un pensador y filósofo irlandés, reconocido como uno de los pensadores administrativos más influyentes y  conocido en Europa. Creó conceptos como “</a:t>
            </a:r>
            <a:r>
              <a:rPr lang="es-ES" i="1" dirty="0"/>
              <a:t>Sociedad Comunitaria</a:t>
            </a:r>
            <a:r>
              <a:rPr lang="es-ES" dirty="0"/>
              <a:t>”, menciona que el verdadero patrimonio de las empresas no son los bienes materiales sino las personas que la manejan, y que para lograr retenerlas dentro de la organización no se puede seguir considerándolas como empleados.</a:t>
            </a:r>
          </a:p>
          <a:p>
            <a:r>
              <a:rPr lang="es-ES" dirty="0"/>
              <a:t>Sus observaciones del trabajo en las sociedades modernas identifican cambios discontinuos, ha pronosticado que la mitad de la fuerza obrera de Inglaterra no estará permanentemente en trabajos de tiempo completo en un futuro cercano.</a:t>
            </a:r>
          </a:p>
          <a:p>
            <a:r>
              <a:rPr lang="es-ES" dirty="0"/>
              <a:t>“</a:t>
            </a:r>
            <a:r>
              <a:rPr lang="es-ES" i="1" dirty="0"/>
              <a:t>Los Dioses de la Administración</a:t>
            </a:r>
            <a:r>
              <a:rPr lang="es-ES" dirty="0"/>
              <a:t>”, una clasificación de las filosofías internas y culturas de los sistemas organizacionales:</a:t>
            </a:r>
          </a:p>
          <a:p>
            <a:pPr>
              <a:buFont typeface="Arial" pitchFamily="34" charset="0"/>
              <a:buChar char="•"/>
            </a:pPr>
            <a:r>
              <a:rPr lang="es-ES" dirty="0"/>
              <a:t> Cultura Zeus: emprendedora, orientada al poder.</a:t>
            </a:r>
          </a:p>
          <a:p>
            <a:pPr>
              <a:buFont typeface="Arial" pitchFamily="34" charset="0"/>
              <a:buChar char="•"/>
            </a:pPr>
            <a:r>
              <a:rPr lang="es-ES" dirty="0"/>
              <a:t> Cultura Apolo: organización ordenada y estructurada.</a:t>
            </a:r>
          </a:p>
          <a:p>
            <a:pPr>
              <a:buFont typeface="Arial" pitchFamily="34" charset="0"/>
              <a:buChar char="•"/>
            </a:pPr>
            <a:r>
              <a:rPr lang="es-ES" dirty="0"/>
              <a:t> Cultura Atenea: participación del trabajo en equipo.</a:t>
            </a:r>
          </a:p>
          <a:p>
            <a:pPr>
              <a:buFont typeface="Arial" pitchFamily="34" charset="0"/>
              <a:buChar char="•"/>
            </a:pPr>
            <a:r>
              <a:rPr lang="es-ES" dirty="0"/>
              <a:t> Cultura Dionisio: enfatiza individualismo.</a:t>
            </a:r>
          </a:p>
          <a:p>
            <a:endParaRPr lang="es-ES" b="1" dirty="0"/>
          </a:p>
          <a:p>
            <a:r>
              <a:rPr lang="es-ES" b="1" dirty="0"/>
              <a:t>Henry </a:t>
            </a:r>
            <a:r>
              <a:rPr lang="es-ES" b="1" dirty="0" err="1"/>
              <a:t>Mintzberg</a:t>
            </a:r>
            <a:r>
              <a:rPr lang="es-ES" b="1" dirty="0"/>
              <a:t> (1939)</a:t>
            </a:r>
          </a:p>
          <a:p>
            <a:r>
              <a:rPr lang="es-ES" dirty="0"/>
              <a:t>Es un economista y sociólogo canadiense, profesor de administración en Montreal. Ha realizado estudios acerca de la administración del trabajo y la planeación estratégica.</a:t>
            </a:r>
          </a:p>
          <a:p>
            <a:r>
              <a:rPr lang="es-ES" dirty="0"/>
              <a:t>En la “</a:t>
            </a:r>
            <a:r>
              <a:rPr lang="es-ES" i="1" dirty="0"/>
              <a:t>Estructuración de las organizaciones</a:t>
            </a:r>
            <a:r>
              <a:rPr lang="es-ES" dirty="0"/>
              <a:t>” (1979) y en “</a:t>
            </a:r>
            <a:r>
              <a:rPr lang="es-ES" i="1" dirty="0"/>
              <a:t>Diseño de las organizaciones efectivas</a:t>
            </a:r>
            <a:r>
              <a:rPr lang="es-ES" dirty="0"/>
              <a:t>” (2000) el autor identificó componentes esenciales de la organización:</a:t>
            </a:r>
          </a:p>
          <a:p>
            <a:pPr>
              <a:buFont typeface="Arial" pitchFamily="34" charset="0"/>
              <a:buChar char="•"/>
            </a:pPr>
            <a:r>
              <a:rPr lang="es-ES" dirty="0"/>
              <a:t> Cumbre estratégica</a:t>
            </a:r>
          </a:p>
          <a:p>
            <a:pPr>
              <a:buFont typeface="Arial" pitchFamily="34" charset="0"/>
              <a:buChar char="•"/>
            </a:pPr>
            <a:r>
              <a:rPr lang="es-ES" dirty="0"/>
              <a:t> Núcleo operativo</a:t>
            </a:r>
          </a:p>
          <a:p>
            <a:pPr>
              <a:buFont typeface="Arial" pitchFamily="34" charset="0"/>
              <a:buChar char="•"/>
            </a:pPr>
            <a:r>
              <a:rPr lang="es-ES" dirty="0"/>
              <a:t> Línea media </a:t>
            </a:r>
          </a:p>
          <a:p>
            <a:pPr>
              <a:buFont typeface="Arial" pitchFamily="34" charset="0"/>
              <a:buChar char="•"/>
            </a:pPr>
            <a:r>
              <a:rPr lang="es-ES" dirty="0"/>
              <a:t> Tecno estructura</a:t>
            </a:r>
          </a:p>
          <a:p>
            <a:pPr>
              <a:buFont typeface="Arial" pitchFamily="34" charset="0"/>
              <a:buChar char="•"/>
            </a:pPr>
            <a:r>
              <a:rPr lang="es-ES" dirty="0"/>
              <a:t> Estructura de apoyo.</a:t>
            </a:r>
          </a:p>
          <a:p>
            <a:endParaRPr lang="es-ES" dirty="0"/>
          </a:p>
          <a:p>
            <a:r>
              <a:rPr lang="es-ES" dirty="0"/>
              <a:t>Definió tres tipos de roles para un administrador dentro de cualquier organización:</a:t>
            </a:r>
          </a:p>
          <a:p>
            <a:pPr>
              <a:buFont typeface="Arial" pitchFamily="34" charset="0"/>
              <a:buChar char="•"/>
            </a:pPr>
            <a:r>
              <a:rPr lang="es-ES" dirty="0"/>
              <a:t> Interpersonales: referente a las relaciones entre personas, tanto de forma internas como con las externas.</a:t>
            </a:r>
          </a:p>
          <a:p>
            <a:pPr>
              <a:buFont typeface="Arial" pitchFamily="34" charset="0"/>
              <a:buChar char="•"/>
            </a:pPr>
            <a:r>
              <a:rPr lang="es-ES" dirty="0"/>
              <a:t> Informativos: debe ser monitor, difusor y portavoz para los colaboradores.</a:t>
            </a:r>
          </a:p>
          <a:p>
            <a:pPr>
              <a:buFont typeface="Arial" pitchFamily="34" charset="0"/>
              <a:buChar char="•"/>
            </a:pPr>
            <a:r>
              <a:rPr lang="es-ES" dirty="0"/>
              <a:t> </a:t>
            </a:r>
            <a:r>
              <a:rPr lang="es-ES" dirty="0" err="1"/>
              <a:t>Decisionales</a:t>
            </a:r>
            <a:r>
              <a:rPr lang="es-ES" dirty="0"/>
              <a:t>: relativo a la toma de decisiones, el administrador está al frente de la toma de decisiones debido a su manejo superior de la información.</a:t>
            </a:r>
          </a:p>
          <a:p>
            <a:endParaRPr lang="es-ES" b="1" dirty="0"/>
          </a:p>
          <a:p>
            <a:r>
              <a:rPr lang="es-ES" b="1" dirty="0"/>
              <a:t>Thomas J. </a:t>
            </a:r>
            <a:r>
              <a:rPr lang="es-ES" b="1" dirty="0" err="1"/>
              <a:t>Peters</a:t>
            </a:r>
            <a:r>
              <a:rPr lang="es-ES" b="1" dirty="0"/>
              <a:t> (1942)</a:t>
            </a:r>
          </a:p>
          <a:p>
            <a:r>
              <a:rPr lang="es-ES" dirty="0"/>
              <a:t>En </a:t>
            </a:r>
            <a:r>
              <a:rPr lang="es-ES" dirty="0" err="1"/>
              <a:t>Busqueda</a:t>
            </a:r>
            <a:r>
              <a:rPr lang="es-ES" dirty="0"/>
              <a:t> de la </a:t>
            </a:r>
            <a:r>
              <a:rPr lang="es-ES" dirty="0" err="1"/>
              <a:t>Excelencia</a:t>
            </a:r>
            <a:r>
              <a:rPr lang="es-ES" i="1" dirty="0" err="1"/>
              <a:t>Thriving</a:t>
            </a:r>
            <a:r>
              <a:rPr lang="es-ES" i="1" dirty="0"/>
              <a:t> </a:t>
            </a:r>
            <a:r>
              <a:rPr lang="es-ES" i="1" dirty="0" err="1"/>
              <a:t>on</a:t>
            </a:r>
            <a:r>
              <a:rPr lang="es-ES" i="1" dirty="0"/>
              <a:t> Chaos: </a:t>
            </a:r>
            <a:r>
              <a:rPr lang="es-ES" i="1" dirty="0" err="1"/>
              <a:t>Handbook</a:t>
            </a:r>
            <a:r>
              <a:rPr lang="es-ES" i="1" dirty="0"/>
              <a:t> </a:t>
            </a:r>
            <a:r>
              <a:rPr lang="es-ES" i="1" dirty="0" err="1"/>
              <a:t>for</a:t>
            </a:r>
            <a:r>
              <a:rPr lang="es-ES" i="1" dirty="0"/>
              <a:t> </a:t>
            </a:r>
            <a:endParaRPr lang="es-ES" dirty="0"/>
          </a:p>
          <a:p>
            <a:r>
              <a:rPr lang="es-ES" i="1" dirty="0"/>
              <a:t>Management </a:t>
            </a:r>
            <a:r>
              <a:rPr lang="es-ES" i="1" dirty="0" err="1"/>
              <a:t>Revolution</a:t>
            </a:r>
            <a:endParaRPr lang="es-ES" dirty="0"/>
          </a:p>
          <a:p>
            <a:r>
              <a:rPr lang="es-ES" dirty="0"/>
              <a:t>Es un escritor estadounidense especialista en administración, practica de gestión empresarial y consultor. Su trabajo intenta llevar a la administración más allá de las escuelas y las organizaciones.</a:t>
            </a:r>
          </a:p>
          <a:p>
            <a:r>
              <a:rPr lang="es-ES" dirty="0"/>
              <a:t>“</a:t>
            </a:r>
            <a:r>
              <a:rPr lang="es-ES" i="1" dirty="0"/>
              <a:t>En búsqueda de la excelencia</a:t>
            </a:r>
            <a:r>
              <a:rPr lang="es-ES" dirty="0"/>
              <a:t>”, es una de sus obras, en la cual incita a los dirigentes a enfocar los negocios de una manera completamente distinta. De este libro se extraen los nueve atributos de la excelencia en las organizaciones:</a:t>
            </a:r>
          </a:p>
          <a:p>
            <a:pPr marL="228600" indent="-228600">
              <a:buFont typeface="+mj-lt"/>
              <a:buAutoNum type="arabicPeriod"/>
            </a:pPr>
            <a:r>
              <a:rPr lang="es-ES" dirty="0"/>
              <a:t>Manejo de la ambigüedad y la paradoja</a:t>
            </a:r>
          </a:p>
          <a:p>
            <a:pPr marL="228600" indent="-228600">
              <a:buFont typeface="+mj-lt"/>
              <a:buAutoNum type="arabicPeriod"/>
            </a:pPr>
            <a:r>
              <a:rPr lang="es-ES" dirty="0" err="1"/>
              <a:t>redisposición</a:t>
            </a:r>
            <a:r>
              <a:rPr lang="es-ES" dirty="0"/>
              <a:t> para la acción</a:t>
            </a:r>
          </a:p>
          <a:p>
            <a:pPr marL="228600" indent="-228600">
              <a:buFont typeface="+mj-lt"/>
              <a:buAutoNum type="arabicPeriod"/>
            </a:pPr>
            <a:r>
              <a:rPr lang="es-ES" dirty="0"/>
              <a:t>Acercamiento al cliente</a:t>
            </a:r>
          </a:p>
          <a:p>
            <a:pPr marL="228600" indent="-228600">
              <a:buFont typeface="+mj-lt"/>
              <a:buAutoNum type="arabicPeriod"/>
            </a:pPr>
            <a:r>
              <a:rPr lang="es-ES" dirty="0"/>
              <a:t>Autonomía y espíritu empresarial</a:t>
            </a:r>
          </a:p>
          <a:p>
            <a:pPr marL="228600" indent="-228600">
              <a:buFont typeface="+mj-lt"/>
              <a:buAutoNum type="arabicPeriod"/>
            </a:pPr>
            <a:r>
              <a:rPr lang="es-ES" dirty="0"/>
              <a:t>Productividad por el personal</a:t>
            </a:r>
          </a:p>
          <a:p>
            <a:pPr marL="228600" indent="-228600">
              <a:buFont typeface="+mj-lt"/>
              <a:buAutoNum type="arabicPeriod"/>
            </a:pPr>
            <a:r>
              <a:rPr lang="es-ES" dirty="0"/>
              <a:t>Movilización alrededor de un valor clave</a:t>
            </a:r>
          </a:p>
          <a:p>
            <a:pPr marL="228600" indent="-228600">
              <a:buFont typeface="+mj-lt"/>
              <a:buAutoNum type="arabicPeriod"/>
            </a:pPr>
            <a:r>
              <a:rPr lang="es-ES" dirty="0"/>
              <a:t>“Zapatero a tus zapatos” </a:t>
            </a:r>
          </a:p>
          <a:p>
            <a:pPr marL="228600" indent="-228600">
              <a:buFont typeface="+mj-lt"/>
              <a:buAutoNum type="arabicPeriod"/>
            </a:pPr>
            <a:r>
              <a:rPr lang="es-ES" dirty="0"/>
              <a:t>Estructura simple y poco personal</a:t>
            </a:r>
          </a:p>
          <a:p>
            <a:pPr marL="228600" indent="-228600">
              <a:buFont typeface="+mj-lt"/>
              <a:buAutoNum type="arabicPeriod"/>
            </a:pPr>
            <a:r>
              <a:rPr lang="es-ES" dirty="0"/>
              <a:t>Flexibilidad y rigor simultáneos.</a:t>
            </a:r>
          </a:p>
          <a:p>
            <a:endParaRPr lang="es-ES" dirty="0"/>
          </a:p>
          <a:p>
            <a:r>
              <a:rPr lang="es-ES" dirty="0"/>
              <a:t>“</a:t>
            </a:r>
            <a:r>
              <a:rPr lang="es-ES" i="1" dirty="0" err="1"/>
              <a:t>Thriving</a:t>
            </a:r>
            <a:r>
              <a:rPr lang="es-ES" i="1" dirty="0"/>
              <a:t> </a:t>
            </a:r>
            <a:r>
              <a:rPr lang="es-ES" i="1" dirty="0" err="1"/>
              <a:t>on</a:t>
            </a:r>
            <a:r>
              <a:rPr lang="es-ES" i="1" dirty="0"/>
              <a:t> Chaos: </a:t>
            </a:r>
            <a:r>
              <a:rPr lang="es-ES" i="1" dirty="0" err="1"/>
              <a:t>Handbook</a:t>
            </a:r>
            <a:r>
              <a:rPr lang="es-ES" i="1" dirty="0"/>
              <a:t> </a:t>
            </a:r>
            <a:r>
              <a:rPr lang="es-ES" i="1" dirty="0" err="1"/>
              <a:t>for</a:t>
            </a:r>
            <a:r>
              <a:rPr lang="es-ES" i="1" dirty="0"/>
              <a:t> Management </a:t>
            </a:r>
            <a:r>
              <a:rPr lang="es-ES" i="1" dirty="0" err="1"/>
              <a:t>Revolution</a:t>
            </a:r>
            <a:r>
              <a:rPr lang="es-ES" dirty="0"/>
              <a:t>”, ofrece preceptos que ayudan a la transformación de una organización:</a:t>
            </a:r>
          </a:p>
          <a:p>
            <a:pPr>
              <a:buFont typeface="Arial" pitchFamily="34" charset="0"/>
              <a:buChar char="•"/>
            </a:pPr>
            <a:r>
              <a:rPr lang="es-ES" dirty="0"/>
              <a:t> Revolucionar la calidad</a:t>
            </a:r>
          </a:p>
          <a:p>
            <a:pPr>
              <a:buFont typeface="Arial" pitchFamily="34" charset="0"/>
              <a:buChar char="•"/>
            </a:pPr>
            <a:r>
              <a:rPr lang="es-ES" dirty="0"/>
              <a:t> Ser servicial</a:t>
            </a:r>
          </a:p>
          <a:p>
            <a:pPr>
              <a:buFont typeface="Arial" pitchFamily="34" charset="0"/>
              <a:buChar char="•"/>
            </a:pPr>
            <a:r>
              <a:rPr lang="es-ES" dirty="0"/>
              <a:t> Buscar satisfacción del cliente</a:t>
            </a:r>
          </a:p>
          <a:p>
            <a:pPr>
              <a:buFont typeface="Arial" pitchFamily="34" charset="0"/>
              <a:buChar char="•"/>
            </a:pPr>
            <a:r>
              <a:rPr lang="es-ES" dirty="0"/>
              <a:t> Hacer organizaciones internacionales</a:t>
            </a:r>
          </a:p>
          <a:p>
            <a:pPr>
              <a:buFont typeface="Arial" pitchFamily="34" charset="0"/>
              <a:buChar char="•"/>
            </a:pPr>
            <a:r>
              <a:rPr lang="es-ES" dirty="0"/>
              <a:t> Escuchar las demandas de consumidores</a:t>
            </a:r>
          </a:p>
          <a:p>
            <a:pPr>
              <a:buFont typeface="Arial" pitchFamily="34" charset="0"/>
              <a:buChar char="•"/>
            </a:pPr>
            <a:r>
              <a:rPr lang="es-ES" dirty="0"/>
              <a:t> Confiar en el personal</a:t>
            </a:r>
          </a:p>
          <a:p>
            <a:pPr>
              <a:buFont typeface="Arial" pitchFamily="34" charset="0"/>
              <a:buChar char="•"/>
            </a:pPr>
            <a:r>
              <a:rPr lang="es-ES" dirty="0"/>
              <a:t> Crear una visión y demostrarla mediante el ejemplo</a:t>
            </a:r>
          </a:p>
          <a:p>
            <a:endParaRPr lang="es-ES" b="1" dirty="0"/>
          </a:p>
          <a:p>
            <a:r>
              <a:rPr lang="es-ES" b="1" dirty="0" err="1"/>
              <a:t>Rosabeth</a:t>
            </a:r>
            <a:r>
              <a:rPr lang="es-ES" b="1" dirty="0"/>
              <a:t> </a:t>
            </a:r>
            <a:r>
              <a:rPr lang="es-ES" b="1" dirty="0" err="1"/>
              <a:t>Moss</a:t>
            </a:r>
            <a:r>
              <a:rPr lang="es-ES" b="1" dirty="0"/>
              <a:t> </a:t>
            </a:r>
            <a:r>
              <a:rPr lang="es-ES" b="1" dirty="0" err="1"/>
              <a:t>Kanter</a:t>
            </a:r>
            <a:r>
              <a:rPr lang="es-ES" b="1" dirty="0"/>
              <a:t> (1943)</a:t>
            </a:r>
          </a:p>
          <a:p>
            <a:r>
              <a:rPr lang="es-ES" dirty="0"/>
              <a:t>Es catedrática y experta en estrategia, cambio, innovación y liderazgo para el cambio, en la universidad de Harvard, también es asesora de grandes corporaciones, organizaciones sin fines de lucro y entidades gubernamentales alrededor del mundo. Además de su trabajo como profesora, concibió y dirigió el proyecto </a:t>
            </a:r>
            <a:r>
              <a:rPr lang="es-ES" dirty="0" err="1"/>
              <a:t>Bussines</a:t>
            </a:r>
            <a:r>
              <a:rPr lang="es-ES" dirty="0"/>
              <a:t> </a:t>
            </a:r>
            <a:r>
              <a:rPr lang="es-ES" dirty="0" err="1"/>
              <a:t>Leadership</a:t>
            </a:r>
            <a:r>
              <a:rPr lang="es-ES" dirty="0"/>
              <a:t> in </a:t>
            </a:r>
            <a:r>
              <a:rPr lang="es-ES" dirty="0" err="1"/>
              <a:t>the</a:t>
            </a:r>
            <a:r>
              <a:rPr lang="es-ES" dirty="0"/>
              <a:t> Social Sector.</a:t>
            </a:r>
          </a:p>
          <a:p>
            <a:r>
              <a:rPr lang="es-ES" dirty="0"/>
              <a:t>Es considerada una de los líderes más prominentes en el mundo, reconocida como uno de las 100 mujeres más importantes de América y una de las 50 mujeres más poderosas del mundo, ha recibido veintiún doctorados honorarios.</a:t>
            </a:r>
          </a:p>
          <a:p>
            <a:r>
              <a:rPr lang="es-ES" dirty="0"/>
              <a:t>Aportaciones:</a:t>
            </a:r>
          </a:p>
          <a:p>
            <a:r>
              <a:rPr lang="es-ES" dirty="0"/>
              <a:t>La administración debe ser abierta y promovida a todos los participantes posibles en donde sean tomados en cuenta todos los grupos sociales.</a:t>
            </a:r>
          </a:p>
          <a:p>
            <a:endParaRPr lang="es-ES" b="1" dirty="0"/>
          </a:p>
          <a:p>
            <a:r>
              <a:rPr lang="es-ES" b="1" dirty="0"/>
              <a:t>Michael E. </a:t>
            </a:r>
            <a:r>
              <a:rPr lang="es-ES" b="1" dirty="0" err="1"/>
              <a:t>Porter</a:t>
            </a:r>
            <a:r>
              <a:rPr lang="es-ES" b="1" dirty="0"/>
              <a:t> (1947)</a:t>
            </a:r>
          </a:p>
          <a:p>
            <a:r>
              <a:rPr lang="es-ES" dirty="0"/>
              <a:t>Es un economista y catedrático estadounidense para la Harvard Business </a:t>
            </a:r>
            <a:r>
              <a:rPr lang="es-ES" dirty="0" err="1"/>
              <a:t>School</a:t>
            </a:r>
            <a:r>
              <a:rPr lang="es-ES" dirty="0"/>
              <a:t>, reconocido por sus teorías económicas, estrategias de negocios y  causas sociales. Desde una orientación a temas de competitividad, con innovaciones tan importantes como la cadena de valor, el modelo de las cinco fuerzas, los grupos estratégicos o los conceptos mismos de ventaja competitiva y estrategia, </a:t>
            </a:r>
            <a:r>
              <a:rPr lang="es-ES" dirty="0" err="1"/>
              <a:t>Porter</a:t>
            </a:r>
            <a:r>
              <a:rPr lang="es-ES" dirty="0"/>
              <a:t> ha ido poniendo cada vez más el foco en el entorno social de compañías y corporaciones, siempre desde esa orientación competitiva.</a:t>
            </a:r>
          </a:p>
          <a:p>
            <a:r>
              <a:rPr lang="es-ES" dirty="0"/>
              <a:t>Es conocido en el mundo de los negocios por sus libros:</a:t>
            </a:r>
          </a:p>
          <a:p>
            <a:r>
              <a:rPr lang="es-ES" dirty="0"/>
              <a:t>Estrategias técnicas y competitivas para el análisis industrial y los competidores</a:t>
            </a:r>
          </a:p>
          <a:p>
            <a:r>
              <a:rPr lang="es-ES" dirty="0"/>
              <a:t>(1980)</a:t>
            </a:r>
          </a:p>
          <a:p>
            <a:r>
              <a:rPr lang="es-ES" dirty="0"/>
              <a:t>Ventaja Comparativa (1985)</a:t>
            </a:r>
          </a:p>
          <a:p>
            <a:r>
              <a:rPr lang="es-ES" dirty="0"/>
              <a:t>La ventaja competitiva de la Nación (1990)</a:t>
            </a:r>
          </a:p>
          <a:p>
            <a:r>
              <a:rPr lang="es-ES" dirty="0"/>
              <a:t>¿Puede Japón competir? (1999)</a:t>
            </a:r>
          </a:p>
          <a:p>
            <a:endParaRPr lang="es-ES" b="1" dirty="0"/>
          </a:p>
          <a:p>
            <a:r>
              <a:rPr lang="es-ES" b="1" dirty="0"/>
              <a:t>Peter M. </a:t>
            </a:r>
            <a:r>
              <a:rPr lang="es-ES" b="1" dirty="0" err="1"/>
              <a:t>Senge</a:t>
            </a:r>
            <a:r>
              <a:rPr lang="es-ES" b="1" dirty="0"/>
              <a:t> (1947)</a:t>
            </a:r>
          </a:p>
          <a:p>
            <a:r>
              <a:rPr lang="es-ES" dirty="0"/>
              <a:t>Es un economista, pedagogo, escritor y profesor universitario estadounidense experto en aprendizaje organizacional. Expone que una empresa logra crecer y ser competitiva en el mercado cuando aprende de sus experiencias, ya que a través de estas experiencias podrá detectar y corregir los errores y trampas que puedan afectar el crecimiento de la organización.</a:t>
            </a:r>
          </a:p>
          <a:p>
            <a:r>
              <a:rPr lang="es-ES" dirty="0"/>
              <a:t>Además plantea que es necesario construir organizaciones inteligentes para que tomen y practiquen cinco disciplinas:</a:t>
            </a:r>
          </a:p>
          <a:p>
            <a:pPr marL="228600" indent="-228600">
              <a:buFont typeface="+mj-lt"/>
              <a:buAutoNum type="arabicPeriod"/>
            </a:pPr>
            <a:r>
              <a:rPr lang="es-ES" dirty="0"/>
              <a:t>El pensamiento sistémico</a:t>
            </a:r>
          </a:p>
          <a:p>
            <a:pPr marL="228600" indent="-228600">
              <a:buFont typeface="+mj-lt"/>
              <a:buAutoNum type="arabicPeriod"/>
            </a:pPr>
            <a:r>
              <a:rPr lang="es-ES" dirty="0"/>
              <a:t>El dominio personal</a:t>
            </a:r>
          </a:p>
          <a:p>
            <a:pPr marL="228600" indent="-228600">
              <a:buFont typeface="+mj-lt"/>
              <a:buAutoNum type="arabicPeriod"/>
            </a:pPr>
            <a:r>
              <a:rPr lang="es-ES" dirty="0"/>
              <a:t>Los modelos mentales</a:t>
            </a:r>
          </a:p>
          <a:p>
            <a:pPr marL="228600" indent="-228600">
              <a:buFont typeface="+mj-lt"/>
              <a:buAutoNum type="arabicPeriod"/>
            </a:pPr>
            <a:r>
              <a:rPr lang="es-ES" dirty="0"/>
              <a:t>La construcción de una visión compartida</a:t>
            </a:r>
          </a:p>
          <a:p>
            <a:pPr marL="228600" indent="-228600">
              <a:buFont typeface="+mj-lt"/>
              <a:buAutoNum type="arabicPeriod"/>
            </a:pPr>
            <a:r>
              <a:rPr lang="es-ES" dirty="0"/>
              <a:t>El aprendizaje en equipo.</a:t>
            </a:r>
          </a:p>
          <a:p>
            <a:endParaRPr lang="es-ES" b="1" dirty="0"/>
          </a:p>
          <a:p>
            <a:r>
              <a:rPr lang="es-ES" b="1" dirty="0"/>
              <a:t>PERSPECTIVA</a:t>
            </a:r>
            <a:r>
              <a:rPr lang="es-ES" b="1" baseline="0" dirty="0"/>
              <a:t> CLÁSICA</a:t>
            </a:r>
          </a:p>
          <a:p>
            <a:r>
              <a:rPr lang="es-ES" baseline="0" dirty="0"/>
              <a:t>C</a:t>
            </a:r>
            <a:r>
              <a:rPr lang="es-ES" dirty="0"/>
              <a:t>oncepción racionalista donde las organizaciones son concebidas como sistemas cerrados y estructurados por un conjunto de principios de organización, funciones y métodos de producción.</a:t>
            </a:r>
          </a:p>
          <a:p>
            <a:endParaRPr lang="es-ES" dirty="0"/>
          </a:p>
          <a:p>
            <a:r>
              <a:rPr lang="es-ES" dirty="0"/>
              <a:t>Libro de Bachillerato:</a:t>
            </a:r>
          </a:p>
          <a:p>
            <a:endParaRPr lang="es-ES" dirty="0"/>
          </a:p>
          <a:p>
            <a:r>
              <a:rPr lang="es-ES" dirty="0"/>
              <a:t>Cuando hablamos</a:t>
            </a:r>
            <a:r>
              <a:rPr lang="es-ES" baseline="0" dirty="0"/>
              <a:t> de la </a:t>
            </a:r>
            <a:r>
              <a:rPr lang="es-ES" b="1" baseline="0" dirty="0"/>
              <a:t>organización del trabajo</a:t>
            </a:r>
            <a:r>
              <a:rPr lang="es-ES" b="0" baseline="0" dirty="0"/>
              <a:t> nos referimos a un conjunto de normas que tienen como finalidad coordinar todos los medios a disposición de la empresa para que, con los mínimos costes y el mínimo esfuerzo, se obtengan los objetivos previamente marcados.</a:t>
            </a:r>
          </a:p>
          <a:p>
            <a:endParaRPr lang="es-ES" b="1" baseline="0" dirty="0"/>
          </a:p>
          <a:p>
            <a:r>
              <a:rPr lang="es-ES" b="1" baseline="0" dirty="0"/>
              <a:t>Evolución histórica de la organización del trabajo</a:t>
            </a:r>
            <a:endParaRPr lang="es-ES" b="0" baseline="0" dirty="0"/>
          </a:p>
          <a:p>
            <a:r>
              <a:rPr lang="es-ES" b="0" dirty="0"/>
              <a:t>Desde</a:t>
            </a:r>
            <a:r>
              <a:rPr lang="es-ES" b="0" baseline="0" dirty="0"/>
              <a:t> el inicio de la humanidad, las personas nos hemos organizado para poder hacer mejor las tareas. A lo largo de la historia, el individuo ha tenido la necesidad de trabajar junto con los demás y, por tanto, de organizarse. En la Prehistoria, el individuo se organizaba para conseguir alimento; en la Edad Antigua y en la época de las grandes construcciones, como las pirámides, también existía una gran organización para realizarlas. Pero las empresas no tuvieron necesidad de organizar el trabajo hasta el sigo XIX, en la Revolución Industrial, con la finalidad de obtener una mayor productividad.</a:t>
            </a:r>
          </a:p>
          <a:p>
            <a:endParaRPr lang="es-ES" b="0" baseline="0" dirty="0"/>
          </a:p>
          <a:p>
            <a:r>
              <a:rPr lang="es-ES" b="0" baseline="0" dirty="0"/>
              <a:t>Los precursores de las primeras teorías de la organización científica del trabajo fueron, principalmente, Taylor en EEUU y </a:t>
            </a:r>
            <a:r>
              <a:rPr lang="es-ES" b="0" baseline="0" dirty="0" err="1"/>
              <a:t>Fayol</a:t>
            </a:r>
            <a:r>
              <a:rPr lang="es-ES" b="0" baseline="0" dirty="0"/>
              <a:t> en Francia. A partir de sus teorías se han creado escuelas de pensamiento que han estudiado la organización del factor humano en las empresas.</a:t>
            </a:r>
          </a:p>
          <a:p>
            <a:endParaRPr lang="es-ES" b="0" baseline="0" dirty="0"/>
          </a:p>
          <a:p>
            <a:endParaRPr lang="es-ES" b="0"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5</a:t>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6</a:t>
            </a:fld>
            <a:endParaRPr lang="en-US"/>
          </a:p>
        </p:txBody>
      </p:sp>
    </p:spTree>
    <p:extLst>
      <p:ext uri="{BB962C8B-B14F-4D97-AF65-F5344CB8AC3E}">
        <p14:creationId xmlns:p14="http://schemas.microsoft.com/office/powerpoint/2010/main" val="1741020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lstStyle/>
          <a:p>
            <a:pPr marL="0" marR="0" lvl="0" indent="0" algn="l" defTabSz="914400" rtl="0" eaLnBrk="1" fontAlgn="auto" latinLnBrk="0" hangingPunct="0">
              <a:lnSpc>
                <a:spcPct val="100000"/>
              </a:lnSpc>
              <a:spcBef>
                <a:spcPts val="400"/>
              </a:spcBef>
              <a:spcAft>
                <a:spcPts val="0"/>
              </a:spcAft>
              <a:buClrTx/>
              <a:buSzTx/>
              <a:buFontTx/>
              <a:buNone/>
              <a:tabLst/>
              <a:defRPr/>
            </a:pPr>
            <a:endParaRPr lang="es-ES" sz="1200" b="0" i="0" u="none" strike="noStrike" kern="1200" cap="none" spc="0" baseline="0" dirty="0">
              <a:solidFill>
                <a:srgbClr val="000000"/>
              </a:solidFill>
              <a:effectLst/>
              <a:uFillTx/>
              <a:latin typeface="Calibri" pitchFamily="34"/>
            </a:endParaRPr>
          </a:p>
          <a:p>
            <a:pPr marL="0" marR="0" lvl="0" indent="0" algn="l" defTabSz="914400" rtl="0" eaLnBrk="1" fontAlgn="auto" latinLnBrk="0" hangingPunct="0">
              <a:lnSpc>
                <a:spcPct val="100000"/>
              </a:lnSpc>
              <a:spcBef>
                <a:spcPts val="400"/>
              </a:spcBef>
              <a:spcAft>
                <a:spcPts val="0"/>
              </a:spcAft>
              <a:buClrTx/>
              <a:buSzTx/>
              <a:buFontTx/>
              <a:buNone/>
              <a:tabLst/>
              <a:defRPr/>
            </a:pPr>
            <a:endParaRPr lang="es-ES" sz="1200" b="0" i="0" u="none" strike="noStrike" kern="1200" cap="none" spc="0" baseline="0" dirty="0">
              <a:solidFill>
                <a:srgbClr val="000000"/>
              </a:solidFill>
              <a:effectLst/>
              <a:uFillTx/>
              <a:latin typeface="Calibri" pitchFamily="34"/>
            </a:endParaRPr>
          </a:p>
          <a:p>
            <a:pPr marL="0" marR="0" lvl="0" indent="0" algn="l" defTabSz="914400" rtl="0" eaLnBrk="1" fontAlgn="auto" latinLnBrk="0" hangingPunct="0">
              <a:lnSpc>
                <a:spcPct val="100000"/>
              </a:lnSpc>
              <a:spcBef>
                <a:spcPts val="400"/>
              </a:spcBef>
              <a:spcAft>
                <a:spcPts val="0"/>
              </a:spcAft>
              <a:buClrTx/>
              <a:buSzTx/>
              <a:buFontTx/>
              <a:buNone/>
              <a:tabLst/>
              <a:defRPr/>
            </a:pPr>
            <a:endParaRPr lang="es-ES" sz="1200" b="0" i="0" u="none" strike="noStrike" kern="1200" cap="none" spc="0" baseline="0" dirty="0">
              <a:solidFill>
                <a:srgbClr val="000000"/>
              </a:solidFill>
              <a:effectLst/>
              <a:uFillTx/>
              <a:latin typeface="Calibri" pitchFamily="34"/>
            </a:endParaRPr>
          </a:p>
          <a:p>
            <a:pPr marL="0" marR="0" lvl="0" indent="0" algn="l" defTabSz="914400" rtl="0" eaLnBrk="1" fontAlgn="auto" latinLnBrk="0" hangingPunct="0">
              <a:lnSpc>
                <a:spcPct val="100000"/>
              </a:lnSpc>
              <a:spcBef>
                <a:spcPts val="400"/>
              </a:spcBef>
              <a:spcAft>
                <a:spcPts val="0"/>
              </a:spcAft>
              <a:buClrTx/>
              <a:buSzTx/>
              <a:buFontTx/>
              <a:buNone/>
              <a:tabLst/>
              <a:defRPr/>
            </a:pPr>
            <a:r>
              <a:rPr lang="es-ES" sz="1200" b="0" i="0" u="none" strike="noStrike" kern="1200" cap="none" spc="0" baseline="0" dirty="0">
                <a:solidFill>
                  <a:srgbClr val="000000"/>
                </a:solidFill>
                <a:effectLst/>
                <a:uFillTx/>
                <a:latin typeface="Calibri" pitchFamily="34"/>
              </a:rPr>
              <a:t>¿Qué motiva a los empleados para que trabajen a toda su capacidad? Taylor pensaba que el dinero era la respuesta, pues era partidario del sistema individual a destajo como base de la remuneración. Si los trabajadores cumplían con un parámetro de producción estándar, entonces se les pagaba una tasa salarial estándar. Los trabajadores que producían por encima del parámetro percibían una tasa salarial más alta por todas las piezas que producían, y no sólo por aquellas que excedían el parámetro. Taylor suponía que los trabajadores serían racionales en términos económicos; es decir, acatarían las órdenes de la gerencia para producir más en respuesta a los incentivos económicos que les permitirían ganar más dinero</a:t>
            </a:r>
            <a:endParaRPr lang="en-US" sz="1200" b="0" i="0" u="none" strike="noStrike" kern="1200" cap="none" spc="0" baseline="0" dirty="0">
              <a:solidFill>
                <a:srgbClr val="000000"/>
              </a:solidFill>
              <a:effectLst/>
              <a:uFillTx/>
              <a:latin typeface="Calibri" pitchFamily="34"/>
            </a:endParaRPr>
          </a:p>
          <a:p>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7</a:t>
            </a:fld>
            <a:endParaRPr lang="en-US"/>
          </a:p>
        </p:txBody>
      </p:sp>
    </p:spTree>
    <p:extLst>
      <p:ext uri="{BB962C8B-B14F-4D97-AF65-F5344CB8AC3E}">
        <p14:creationId xmlns:p14="http://schemas.microsoft.com/office/powerpoint/2010/main" val="2897782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32500" lnSpcReduction="20000"/>
          </a:bodyPr>
          <a:lstStyle/>
          <a:p>
            <a:r>
              <a:rPr lang="es-ES" dirty="0"/>
              <a:t>Apuntes de Cristina:</a:t>
            </a:r>
          </a:p>
          <a:p>
            <a:endParaRPr lang="es-ES" dirty="0"/>
          </a:p>
          <a:p>
            <a:r>
              <a:rPr lang="es-ES" sz="1000" b="1" kern="1200" dirty="0">
                <a:solidFill>
                  <a:schemeClr val="tx1"/>
                </a:solidFill>
                <a:latin typeface="Arial" pitchFamily="34" charset="0"/>
                <a:ea typeface="+mn-ea"/>
                <a:cs typeface="Arial" pitchFamily="34" charset="0"/>
              </a:rPr>
              <a:t>FREDERICK WINSLOW TAYLOR (1865-1914)</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Ingeniero mecánico, empresario y consultor, a partir de sus experiencias en la industria siderúrgica y metal-mecánica se preocupó de elaborar una propuesta científica sobre un conjunto de principios de organización, de tal modo que permitieran que los trabajos, que desarrollan las persona individualmente o en grupo, se hagan de forma única y de la mejor manera. Su interés principal era incrementar la productividad, traducida en mayores beneficios para los empresarios y de mejores salarios para los trabajadores.</a:t>
            </a:r>
          </a:p>
          <a:p>
            <a:r>
              <a:rPr lang="es-ES" sz="1000" kern="1200" dirty="0">
                <a:solidFill>
                  <a:schemeClr val="tx1"/>
                </a:solidFill>
                <a:latin typeface="Arial" pitchFamily="34" charset="0"/>
                <a:ea typeface="+mn-ea"/>
                <a:cs typeface="Arial" pitchFamily="34" charset="0"/>
              </a:rPr>
              <a:t>Taylor descubrió que los trabajadores, en determinadas ocasiones, evitaban hacer mejor su trabajo, debido a que temían que la dirección pudiera elevar las cuotas de producción sin llegar a verlo reflejado en sus salarios. Además, observó el desperdicio en tiempo y materia prima ocasionada por los obreros en la realización del trabajo, causado porque eran ellos mismos responsables de planificar y ejecutar sus propias tareas, se encargaban de la adecuada producción. </a:t>
            </a:r>
          </a:p>
          <a:p>
            <a:r>
              <a:rPr lang="es-ES" sz="1000" kern="1200" dirty="0">
                <a:solidFill>
                  <a:schemeClr val="tx1"/>
                </a:solidFill>
                <a:latin typeface="Arial" pitchFamily="34" charset="0"/>
                <a:ea typeface="+mn-ea"/>
                <a:cs typeface="Arial" pitchFamily="34" charset="0"/>
              </a:rPr>
              <a:t> </a:t>
            </a:r>
          </a:p>
          <a:p>
            <a:r>
              <a:rPr lang="es-ES" sz="1000" kern="1200" dirty="0">
                <a:solidFill>
                  <a:schemeClr val="tx1"/>
                </a:solidFill>
                <a:latin typeface="Arial" pitchFamily="34" charset="0"/>
                <a:ea typeface="+mn-ea"/>
                <a:cs typeface="Arial" pitchFamily="34" charset="0"/>
              </a:rPr>
              <a:t>En respuesta a las ineficiencias observadas en la industria del acero, Taylor desarrolló la administración científica que no es más que la aplicación del método científico en la labores de administración para llegar a alcanzar los mayores niveles de productividad. En énfasis de la administración científica son las tareas, el método y las herramientas de trabajo. </a:t>
            </a:r>
          </a:p>
          <a:p>
            <a:r>
              <a:rPr lang="es-ES" sz="1000" kern="1200" dirty="0">
                <a:solidFill>
                  <a:schemeClr val="tx1"/>
                </a:solidFill>
                <a:latin typeface="Arial" pitchFamily="34" charset="0"/>
                <a:ea typeface="+mn-ea"/>
                <a:cs typeface="Arial" pitchFamily="34" charset="0"/>
              </a:rPr>
              <a:t> </a:t>
            </a:r>
          </a:p>
          <a:p>
            <a:r>
              <a:rPr lang="es-ES" sz="1000" i="1" kern="1200" dirty="0">
                <a:solidFill>
                  <a:schemeClr val="tx1"/>
                </a:solidFill>
                <a:latin typeface="Arial" pitchFamily="34" charset="0"/>
                <a:ea typeface="+mn-ea"/>
                <a:cs typeface="Arial" pitchFamily="34" charset="0"/>
              </a:rPr>
              <a:t>PRINCIPIOS DE TAYLOR</a:t>
            </a:r>
            <a:endParaRPr lang="es-ES" sz="1000" kern="1200" dirty="0">
              <a:solidFill>
                <a:schemeClr val="tx1"/>
              </a:solidFill>
              <a:latin typeface="Arial" pitchFamily="34" charset="0"/>
              <a:ea typeface="+mn-ea"/>
              <a:cs typeface="Arial" pitchFamily="34" charset="0"/>
            </a:endParaRPr>
          </a:p>
          <a:p>
            <a:pPr lvl="0"/>
            <a:r>
              <a:rPr lang="es-ES" sz="1000" kern="1200" dirty="0">
                <a:solidFill>
                  <a:schemeClr val="tx1"/>
                </a:solidFill>
                <a:latin typeface="Arial" pitchFamily="34" charset="0"/>
                <a:ea typeface="+mn-ea"/>
                <a:cs typeface="Arial" pitchFamily="34" charset="0"/>
              </a:rPr>
              <a:t>Estudio de tiempos: el tiempo es oro, no se desperdicia el tiempo, se utiliza para producir. </a:t>
            </a:r>
          </a:p>
          <a:p>
            <a:pPr lvl="0"/>
            <a:r>
              <a:rPr lang="es-ES" sz="1000" kern="1200" dirty="0">
                <a:solidFill>
                  <a:schemeClr val="tx1"/>
                </a:solidFill>
                <a:latin typeface="Arial" pitchFamily="34" charset="0"/>
                <a:ea typeface="+mn-ea"/>
                <a:cs typeface="Arial" pitchFamily="34" charset="0"/>
              </a:rPr>
              <a:t>Estudio de movimientos: división de tareas, cada trabajador se ocupa de una única tarea, así evita perder tiempo en cambiar de una a otra. Un trabajador ya n realiza múltiples tareas.</a:t>
            </a:r>
          </a:p>
          <a:p>
            <a:pPr lvl="0"/>
            <a:r>
              <a:rPr lang="es-ES" sz="1000" kern="1200" dirty="0">
                <a:solidFill>
                  <a:schemeClr val="tx1"/>
                </a:solidFill>
                <a:latin typeface="Arial" pitchFamily="34" charset="0"/>
                <a:ea typeface="+mn-ea"/>
                <a:cs typeface="Arial" pitchFamily="34" charset="0"/>
              </a:rPr>
              <a:t>Estandarización de herramientas: cada obrero ha de saber perfectamente que es lo que tiene que hacer. Ya no tiene la obligación de pensar qué es lo que tiene que hacer.</a:t>
            </a:r>
          </a:p>
          <a:p>
            <a:pPr lvl="0"/>
            <a:r>
              <a:rPr lang="es-ES" sz="1000" kern="1200" dirty="0">
                <a:solidFill>
                  <a:schemeClr val="tx1"/>
                </a:solidFill>
                <a:latin typeface="Arial" pitchFamily="34" charset="0"/>
                <a:ea typeface="+mn-ea"/>
                <a:cs typeface="Arial" pitchFamily="34" charset="0"/>
              </a:rPr>
              <a:t>Departamento de planificación: tiene que haber un departamento específico que se encargue de dictaminar  las reglas y pautas de trabajo que han de seguir y cumplir los trabajadores.</a:t>
            </a:r>
          </a:p>
          <a:p>
            <a:pPr lvl="0"/>
            <a:r>
              <a:rPr lang="es-ES" sz="1000" kern="1200" dirty="0">
                <a:solidFill>
                  <a:schemeClr val="tx1"/>
                </a:solidFill>
                <a:latin typeface="Arial" pitchFamily="34" charset="0"/>
                <a:ea typeface="+mn-ea"/>
                <a:cs typeface="Arial" pitchFamily="34" charset="0"/>
              </a:rPr>
              <a:t>Tarjeta de enseñanza para los trabajadores: cada trabajador tiene que recibir formación específica sobre cómo realizar su trabajo.</a:t>
            </a:r>
          </a:p>
          <a:p>
            <a:pPr lvl="0"/>
            <a:r>
              <a:rPr lang="es-ES" sz="1000" kern="1200" dirty="0">
                <a:solidFill>
                  <a:schemeClr val="tx1"/>
                </a:solidFill>
                <a:latin typeface="Arial" pitchFamily="34" charset="0"/>
                <a:ea typeface="+mn-ea"/>
                <a:cs typeface="Arial" pitchFamily="34" charset="0"/>
              </a:rPr>
              <a:t>Incentivos por trabajo terminado: Taylor instó a la dirección a distribuir las ganancias de productividad con los empleados, usando el sistema de producción a destajo, de tal forma que, cuando el trabajador alcanzaba o excedía las cuotas, se distribuían con él las ganancias de la empresa</a:t>
            </a:r>
          </a:p>
          <a:p>
            <a:r>
              <a:rPr lang="es-ES" sz="1000" kern="1200" dirty="0">
                <a:solidFill>
                  <a:schemeClr val="tx1"/>
                </a:solidFill>
                <a:latin typeface="Arial" pitchFamily="34" charset="0"/>
                <a:ea typeface="+mn-ea"/>
                <a:cs typeface="Arial" pitchFamily="34" charset="0"/>
              </a:rPr>
              <a:t> </a:t>
            </a:r>
          </a:p>
          <a:p>
            <a:r>
              <a:rPr lang="es-ES" sz="1000" i="1" kern="1200" dirty="0">
                <a:solidFill>
                  <a:schemeClr val="tx1"/>
                </a:solidFill>
                <a:latin typeface="Arial" pitchFamily="34" charset="0"/>
                <a:ea typeface="+mn-ea"/>
                <a:cs typeface="Arial" pitchFamily="34" charset="0"/>
              </a:rPr>
              <a:t>MAYORES CRÍTICAS</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No tiene en cuenta las necesidades de los trabajadores. A menudo implica condiciones de trabajo deshumanizadas, en la que estaban medidos todos los aspectos sobre el esfuerzo del trabajador, prohibiendo iniciativas por parte de los empleados. Además, la dirección científica asumía que los trabajadores no tenían ideas útiles y que sólo la dirección y los expertos eran capaces de aportar buenas ideas e innovaciones.</a:t>
            </a:r>
          </a:p>
          <a:p>
            <a:endParaRPr lang="es-ES" dirty="0"/>
          </a:p>
          <a:p>
            <a:endParaRPr lang="es-ES" dirty="0"/>
          </a:p>
          <a:p>
            <a:r>
              <a:rPr lang="es-ES" dirty="0"/>
              <a:t>Libro de Bachillerato:</a:t>
            </a:r>
          </a:p>
          <a:p>
            <a:r>
              <a:rPr lang="es-ES" dirty="0"/>
              <a:t>Taylor nació</a:t>
            </a:r>
            <a:r>
              <a:rPr lang="es-ES" baseline="0" dirty="0"/>
              <a:t> en la ciudad de </a:t>
            </a:r>
            <a:r>
              <a:rPr lang="es-ES" baseline="0" dirty="0" err="1"/>
              <a:t>Germantown</a:t>
            </a:r>
            <a:r>
              <a:rPr lang="es-ES" baseline="0" dirty="0"/>
              <a:t> (Pensilvania) en 1856 y murió en Filadelfia en 1915. Ingeniero norteamericano, ideó la organización científica del trabajo. </a:t>
            </a:r>
          </a:p>
          <a:p>
            <a:r>
              <a:rPr lang="es-ES" baseline="0" dirty="0"/>
              <a:t>Procedente de una familia acomodada, abandonó sus estudios de Derecho por un problema en la vista y, a partir de 1875, se dedicó a trabajar como obrero en una de las empresas industriales siderúrgicas de filadelfia, donde experimentó sus teorías la dirigir un taller de maquinaria.</a:t>
            </a:r>
          </a:p>
          <a:p>
            <a:endParaRPr lang="es-ES" baseline="0" dirty="0"/>
          </a:p>
          <a:p>
            <a:r>
              <a:rPr lang="es-ES" baseline="0" dirty="0"/>
              <a:t>Sus ideas constituyen la base del taylorismo y se refieren a la producción industrial. Taylor pretendía racionalizar el trabajo, es decir, eliminar los tiempos muertos y marcar los movimientos justos que tenía que hacer cada trabajador con la finalidad de aumentar la productividad.</a:t>
            </a:r>
          </a:p>
          <a:p>
            <a:endParaRPr lang="es-ES" baseline="0" dirty="0"/>
          </a:p>
          <a:p>
            <a:r>
              <a:rPr lang="es-ES" baseline="0" dirty="0"/>
              <a:t>Esta escuela defendía la existencia de una oficina técnica dedicada exclusivamente a organizar las tareas de los trabajadores: estos solo debían cumplir lo que estaba previamente determinado, sin ninguna opción a la creatividad ni a la improvisación.</a:t>
            </a:r>
          </a:p>
          <a:p>
            <a:endParaRPr lang="es-ES" baseline="0" dirty="0"/>
          </a:p>
          <a:p>
            <a:r>
              <a:rPr lang="es-ES" baseline="0" dirty="0"/>
              <a:t>Por otra parte, para incentivar a los trabajadores se proponían unos salarios basados en el rendimiento, de manera que el trabajador que tuviera un rendimiento y un ritmo de actividad más altos obtendría una mejor retribución. </a:t>
            </a:r>
          </a:p>
          <a:p>
            <a:endParaRPr lang="es-ES" baseline="0" dirty="0"/>
          </a:p>
          <a:p>
            <a:r>
              <a:rPr lang="es-ES" baseline="0" dirty="0"/>
              <a:t>Principios fundamentales:</a:t>
            </a:r>
          </a:p>
          <a:p>
            <a:pPr>
              <a:buFont typeface="Arial" pitchFamily="34" charset="0"/>
              <a:buChar char="•"/>
            </a:pPr>
            <a:r>
              <a:rPr lang="es-ES" baseline="0" dirty="0"/>
              <a:t> Análisis y diseño de cargos y tareas.</a:t>
            </a:r>
          </a:p>
          <a:p>
            <a:pPr>
              <a:buFont typeface="Arial" pitchFamily="34" charset="0"/>
              <a:buChar char="•"/>
            </a:pPr>
            <a:r>
              <a:rPr lang="es-ES" baseline="0" dirty="0"/>
              <a:t> Especialización de funciones.</a:t>
            </a:r>
          </a:p>
          <a:p>
            <a:pPr>
              <a:buFont typeface="Arial" pitchFamily="34" charset="0"/>
              <a:buChar char="•"/>
            </a:pPr>
            <a:r>
              <a:rPr lang="es-ES" baseline="0" dirty="0"/>
              <a:t> Descentralización de responsabilidades.</a:t>
            </a:r>
          </a:p>
          <a:p>
            <a:pPr>
              <a:buFont typeface="Arial" pitchFamily="34" charset="0"/>
              <a:buChar char="•"/>
            </a:pPr>
            <a:r>
              <a:rPr lang="es-ES" baseline="0" dirty="0"/>
              <a:t> Racionalización del trabajo, eliminando tiempos ociosos.</a:t>
            </a:r>
          </a:p>
          <a:p>
            <a:pPr>
              <a:buFont typeface="Arial" pitchFamily="34" charset="0"/>
              <a:buChar char="•"/>
            </a:pPr>
            <a:r>
              <a:rPr lang="es-ES" baseline="0" dirty="0"/>
              <a:t> Incentivos salariales, basados en la productividad.</a:t>
            </a:r>
          </a:p>
          <a:p>
            <a:pPr>
              <a:buFont typeface="Arial" pitchFamily="34" charset="0"/>
              <a:buChar char="•"/>
            </a:pPr>
            <a:endParaRPr lang="es-ES" baseline="0" dirty="0"/>
          </a:p>
          <a:p>
            <a:pPr>
              <a:buFont typeface="Arial" pitchFamily="34" charset="0"/>
              <a:buNone/>
            </a:pPr>
            <a:r>
              <a:rPr lang="es-ES" baseline="0" dirty="0"/>
              <a:t>En sus inicios el taylorismo fue bien acogido tanto por los empresarios como por los trabajadores ya que ambos obtenían beneficios. Pero a medida que fue pasando el tiempo, este sistema empezó a resentirse, sobre todo a causa del descontento de los trabajadores, los cuales protestaban por la monotonía del trabajo que les producía cansancio y fatiga.</a:t>
            </a:r>
          </a:p>
          <a:p>
            <a:pPr>
              <a:buFont typeface="Arial" pitchFamily="34" charset="0"/>
              <a:buNone/>
            </a:pPr>
            <a:endParaRPr lang="es-ES" baseline="0" dirty="0"/>
          </a:p>
          <a:p>
            <a:pPr>
              <a:buFont typeface="Arial" pitchFamily="34" charset="0"/>
              <a:buNone/>
            </a:pPr>
            <a:r>
              <a:rPr lang="es-ES" baseline="0" dirty="0"/>
              <a:t>Mientras el gobierno norteamericano investigaba estas quejas, un autor francés, </a:t>
            </a:r>
            <a:r>
              <a:rPr lang="es-ES" baseline="0" dirty="0" err="1"/>
              <a:t>Fayol</a:t>
            </a:r>
            <a:r>
              <a:rPr lang="es-ES" baseline="0" dirty="0"/>
              <a:t>, creaba un sistema de organización del trabajo que interrelacionaba en mayor medida el factor humano y la empresa en su totalidad de manera que ésta no sólo organizaba el trabajo sino la globalidad de la empresa. De esta forma, daba importancia a las diferentes funciones de la empresa y ofrecía pautas para poder organizarlas.</a:t>
            </a:r>
          </a:p>
          <a:p>
            <a:pPr>
              <a:buFont typeface="Arial" pitchFamily="34" charset="0"/>
              <a:buNone/>
            </a:pPr>
            <a:endParaRPr lang="es-ES" baseline="0" dirty="0"/>
          </a:p>
          <a:p>
            <a:pPr>
              <a:buFont typeface="Arial" pitchFamily="34" charset="0"/>
              <a:buNone/>
            </a:pPr>
            <a:r>
              <a:rPr lang="es-ES" baseline="0" dirty="0" err="1"/>
              <a:t>Fayol</a:t>
            </a:r>
            <a:r>
              <a:rPr lang="es-ES" baseline="0" dirty="0"/>
              <a:t> remarcaba la necesidad de una estructura jerarquizada en la que se admitiese la unidad de mando, es decir, en la que cada persona dependiera de un único superior. Para </a:t>
            </a:r>
            <a:r>
              <a:rPr lang="es-ES" baseline="0" dirty="0" err="1"/>
              <a:t>Fayol</a:t>
            </a:r>
            <a:r>
              <a:rPr lang="es-ES" baseline="0" dirty="0"/>
              <a:t>, la función más importante era la administración, ya que consideraba que de ella dependían todas las demás funciones de la empresa.</a:t>
            </a:r>
          </a:p>
          <a:p>
            <a:pPr>
              <a:buFont typeface="Arial" pitchFamily="34" charset="0"/>
              <a:buNone/>
            </a:pPr>
            <a:endParaRPr lang="es-ES" baseline="0" dirty="0"/>
          </a:p>
          <a:p>
            <a:pPr>
              <a:buFont typeface="Arial" pitchFamily="34" charset="0"/>
              <a:buNone/>
            </a:pPr>
            <a:r>
              <a:rPr lang="es-ES" baseline="0" dirty="0"/>
              <a:t>Los principio de </a:t>
            </a:r>
            <a:r>
              <a:rPr lang="es-ES" baseline="0" dirty="0" err="1"/>
              <a:t>Fayol</a:t>
            </a:r>
            <a:r>
              <a:rPr lang="es-ES" baseline="0" dirty="0"/>
              <a:t> del modelo de relaciones dentro de la empresa son:</a:t>
            </a:r>
          </a:p>
          <a:p>
            <a:pPr>
              <a:buFont typeface="Arial" pitchFamily="34" charset="0"/>
              <a:buChar char="•"/>
            </a:pPr>
            <a:r>
              <a:rPr lang="es-ES" baseline="0" dirty="0"/>
              <a:t> División del trabajo.</a:t>
            </a:r>
          </a:p>
          <a:p>
            <a:pPr lvl="1">
              <a:buFont typeface="Arial" pitchFamily="34" charset="0"/>
              <a:buChar char="•"/>
            </a:pPr>
            <a:r>
              <a:rPr lang="es-ES" baseline="0" dirty="0"/>
              <a:t> </a:t>
            </a:r>
            <a:r>
              <a:rPr lang="es-ES" baseline="0" dirty="0" err="1"/>
              <a:t>Fayol</a:t>
            </a:r>
            <a:r>
              <a:rPr lang="es-ES" baseline="0" dirty="0"/>
              <a:t> argumentaba: “el obrero que fabrica todos los días la misma pieza, y el jefe que trata constantemente los mismos negocios, adquieren una habilidad y una seguridad y una precisión que hacen aumentar su rendimiento (…).La división del trabajo permite reducir el número de elementos y temas sobre los cuales se debe prestar atención y esfuerzo. Se reconoce que es el mejor medio para obtener el máximo provecho de los individuos y de las colectividades.</a:t>
            </a:r>
          </a:p>
          <a:p>
            <a:pPr>
              <a:buFont typeface="Arial" pitchFamily="34" charset="0"/>
              <a:buChar char="•"/>
            </a:pPr>
            <a:r>
              <a:rPr lang="es-ES" baseline="0" dirty="0"/>
              <a:t> Jerarquía bien definida.</a:t>
            </a:r>
          </a:p>
          <a:p>
            <a:pPr>
              <a:buFont typeface="Arial" pitchFamily="34" charset="0"/>
              <a:buChar char="•"/>
            </a:pPr>
            <a:r>
              <a:rPr lang="es-ES" baseline="0" dirty="0"/>
              <a:t> Unidad de mando y dirección.</a:t>
            </a:r>
          </a:p>
          <a:p>
            <a:pPr>
              <a:buFont typeface="Arial" pitchFamily="34" charset="0"/>
              <a:buChar char="•"/>
            </a:pPr>
            <a:r>
              <a:rPr lang="es-ES" baseline="0" dirty="0"/>
              <a:t> Remuneración equitativa y satisfactoria.</a:t>
            </a:r>
          </a:p>
          <a:p>
            <a:pPr>
              <a:buFont typeface="Arial" pitchFamily="34" charset="0"/>
              <a:buChar char="•"/>
            </a:pPr>
            <a:r>
              <a:rPr lang="es-ES" baseline="0" dirty="0"/>
              <a:t> Equilibrio entre autoridad y responsabilidad.</a:t>
            </a:r>
          </a:p>
          <a:p>
            <a:pPr>
              <a:buFont typeface="Arial" pitchFamily="34" charset="0"/>
              <a:buNone/>
            </a:pPr>
            <a:endParaRPr lang="es-ES" baseline="0" dirty="0"/>
          </a:p>
          <a:p>
            <a:pPr>
              <a:buFont typeface="Arial" pitchFamily="34" charset="0"/>
              <a:buNone/>
            </a:pPr>
            <a:r>
              <a:rPr lang="es-ES" baseline="0" dirty="0"/>
              <a:t>Libro de </a:t>
            </a:r>
            <a:r>
              <a:rPr lang="es-ES" baseline="0" dirty="0" err="1"/>
              <a:t>Robbins</a:t>
            </a:r>
            <a:r>
              <a:rPr lang="es-ES" baseline="0" dirty="0"/>
              <a:t>:</a:t>
            </a:r>
          </a:p>
          <a:p>
            <a:pPr>
              <a:buFont typeface="Arial" pitchFamily="34" charset="0"/>
              <a:buNone/>
            </a:pPr>
            <a:endParaRPr lang="es-ES" baseline="0" dirty="0"/>
          </a:p>
          <a:p>
            <a:r>
              <a:rPr lang="es-ES" sz="1000" kern="1200" baseline="0" dirty="0">
                <a:solidFill>
                  <a:schemeClr val="tx1"/>
                </a:solidFill>
                <a:latin typeface="Arial" pitchFamily="34" charset="0"/>
                <a:ea typeface="+mn-ea"/>
                <a:cs typeface="Arial" pitchFamily="34" charset="0"/>
              </a:rPr>
              <a:t>Aunque hemos visto cómo desde la antigüedad se ha utilizado la administración en tareas organizadas, el estudio formal de la administración comenzó a principios del siglo XX. Estos primeros estudios, descritos como el </a:t>
            </a:r>
            <a:r>
              <a:rPr lang="es-ES" sz="1000" b="1" kern="1200" baseline="0" dirty="0">
                <a:solidFill>
                  <a:schemeClr val="tx1"/>
                </a:solidFill>
                <a:latin typeface="Arial" pitchFamily="34" charset="0"/>
                <a:ea typeface="+mn-ea"/>
                <a:cs typeface="Arial" pitchFamily="34" charset="0"/>
              </a:rPr>
              <a:t>enfoque clásico</a:t>
            </a:r>
            <a:r>
              <a:rPr lang="es-ES" sz="1000" b="0" kern="1200" baseline="0" dirty="0">
                <a:solidFill>
                  <a:schemeClr val="tx1"/>
                </a:solidFill>
                <a:latin typeface="Arial" pitchFamily="34" charset="0"/>
                <a:ea typeface="+mn-ea"/>
                <a:cs typeface="Arial" pitchFamily="34" charset="0"/>
              </a:rPr>
              <a:t>, enfatizaron tanto la racionalidad</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como el hacer que las organizaciones y los trabajadores fuesen lo más eficientes posible. Dos teorías principales constituyen el enfoque clásico: la administración científica y la administración general.</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ADMINISTRACIÓN CIENTÍFICA</a:t>
            </a:r>
          </a:p>
          <a:p>
            <a:r>
              <a:rPr lang="es-ES" sz="1000" kern="1200" baseline="0" dirty="0">
                <a:solidFill>
                  <a:schemeClr val="tx1"/>
                </a:solidFill>
                <a:latin typeface="Arial" pitchFamily="34" charset="0"/>
                <a:ea typeface="+mn-ea"/>
                <a:cs typeface="Arial" pitchFamily="34" charset="0"/>
              </a:rPr>
              <a:t>Si tuviera que precisar cuándo nació la teoría de la administración moderna, tal vez 1911 sería una buena elección, año en que se publicó </a:t>
            </a:r>
            <a:r>
              <a:rPr lang="es-ES" sz="1000" i="1" kern="1200" baseline="0" dirty="0">
                <a:solidFill>
                  <a:schemeClr val="tx1"/>
                </a:solidFill>
                <a:latin typeface="Arial" pitchFamily="34" charset="0"/>
                <a:ea typeface="+mn-ea"/>
                <a:cs typeface="Arial" pitchFamily="34" charset="0"/>
              </a:rPr>
              <a:t>Principios de la administración científica (</a:t>
            </a:r>
            <a:r>
              <a:rPr lang="es-ES" sz="1000" i="1" kern="1200" baseline="0" dirty="0" err="1">
                <a:solidFill>
                  <a:schemeClr val="tx1"/>
                </a:solidFill>
                <a:latin typeface="Arial" pitchFamily="34" charset="0"/>
                <a:ea typeface="+mn-ea"/>
                <a:cs typeface="Arial" pitchFamily="34" charset="0"/>
              </a:rPr>
              <a:t>Principles</a:t>
            </a:r>
            <a:r>
              <a:rPr lang="es-ES" sz="1000" i="1" kern="1200" baseline="0" dirty="0">
                <a:solidFill>
                  <a:schemeClr val="tx1"/>
                </a:solidFill>
                <a:latin typeface="Arial" pitchFamily="34" charset="0"/>
                <a:ea typeface="+mn-ea"/>
                <a:cs typeface="Arial" pitchFamily="34" charset="0"/>
              </a:rPr>
              <a:t> of </a:t>
            </a:r>
            <a:r>
              <a:rPr lang="es-ES" sz="1000" i="1" kern="1200" baseline="0" dirty="0" err="1">
                <a:solidFill>
                  <a:schemeClr val="tx1"/>
                </a:solidFill>
                <a:latin typeface="Arial" pitchFamily="34" charset="0"/>
                <a:ea typeface="+mn-ea"/>
                <a:cs typeface="Arial" pitchFamily="34" charset="0"/>
              </a:rPr>
              <a:t>Scientific</a:t>
            </a:r>
            <a:r>
              <a:rPr lang="es-ES" sz="1000" i="1" kern="1200" baseline="0" dirty="0">
                <a:solidFill>
                  <a:schemeClr val="tx1"/>
                </a:solidFill>
                <a:latin typeface="Arial" pitchFamily="34" charset="0"/>
                <a:ea typeface="+mn-ea"/>
                <a:cs typeface="Arial" pitchFamily="34" charset="0"/>
              </a:rPr>
              <a:t> Management) de Frederick </a:t>
            </a:r>
            <a:r>
              <a:rPr lang="es-ES" sz="1000" i="1" kern="1200" baseline="0" dirty="0" err="1">
                <a:solidFill>
                  <a:schemeClr val="tx1"/>
                </a:solidFill>
                <a:latin typeface="Arial" pitchFamily="34" charset="0"/>
                <a:ea typeface="+mn-ea"/>
                <a:cs typeface="Arial" pitchFamily="34" charset="0"/>
              </a:rPr>
              <a:t>Winslow</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Su contenido fue extensamente </a:t>
            </a:r>
            <a:r>
              <a:rPr lang="es-ES" sz="1000" kern="1200" baseline="0" dirty="0">
                <a:solidFill>
                  <a:schemeClr val="tx1"/>
                </a:solidFill>
                <a:latin typeface="Arial" pitchFamily="34" charset="0"/>
                <a:ea typeface="+mn-ea"/>
                <a:cs typeface="Arial" pitchFamily="34" charset="0"/>
              </a:rPr>
              <a:t>adoptado por los gerentes de todo el mundo. El libro describía la teoría de la </a:t>
            </a:r>
            <a:r>
              <a:rPr lang="es-ES" sz="1000" b="1" kern="1200" baseline="0" dirty="0">
                <a:solidFill>
                  <a:schemeClr val="tx1"/>
                </a:solidFill>
                <a:latin typeface="Arial" pitchFamily="34" charset="0"/>
                <a:ea typeface="+mn-ea"/>
                <a:cs typeface="Arial" pitchFamily="34" charset="0"/>
              </a:rPr>
              <a:t>administración científica: el uso de métodos científicos para definir "la mejor forma" de realizar un trabajo</a:t>
            </a:r>
            <a:r>
              <a:rPr lang="es-ES" sz="1000" kern="1200" baseline="0" dirty="0">
                <a:solidFill>
                  <a:schemeClr val="tx1"/>
                </a:solidFill>
                <a:latin typeface="Arial" pitchFamily="34" charset="0"/>
                <a:ea typeface="+mn-ea"/>
                <a:cs typeface="Arial" pitchFamily="34" charset="0"/>
              </a:rPr>
              <a:t>. Veamos con más detenimiento lo que hicieron Taylor y otros investigadores de la administración científica.</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Frederick W. Taylor. Taylor trabajó en las empresas </a:t>
            </a:r>
            <a:r>
              <a:rPr lang="es-ES" sz="1000" b="1" kern="1200" baseline="0" dirty="0" err="1">
                <a:solidFill>
                  <a:schemeClr val="tx1"/>
                </a:solidFill>
                <a:latin typeface="Arial" pitchFamily="34" charset="0"/>
                <a:ea typeface="+mn-ea"/>
                <a:cs typeface="Arial" pitchFamily="34" charset="0"/>
              </a:rPr>
              <a:t>Midvale</a:t>
            </a:r>
            <a:r>
              <a:rPr lang="es-ES" sz="1000" b="1" kern="1200" baseline="0" dirty="0">
                <a:solidFill>
                  <a:schemeClr val="tx1"/>
                </a:solidFill>
                <a:latin typeface="Arial" pitchFamily="34" charset="0"/>
                <a:ea typeface="+mn-ea"/>
                <a:cs typeface="Arial" pitchFamily="34" charset="0"/>
              </a:rPr>
              <a:t> y </a:t>
            </a:r>
            <a:r>
              <a:rPr lang="es-ES" sz="1000" b="1" kern="1200" baseline="0" dirty="0" err="1">
                <a:solidFill>
                  <a:schemeClr val="tx1"/>
                </a:solidFill>
                <a:latin typeface="Arial" pitchFamily="34" charset="0"/>
                <a:ea typeface="+mn-ea"/>
                <a:cs typeface="Arial" pitchFamily="34" charset="0"/>
              </a:rPr>
              <a:t>Bethlehem</a:t>
            </a:r>
            <a:r>
              <a:rPr lang="es-ES" sz="1000" b="1" kern="1200" baseline="0" dirty="0">
                <a:solidFill>
                  <a:schemeClr val="tx1"/>
                </a:solidFill>
                <a:latin typeface="Arial" pitchFamily="34" charset="0"/>
                <a:ea typeface="+mn-ea"/>
                <a:cs typeface="Arial" pitchFamily="34" charset="0"/>
              </a:rPr>
              <a:t> </a:t>
            </a:r>
            <a:r>
              <a:rPr lang="es-ES" sz="1000" b="1" kern="1200" baseline="0" dirty="0" err="1">
                <a:solidFill>
                  <a:schemeClr val="tx1"/>
                </a:solidFill>
                <a:latin typeface="Arial" pitchFamily="34" charset="0"/>
                <a:ea typeface="+mn-ea"/>
                <a:cs typeface="Arial" pitchFamily="34" charset="0"/>
              </a:rPr>
              <a:t>Steel</a:t>
            </a:r>
            <a:r>
              <a:rPr lang="es-ES" sz="1000" b="1" kern="1200" baseline="0" dirty="0">
                <a:solidFill>
                  <a:schemeClr val="tx1"/>
                </a:solidFill>
                <a:latin typeface="Arial" pitchFamily="34" charset="0"/>
                <a:ea typeface="+mn-ea"/>
                <a:cs typeface="Arial" pitchFamily="34" charset="0"/>
              </a:rPr>
              <a:t> en Pennsylvania. </a:t>
            </a:r>
            <a:r>
              <a:rPr lang="es-ES" sz="1000" kern="1200" baseline="0" dirty="0">
                <a:solidFill>
                  <a:schemeClr val="tx1"/>
                </a:solidFill>
                <a:latin typeface="Arial" pitchFamily="34" charset="0"/>
                <a:ea typeface="+mn-ea"/>
                <a:cs typeface="Arial" pitchFamily="34" charset="0"/>
              </a:rPr>
              <a:t>Como ingeniero mecánico con una formación cuáquera y puritana, continuamente se horrorizaba con las ineficiencias de los trabajadores. Los empleados utilizaban técnicas muy diferentes para realizar el mismo trabajo. Con frecuencia "tomaban con calma" el trabajo, y Taylor creía que sólo producían alrededor de un tercio de lo que en realidad se podía lograr. Prácticamente no había estándares laborales. A los empleados se les asignaban tareas sin importar que tuvieran o no las habilidades y aptitudes para realizarlas. Taylor se propuso remediar lo anterior aplicando el método científico al trabajo de los obreros. Pasó más de dos décadas buscando intensamente la "mejor forma" de realizar dichos trabajos.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Las experiencias de Taylor en </a:t>
            </a:r>
            <a:r>
              <a:rPr lang="es-ES" sz="1000" kern="1200" baseline="0" dirty="0" err="1">
                <a:solidFill>
                  <a:schemeClr val="tx1"/>
                </a:solidFill>
                <a:latin typeface="Arial" pitchFamily="34" charset="0"/>
                <a:ea typeface="+mn-ea"/>
                <a:cs typeface="Arial" pitchFamily="34" charset="0"/>
              </a:rPr>
              <a:t>Midvale</a:t>
            </a:r>
            <a:r>
              <a:rPr lang="es-ES" sz="1000" kern="1200" baseline="0" dirty="0">
                <a:solidFill>
                  <a:schemeClr val="tx1"/>
                </a:solidFill>
                <a:latin typeface="Arial" pitchFamily="34" charset="0"/>
                <a:ea typeface="+mn-ea"/>
                <a:cs typeface="Arial" pitchFamily="34" charset="0"/>
              </a:rPr>
              <a:t> lo llevaron a definir parámetros claros para mejorar la eficiencia en la producción. Afirmó que estos cuatro principios de administración (vea la figura 2-2) darían como resultado la prosperidad tanto de los trabajadores como de los gerentes. ¿Cómo funcionaban realmente estos principios científicos? Veamos un ejemplo: </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Es probable que el ejemplo más conocido sobre la administración científica de Taylor sea el experimento con lingotes de hierro. Los trabajadores cargaban "lingotes" de hierro (cada uno con un peso de 92 libras) en vagones de ferrocarril. Su producción promedio era de 12.5 toneladas diarias. Sin embargo, Taylor creía que si analizaba científicamente el trabajo para determinar "la mejor forma" de cargar los lingotes de hierro, la producción podría aumentar a 47 o 48 toneladas diarias. Después de aplicar de manera científica distintas combinaciones de procedimientos, técnicas y herramientas, Taylor logró obtener ese nivel de productividad. ¿Cómo? Asignó a la persona correcta el trabajo, le proporcionó las herramientas y el equipo adecuados, hizo que el trabajador siguiera exactamente sus instrucciones y lo motivó con un incentivo económico que representaba un aumento importante en su paga diaria. Con métodos parecidos en los otros trabajos, Taylor pudo definir "la mejor forma" de realizar cada trabajo. En general, Taylor logró mejoras constantes en la productividad del orden de 200 por ciento o más. Basándose en sus estudios vanguardistas sobre el trabajo manual, en los que aplicaba principios científicos, Taylor se ganó el título de "padre" de la administración científica. Sus ideas se difundieron por Estados Unidos y otros países y motivó a otros a estudiar y desarrollar métodos de administración científica. Sus seguidores más prominentes fueron Frank y </a:t>
            </a:r>
            <a:r>
              <a:rPr lang="es-ES" sz="1000" kern="1200" baseline="0" dirty="0" err="1">
                <a:solidFill>
                  <a:schemeClr val="tx1"/>
                </a:solidFill>
                <a:latin typeface="Arial" pitchFamily="34" charset="0"/>
                <a:ea typeface="+mn-ea"/>
                <a:cs typeface="Arial" pitchFamily="34" charset="0"/>
              </a:rPr>
              <a:t>Lillian</a:t>
            </a:r>
            <a:r>
              <a:rPr lang="es-ES" sz="1000" kern="1200" baseline="0" dirty="0">
                <a:solidFill>
                  <a:schemeClr val="tx1"/>
                </a:solidFill>
                <a:latin typeface="Arial" pitchFamily="34" charset="0"/>
                <a:ea typeface="+mn-ea"/>
                <a:cs typeface="Arial" pitchFamily="34" charset="0"/>
              </a:rPr>
              <a:t> </a:t>
            </a:r>
            <a:r>
              <a:rPr lang="es-ES" sz="1000" kern="1200" baseline="0" dirty="0" err="1">
                <a:solidFill>
                  <a:schemeClr val="tx1"/>
                </a:solidFill>
                <a:latin typeface="Arial" pitchFamily="34" charset="0"/>
                <a:ea typeface="+mn-ea"/>
                <a:cs typeface="Arial" pitchFamily="34" charset="0"/>
              </a:rPr>
              <a:t>Gilbreth</a:t>
            </a:r>
            <a:r>
              <a:rPr lang="es-ES" sz="1000" kern="1200" baseline="0" dirty="0">
                <a:solidFill>
                  <a:schemeClr val="tx1"/>
                </a:solidFill>
                <a:latin typeface="Arial" pitchFamily="34" charset="0"/>
                <a:ea typeface="+mn-ea"/>
                <a:cs typeface="Arial" pitchFamily="34" charset="0"/>
              </a:rPr>
              <a:t>.</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Figura 2-2. Principios de la administración científica de Taylor</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Desarrolle una ciencia para cada elemento del trabajo de un individuo para remplazar el antiguo método de la regla del dedo pulgar.</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Seleccione científicamente y luego capacite, enseñe y perfeccione al trabajador.</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Coopere efusivamente con los empleados para asegurarse de que todo el trabajo se haga de acuerdo con los principios de la ciencia que ha desarrollado.</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Divida el trabajo y las responsabilidades de forma casi equitativa entre la administración y los trabajadores. La administración realiza todo el trabajo para el que está mejor capacitada que los trabajadores.</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¿Cómo utilizan los gerentes actuales la administración científica? </a:t>
            </a:r>
            <a:r>
              <a:rPr lang="es-ES" sz="1000" b="0" kern="1200" baseline="0" dirty="0">
                <a:solidFill>
                  <a:schemeClr val="tx1"/>
                </a:solidFill>
                <a:latin typeface="Arial" pitchFamily="34" charset="0"/>
                <a:ea typeface="+mn-ea"/>
                <a:cs typeface="Arial" pitchFamily="34" charset="0"/>
              </a:rPr>
              <a:t>Muchos de los parámetros </a:t>
            </a:r>
            <a:r>
              <a:rPr lang="es-ES" sz="1000" kern="1200" baseline="0" dirty="0">
                <a:solidFill>
                  <a:schemeClr val="tx1"/>
                </a:solidFill>
                <a:latin typeface="Arial" pitchFamily="34" charset="0"/>
                <a:ea typeface="+mn-ea"/>
                <a:cs typeface="Arial" pitchFamily="34" charset="0"/>
              </a:rPr>
              <a:t>y técnicas que idearon Taylor y los </a:t>
            </a:r>
            <a:r>
              <a:rPr lang="es-ES" sz="1000" kern="1200" baseline="0" dirty="0" err="1">
                <a:solidFill>
                  <a:schemeClr val="tx1"/>
                </a:solidFill>
                <a:latin typeface="Arial" pitchFamily="34" charset="0"/>
                <a:ea typeface="+mn-ea"/>
                <a:cs typeface="Arial" pitchFamily="34" charset="0"/>
              </a:rPr>
              <a:t>Gilbreth</a:t>
            </a:r>
            <a:r>
              <a:rPr lang="es-ES" sz="1000" kern="1200" baseline="0" dirty="0">
                <a:solidFill>
                  <a:schemeClr val="tx1"/>
                </a:solidFill>
                <a:latin typeface="Arial" pitchFamily="34" charset="0"/>
                <a:ea typeface="+mn-ea"/>
                <a:cs typeface="Arial" pitchFamily="34" charset="0"/>
              </a:rPr>
              <a:t> para mejorar la eficiencia en la producción aún se utilizan en las organizaciones actuales. Cuando los gerentes analizan las tareas básicas que deben realizarse, utilizan un estudio de tiempos y movimientos para eliminar movimientos inútiles, contratan a los empleados más cualificados para un trabajo, o diseñan sistemas de incentivos basados en resultados, están empleando los principios de la administración científica.</a:t>
            </a:r>
          </a:p>
          <a:p>
            <a:endParaRPr lang="es-ES" dirty="0"/>
          </a:p>
          <a:p>
            <a:endParaRPr lang="es-ES" sz="1000" kern="1200" baseline="0" dirty="0">
              <a:solidFill>
                <a:schemeClr val="tx1"/>
              </a:solidFill>
              <a:latin typeface="Arial" pitchFamily="34" charset="0"/>
              <a:ea typeface="+mn-ea"/>
              <a:cs typeface="Arial" pitchFamily="34" charset="0"/>
            </a:endParaRPr>
          </a:p>
          <a:p>
            <a:endParaRPr lang="es-ES" sz="1000" kern="1200" baseline="0" dirty="0">
              <a:solidFill>
                <a:schemeClr val="tx1"/>
              </a:solidFill>
              <a:latin typeface="Arial" pitchFamily="34" charset="0"/>
              <a:ea typeface="+mn-ea"/>
              <a:cs typeface="Arial" pitchFamily="34" charset="0"/>
            </a:endParaRPr>
          </a:p>
          <a:p>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8</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47500" lnSpcReduction="20000"/>
          </a:bodyPr>
          <a:lstStyle/>
          <a:p>
            <a:pPr marL="0" marR="0" indent="0" algn="just" defTabSz="914400" rtl="0" eaLnBrk="0" fontAlgn="base" latinLnBrk="0" hangingPunct="0">
              <a:lnSpc>
                <a:spcPct val="100000"/>
              </a:lnSpc>
              <a:spcBef>
                <a:spcPct val="30000"/>
              </a:spcBef>
              <a:spcAft>
                <a:spcPct val="0"/>
              </a:spcAft>
              <a:buClrTx/>
              <a:buSzTx/>
              <a:buFontTx/>
              <a:buNone/>
              <a:tabLst/>
              <a:defRPr/>
            </a:pPr>
            <a:r>
              <a:rPr lang="es-ES" dirty="0"/>
              <a:t>Apuntes de Cristina:</a:t>
            </a:r>
          </a:p>
          <a:p>
            <a:endParaRPr lang="es-ES" sz="1000" b="1"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HENRY FAYOL (1814-1925)</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Ingeniero, economista francés, llegó a ser director de la Escuela de Minas de Saint-</a:t>
            </a:r>
            <a:r>
              <a:rPr lang="es-ES" sz="1000" kern="1200" dirty="0" err="1">
                <a:solidFill>
                  <a:schemeClr val="tx1"/>
                </a:solidFill>
                <a:latin typeface="Arial" pitchFamily="34" charset="0"/>
                <a:ea typeface="+mn-ea"/>
                <a:cs typeface="Arial" pitchFamily="34" charset="0"/>
              </a:rPr>
              <a:t>Etienne</a:t>
            </a:r>
            <a:r>
              <a:rPr lang="es-ES" sz="1000" kern="1200" dirty="0">
                <a:solidFill>
                  <a:schemeClr val="tx1"/>
                </a:solidFill>
                <a:latin typeface="Arial" pitchFamily="34" charset="0"/>
                <a:ea typeface="+mn-ea"/>
                <a:cs typeface="Arial" pitchFamily="34" charset="0"/>
              </a:rPr>
              <a:t> y puede ser considerado como el padre de la concepción moderna de la Administración de Empresas.</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Su propuesta se basa en identificar las funciones principales de las organizaciones y de definir los elementos y principios de la función directiva que estructura y racionaliza los procesos administrativos. En enfoque de </a:t>
            </a:r>
            <a:r>
              <a:rPr lang="es-ES" sz="1000" kern="1200" dirty="0" err="1">
                <a:solidFill>
                  <a:schemeClr val="tx1"/>
                </a:solidFill>
                <a:latin typeface="Arial" pitchFamily="34" charset="0"/>
                <a:ea typeface="+mn-ea"/>
                <a:cs typeface="Arial" pitchFamily="34" charset="0"/>
              </a:rPr>
              <a:t>Fayol</a:t>
            </a:r>
            <a:r>
              <a:rPr lang="es-ES" sz="1000" kern="1200" dirty="0">
                <a:solidFill>
                  <a:schemeClr val="tx1"/>
                </a:solidFill>
                <a:latin typeface="Arial" pitchFamily="34" charset="0"/>
                <a:ea typeface="+mn-ea"/>
                <a:cs typeface="Arial" pitchFamily="34" charset="0"/>
              </a:rPr>
              <a:t> presenta un enfoque opuesto al de Taylor, aunque bastante coincidente en sus resultados y en la concepción de la empresa como sistema cerrado. </a:t>
            </a:r>
            <a:r>
              <a:rPr lang="es-ES" sz="1000" kern="1200" dirty="0" err="1">
                <a:solidFill>
                  <a:schemeClr val="tx1"/>
                </a:solidFill>
                <a:latin typeface="Arial" pitchFamily="34" charset="0"/>
                <a:ea typeface="+mn-ea"/>
                <a:cs typeface="Arial" pitchFamily="34" charset="0"/>
              </a:rPr>
              <a:t>Fayol</a:t>
            </a:r>
            <a:r>
              <a:rPr lang="es-ES" sz="1000" kern="1200" dirty="0">
                <a:solidFill>
                  <a:schemeClr val="tx1"/>
                </a:solidFill>
                <a:latin typeface="Arial" pitchFamily="34" charset="0"/>
                <a:ea typeface="+mn-ea"/>
                <a:cs typeface="Arial" pitchFamily="34" charset="0"/>
              </a:rPr>
              <a:t> racionaliza los procesos desde una perspectiva de la alta dirección o de arriba abajo y Taylor desde la contraria, a partir de la base de operaciones o de abajo arriba.</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Fayol codificó los principios generales de la administración que pensó podrían ser aplicados a cualquier organización. Hoy en día muchas organizaciones intentan incorporar los siguientes principios en sus políticas y procedimientos:</a:t>
            </a:r>
          </a:p>
          <a:p>
            <a:pPr marL="171450" lvl="0" indent="-171450">
              <a:buFont typeface="Arial" panose="020B0604020202020204" pitchFamily="34" charset="0"/>
              <a:buChar char="•"/>
            </a:pPr>
            <a:r>
              <a:rPr lang="es-ES" sz="1000" kern="1200" dirty="0">
                <a:solidFill>
                  <a:schemeClr val="tx1"/>
                </a:solidFill>
                <a:latin typeface="Arial" pitchFamily="34" charset="0"/>
                <a:ea typeface="+mn-ea"/>
                <a:cs typeface="Arial" pitchFamily="34" charset="0"/>
              </a:rPr>
              <a:t>Unidad de mando: cada empleado debe ser asignado a un solo supervisor</a:t>
            </a:r>
          </a:p>
          <a:p>
            <a:pPr marL="171450" lvl="0" indent="-171450">
              <a:buFont typeface="Arial" panose="020B0604020202020204" pitchFamily="34" charset="0"/>
              <a:buChar char="•"/>
            </a:pPr>
            <a:r>
              <a:rPr lang="es-ES" sz="1000" kern="1200" dirty="0">
                <a:solidFill>
                  <a:schemeClr val="tx1"/>
                </a:solidFill>
                <a:latin typeface="Arial" pitchFamily="34" charset="0"/>
                <a:ea typeface="+mn-ea"/>
                <a:cs typeface="Arial" pitchFamily="34" charset="0"/>
              </a:rPr>
              <a:t>Unidad de dirección: todos los esfuerzos de los empleados deben estar centrados en alcanzar los objetivos de la organización</a:t>
            </a:r>
          </a:p>
          <a:p>
            <a:pPr marL="171450" lvl="0" indent="-171450">
              <a:buFont typeface="Arial" panose="020B0604020202020204" pitchFamily="34" charset="0"/>
              <a:buChar char="•"/>
            </a:pPr>
            <a:r>
              <a:rPr lang="es-ES" sz="1000" kern="1200" dirty="0">
                <a:solidFill>
                  <a:schemeClr val="tx1"/>
                </a:solidFill>
                <a:latin typeface="Arial" pitchFamily="34" charset="0"/>
                <a:ea typeface="+mn-ea"/>
                <a:cs typeface="Arial" pitchFamily="34" charset="0"/>
              </a:rPr>
              <a:t>Equidad: los empleados deben ser tratados con justicia y respeto</a:t>
            </a:r>
          </a:p>
          <a:p>
            <a:r>
              <a:rPr lang="es-ES" sz="1000" kern="1200" dirty="0">
                <a:solidFill>
                  <a:schemeClr val="tx1"/>
                </a:solidFill>
                <a:latin typeface="Arial" pitchFamily="34" charset="0"/>
                <a:ea typeface="+mn-ea"/>
                <a:cs typeface="Arial" pitchFamily="34" charset="0"/>
              </a:rPr>
              <a:t> </a:t>
            </a:r>
          </a:p>
          <a:p>
            <a:r>
              <a:rPr lang="es-ES" sz="1000" kern="1200" dirty="0">
                <a:solidFill>
                  <a:schemeClr val="tx1"/>
                </a:solidFill>
                <a:latin typeface="Arial" pitchFamily="34" charset="0"/>
                <a:ea typeface="+mn-ea"/>
                <a:cs typeface="Arial" pitchFamily="34" charset="0"/>
              </a:rPr>
              <a:t>Algunos otros principios establecidos por </a:t>
            </a:r>
            <a:r>
              <a:rPr lang="es-ES" sz="1000" kern="1200" dirty="0" err="1">
                <a:solidFill>
                  <a:schemeClr val="tx1"/>
                </a:solidFill>
                <a:latin typeface="Arial" pitchFamily="34" charset="0"/>
                <a:ea typeface="+mn-ea"/>
                <a:cs typeface="Arial" pitchFamily="34" charset="0"/>
              </a:rPr>
              <a:t>Fayol</a:t>
            </a:r>
            <a:r>
              <a:rPr lang="es-ES" sz="1000" kern="1200" dirty="0">
                <a:solidFill>
                  <a:schemeClr val="tx1"/>
                </a:solidFill>
                <a:latin typeface="Arial" pitchFamily="34" charset="0"/>
                <a:ea typeface="+mn-ea"/>
                <a:cs typeface="Arial" pitchFamily="34" charset="0"/>
              </a:rPr>
              <a:t> no han permanecido a lo largo del tiempo. Por ejemplo, su principio sobre el camino de comunicación hacia la dirección venía definido, de forma ascendente, por la cadena de mando, ha sido modificado al señalarse que tanto la comunicación descendente como la horizontal son vías igualmente importantes para la comunicación de una organización. </a:t>
            </a:r>
            <a:r>
              <a:rPr lang="es-ES" sz="1000" kern="1200" dirty="0" err="1">
                <a:solidFill>
                  <a:schemeClr val="tx1"/>
                </a:solidFill>
                <a:latin typeface="Arial" pitchFamily="34" charset="0"/>
                <a:ea typeface="+mn-ea"/>
                <a:cs typeface="Arial" pitchFamily="34" charset="0"/>
              </a:rPr>
              <a:t>Fayol</a:t>
            </a:r>
            <a:r>
              <a:rPr lang="es-ES" sz="1000" kern="1200" dirty="0">
                <a:solidFill>
                  <a:schemeClr val="tx1"/>
                </a:solidFill>
                <a:latin typeface="Arial" pitchFamily="34" charset="0"/>
                <a:ea typeface="+mn-ea"/>
                <a:cs typeface="Arial" pitchFamily="34" charset="0"/>
              </a:rPr>
              <a:t> no podía prever la revolución que ha tenido lugar sobre el trabajador de base de la organización, de tal manera que sus conocimientos son actualmente considerados como una fuente de información crítica y una ventaja competitiva para la toma de decisiones en la organización.</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Libro de </a:t>
            </a:r>
            <a:r>
              <a:rPr lang="es-ES" sz="1000" kern="1200" dirty="0" err="1">
                <a:solidFill>
                  <a:schemeClr val="tx1"/>
                </a:solidFill>
                <a:latin typeface="Arial" pitchFamily="34" charset="0"/>
                <a:ea typeface="+mn-ea"/>
                <a:cs typeface="Arial" pitchFamily="34" charset="0"/>
              </a:rPr>
              <a:t>Robbins</a:t>
            </a:r>
            <a:r>
              <a:rPr lang="es-ES" sz="1000" kern="1200" dirty="0">
                <a:solidFill>
                  <a:schemeClr val="tx1"/>
                </a:solidFill>
                <a:latin typeface="Arial" pitchFamily="34" charset="0"/>
                <a:ea typeface="+mn-ea"/>
                <a:cs typeface="Arial" pitchFamily="34" charset="0"/>
              </a:rPr>
              <a:t>:</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TEORÍA GENERAL DE LA ADMINISTRACIÓN</a:t>
            </a:r>
          </a:p>
          <a:p>
            <a:r>
              <a:rPr lang="es-ES" sz="1000" kern="1200" baseline="0" dirty="0">
                <a:solidFill>
                  <a:schemeClr val="tx1"/>
                </a:solidFill>
                <a:latin typeface="Arial" pitchFamily="34" charset="0"/>
                <a:ea typeface="+mn-ea"/>
                <a:cs typeface="Arial" pitchFamily="34" charset="0"/>
              </a:rPr>
              <a:t>Un grupo de escritores analizaron el tema de la administración desde la perspectiva de la organización como un todo. Este enfoque, conocido como </a:t>
            </a:r>
            <a:r>
              <a:rPr lang="es-ES" sz="1000" b="1" kern="1200" baseline="0" dirty="0">
                <a:solidFill>
                  <a:schemeClr val="tx1"/>
                </a:solidFill>
                <a:latin typeface="Arial" pitchFamily="34" charset="0"/>
                <a:ea typeface="+mn-ea"/>
                <a:cs typeface="Arial" pitchFamily="34" charset="0"/>
              </a:rPr>
              <a:t>teoría general de la administración, </a:t>
            </a:r>
            <a:r>
              <a:rPr lang="es-ES" sz="1000" kern="1200" baseline="0" dirty="0">
                <a:solidFill>
                  <a:schemeClr val="tx1"/>
                </a:solidFill>
                <a:latin typeface="Arial" pitchFamily="34" charset="0"/>
                <a:ea typeface="+mn-ea"/>
                <a:cs typeface="Arial" pitchFamily="34" charset="0"/>
              </a:rPr>
              <a:t>se centra más en lo que hacen los gerentes y en lo que constituye una buena práctica de administración. Los dos individuos más prominentes detrás de la teoría general de la administración fueron Henri </a:t>
            </a:r>
            <a:r>
              <a:rPr lang="es-ES" sz="1000" kern="1200" baseline="0" dirty="0" err="1">
                <a:solidFill>
                  <a:schemeClr val="tx1"/>
                </a:solidFill>
                <a:latin typeface="Arial" pitchFamily="34" charset="0"/>
                <a:ea typeface="+mn-ea"/>
                <a:cs typeface="Arial" pitchFamily="34" charset="0"/>
              </a:rPr>
              <a:t>Fayol</a:t>
            </a:r>
            <a:r>
              <a:rPr lang="es-ES" sz="1000" kern="1200" baseline="0" dirty="0">
                <a:solidFill>
                  <a:schemeClr val="tx1"/>
                </a:solidFill>
                <a:latin typeface="Arial" pitchFamily="34" charset="0"/>
                <a:ea typeface="+mn-ea"/>
                <a:cs typeface="Arial" pitchFamily="34" charset="0"/>
              </a:rPr>
              <a:t> y Max Weber.</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Henri </a:t>
            </a:r>
            <a:r>
              <a:rPr lang="es-ES" sz="1000" b="1" kern="1200" baseline="0" dirty="0" err="1">
                <a:solidFill>
                  <a:schemeClr val="tx1"/>
                </a:solidFill>
                <a:latin typeface="Arial" pitchFamily="34" charset="0"/>
                <a:ea typeface="+mn-ea"/>
                <a:cs typeface="Arial" pitchFamily="34" charset="0"/>
              </a:rPr>
              <a:t>Fayol</a:t>
            </a:r>
            <a:r>
              <a:rPr lang="es-ES" sz="1000" b="1" kern="1200" baseline="0" dirty="0">
                <a:solidFill>
                  <a:schemeClr val="tx1"/>
                </a:solidFill>
                <a:latin typeface="Arial" pitchFamily="34" charset="0"/>
                <a:ea typeface="+mn-ea"/>
                <a:cs typeface="Arial" pitchFamily="34" charset="0"/>
              </a:rPr>
              <a:t>.</a:t>
            </a:r>
            <a:r>
              <a:rPr lang="es-ES" sz="1000" b="0" kern="1200" baseline="0" dirty="0">
                <a:solidFill>
                  <a:schemeClr val="tx1"/>
                </a:solidFill>
                <a:latin typeface="Arial" pitchFamily="34" charset="0"/>
                <a:ea typeface="+mn-ea"/>
                <a:cs typeface="Arial" pitchFamily="34" charset="0"/>
              </a:rPr>
              <a:t> En el capítulo 1 hablamos de </a:t>
            </a:r>
            <a:r>
              <a:rPr lang="es-ES" sz="1000" b="0" kern="1200" baseline="0" dirty="0" err="1">
                <a:solidFill>
                  <a:schemeClr val="tx1"/>
                </a:solidFill>
                <a:latin typeface="Arial" pitchFamily="34" charset="0"/>
                <a:ea typeface="+mn-ea"/>
                <a:cs typeface="Arial" pitchFamily="34" charset="0"/>
              </a:rPr>
              <a:t>Fayol</a:t>
            </a:r>
            <a:r>
              <a:rPr lang="es-ES" sz="1000" b="0" kern="1200" baseline="0" dirty="0">
                <a:solidFill>
                  <a:schemeClr val="tx1"/>
                </a:solidFill>
                <a:latin typeface="Arial" pitchFamily="34" charset="0"/>
                <a:ea typeface="+mn-ea"/>
                <a:cs typeface="Arial" pitchFamily="34" charset="0"/>
              </a:rPr>
              <a:t> debido a que fue el primero en identificar </a:t>
            </a:r>
            <a:r>
              <a:rPr lang="es-ES" sz="1000" kern="1200" baseline="0" dirty="0">
                <a:solidFill>
                  <a:schemeClr val="tx1"/>
                </a:solidFill>
                <a:latin typeface="Arial" pitchFamily="34" charset="0"/>
                <a:ea typeface="+mn-ea"/>
                <a:cs typeface="Arial" pitchFamily="34" charset="0"/>
              </a:rPr>
              <a:t>cinco funciones que desempeñan los gerentes: planean, organizan, mandan, coordinan y controlan. Debido a que sus ideas fueron importantes, analicemos más detalladamente lo que expresó. </a:t>
            </a:r>
          </a:p>
          <a:p>
            <a:endParaRPr lang="es-ES" sz="1000" kern="1200" baseline="0" dirty="0">
              <a:solidFill>
                <a:schemeClr val="tx1"/>
              </a:solidFill>
              <a:latin typeface="Arial" pitchFamily="34" charset="0"/>
              <a:ea typeface="+mn-ea"/>
              <a:cs typeface="Arial" pitchFamily="34" charset="0"/>
            </a:endParaRPr>
          </a:p>
          <a:p>
            <a:r>
              <a:rPr lang="es-ES" sz="1000" kern="1200" baseline="0" dirty="0" err="1">
                <a:solidFill>
                  <a:schemeClr val="tx1"/>
                </a:solidFill>
                <a:latin typeface="Arial" pitchFamily="34" charset="0"/>
                <a:ea typeface="+mn-ea"/>
                <a:cs typeface="Arial" pitchFamily="34" charset="0"/>
              </a:rPr>
              <a:t>Fayol</a:t>
            </a:r>
            <a:r>
              <a:rPr lang="es-ES" sz="1000" kern="1200" baseline="0" dirty="0">
                <a:solidFill>
                  <a:schemeClr val="tx1"/>
                </a:solidFill>
                <a:latin typeface="Arial" pitchFamily="34" charset="0"/>
                <a:ea typeface="+mn-ea"/>
                <a:cs typeface="Arial" pitchFamily="34" charset="0"/>
              </a:rPr>
              <a:t> escribió en la misma época que Taylor. Mientras Taylor se centraba en los gerentes de primera línea y el método científico, la atención de </a:t>
            </a:r>
            <a:r>
              <a:rPr lang="es-ES" sz="1000" kern="1200" baseline="0" dirty="0" err="1">
                <a:solidFill>
                  <a:schemeClr val="tx1"/>
                </a:solidFill>
                <a:latin typeface="Arial" pitchFamily="34" charset="0"/>
                <a:ea typeface="+mn-ea"/>
                <a:cs typeface="Arial" pitchFamily="34" charset="0"/>
              </a:rPr>
              <a:t>Fayol</a:t>
            </a:r>
            <a:r>
              <a:rPr lang="es-ES" sz="1000" kern="1200" baseline="0" dirty="0">
                <a:solidFill>
                  <a:schemeClr val="tx1"/>
                </a:solidFill>
                <a:latin typeface="Arial" pitchFamily="34" charset="0"/>
                <a:ea typeface="+mn-ea"/>
                <a:cs typeface="Arial" pitchFamily="34" charset="0"/>
              </a:rPr>
              <a:t> se dirigía hacia las actividades de </a:t>
            </a:r>
            <a:r>
              <a:rPr lang="es-ES" sz="1000" i="1" kern="1200" baseline="0" dirty="0">
                <a:solidFill>
                  <a:schemeClr val="tx1"/>
                </a:solidFill>
                <a:latin typeface="Arial" pitchFamily="34" charset="0"/>
                <a:ea typeface="+mn-ea"/>
                <a:cs typeface="Arial" pitchFamily="34" charset="0"/>
              </a:rPr>
              <a:t>todos </a:t>
            </a:r>
            <a:r>
              <a:rPr lang="es-ES" sz="1000" i="0" kern="1200" baseline="0" dirty="0">
                <a:solidFill>
                  <a:schemeClr val="tx1"/>
                </a:solidFill>
                <a:latin typeface="Arial" pitchFamily="34" charset="0"/>
                <a:ea typeface="+mn-ea"/>
                <a:cs typeface="Arial" pitchFamily="34" charset="0"/>
              </a:rPr>
              <a:t>los gerentes. Escribía partiendo de su experiencia personal como director general de una gran empresa francesa de minas de carbón.</a:t>
            </a:r>
          </a:p>
          <a:p>
            <a:endParaRPr lang="es-ES" sz="1000" i="0" kern="1200" baseline="0" dirty="0">
              <a:solidFill>
                <a:schemeClr val="tx1"/>
              </a:solidFill>
              <a:latin typeface="Arial" pitchFamily="34" charset="0"/>
              <a:ea typeface="+mn-ea"/>
              <a:cs typeface="Arial" pitchFamily="34" charset="0"/>
            </a:endParaRPr>
          </a:p>
          <a:p>
            <a:r>
              <a:rPr lang="es-ES" sz="1000" kern="1200" baseline="0" dirty="0" err="1">
                <a:solidFill>
                  <a:schemeClr val="tx1"/>
                </a:solidFill>
                <a:latin typeface="Arial" pitchFamily="34" charset="0"/>
                <a:ea typeface="+mn-ea"/>
                <a:cs typeface="Arial" pitchFamily="34" charset="0"/>
              </a:rPr>
              <a:t>Fayol</a:t>
            </a:r>
            <a:r>
              <a:rPr lang="es-ES" sz="1000" kern="1200" baseline="0" dirty="0">
                <a:solidFill>
                  <a:schemeClr val="tx1"/>
                </a:solidFill>
                <a:latin typeface="Arial" pitchFamily="34" charset="0"/>
                <a:ea typeface="+mn-ea"/>
                <a:cs typeface="Arial" pitchFamily="34" charset="0"/>
              </a:rPr>
              <a:t> describió la práctica de la administración como algo diferente a la contabilidad, finanzas, producción, distribución y otras funciones típicas de un negocio. Su creencia de que la administración es una actividad común para todos los negocios, gobiernos e incluso hogares, lo llevaron a desarrollar 14 </a:t>
            </a:r>
            <a:r>
              <a:rPr lang="es-ES" sz="1000" b="1" kern="1200" baseline="0" dirty="0">
                <a:solidFill>
                  <a:schemeClr val="tx1"/>
                </a:solidFill>
                <a:latin typeface="Arial" pitchFamily="34" charset="0"/>
                <a:ea typeface="+mn-ea"/>
                <a:cs typeface="Arial" pitchFamily="34" charset="0"/>
              </a:rPr>
              <a:t>principios de la administración</a:t>
            </a:r>
            <a:r>
              <a:rPr lang="es-ES" sz="1000" b="0" kern="1200" baseline="0" dirty="0">
                <a:solidFill>
                  <a:schemeClr val="tx1"/>
                </a:solidFill>
                <a:latin typeface="Arial" pitchFamily="34" charset="0"/>
                <a:ea typeface="+mn-ea"/>
                <a:cs typeface="Arial" pitchFamily="34" charset="0"/>
              </a:rPr>
              <a:t>; reglas fundamentales</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de administración que podían aplicarse a todas las situaciones de una organización y enseñarse en las escuelas. Estos principios aparecen en la figura 2-3.</a:t>
            </a:r>
            <a:endParaRPr lang="es-ES" sz="1000" kern="1200" dirty="0">
              <a:solidFill>
                <a:schemeClr val="tx1"/>
              </a:solidFill>
              <a:latin typeface="Arial" pitchFamily="34" charset="0"/>
              <a:ea typeface="+mn-ea"/>
              <a:cs typeface="Arial" pitchFamily="34" charset="0"/>
            </a:endParaRPr>
          </a:p>
          <a:p>
            <a:endParaRPr lang="es-ES" dirty="0"/>
          </a:p>
          <a:p>
            <a:r>
              <a:rPr lang="es-ES" dirty="0"/>
              <a:t>Figura 2-3.Los 14 principios de </a:t>
            </a:r>
            <a:r>
              <a:rPr lang="es-ES" dirty="0" err="1"/>
              <a:t>Fayol</a:t>
            </a:r>
            <a:r>
              <a:rPr lang="es-ES" dirty="0"/>
              <a:t> de la Administración</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División del trabajo. La especialización aumenta el rendimiento al hacer más eficientes a los empleados.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Autoridad. Los gerentes deben poder dar órdenes y la autoridad les da este derecho.</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Disciplina. Los empleados deben obedecer y respetar las reglas que rigen a la organización.</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Unidad de mando. Todo empleado debe recibir órdenes de un solo superior.</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Unidad de dirección. La organización debe tener un solo plan de acción para guiar a gerentes y trabajadores.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Subordinación de los intereses individuales al interés general. Los intereses de cualquier empleado o grupo de empleados no deben tener prioridad sobre los intereses de la organización como un todo.</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Remuneración. Los empleados deben recibir un pago justo por sus servicios.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Centralización. Este término se refiere al grado en que los empleados se involucran en la toma de decisiones.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Escalafón. Línea de autoridad desde el gerente de nivel más alto hasta los niveles inferiores.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Orden. Las personas y los materiales deben estar en el lugar y momento adecuados.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Equidad. Los gerentes deben ser amables y justos con sus subordinados.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Estabilidad en los puestos del personal. La administración debe realizar una planeación ordenada del personal y garantizar que hay reemplazos disponibles para las vacantes.</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Iniciativa. Los empleados que tengan permitido originar y llevar a cabo planes, tendrán un mayor nivel de esfuerzo.</a:t>
            </a:r>
          </a:p>
          <a:p>
            <a:pPr marL="228600" indent="-228600">
              <a:buFont typeface="+mj-lt"/>
              <a:buAutoNum type="arabicPeriod"/>
            </a:pPr>
            <a:r>
              <a:rPr lang="es-ES" sz="1000" i="0" kern="1200" baseline="0" dirty="0">
                <a:solidFill>
                  <a:schemeClr val="tx1"/>
                </a:solidFill>
                <a:latin typeface="Arial" pitchFamily="34" charset="0"/>
                <a:ea typeface="+mn-ea"/>
                <a:cs typeface="Arial" pitchFamily="34" charset="0"/>
              </a:rPr>
              <a:t>Espíritu de grupo. Promover el espíritu de equipo generará armonía y unidad dentro de la organización.</a:t>
            </a:r>
            <a:endParaRPr lang="es-ES" i="0"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9</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62500" lnSpcReduction="20000"/>
          </a:bodyPr>
          <a:lstStyle/>
          <a:p>
            <a:pPr marL="0" marR="0" indent="0" algn="just" defTabSz="914400" rtl="0" eaLnBrk="0" fontAlgn="base" latinLnBrk="0" hangingPunct="0">
              <a:lnSpc>
                <a:spcPct val="100000"/>
              </a:lnSpc>
              <a:spcBef>
                <a:spcPct val="30000"/>
              </a:spcBef>
              <a:spcAft>
                <a:spcPct val="0"/>
              </a:spcAft>
              <a:buClrTx/>
              <a:buSzTx/>
              <a:buFontTx/>
              <a:buNone/>
              <a:tabLst/>
              <a:defRPr/>
            </a:pPr>
            <a:r>
              <a:rPr lang="es-ES" dirty="0"/>
              <a:t>Apuntes de Cristina:</a:t>
            </a:r>
          </a:p>
          <a:p>
            <a:endParaRPr lang="es-ES" dirty="0"/>
          </a:p>
          <a:p>
            <a:r>
              <a:rPr lang="es-ES" sz="1000" b="1" kern="1200" dirty="0">
                <a:solidFill>
                  <a:schemeClr val="tx1"/>
                </a:solidFill>
                <a:latin typeface="Arial" pitchFamily="34" charset="0"/>
                <a:ea typeface="+mn-ea"/>
                <a:cs typeface="Arial" pitchFamily="34" charset="0"/>
              </a:rPr>
              <a:t>MAX WEBER (1864-1920)</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Economista y sociólogo alemán, estudió la organización ideal a través de la definición del modelo burocrático. Concibió la burocracia como un sistema cerrado basado en las relaciones de autoridad y en la reglas y procedimientos que regulan el trabajo que desempeñan las personas de forma predictible, racional, competente e impersonal, muy apoyadas en la división del trabajo desarrollada por Adam Smith y en la especialización como tendencias sociales amplias.</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De acuerdo con Weber, la burocracia usa reglas y procesos de toma de decisiones impersonales, más que los lazos familiares o las clases sociales. La dirección burocrática venía a cambiar la noción aristocrática de que la autoridad estaba basada en el nacimiento o en el derecho divino, más que en la competencia. </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Se aplican reglas y procedimientos formales de manera consistente y uniforme, para que tanto clientes como empleados puedan contar con un entorno predecible y racional. Weber se opuso al estilo estereotipado de dirección, por el que los jefes mandaban despóticamente a los subordinados de una forma arbitraria e impredecible. Weber sugirió que una jerarquía bien definida, con líneas claras de relaciones, era el modo más efectivo para mantener la responsabilidad. Por ello, consideraba que la estructura más apropiada era la piramidal, con muchos niveles y con una cadena vertical descendente de mandos. Finalmente, Weber creía firmemente en una carrera basada en los méritos, en competencia con el nepotismo y los contactos familiares.</a:t>
            </a: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Weber estableció una distinción entre “poder”, habilidad para forzar a las personas a obedecer sin tener en cuenta su resistencia y “autoridad”, donde las órdenes las obedecen voluntariamente quiénes las reciben.</a:t>
            </a:r>
          </a:p>
          <a:p>
            <a:endParaRPr lang="es-ES" dirty="0"/>
          </a:p>
          <a:p>
            <a:pPr marL="0" marR="0" indent="0" algn="just" defTabSz="914400" rtl="0" eaLnBrk="0" fontAlgn="base" latinLnBrk="0" hangingPunct="0">
              <a:lnSpc>
                <a:spcPct val="100000"/>
              </a:lnSpc>
              <a:spcBef>
                <a:spcPct val="30000"/>
              </a:spcBef>
              <a:spcAft>
                <a:spcPct val="0"/>
              </a:spcAft>
              <a:buClrTx/>
              <a:buSzTx/>
              <a:buFontTx/>
              <a:buNone/>
              <a:tabLst/>
              <a:defRPr/>
            </a:pPr>
            <a:r>
              <a:rPr lang="es-ES" sz="1000" kern="1200" dirty="0">
                <a:solidFill>
                  <a:schemeClr val="tx1"/>
                </a:solidFill>
                <a:latin typeface="Arial" pitchFamily="34" charset="0"/>
                <a:ea typeface="+mn-ea"/>
                <a:cs typeface="Arial" pitchFamily="34" charset="0"/>
              </a:rPr>
              <a:t>Libro de </a:t>
            </a:r>
            <a:r>
              <a:rPr lang="es-ES" sz="1000" kern="1200" dirty="0" err="1">
                <a:solidFill>
                  <a:schemeClr val="tx1"/>
                </a:solidFill>
                <a:latin typeface="Arial" pitchFamily="34" charset="0"/>
                <a:ea typeface="+mn-ea"/>
                <a:cs typeface="Arial" pitchFamily="34" charset="0"/>
              </a:rPr>
              <a:t>Robbins</a:t>
            </a:r>
            <a:r>
              <a:rPr lang="es-ES" sz="1000" kern="1200" dirty="0">
                <a:solidFill>
                  <a:schemeClr val="tx1"/>
                </a:solidFill>
                <a:latin typeface="Arial" pitchFamily="34" charset="0"/>
                <a:ea typeface="+mn-ea"/>
                <a:cs typeface="Arial" pitchFamily="34" charset="0"/>
              </a:rPr>
              <a:t>:</a:t>
            </a:r>
          </a:p>
          <a:p>
            <a:endParaRPr lang="es-ES" dirty="0"/>
          </a:p>
          <a:p>
            <a:r>
              <a:rPr lang="es-ES" sz="1000" b="1" kern="1200" baseline="0" dirty="0">
                <a:solidFill>
                  <a:schemeClr val="tx1"/>
                </a:solidFill>
                <a:latin typeface="Arial" pitchFamily="34" charset="0"/>
                <a:ea typeface="+mn-ea"/>
                <a:cs typeface="Arial" pitchFamily="34" charset="0"/>
              </a:rPr>
              <a:t>Max Weber. </a:t>
            </a:r>
            <a:r>
              <a:rPr lang="es-ES" sz="1000" b="0" kern="1200" baseline="0" dirty="0">
                <a:solidFill>
                  <a:schemeClr val="tx1"/>
                </a:solidFill>
                <a:latin typeface="Arial" pitchFamily="34" charset="0"/>
                <a:ea typeface="+mn-ea"/>
                <a:cs typeface="Arial" pitchFamily="34" charset="0"/>
              </a:rPr>
              <a:t>El sociólogo alemán Max Weber se dedicó al estudio de las organizaciones. </a:t>
            </a:r>
            <a:r>
              <a:rPr lang="es-ES" sz="1000" kern="1200" baseline="0" dirty="0">
                <a:solidFill>
                  <a:schemeClr val="tx1"/>
                </a:solidFill>
                <a:latin typeface="Arial" pitchFamily="34" charset="0"/>
                <a:ea typeface="+mn-ea"/>
                <a:cs typeface="Arial" pitchFamily="34" charset="0"/>
              </a:rPr>
              <a:t>En sus artículos de principios del siglo XX desarrolló una teoría de estructuras de autoridad y relaciones basadas en un tipo ideal de organización a la cual llamó burocracia; una forma de organización caracterizada por la división del trabajo, una jerarquía claramente definida, normas y reglamentos detallados y relaciones impersonales (vea la figura 2-4).</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Weber reconoció que esta "burocracia ideal" en realidad no existía, sino que pretendía que fuera la base para teorizar sobre cómo se podría realizar un trabajo en grupos grandes. Su teoría se volvió el diseño estructural de muchas organizaciones grandes actuales.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burocracia, como la describió Weber, es muy parecida a la administración científica en cuanto a su ideología. Ambas enfatizan la racionalidad, previsibilidad, impersonalidad, competencia técnica y autoritarismo. Aunque las ideas de Weber eran menos prácticas que las de Taylor, el hecho de que su "tipo ideal" aún describe a muchas empresas contemporáneas, avala la importancia de las ideas de Weber.</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Cómo utilizan los gerentes actuales la teoría general de la administración.</a:t>
            </a:r>
            <a:r>
              <a:rPr lang="es-ES" sz="1000" b="0" kern="1200" baseline="0" dirty="0">
                <a:solidFill>
                  <a:schemeClr val="tx1"/>
                </a:solidFill>
                <a:latin typeface="Arial" pitchFamily="34" charset="0"/>
                <a:ea typeface="+mn-ea"/>
                <a:cs typeface="Arial" pitchFamily="34" charset="0"/>
              </a:rPr>
              <a:t> Muchas de nuestras </a:t>
            </a:r>
            <a:r>
              <a:rPr lang="es-ES" sz="1000" kern="1200" baseline="0" dirty="0">
                <a:solidFill>
                  <a:schemeClr val="tx1"/>
                </a:solidFill>
                <a:latin typeface="Arial" pitchFamily="34" charset="0"/>
                <a:ea typeface="+mn-ea"/>
                <a:cs typeface="Arial" pitchFamily="34" charset="0"/>
              </a:rPr>
              <a:t>ideas y prácticas actuales sobre administración pueden atribuirse directamente a las contribuciones de la teoría general de la administración. Por ejemplo, el punto de vista funcional del trabajo de un gerente puede atribuirse a </a:t>
            </a:r>
            <a:r>
              <a:rPr lang="es-ES" sz="1000" kern="1200" baseline="0" dirty="0" err="1">
                <a:solidFill>
                  <a:schemeClr val="tx1"/>
                </a:solidFill>
                <a:latin typeface="Arial" pitchFamily="34" charset="0"/>
                <a:ea typeface="+mn-ea"/>
                <a:cs typeface="Arial" pitchFamily="34" charset="0"/>
              </a:rPr>
              <a:t>Fayol</a:t>
            </a:r>
            <a:r>
              <a:rPr lang="es-ES" sz="1000" kern="1200" baseline="0" dirty="0">
                <a:solidFill>
                  <a:schemeClr val="tx1"/>
                </a:solidFill>
                <a:latin typeface="Arial" pitchFamily="34" charset="0"/>
                <a:ea typeface="+mn-ea"/>
                <a:cs typeface="Arial" pitchFamily="34" charset="0"/>
              </a:rPr>
              <a:t>. Además, sus 14 principios sirven como marco de referencia a partir del cual muchos conceptos de administración de hoy en día, como autoridad gerencial, toma de decisiones centralizada, reportar a un solo jefe, etcétera, han evolucionado.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burocracia de Weber fue un intento de formular un prototipo ideal para las organizaciones. Aunque muchas de las características de la burocracia de Weber aún son evidentes en organizaciones grandes, actualmente su modelo no es tan popular como lo fue en el siglo XX. Muchos gerentes creen que una estructura burocrática dificulta la creatividad individual de los empleados y limita la capacidad de una organización para responder rápidamente a un entorno cada vez más dinámico. Sin embargo, incluso en organizaciones flexibles de profesionales creativos, como Microsoft, Samsung, General Electric y Cisco </a:t>
            </a:r>
            <a:r>
              <a:rPr lang="es-ES" sz="1000" kern="1200" baseline="0" dirty="0" err="1">
                <a:solidFill>
                  <a:schemeClr val="tx1"/>
                </a:solidFill>
                <a:latin typeface="Arial" pitchFamily="34" charset="0"/>
                <a:ea typeface="+mn-ea"/>
                <a:cs typeface="Arial" pitchFamily="34" charset="0"/>
              </a:rPr>
              <a:t>Systems</a:t>
            </a:r>
            <a:r>
              <a:rPr lang="es-ES" sz="1000" kern="1200" baseline="0" dirty="0">
                <a:solidFill>
                  <a:schemeClr val="tx1"/>
                </a:solidFill>
                <a:latin typeface="Arial" pitchFamily="34" charset="0"/>
                <a:ea typeface="+mn-ea"/>
                <a:cs typeface="Arial" pitchFamily="34" charset="0"/>
              </a:rPr>
              <a:t>, se necesitan mecanismos burocráticos para garantizar que los recursos se utilicen eficiente y eficazmente.</a:t>
            </a:r>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10</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11</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32500" lnSpcReduction="20000"/>
          </a:bodyPr>
          <a:lstStyle/>
          <a:p>
            <a:pPr marL="171450" indent="-171450">
              <a:buFont typeface="Arial" panose="020B0604020202020204" pitchFamily="34" charset="0"/>
              <a:buChar char="•"/>
            </a:pPr>
            <a:r>
              <a:rPr lang="es-ES" dirty="0"/>
              <a:t>https://www.youtube.com/watch?time_continue=132&amp;v=ji5wVV3Kxfs </a:t>
            </a:r>
            <a:r>
              <a:rPr lang="es-ES" dirty="0">
                <a:sym typeface="Wingdings" panose="05000000000000000000" pitchFamily="2" charset="2"/>
              </a:rPr>
              <a:t></a:t>
            </a:r>
            <a:r>
              <a:rPr lang="es-ES" b="1" dirty="0">
                <a:sym typeface="Wingdings" panose="05000000000000000000" pitchFamily="2" charset="2"/>
              </a:rPr>
              <a:t> poner en clase???</a:t>
            </a:r>
          </a:p>
          <a:p>
            <a:pPr marL="171450" indent="-171450">
              <a:buFont typeface="Arial" panose="020B0604020202020204" pitchFamily="34" charset="0"/>
              <a:buChar char="•"/>
            </a:pPr>
            <a:r>
              <a:rPr lang="es-ES" b="0" dirty="0"/>
              <a:t>Conclusiones del experimento: https://www.youtube.com/watch?v=Y79VOWkGeA4 </a:t>
            </a:r>
          </a:p>
          <a:p>
            <a:pPr marL="171450" indent="-171450">
              <a:buFont typeface="Arial" panose="020B0604020202020204" pitchFamily="34" charset="0"/>
              <a:buChar char="•"/>
            </a:pPr>
            <a:r>
              <a:rPr lang="es-ES" dirty="0"/>
              <a:t>Vídeo El experimento de Hawthorne y las Relaciones Humanas - Elton Mayo: https://www.youtube.com/watch?time_continue=384&amp;v=vWfDxy4iB3Y</a:t>
            </a:r>
          </a:p>
          <a:p>
            <a:pPr marL="171450" indent="-171450">
              <a:buFont typeface="Arial" panose="020B0604020202020204" pitchFamily="34" charset="0"/>
              <a:buChar char="•"/>
            </a:pPr>
            <a:r>
              <a:rPr lang="es-ES" dirty="0"/>
              <a:t>Pequeño documental: https://www.youtube.com/watch?time_continue=68&amp;v=VlN8gWelzsA</a:t>
            </a:r>
          </a:p>
          <a:p>
            <a:pPr marL="171450" indent="-171450">
              <a:buFont typeface="Arial" panose="020B0604020202020204" pitchFamily="34" charset="0"/>
              <a:buChar char="•"/>
            </a:pPr>
            <a:r>
              <a:rPr lang="es-ES" dirty="0"/>
              <a:t>https://www.youtube.com/watch?v=TvY4_iuzRIc</a:t>
            </a:r>
          </a:p>
          <a:p>
            <a:pPr marL="171450" indent="-171450">
              <a:buFont typeface="Arial" panose="020B0604020202020204" pitchFamily="34" charset="0"/>
              <a:buChar char="•"/>
            </a:pPr>
            <a:r>
              <a:rPr lang="es-ES" dirty="0"/>
              <a:t>https://www.youtube.com/watch?v=AatFK7bsAgE</a:t>
            </a:r>
          </a:p>
          <a:p>
            <a:pPr marL="171450" indent="-171450">
              <a:buFont typeface="Arial" panose="020B0604020202020204" pitchFamily="34" charset="0"/>
              <a:buChar char="•"/>
            </a:pPr>
            <a:r>
              <a:rPr lang="es-ES" dirty="0"/>
              <a:t>https://www.youtube.com/watch?v=Hjrf2fcV9W0</a:t>
            </a:r>
          </a:p>
          <a:p>
            <a:pPr marL="171450" indent="-171450">
              <a:buFont typeface="Arial" panose="020B0604020202020204" pitchFamily="34" charset="0"/>
              <a:buChar char="•"/>
            </a:pPr>
            <a:r>
              <a:rPr lang="es-ES" dirty="0"/>
              <a:t>https://www.youtube.com/watch?v=Nf9pk41l4s8</a:t>
            </a:r>
          </a:p>
          <a:p>
            <a:pPr marL="171450" indent="-171450">
              <a:buFont typeface="Arial" panose="020B0604020202020204" pitchFamily="34" charset="0"/>
              <a:buChar char="•"/>
            </a:pPr>
            <a:r>
              <a:rPr lang="es-ES" dirty="0"/>
              <a:t>https://www.youtube.com/watch?v=SMFeMghAYcs</a:t>
            </a:r>
          </a:p>
          <a:p>
            <a:pPr marL="171450" indent="-171450">
              <a:buFont typeface="Arial" panose="020B0604020202020204" pitchFamily="34" charset="0"/>
              <a:buChar char="•"/>
            </a:pPr>
            <a:r>
              <a:rPr lang="es-ES" dirty="0"/>
              <a:t>https://www.youtube.com/watch?time_continue=92&amp;v=WA492GD4KnE</a:t>
            </a:r>
          </a:p>
          <a:p>
            <a:pPr marL="171450" indent="-171450">
              <a:buFont typeface="Arial" panose="020B0604020202020204" pitchFamily="34" charset="0"/>
              <a:buChar char="•"/>
            </a:pPr>
            <a:r>
              <a:rPr lang="es-ES" dirty="0"/>
              <a:t>https://www.youtube.com/watch?time_continue=151&amp;v=X7F5I950XzQ</a:t>
            </a:r>
          </a:p>
          <a:p>
            <a:pPr marL="171450" indent="-171450">
              <a:buFont typeface="Arial" panose="020B0604020202020204" pitchFamily="34" charset="0"/>
              <a:buChar char="•"/>
            </a:pPr>
            <a:r>
              <a:rPr lang="es-ES" dirty="0"/>
              <a:t>https://www.youtube.com/watch?time_continue=149&amp;v=iriASa0qSAM</a:t>
            </a:r>
          </a:p>
          <a:p>
            <a:pPr marL="171450" indent="-171450">
              <a:buFont typeface="Arial" panose="020B0604020202020204" pitchFamily="34" charset="0"/>
              <a:buChar char="•"/>
            </a:pPr>
            <a:r>
              <a:rPr lang="es-ES" dirty="0"/>
              <a:t>https://www.youtube.com/watch?time_continue=2&amp;v=QR4PqBI5ZfI</a:t>
            </a:r>
          </a:p>
          <a:p>
            <a:pPr marL="171450" indent="-171450">
              <a:buFont typeface="Arial" panose="020B0604020202020204" pitchFamily="34" charset="0"/>
              <a:buChar char="•"/>
            </a:pPr>
            <a:r>
              <a:rPr lang="es-ES" dirty="0"/>
              <a:t>https://www.youtube.com/watch?time_continue=45&amp;v=7zDfAi1w1zI</a:t>
            </a:r>
          </a:p>
          <a:p>
            <a:pPr marL="171450" indent="-171450">
              <a:buFont typeface="Arial" panose="020B0604020202020204" pitchFamily="34" charset="0"/>
              <a:buChar char="•"/>
            </a:pPr>
            <a:r>
              <a:rPr lang="es-ES" dirty="0"/>
              <a:t>https://www.youtube.com/watch?v=7TcB3-XtBAs</a:t>
            </a:r>
          </a:p>
          <a:p>
            <a:pPr marL="171450" indent="-171450">
              <a:buFont typeface="Arial" panose="020B0604020202020204" pitchFamily="34" charset="0"/>
              <a:buChar char="•"/>
            </a:pPr>
            <a:r>
              <a:rPr lang="es-ES" dirty="0"/>
              <a:t>https://www.youtube.com/watch?time_continue=384&amp;v=vx2j2T-MERU</a:t>
            </a:r>
          </a:p>
          <a:p>
            <a:pPr marL="171450" indent="-171450">
              <a:buFont typeface="Arial" panose="020B0604020202020204" pitchFamily="34" charset="0"/>
              <a:buChar char="•"/>
            </a:pPr>
            <a:endParaRPr lang="es-ES" dirty="0"/>
          </a:p>
          <a:p>
            <a:pPr marL="171450" indent="-171450">
              <a:buFont typeface="Arial" panose="020B0604020202020204" pitchFamily="34" charset="0"/>
              <a:buChar char="•"/>
            </a:pPr>
            <a:endParaRPr lang="es-ES" dirty="0"/>
          </a:p>
          <a:p>
            <a:endParaRPr lang="es-ES" dirty="0"/>
          </a:p>
          <a:p>
            <a:r>
              <a:rPr lang="es-ES" dirty="0"/>
              <a:t>Apuntes de Cristina:</a:t>
            </a:r>
          </a:p>
          <a:p>
            <a:endParaRPr lang="es-ES" dirty="0"/>
          </a:p>
          <a:p>
            <a:r>
              <a:rPr lang="es-ES" sz="1000" b="1" kern="1200" dirty="0">
                <a:solidFill>
                  <a:schemeClr val="tx1"/>
                </a:solidFill>
                <a:latin typeface="Arial" pitchFamily="34" charset="0"/>
                <a:ea typeface="+mn-ea"/>
                <a:cs typeface="Arial" pitchFamily="34" charset="0"/>
              </a:rPr>
              <a:t>ELTON MAYO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Profesor de psicología industrial en Harvard, dirigió durante el periodo de 1927-1932 unos estudios en la planta de Hawthorne (Chicago) de la Western Electric Co., ayudado por otro profesor de, Harvard Fritz </a:t>
            </a:r>
            <a:r>
              <a:rPr lang="es-ES" sz="1000" kern="1200" dirty="0" err="1">
                <a:solidFill>
                  <a:schemeClr val="tx1"/>
                </a:solidFill>
                <a:latin typeface="Arial" pitchFamily="34" charset="0"/>
                <a:ea typeface="+mn-ea"/>
                <a:cs typeface="Arial" pitchFamily="34" charset="0"/>
              </a:rPr>
              <a:t>Roethlisbeger</a:t>
            </a:r>
            <a:r>
              <a:rPr lang="es-ES" sz="1000" kern="1200" dirty="0">
                <a:solidFill>
                  <a:schemeClr val="tx1"/>
                </a:solidFill>
                <a:latin typeface="Arial" pitchFamily="34" charset="0"/>
                <a:ea typeface="+mn-ea"/>
                <a:cs typeface="Arial" pitchFamily="34" charset="0"/>
              </a:rPr>
              <a:t>, para medir los efectos que la iluminación y otras condiciones de trabajo tenían sobre el comportamiento de los trabajadores y su productividad. Su propósito fue estudiar los efectos de las condiciones físicas del trabajo sobre la productividad y la fatiga de los empleados. Sin embargo, encontraron resultados que no podían explicar a priori…</a:t>
            </a:r>
          </a:p>
          <a:p>
            <a:r>
              <a:rPr lang="es-ES" sz="1000" kern="1200" dirty="0">
                <a:solidFill>
                  <a:schemeClr val="tx1"/>
                </a:solidFill>
                <a:latin typeface="Arial" pitchFamily="34" charset="0"/>
                <a:ea typeface="+mn-ea"/>
                <a:cs typeface="Arial" pitchFamily="34" charset="0"/>
              </a:rPr>
              <a:t>El efecto Hawthorne establece que cuando un directivo o un líder muestra interés en sus empleados, su motivación y productividad mejora. También descubrieron que la influencia del grupo podía ser tan significativa como la influencia del supervisor.</a:t>
            </a: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endParaRPr lang="es-ES" dirty="0"/>
          </a:p>
          <a:p>
            <a:r>
              <a:rPr lang="es-ES" dirty="0"/>
              <a:t>Libro de Bachillerato:</a:t>
            </a:r>
          </a:p>
          <a:p>
            <a:r>
              <a:rPr lang="es-ES" dirty="0"/>
              <a:t>A partir de las críticas al taylorismo, entre los</a:t>
            </a:r>
            <a:r>
              <a:rPr lang="es-ES" baseline="0" dirty="0"/>
              <a:t> años 1915 y 1930 se intentaron buscar algunos métodos para solucionar los puntos débiles de este sistema (monotonía en el trabajo y fatiga de los trabajadores). El objetivo era hacer el trabajo más humano. La primera persona que demostró la importancia de las relaciones humanas en la empresa fue Elton Mayo.</a:t>
            </a:r>
          </a:p>
          <a:p>
            <a:endParaRPr lang="es-ES" baseline="0" dirty="0"/>
          </a:p>
          <a:p>
            <a:br>
              <a:rPr lang="es-ES" baseline="0" dirty="0"/>
            </a:br>
            <a:r>
              <a:rPr lang="es-ES" baseline="0" dirty="0"/>
              <a:t>En 1929 realizó una serie de experimentos en la planta de Hawthorne de la compañía Western Electric, C.O. fabricante de material electrónico, que le sirvieron para formular sus teorías. En sus experimentos, al principio Mayo comprobó que los trabajadores aumentaban su rendimiento si se introducía música ambiental durante la jornada laboral, se realizaban descansos y se explicaba a los trabajadores la importancia de su trabajo.</a:t>
            </a:r>
          </a:p>
          <a:p>
            <a:endParaRPr lang="es-ES" baseline="0" dirty="0"/>
          </a:p>
          <a:p>
            <a:r>
              <a:rPr lang="es-ES" baseline="0" dirty="0"/>
              <a:t>Posteriormente, volvió a la situación inicial y observó que la producción seguía aumentando. Entonces llegó a la conclusión de que el aumento de rendimiento había sido consecuencia de la relación de colaboración entre el personal de la planta y de la relación de amistad y convivencia que había surgido entre ellos, incluyendo a los jefes.</a:t>
            </a:r>
          </a:p>
          <a:p>
            <a:endParaRPr lang="es-ES" baseline="0" dirty="0"/>
          </a:p>
          <a:p>
            <a:r>
              <a:rPr lang="es-ES" baseline="0" dirty="0"/>
              <a:t>Libro de </a:t>
            </a:r>
            <a:r>
              <a:rPr lang="es-ES" baseline="0" dirty="0" err="1"/>
              <a:t>Robbins</a:t>
            </a:r>
            <a:r>
              <a:rPr lang="es-ES" baseline="0" dirty="0"/>
              <a:t>:</a:t>
            </a:r>
          </a:p>
          <a:p>
            <a:endParaRPr lang="es-ES" baseline="0" dirty="0"/>
          </a:p>
          <a:p>
            <a:r>
              <a:rPr lang="es-ES" sz="1000" b="1" kern="1200" baseline="0" dirty="0">
                <a:solidFill>
                  <a:schemeClr val="tx1"/>
                </a:solidFill>
                <a:latin typeface="Arial" pitchFamily="34" charset="0"/>
                <a:ea typeface="+mn-ea"/>
                <a:cs typeface="Arial" pitchFamily="34" charset="0"/>
              </a:rPr>
              <a:t>ENFOQUE CONDUCTUAL</a:t>
            </a:r>
          </a:p>
          <a:p>
            <a:r>
              <a:rPr lang="es-ES" sz="1000" kern="1200" baseline="0" dirty="0">
                <a:solidFill>
                  <a:schemeClr val="tx1"/>
                </a:solidFill>
                <a:latin typeface="Arial" pitchFamily="34" charset="0"/>
                <a:ea typeface="+mn-ea"/>
                <a:cs typeface="Arial" pitchFamily="34" charset="0"/>
              </a:rPr>
              <a:t>Como sabemos, los gerentes logran que las cosas se hagan, trabajando con personas. Esto explica por qué algunos autores han elegido analizar la administración enfocándose en la gente de una organización. Al campo de estudio que investiga las acciones (comportamiento) de la gente en el trabajo se le conoce como </a:t>
            </a:r>
            <a:r>
              <a:rPr lang="es-ES" sz="1000" b="1" kern="1200" baseline="0" dirty="0">
                <a:solidFill>
                  <a:schemeClr val="tx1"/>
                </a:solidFill>
                <a:latin typeface="Arial" pitchFamily="34" charset="0"/>
                <a:ea typeface="+mn-ea"/>
                <a:cs typeface="Arial" pitchFamily="34" charset="0"/>
              </a:rPr>
              <a:t>comportamiento organizacional (CO). </a:t>
            </a:r>
            <a:r>
              <a:rPr lang="es-ES" sz="1000" b="0" kern="1200" baseline="0" dirty="0">
                <a:solidFill>
                  <a:schemeClr val="tx1"/>
                </a:solidFill>
                <a:latin typeface="Arial" pitchFamily="34" charset="0"/>
                <a:ea typeface="+mn-ea"/>
                <a:cs typeface="Arial" pitchFamily="34" charset="0"/>
              </a:rPr>
              <a:t>Mucho de lo que hacen los gerentes hoy en día cuando manejan personas (motivar, </a:t>
            </a:r>
            <a:r>
              <a:rPr lang="es-ES" sz="1000" kern="1200" baseline="0" dirty="0">
                <a:solidFill>
                  <a:schemeClr val="tx1"/>
                </a:solidFill>
                <a:latin typeface="Arial" pitchFamily="34" charset="0"/>
                <a:ea typeface="+mn-ea"/>
                <a:cs typeface="Arial" pitchFamily="34" charset="0"/>
              </a:rPr>
              <a:t>ordenar, dar confianza, trabajar con un equipo, manejo de conflictos, etcétera), ha surgido de la investigación del CO.</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PRIMEROS PARTIDARIOS DEL COMPORTAMIENTO ORGANIZACIONAL</a:t>
            </a:r>
          </a:p>
          <a:p>
            <a:r>
              <a:rPr lang="es-ES" sz="1000" kern="1200" baseline="0" dirty="0">
                <a:solidFill>
                  <a:schemeClr val="tx1"/>
                </a:solidFill>
                <a:latin typeface="Arial" pitchFamily="34" charset="0"/>
                <a:ea typeface="+mn-ea"/>
                <a:cs typeface="Arial" pitchFamily="34" charset="0"/>
              </a:rPr>
              <a:t>Aunque algunos individuos de principios del siglo XX reconocieron la importancia de la gente para el éxito de una organización, cuatro sobresalieron como los primeros partidarios del enfoque del CO: Robert Owen, Hugo </a:t>
            </a:r>
            <a:r>
              <a:rPr lang="es-ES" sz="1000" kern="1200" baseline="0" dirty="0" err="1">
                <a:solidFill>
                  <a:schemeClr val="tx1"/>
                </a:solidFill>
                <a:latin typeface="Arial" pitchFamily="34" charset="0"/>
                <a:ea typeface="+mn-ea"/>
                <a:cs typeface="Arial" pitchFamily="34" charset="0"/>
              </a:rPr>
              <a:t>Munsterberg</a:t>
            </a:r>
            <a:r>
              <a:rPr lang="es-ES" sz="1000" kern="1200" baseline="0" dirty="0">
                <a:solidFill>
                  <a:schemeClr val="tx1"/>
                </a:solidFill>
                <a:latin typeface="Arial" pitchFamily="34" charset="0"/>
                <a:ea typeface="+mn-ea"/>
                <a:cs typeface="Arial" pitchFamily="34" charset="0"/>
              </a:rPr>
              <a:t>, Mary Parker </a:t>
            </a:r>
            <a:r>
              <a:rPr lang="es-ES" sz="1000" kern="1200" baseline="0" dirty="0" err="1">
                <a:solidFill>
                  <a:schemeClr val="tx1"/>
                </a:solidFill>
                <a:latin typeface="Arial" pitchFamily="34" charset="0"/>
                <a:ea typeface="+mn-ea"/>
                <a:cs typeface="Arial" pitchFamily="34" charset="0"/>
              </a:rPr>
              <a:t>Follett</a:t>
            </a:r>
            <a:r>
              <a:rPr lang="es-ES" sz="1000" kern="1200" baseline="0" dirty="0">
                <a:solidFill>
                  <a:schemeClr val="tx1"/>
                </a:solidFill>
                <a:latin typeface="Arial" pitchFamily="34" charset="0"/>
                <a:ea typeface="+mn-ea"/>
                <a:cs typeface="Arial" pitchFamily="34" charset="0"/>
              </a:rPr>
              <a:t>, y Chester </a:t>
            </a:r>
            <a:r>
              <a:rPr lang="es-ES" sz="1000" kern="1200" baseline="0" dirty="0" err="1">
                <a:solidFill>
                  <a:schemeClr val="tx1"/>
                </a:solidFill>
                <a:latin typeface="Arial" pitchFamily="34" charset="0"/>
                <a:ea typeface="+mn-ea"/>
                <a:cs typeface="Arial" pitchFamily="34" charset="0"/>
              </a:rPr>
              <a:t>Barnard</a:t>
            </a:r>
            <a:r>
              <a:rPr lang="es-ES" sz="1000" kern="1200" baseline="0" dirty="0">
                <a:solidFill>
                  <a:schemeClr val="tx1"/>
                </a:solidFill>
                <a:latin typeface="Arial" pitchFamily="34" charset="0"/>
                <a:ea typeface="+mn-ea"/>
                <a:cs typeface="Arial" pitchFamily="34" charset="0"/>
              </a:rPr>
              <a:t>. Sus contribuciones fueron diversas y distintas, aun cuando todos creían que la gente era el activo más importante de la organización y debía manejarse como tal. Sus ideas fueron la base para prácticas de administración tales como procedimientos de selección de empleados, programas de motivación y equipos de trabajo. La figura 2-6 resume sus ideas más importantes.</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LOS ESTUDIOS DE HAWTHORNE</a:t>
            </a:r>
          </a:p>
          <a:p>
            <a:r>
              <a:rPr lang="es-ES" sz="1000" kern="1200" baseline="0" dirty="0">
                <a:solidFill>
                  <a:schemeClr val="tx1"/>
                </a:solidFill>
                <a:latin typeface="Arial" pitchFamily="34" charset="0"/>
                <a:ea typeface="+mn-ea"/>
                <a:cs typeface="Arial" pitchFamily="34" charset="0"/>
              </a:rPr>
              <a:t>Sin duda alguna, la contribución más importante al campo del CO provino de los </a:t>
            </a:r>
            <a:r>
              <a:rPr lang="es-ES" sz="1000" b="1" kern="1200" baseline="0" dirty="0">
                <a:solidFill>
                  <a:schemeClr val="tx1"/>
                </a:solidFill>
                <a:latin typeface="Arial" pitchFamily="34" charset="0"/>
                <a:ea typeface="+mn-ea"/>
                <a:cs typeface="Arial" pitchFamily="34" charset="0"/>
              </a:rPr>
              <a:t>estudios de Hawthorne</a:t>
            </a:r>
            <a:r>
              <a:rPr lang="es-ES" sz="1000" b="0" kern="1200" baseline="0" dirty="0">
                <a:solidFill>
                  <a:schemeClr val="tx1"/>
                </a:solidFill>
                <a:latin typeface="Arial" pitchFamily="34" charset="0"/>
                <a:ea typeface="+mn-ea"/>
                <a:cs typeface="Arial" pitchFamily="34" charset="0"/>
              </a:rPr>
              <a:t>, una serie de estudios llevados a cabo en Western Electric </a:t>
            </a:r>
            <a:r>
              <a:rPr lang="es-ES" sz="1000" b="0" kern="1200" baseline="0" dirty="0" err="1">
                <a:solidFill>
                  <a:schemeClr val="tx1"/>
                </a:solidFill>
                <a:latin typeface="Arial" pitchFamily="34" charset="0"/>
                <a:ea typeface="+mn-ea"/>
                <a:cs typeface="Arial" pitchFamily="34" charset="0"/>
              </a:rPr>
              <a:t>Company</a:t>
            </a:r>
            <a:r>
              <a:rPr lang="es-ES" sz="1000" b="0"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Works, en </a:t>
            </a:r>
            <a:r>
              <a:rPr lang="es-ES" sz="1000" kern="1200" baseline="0" dirty="0" err="1">
                <a:solidFill>
                  <a:schemeClr val="tx1"/>
                </a:solidFill>
                <a:latin typeface="Arial" pitchFamily="34" charset="0"/>
                <a:ea typeface="+mn-ea"/>
                <a:cs typeface="Arial" pitchFamily="34" charset="0"/>
              </a:rPr>
              <a:t>Cicero</a:t>
            </a:r>
            <a:r>
              <a:rPr lang="es-ES" sz="1000" kern="1200" baseline="0" dirty="0">
                <a:solidFill>
                  <a:schemeClr val="tx1"/>
                </a:solidFill>
                <a:latin typeface="Arial" pitchFamily="34" charset="0"/>
                <a:ea typeface="+mn-ea"/>
                <a:cs typeface="Arial" pitchFamily="34" charset="0"/>
              </a:rPr>
              <a:t>, Illinois. Estos estudios, los cuales iniciaron en 1924, fueron diseñados en un principio por ingenieros de la industria Western Electric como un experimento de la administración científica. Querían analizar el efecto de varios niveles de iluminación sobre la productividad de los trabajadores. Comió en cualquier buen experimento científico, se establecieron grupos de control y de experimentación. Se expuso al grupo de experimentación a distintas intensidades de iluminación y el grupo de control trabajó bajo una intensidad constante. Si fuera uno de los ingenieros industriales a cargo de este experimento, ¿que hubiera esperado que ocurriera? Es lógico pensar que la producción individual del grupo de experimentación estaría directamente relacionada con la intensidad de la luz. Sin embargo, encontraron que cuando la intensidad de la luz aumentaba en el grupo de experimentación, la producción de ambos grupos aumentaba. Luego, para sorpresa de los ingenieros, cuando la intensidad de la luz bajaba en el grupo de experimentación, la productividad seguía en aumento en ambos grupos. De hecho, </a:t>
            </a:r>
            <a:r>
              <a:rPr lang="es-ES" sz="1000" i="1" kern="1200" baseline="0" dirty="0">
                <a:solidFill>
                  <a:schemeClr val="tx1"/>
                </a:solidFill>
                <a:latin typeface="Arial" pitchFamily="34" charset="0"/>
                <a:ea typeface="+mn-ea"/>
                <a:cs typeface="Arial" pitchFamily="34" charset="0"/>
              </a:rPr>
              <a:t>únicamente </a:t>
            </a:r>
            <a:r>
              <a:rPr lang="es-ES" sz="1000" i="0" kern="1200" baseline="0" dirty="0">
                <a:solidFill>
                  <a:schemeClr val="tx1"/>
                </a:solidFill>
                <a:latin typeface="Arial" pitchFamily="34" charset="0"/>
                <a:ea typeface="+mn-ea"/>
                <a:cs typeface="Arial" pitchFamily="34" charset="0"/>
              </a:rPr>
              <a:t>se observó una </a:t>
            </a:r>
            <a:r>
              <a:rPr lang="es-ES" sz="1000" kern="1200" baseline="0" dirty="0">
                <a:solidFill>
                  <a:schemeClr val="tx1"/>
                </a:solidFill>
                <a:latin typeface="Arial" pitchFamily="34" charset="0"/>
                <a:ea typeface="+mn-ea"/>
                <a:cs typeface="Arial" pitchFamily="34" charset="0"/>
              </a:rPr>
              <a:t>disminución en la productividad del grupo de experimentación cuando la intensidad de la luz se redujo al nivel de luz de luna. ¿Qué explicaría estos resultados inesperados? Los ingenieros no estaban seguros, pero concluyeron que la intensidad de la iluminación no estaba directamente relacionada con la productividad del grupo y que algo más había contribuido a los resultados. Sin embargo, no pudieron precisar que era ese "algo más".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En 1927 los ingenieros de Western Electric invitaron al profesor de Harvard, Elton Mayo, y sus colaboradores, a que se unieran al estudio como consultores. Así comenzó una relación que duraría hasta 1932 y que abarcó muchos experimentos sobre el rediseño de trabajos, cambios en la duración de la jornada diaria y semanal, la introducción de periodos de descanso y planes de pago individuales y grupales. Por ejemplo, se diseñó un experimento para evaluar el efecto de un sistema de pago de incentivos por el trabajo a destajo de un grupo según su productividad. Los resultados indicaron que el plan de incentivos tuvo menos efecto sobre la productividad de los trabajadores que la presión, aceptación y seguridad del grupo. Los investigadores concluyeron que las normas sociales o estándares grupales eran los factores clave del comportamiento laboral individual.</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Los académicos generalmente coinciden en que los estudios de Hawthorne tuvieron un efecto importante sobre las ideas de administración relacionadas con el rol de las personas en las organizaciones. Mayo concluyó que el comportamiento y las actitudes de la gente están muy relacionados, que los factores grupales afectan de manera significativa el comportamiento individual, que los estándares grupales establecen la productividad individual de cada trabajador, y que el dinero es un factor menor en la determinación de la productividad, comparado con los estándares y actitudes grupales y la seguridad. Estas conclusiones originaron un nuevo énfasis en el factor del comportamiento humano en la administración de las organizaciones.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Aunque los críticos atacaron los procedimientos de la investigación, el -análisis de resultados y las conclusiones, desde una perspectiva histórica tiene poca importancia si los estudios de Hawthorne tuvieron sentido académico o si sus conclusiones eran justificadas. Lo que sí es importante es que estimularon el interés de las organizaciones en el comportamiento humano.</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¿CÓMO UTILIZAN LOS GERENTES ACTUALES EL ENFOQUE CONDUCTUAL?</a:t>
            </a:r>
          </a:p>
          <a:p>
            <a:r>
              <a:rPr lang="es-ES" sz="1000" kern="1200" baseline="0" dirty="0">
                <a:solidFill>
                  <a:schemeClr val="tx1"/>
                </a:solidFill>
                <a:latin typeface="Arial" pitchFamily="34" charset="0"/>
                <a:ea typeface="+mn-ea"/>
                <a:cs typeface="Arial" pitchFamily="34" charset="0"/>
              </a:rPr>
              <a:t>El enfoque conductual ha moldeado en gran medida la forma en que se manejan las organizaciones de hoy en día. Desde la manera en que los gerentes diseñan los trabajos, hasta la forma en que trabajan con equipos de empleados y cómo se comunican, vemos elementos del enfoque conductual. Mucho de lo que los primeros partidarios del CO propusieron y las conclusiones de los estudios de Hawthorne han servido corno base de nuestras teorías actuales de motivación, liderazgo, comportamiento grupal y desarrollo, y de muchos otros enfoques conductuales.</a:t>
            </a:r>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12</a:t>
            </a:fld>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40000" lnSpcReduction="20000"/>
          </a:bodyPr>
          <a:lstStyle/>
          <a:p>
            <a:pPr marL="0" marR="0" indent="0" algn="just" defTabSz="914400" rtl="0" eaLnBrk="0" fontAlgn="base" latinLnBrk="0" hangingPunct="0">
              <a:lnSpc>
                <a:spcPct val="100000"/>
              </a:lnSpc>
              <a:spcBef>
                <a:spcPct val="30000"/>
              </a:spcBef>
              <a:spcAft>
                <a:spcPct val="0"/>
              </a:spcAft>
              <a:buClrTx/>
              <a:buSzTx/>
              <a:buFontTx/>
              <a:buNone/>
              <a:tabLst/>
              <a:defRPr/>
            </a:pPr>
            <a:r>
              <a:rPr lang="es-ES" dirty="0"/>
              <a:t>Apuntes de Cristina:</a:t>
            </a:r>
          </a:p>
          <a:p>
            <a:endParaRPr lang="es-ES" dirty="0"/>
          </a:p>
          <a:p>
            <a:r>
              <a:rPr lang="es-ES" sz="1000" b="1" kern="1200" dirty="0">
                <a:solidFill>
                  <a:schemeClr val="tx1"/>
                </a:solidFill>
                <a:latin typeface="Arial" pitchFamily="34" charset="0"/>
                <a:ea typeface="+mn-ea"/>
                <a:cs typeface="Arial" pitchFamily="34" charset="0"/>
              </a:rPr>
              <a:t>ABRAHAM MASLOW (1908-1970)</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Psicólogo clínico que desarrolló la teoría de la motivación fundamentada en la jerarquía de las necesidades, asumía que las necesidades humanas insatisfechas motivaban el comportamiento. Las necesidades más básicas eran las necesidades físicas de comida, ropa y refugio. De acuerdo con </a:t>
            </a:r>
            <a:r>
              <a:rPr lang="es-ES" sz="1000" kern="1200" dirty="0" err="1">
                <a:solidFill>
                  <a:schemeClr val="tx1"/>
                </a:solidFill>
                <a:latin typeface="Arial" pitchFamily="34" charset="0"/>
                <a:ea typeface="+mn-ea"/>
                <a:cs typeface="Arial" pitchFamily="34" charset="0"/>
              </a:rPr>
              <a:t>Maslow</a:t>
            </a:r>
            <a:r>
              <a:rPr lang="es-ES" sz="1000" kern="1200" dirty="0">
                <a:solidFill>
                  <a:schemeClr val="tx1"/>
                </a:solidFill>
                <a:latin typeface="Arial" pitchFamily="34" charset="0"/>
                <a:ea typeface="+mn-ea"/>
                <a:cs typeface="Arial" pitchFamily="34" charset="0"/>
              </a:rPr>
              <a:t>, una vez que se satisface una necesidad básica, aparece otra de más alto nivel, incluyendo la necesidad de seguridad (seguridad en el trabajo y en las condiciones de vida), relaciones sociales (buenas relaciones con los compañeros y la dirección), autoestima (tener un reconocimiento propio) y, finalmente, crecimiento personal (experiencia personal creciente y retos en el trabajo).</a:t>
            </a:r>
          </a:p>
          <a:p>
            <a:r>
              <a:rPr lang="es-ES" sz="1000" kern="1200" dirty="0">
                <a:solidFill>
                  <a:schemeClr val="tx1"/>
                </a:solidFill>
                <a:latin typeface="Arial" pitchFamily="34" charset="0"/>
                <a:ea typeface="+mn-ea"/>
                <a:cs typeface="Arial" pitchFamily="34" charset="0"/>
              </a:rPr>
              <a:t>El modelo de la jerarquía de necesidades sugiere que la dirección puede motivar a los empleados al ofrecerles un entono en el que éstos puedan satisfacer sus necesidades más perentorias. Desde la perspectiva de las relaciones humanas se sugiere que la dirección debe desarrollar buenas relaciones con sus subordinados para descubrir qué necesidades les motivan.</a:t>
            </a:r>
          </a:p>
          <a:p>
            <a:r>
              <a:rPr lang="es-ES" sz="1000" kern="1200" dirty="0">
                <a:solidFill>
                  <a:schemeClr val="tx1"/>
                </a:solidFill>
                <a:latin typeface="Arial" pitchFamily="34" charset="0"/>
                <a:ea typeface="+mn-ea"/>
                <a:cs typeface="Arial" pitchFamily="34" charset="0"/>
              </a:rPr>
              <a:t>Las ideas de </a:t>
            </a:r>
            <a:r>
              <a:rPr lang="es-ES" sz="1000" kern="1200" dirty="0" err="1">
                <a:solidFill>
                  <a:schemeClr val="tx1"/>
                </a:solidFill>
                <a:latin typeface="Arial" pitchFamily="34" charset="0"/>
                <a:ea typeface="+mn-ea"/>
                <a:cs typeface="Arial" pitchFamily="34" charset="0"/>
              </a:rPr>
              <a:t>Maslow</a:t>
            </a:r>
            <a:r>
              <a:rPr lang="es-ES" sz="1000" kern="1200" dirty="0">
                <a:solidFill>
                  <a:schemeClr val="tx1"/>
                </a:solidFill>
                <a:latin typeface="Arial" pitchFamily="34" charset="0"/>
                <a:ea typeface="+mn-ea"/>
                <a:cs typeface="Arial" pitchFamily="34" charset="0"/>
              </a:rPr>
              <a:t> establecen que la motivación de los empleados es algo más compleja de lo que argumentaba la aproximación científica, que se centraba exclusivamente en el salario. </a:t>
            </a:r>
            <a:r>
              <a:rPr lang="es-ES" sz="1000" kern="1200" dirty="0" err="1">
                <a:solidFill>
                  <a:schemeClr val="tx1"/>
                </a:solidFill>
                <a:latin typeface="Arial" pitchFamily="34" charset="0"/>
                <a:ea typeface="+mn-ea"/>
                <a:cs typeface="Arial" pitchFamily="34" charset="0"/>
              </a:rPr>
              <a:t>Maslow</a:t>
            </a:r>
            <a:r>
              <a:rPr lang="es-ES" sz="1000" kern="1200" dirty="0">
                <a:solidFill>
                  <a:schemeClr val="tx1"/>
                </a:solidFill>
                <a:latin typeface="Arial" pitchFamily="34" charset="0"/>
                <a:ea typeface="+mn-ea"/>
                <a:cs typeface="Arial" pitchFamily="34" charset="0"/>
              </a:rPr>
              <a:t> establece que el salario puede motivar sólo las necesidades de nivel más bajo, y una vez éstas están satisfechas pierden su poder. Por ello, factores no monetarios como el reconocimiento o las características del trabajo ayudan a motivar el comportamiento humano.</a:t>
            </a:r>
          </a:p>
          <a:p>
            <a:endParaRPr lang="es-ES" dirty="0"/>
          </a:p>
          <a:p>
            <a:r>
              <a:rPr lang="es-ES" dirty="0"/>
              <a:t>Del</a:t>
            </a:r>
            <a:r>
              <a:rPr lang="es-ES" baseline="0" dirty="0"/>
              <a:t> tema 4 Empresa Comunicación y Diseño:</a:t>
            </a:r>
          </a:p>
          <a:p>
            <a:endParaRPr lang="es-ES" dirty="0"/>
          </a:p>
          <a:p>
            <a:pPr marL="228600" indent="-228600" algn="just">
              <a:buAutoNum type="arabicPeriod"/>
            </a:pPr>
            <a:r>
              <a:rPr lang="es-ES" b="1" baseline="0" dirty="0"/>
              <a:t>Fisiológicas</a:t>
            </a:r>
            <a:r>
              <a:rPr lang="es-ES" baseline="0" dirty="0"/>
              <a:t>: relacionadas con la supervivencia</a:t>
            </a:r>
          </a:p>
          <a:p>
            <a:pPr marL="228600" indent="-228600" algn="just">
              <a:buAutoNum type="arabicPeriod"/>
            </a:pPr>
            <a:r>
              <a:rPr lang="es-ES" b="1" baseline="0" dirty="0"/>
              <a:t>De seguridad</a:t>
            </a:r>
            <a:r>
              <a:rPr lang="es-ES" baseline="0" dirty="0"/>
              <a:t>: sentirse fuera de peligro, seguro, protegido…</a:t>
            </a:r>
          </a:p>
          <a:p>
            <a:pPr marL="228600" indent="-228600" algn="just">
              <a:buAutoNum type="arabicPeriod"/>
            </a:pPr>
            <a:r>
              <a:rPr lang="es-ES" b="1" baseline="0" dirty="0"/>
              <a:t>Sociales</a:t>
            </a:r>
            <a:r>
              <a:rPr lang="es-ES" b="0" baseline="0" dirty="0"/>
              <a:t>: relacionarse con otros, sentimientos de pertenencia, sentirse amado</a:t>
            </a:r>
          </a:p>
          <a:p>
            <a:pPr marL="228600" indent="-228600" algn="just">
              <a:buAutoNum type="arabicPeriod"/>
            </a:pPr>
            <a:r>
              <a:rPr lang="es-ES" b="1" baseline="0" dirty="0"/>
              <a:t>De estima</a:t>
            </a:r>
            <a:r>
              <a:rPr lang="es-ES" b="0" baseline="0" dirty="0"/>
              <a:t>: respetarse a sí mismo, recibir respeto de los demás</a:t>
            </a:r>
          </a:p>
          <a:p>
            <a:pPr marL="228600" indent="-228600" algn="just">
              <a:buAutoNum type="arabicPeriod"/>
            </a:pPr>
            <a:r>
              <a:rPr lang="es-ES" b="1" baseline="0" dirty="0"/>
              <a:t>Autorrealización</a:t>
            </a:r>
            <a:r>
              <a:rPr lang="es-ES" b="0" baseline="0" dirty="0"/>
              <a:t>: relacionadas con la posibilidad de desarrollar el propio potencial, realizar la propia vocación</a:t>
            </a:r>
          </a:p>
          <a:p>
            <a:pPr marL="228600" indent="-228600" algn="just">
              <a:buNone/>
            </a:pPr>
            <a:r>
              <a:rPr lang="es-ES" b="0" baseline="0" dirty="0"/>
              <a:t>	</a:t>
            </a:r>
            <a:r>
              <a:rPr lang="es-ES" b="0" baseline="0" dirty="0">
                <a:sym typeface="Wingdings" pitchFamily="2" charset="2"/>
              </a:rPr>
              <a:t> </a:t>
            </a:r>
            <a:r>
              <a:rPr lang="es-ES" b="0" baseline="0" dirty="0"/>
              <a:t>1 y 2: necesidades básicas	3, 4 y 5: necesidades secundarias</a:t>
            </a:r>
          </a:p>
          <a:p>
            <a:pPr marL="228600" indent="-228600" algn="just">
              <a:buNone/>
            </a:pPr>
            <a:endParaRPr lang="es-ES" b="0" baseline="0" dirty="0"/>
          </a:p>
          <a:p>
            <a:pPr marL="228600" indent="-228600" algn="just">
              <a:buNone/>
            </a:pPr>
            <a:r>
              <a:rPr lang="es-ES" b="0" baseline="0" dirty="0" err="1"/>
              <a:t>Maslow</a:t>
            </a:r>
            <a:r>
              <a:rPr lang="es-ES" b="0" baseline="0" dirty="0"/>
              <a:t> considera que en las economías desarrolladas, la mayoría de los individuos tienen los tres primeros niveles satisfechos </a:t>
            </a:r>
            <a:r>
              <a:rPr lang="es-ES" b="1" baseline="0" dirty="0"/>
              <a:t>sin mucho esfuerzo ni efecto motivador </a:t>
            </a:r>
            <a:r>
              <a:rPr lang="es-ES" b="1" baseline="0" dirty="0">
                <a:sym typeface="Wingdings" pitchFamily="2" charset="2"/>
              </a:rPr>
              <a:t> implicaciones para la empresa:</a:t>
            </a:r>
          </a:p>
          <a:p>
            <a:pPr marL="228600" indent="-228600" algn="just">
              <a:buFont typeface="Arial" pitchFamily="34" charset="0"/>
              <a:buChar char="•"/>
            </a:pPr>
            <a:r>
              <a:rPr lang="es-ES" b="0" baseline="0" dirty="0">
                <a:sym typeface="Wingdings" pitchFamily="2" charset="2"/>
              </a:rPr>
              <a:t>Los aspectos económicos no son la única manera de motivar a los empleados  </a:t>
            </a:r>
            <a:r>
              <a:rPr lang="es-ES" b="1" baseline="0" dirty="0">
                <a:sym typeface="Wingdings" pitchFamily="2" charset="2"/>
              </a:rPr>
              <a:t>efecto motivador </a:t>
            </a:r>
            <a:r>
              <a:rPr lang="es-ES" b="0" baseline="0" dirty="0">
                <a:sym typeface="Wingdings" pitchFamily="2" charset="2"/>
              </a:rPr>
              <a:t>acciones RRHH relacionadas con las necesidades básicas es </a:t>
            </a:r>
            <a:r>
              <a:rPr lang="es-ES" b="1" baseline="0" dirty="0">
                <a:sym typeface="Wingdings" pitchFamily="2" charset="2"/>
              </a:rPr>
              <a:t>temporal</a:t>
            </a:r>
            <a:endParaRPr lang="es-ES" b="0" baseline="0" dirty="0">
              <a:sym typeface="Wingdings" pitchFamily="2" charset="2"/>
            </a:endParaRPr>
          </a:p>
          <a:p>
            <a:pPr marL="228600" indent="-228600" algn="just">
              <a:buFont typeface="Arial" pitchFamily="34" charset="0"/>
              <a:buChar char="•"/>
            </a:pPr>
            <a:r>
              <a:rPr lang="es-ES" b="0" baseline="0" dirty="0">
                <a:sym typeface="Wingdings" pitchFamily="2" charset="2"/>
              </a:rPr>
              <a:t>Todo ser humano está llamado a la autorrealización y </a:t>
            </a:r>
            <a:r>
              <a:rPr lang="es-ES" b="0" baseline="0" dirty="0" err="1">
                <a:sym typeface="Wingdings" pitchFamily="2" charset="2"/>
              </a:rPr>
              <a:t>dllo</a:t>
            </a:r>
            <a:r>
              <a:rPr lang="es-ES" b="0" baseline="0" dirty="0">
                <a:sym typeface="Wingdings" pitchFamily="2" charset="2"/>
              </a:rPr>
              <a:t>. de su propia vocación  rompe la concepción del ser humano como un ser principalmente económico en el que los impulsos básicos para toda acción eran de carácter primario.</a:t>
            </a:r>
          </a:p>
          <a:p>
            <a:pPr marL="228600" indent="-228600" algn="just">
              <a:buFont typeface="Arial" pitchFamily="34" charset="0"/>
              <a:buChar char="•"/>
            </a:pPr>
            <a:endParaRPr lang="es-ES" b="0" baseline="0" dirty="0">
              <a:sym typeface="Wingdings" pitchFamily="2" charset="2"/>
            </a:endParaRPr>
          </a:p>
          <a:p>
            <a:pPr marL="0" indent="-228600" algn="just">
              <a:buFont typeface="Arial" pitchFamily="34" charset="0"/>
              <a:buNone/>
            </a:pPr>
            <a:r>
              <a:rPr lang="es-ES" b="0" baseline="0" dirty="0">
                <a:sym typeface="Wingdings" pitchFamily="2" charset="2"/>
              </a:rPr>
              <a:t>Teoría muy popular pero con evidencia empírica no contundente orden jerárquico de las necesidades secundarias, una vez cubiertas las primarias, parecen depender más de las diferencias y preferencias individuales (Peiró, 2013) </a:t>
            </a:r>
          </a:p>
          <a:p>
            <a:pPr marL="0" indent="-228600" algn="just">
              <a:buFont typeface="Arial" pitchFamily="34" charset="0"/>
              <a:buNone/>
            </a:pPr>
            <a:endParaRPr lang="es-ES" b="0" baseline="0" dirty="0">
              <a:sym typeface="Wingdings" pitchFamily="2" charset="2"/>
            </a:endParaRPr>
          </a:p>
          <a:p>
            <a:pPr marL="0" indent="-228600" algn="just">
              <a:buFont typeface="Arial" pitchFamily="34" charset="0"/>
              <a:buNone/>
            </a:pPr>
            <a:r>
              <a:rPr lang="es-ES" b="0" baseline="0" dirty="0">
                <a:sym typeface="Wingdings" pitchFamily="2" charset="2"/>
              </a:rPr>
              <a:t>Libro de </a:t>
            </a:r>
            <a:r>
              <a:rPr lang="es-ES" b="0" baseline="0" dirty="0" err="1">
                <a:sym typeface="Wingdings" pitchFamily="2" charset="2"/>
              </a:rPr>
              <a:t>Robbins</a:t>
            </a:r>
            <a:r>
              <a:rPr lang="es-ES" b="0" baseline="0" dirty="0">
                <a:sym typeface="Wingdings" pitchFamily="2" charset="2"/>
              </a:rPr>
              <a:t> (aparece en la parte de teorías sobre motivación, y no como escuela de pensamiento </a:t>
            </a:r>
            <a:r>
              <a:rPr lang="es-ES" b="0" baseline="0" dirty="0" err="1">
                <a:sym typeface="Wingdings" pitchFamily="2" charset="2"/>
              </a:rPr>
              <a:t>advo</a:t>
            </a:r>
            <a:r>
              <a:rPr lang="es-ES" b="0" baseline="0" dirty="0">
                <a:sym typeface="Wingdings" pitchFamily="2" charset="2"/>
              </a:rPr>
              <a:t>.)</a:t>
            </a:r>
          </a:p>
          <a:p>
            <a:pPr marL="0" indent="-228600" algn="just">
              <a:buFont typeface="Arial" pitchFamily="34" charset="0"/>
              <a:buNone/>
            </a:pPr>
            <a:endParaRPr lang="es-ES" b="0" baseline="0" dirty="0">
              <a:sym typeface="Wingdings" pitchFamily="2" charset="2"/>
            </a:endParaRPr>
          </a:p>
          <a:p>
            <a:r>
              <a:rPr lang="es-ES" sz="1000" b="1" kern="1200" baseline="0" dirty="0">
                <a:solidFill>
                  <a:schemeClr val="tx1"/>
                </a:solidFill>
                <a:latin typeface="Arial" pitchFamily="34" charset="0"/>
                <a:ea typeface="+mn-ea"/>
                <a:cs typeface="Arial" pitchFamily="34" charset="0"/>
              </a:rPr>
              <a:t>TEORÍA DE LA JERARQUÍA DE LAS NECESIDADES DE MASLOW</a:t>
            </a:r>
          </a:p>
          <a:p>
            <a:r>
              <a:rPr lang="es-ES" sz="1000" kern="1200" baseline="0" dirty="0">
                <a:solidFill>
                  <a:schemeClr val="tx1"/>
                </a:solidFill>
                <a:latin typeface="Arial" pitchFamily="34" charset="0"/>
                <a:ea typeface="+mn-ea"/>
                <a:cs typeface="Arial" pitchFamily="34" charset="0"/>
              </a:rPr>
              <a:t>Tener un automóvil para llegar a sus labores es una necesidad para muchos trabajadores. Cuando dos empleados importantes de </a:t>
            </a:r>
            <a:r>
              <a:rPr lang="es-ES" sz="1000" kern="1200" baseline="0" dirty="0" err="1">
                <a:solidFill>
                  <a:schemeClr val="tx1"/>
                </a:solidFill>
                <a:latin typeface="Arial" pitchFamily="34" charset="0"/>
                <a:ea typeface="+mn-ea"/>
                <a:cs typeface="Arial" pitchFamily="34" charset="0"/>
              </a:rPr>
              <a:t>Vurv</a:t>
            </a:r>
            <a:r>
              <a:rPr lang="es-ES" sz="1000" kern="1200" baseline="0" dirty="0">
                <a:solidFill>
                  <a:schemeClr val="tx1"/>
                </a:solidFill>
                <a:latin typeface="Arial" pitchFamily="34" charset="0"/>
                <a:ea typeface="+mn-ea"/>
                <a:cs typeface="Arial" pitchFamily="34" charset="0"/>
              </a:rPr>
              <a:t> </a:t>
            </a:r>
            <a:r>
              <a:rPr lang="es-ES" sz="1000" kern="1200" baseline="0" dirty="0" err="1">
                <a:solidFill>
                  <a:schemeClr val="tx1"/>
                </a:solidFill>
                <a:latin typeface="Arial" pitchFamily="34" charset="0"/>
                <a:ea typeface="+mn-ea"/>
                <a:cs typeface="Arial" pitchFamily="34" charset="0"/>
              </a:rPr>
              <a:t>Technology</a:t>
            </a:r>
            <a:r>
              <a:rPr lang="es-ES" sz="1000" kern="1200" baseline="0" dirty="0">
                <a:solidFill>
                  <a:schemeClr val="tx1"/>
                </a:solidFill>
                <a:latin typeface="Arial" pitchFamily="34" charset="0"/>
                <a:ea typeface="+mn-ea"/>
                <a:cs typeface="Arial" pitchFamily="34" charset="0"/>
              </a:rPr>
              <a:t> en Jacksonville, Florida, tuvieron dificultades para llegar al trabajo, el dueño, Derek </a:t>
            </a:r>
            <a:r>
              <a:rPr lang="es-ES" sz="1000" kern="1200" baseline="0" dirty="0" err="1">
                <a:solidFill>
                  <a:schemeClr val="tx1"/>
                </a:solidFill>
                <a:latin typeface="Arial" pitchFamily="34" charset="0"/>
                <a:ea typeface="+mn-ea"/>
                <a:cs typeface="Arial" pitchFamily="34" charset="0"/>
              </a:rPr>
              <a:t>Mercer</a:t>
            </a:r>
            <a:r>
              <a:rPr lang="es-ES" sz="1000" kern="1200" baseline="0" dirty="0">
                <a:solidFill>
                  <a:schemeClr val="tx1"/>
                </a:solidFill>
                <a:latin typeface="Arial" pitchFamily="34" charset="0"/>
                <a:ea typeface="+mn-ea"/>
                <a:cs typeface="Arial" pitchFamily="34" charset="0"/>
              </a:rPr>
              <a:t>, decidió comprar dos automóviles usados para esos empleados. Dijo, "Sentí que eran empleados buenos y valiosos para la compañía". Uno de los empleados que recibió automóvil dijo, "No era el mejor automóvil. Ni era el más bonito. Pero ciertamente me hizo feliz. Las semanas de 80 horas que trabajamos después de eso se hicieron nada. Fue dar y recibir. </a:t>
            </a:r>
            <a:r>
              <a:rPr lang="es-ES" sz="1000" i="1" kern="1200" baseline="0" dirty="0">
                <a:solidFill>
                  <a:schemeClr val="tx1"/>
                </a:solidFill>
                <a:latin typeface="Arial" pitchFamily="34" charset="0"/>
                <a:ea typeface="+mn-ea"/>
                <a:cs typeface="Arial" pitchFamily="34" charset="0"/>
              </a:rPr>
              <a:t>Yo estaba dando y la compañía, </a:t>
            </a:r>
            <a:r>
              <a:rPr lang="es-ES" sz="1000" kern="1200" baseline="0" dirty="0">
                <a:solidFill>
                  <a:schemeClr val="tx1"/>
                </a:solidFill>
                <a:latin typeface="Arial" pitchFamily="34" charset="0"/>
                <a:ea typeface="+mn-ea"/>
                <a:cs typeface="Arial" pitchFamily="34" charset="0"/>
              </a:rPr>
              <a:t>definitivamente, me estaba dando algo a cambio". Derek </a:t>
            </a:r>
            <a:r>
              <a:rPr lang="es-ES" sz="1000" kern="1200" baseline="0" dirty="0" err="1">
                <a:solidFill>
                  <a:schemeClr val="tx1"/>
                </a:solidFill>
                <a:latin typeface="Arial" pitchFamily="34" charset="0"/>
                <a:ea typeface="+mn-ea"/>
                <a:cs typeface="Arial" pitchFamily="34" charset="0"/>
              </a:rPr>
              <a:t>Mercer</a:t>
            </a:r>
            <a:r>
              <a:rPr lang="es-ES" sz="1000" kern="1200" baseline="0" dirty="0">
                <a:solidFill>
                  <a:schemeClr val="tx1"/>
                </a:solidFill>
                <a:latin typeface="Arial" pitchFamily="34" charset="0"/>
                <a:ea typeface="+mn-ea"/>
                <a:cs typeface="Arial" pitchFamily="34" charset="0"/>
              </a:rPr>
              <a:t> entiende las necesidades de los empleados y su efecto en la motivación. La primera teoría de la motivación que analizaremos trata sobre las necesidades de los empleados.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teoría más conocida acerca de la motivación es probablemente la teoría de la jerarquía de las necesidades de Abraham </a:t>
            </a:r>
            <a:r>
              <a:rPr lang="es-ES" sz="1000" kern="1200" baseline="0" dirty="0" err="1">
                <a:solidFill>
                  <a:schemeClr val="tx1"/>
                </a:solidFill>
                <a:latin typeface="Arial" pitchFamily="34" charset="0"/>
                <a:ea typeface="+mn-ea"/>
                <a:cs typeface="Arial" pitchFamily="34" charset="0"/>
              </a:rPr>
              <a:t>Maslow</a:t>
            </a:r>
            <a:r>
              <a:rPr lang="es-ES" sz="1000" kern="1200" baseline="0" dirty="0">
                <a:solidFill>
                  <a:schemeClr val="tx1"/>
                </a:solidFill>
                <a:latin typeface="Arial" pitchFamily="34" charset="0"/>
                <a:ea typeface="+mn-ea"/>
                <a:cs typeface="Arial" pitchFamily="34" charset="0"/>
              </a:rPr>
              <a:t>, psicólogo que propuso que dentro de cada persona existe una jerarquía de cinco necesidades:</a:t>
            </a:r>
          </a:p>
          <a:p>
            <a:pPr marL="228600" indent="-228600">
              <a:buFont typeface="+mj-lt"/>
              <a:buAutoNum type="arabicPeriod"/>
            </a:pPr>
            <a:r>
              <a:rPr lang="es-ES" sz="1000" b="1" kern="1200" baseline="0" dirty="0">
                <a:solidFill>
                  <a:schemeClr val="tx1"/>
                </a:solidFill>
                <a:latin typeface="Arial" pitchFamily="34" charset="0"/>
                <a:ea typeface="+mn-ea"/>
                <a:cs typeface="Arial" pitchFamily="34" charset="0"/>
              </a:rPr>
              <a:t>Necesidades fisiológicas</a:t>
            </a:r>
            <a:r>
              <a:rPr lang="es-ES" sz="1000" b="0" kern="1200" baseline="0" dirty="0">
                <a:solidFill>
                  <a:schemeClr val="tx1"/>
                </a:solidFill>
                <a:latin typeface="Arial" pitchFamily="34" charset="0"/>
                <a:ea typeface="+mn-ea"/>
                <a:cs typeface="Arial" pitchFamily="34" charset="0"/>
              </a:rPr>
              <a:t>: comida, bebida, refugio, sexo y otros requerimientos físicos.</a:t>
            </a:r>
          </a:p>
          <a:p>
            <a:pPr marL="228600" indent="-228600">
              <a:buFont typeface="+mj-lt"/>
              <a:buAutoNum type="arabicPeriod"/>
            </a:pPr>
            <a:r>
              <a:rPr lang="es-ES" sz="1000" b="1" kern="1200" baseline="0" dirty="0">
                <a:solidFill>
                  <a:schemeClr val="tx1"/>
                </a:solidFill>
                <a:latin typeface="Arial" pitchFamily="34" charset="0"/>
                <a:ea typeface="+mn-ea"/>
                <a:cs typeface="Arial" pitchFamily="34" charset="0"/>
              </a:rPr>
              <a:t>Necesidades de seguridad</a:t>
            </a:r>
            <a:r>
              <a:rPr lang="es-ES" sz="1000" b="0" kern="1200" baseline="0" dirty="0">
                <a:solidFill>
                  <a:schemeClr val="tx1"/>
                </a:solidFill>
                <a:latin typeface="Arial" pitchFamily="34" charset="0"/>
                <a:ea typeface="+mn-ea"/>
                <a:cs typeface="Arial" pitchFamily="34" charset="0"/>
              </a:rPr>
              <a:t>: seguridad y protección ante el daño físico y emocional, así como la seguridad de que las necesidades físicas se seguirán cubriendo.</a:t>
            </a:r>
          </a:p>
          <a:p>
            <a:pPr marL="228600" indent="-228600">
              <a:buFont typeface="+mj-lt"/>
              <a:buAutoNum type="arabicPeriod"/>
            </a:pPr>
            <a:r>
              <a:rPr lang="es-ES" sz="1000" b="1" kern="1200" baseline="0" dirty="0">
                <a:solidFill>
                  <a:schemeClr val="tx1"/>
                </a:solidFill>
                <a:latin typeface="Arial" pitchFamily="34" charset="0"/>
                <a:ea typeface="+mn-ea"/>
                <a:cs typeface="Arial" pitchFamily="34" charset="0"/>
              </a:rPr>
              <a:t>Necesidades sociales</a:t>
            </a:r>
            <a:r>
              <a:rPr lang="es-ES" sz="1000" b="0" kern="1200" baseline="0" dirty="0">
                <a:solidFill>
                  <a:schemeClr val="tx1"/>
                </a:solidFill>
                <a:latin typeface="Arial" pitchFamily="34" charset="0"/>
                <a:ea typeface="+mn-ea"/>
                <a:cs typeface="Arial" pitchFamily="34" charset="0"/>
              </a:rPr>
              <a:t>: afecto, pertenencia, aceptación y amistad.</a:t>
            </a:r>
          </a:p>
          <a:p>
            <a:pPr marL="228600" indent="-228600">
              <a:buFont typeface="+mj-lt"/>
              <a:buAutoNum type="arabicPeriod"/>
            </a:pPr>
            <a:r>
              <a:rPr lang="es-ES" sz="1000" b="1" kern="1200" baseline="0" dirty="0">
                <a:solidFill>
                  <a:schemeClr val="tx1"/>
                </a:solidFill>
                <a:latin typeface="Arial" pitchFamily="34" charset="0"/>
                <a:ea typeface="+mn-ea"/>
                <a:cs typeface="Arial" pitchFamily="34" charset="0"/>
              </a:rPr>
              <a:t>Necesidades de estima</a:t>
            </a:r>
            <a:r>
              <a:rPr lang="es-ES" sz="1000" b="0" kern="1200" baseline="0" dirty="0">
                <a:solidFill>
                  <a:schemeClr val="tx1"/>
                </a:solidFill>
                <a:latin typeface="Arial" pitchFamily="34" charset="0"/>
                <a:ea typeface="+mn-ea"/>
                <a:cs typeface="Arial" pitchFamily="34" charset="0"/>
              </a:rPr>
              <a:t>: necesidades de factores internos de estima, como el respeto por sí mismo, la autonomía y el logro, y los factores externos de estima, como el estatus, el reconocimiento y la atención.</a:t>
            </a:r>
          </a:p>
          <a:p>
            <a:pPr marL="228600" indent="-228600">
              <a:buFont typeface="+mj-lt"/>
              <a:buAutoNum type="arabicPeriod"/>
            </a:pPr>
            <a:r>
              <a:rPr lang="es-ES" sz="1000" b="1" kern="1200" baseline="0" dirty="0">
                <a:solidFill>
                  <a:schemeClr val="tx1"/>
                </a:solidFill>
                <a:latin typeface="Arial" pitchFamily="34" charset="0"/>
                <a:ea typeface="+mn-ea"/>
                <a:cs typeface="Arial" pitchFamily="34" charset="0"/>
              </a:rPr>
              <a:t>Necesidades de autorrealización</a:t>
            </a:r>
            <a:r>
              <a:rPr lang="es-ES" sz="1000" b="0" kern="1200" baseline="0" dirty="0">
                <a:solidFill>
                  <a:schemeClr val="tx1"/>
                </a:solidFill>
                <a:latin typeface="Arial" pitchFamily="34" charset="0"/>
                <a:ea typeface="+mn-ea"/>
                <a:cs typeface="Arial" pitchFamily="34" charset="0"/>
              </a:rPr>
              <a:t>: necesidades de crecimiento, de lograr su potencial y de realización personal; la motivación para convertirse en lo que uno tiene la capacidad de llegar a ser.</a:t>
            </a:r>
          </a:p>
          <a:p>
            <a:pPr marL="228600" indent="-228600">
              <a:buFont typeface="+mj-lt"/>
              <a:buNone/>
            </a:pPr>
            <a:endParaRPr lang="es-ES" sz="1000" b="0" kern="1200" baseline="0" dirty="0">
              <a:solidFill>
                <a:schemeClr val="tx1"/>
              </a:solidFill>
              <a:latin typeface="Arial" pitchFamily="34" charset="0"/>
              <a:ea typeface="+mn-ea"/>
              <a:cs typeface="Arial" pitchFamily="34" charset="0"/>
            </a:endParaRPr>
          </a:p>
          <a:p>
            <a:pPr marL="0" indent="-228600">
              <a:buFont typeface="+mj-lt"/>
              <a:buNone/>
            </a:pPr>
            <a:r>
              <a:rPr lang="es-ES" sz="1000" b="0" kern="1200" baseline="0" dirty="0" err="1">
                <a:solidFill>
                  <a:schemeClr val="tx1"/>
                </a:solidFill>
                <a:latin typeface="Arial" pitchFamily="34" charset="0"/>
                <a:ea typeface="+mn-ea"/>
                <a:cs typeface="Arial" pitchFamily="34" charset="0"/>
              </a:rPr>
              <a:t>Maslow</a:t>
            </a:r>
            <a:r>
              <a:rPr lang="es-ES" sz="1000" b="0" kern="1200" baseline="0" dirty="0">
                <a:solidFill>
                  <a:schemeClr val="tx1"/>
                </a:solidFill>
                <a:latin typeface="Arial" pitchFamily="34" charset="0"/>
                <a:ea typeface="+mn-ea"/>
                <a:cs typeface="Arial" pitchFamily="34" charset="0"/>
              </a:rPr>
              <a:t> argumentaba que cada nivel debe satisfacerse por completo antes de que la siguiente necesidad se vuelva dominante. Además, separó las necesidades en niveles superiores e inferiores: consideró las dos primeras como necesidades de orden inferior y el resto como necesidades de orden superior. Las primeras se satisfacen externamente en tanto que las segundas lo hacen de manera interna.</a:t>
            </a:r>
          </a:p>
          <a:p>
            <a:pPr marL="0" indent="-228600">
              <a:buFont typeface="+mj-lt"/>
              <a:buNone/>
            </a:pPr>
            <a:endParaRPr lang="es-ES" sz="1000" b="0" kern="1200" baseline="0" dirty="0">
              <a:solidFill>
                <a:schemeClr val="tx1"/>
              </a:solidFill>
              <a:latin typeface="Arial" pitchFamily="34" charset="0"/>
              <a:ea typeface="+mn-ea"/>
              <a:cs typeface="Arial" pitchFamily="34" charset="0"/>
            </a:endParaRPr>
          </a:p>
          <a:p>
            <a:pPr marL="0" indent="-228600">
              <a:buFont typeface="+mj-lt"/>
              <a:buNone/>
            </a:pPr>
            <a:r>
              <a:rPr lang="es-ES" sz="1000" b="0" kern="1200" baseline="0" dirty="0">
                <a:solidFill>
                  <a:schemeClr val="tx1"/>
                </a:solidFill>
                <a:latin typeface="Arial" pitchFamily="34" charset="0"/>
                <a:ea typeface="+mn-ea"/>
                <a:cs typeface="Arial" pitchFamily="34" charset="0"/>
              </a:rPr>
              <a:t>Cómo explica la motivación la teoría de </a:t>
            </a:r>
            <a:r>
              <a:rPr lang="es-ES" sz="1000" b="0" kern="1200" baseline="0" dirty="0" err="1">
                <a:solidFill>
                  <a:schemeClr val="tx1"/>
                </a:solidFill>
                <a:latin typeface="Arial" pitchFamily="34" charset="0"/>
                <a:ea typeface="+mn-ea"/>
                <a:cs typeface="Arial" pitchFamily="34" charset="0"/>
              </a:rPr>
              <a:t>Maslow</a:t>
            </a:r>
            <a:r>
              <a:rPr lang="es-ES" sz="1000" b="0" kern="1200" baseline="0" dirty="0">
                <a:solidFill>
                  <a:schemeClr val="tx1"/>
                </a:solidFill>
                <a:latin typeface="Arial" pitchFamily="34" charset="0"/>
                <a:ea typeface="+mn-ea"/>
                <a:cs typeface="Arial" pitchFamily="34" charset="0"/>
              </a:rPr>
              <a:t>? Los gerentes utilizan la jerarquía de </a:t>
            </a:r>
            <a:r>
              <a:rPr lang="es-ES" sz="1000" b="0" kern="1200" baseline="0" dirty="0" err="1">
                <a:solidFill>
                  <a:schemeClr val="tx1"/>
                </a:solidFill>
                <a:latin typeface="Arial" pitchFamily="34" charset="0"/>
                <a:ea typeface="+mn-ea"/>
                <a:cs typeface="Arial" pitchFamily="34" charset="0"/>
              </a:rPr>
              <a:t>Maslow</a:t>
            </a:r>
            <a:r>
              <a:rPr lang="es-ES" sz="1000" b="0" kern="1200" baseline="0" dirty="0">
                <a:solidFill>
                  <a:schemeClr val="tx1"/>
                </a:solidFill>
                <a:latin typeface="Arial" pitchFamily="34" charset="0"/>
                <a:ea typeface="+mn-ea"/>
                <a:cs typeface="Arial" pitchFamily="34" charset="0"/>
              </a:rPr>
              <a:t> para motivar a los empleados a hacer cosas que satisfagan sus necesidades. Pero la teoría también dice que una vez que una necesidad se satisface por completo, un individuo deja de estar motivado para satisfacerla. Por tanto, para motivar a alguien, necesita entender en qué nivel de necesidad se encuentra esa persona y concentrarse en satisfacer las necesidades de ese nivel o sobre ese nivel.</a:t>
            </a:r>
          </a:p>
          <a:p>
            <a:pPr marL="0" indent="-228600">
              <a:buFont typeface="+mj-lt"/>
              <a:buNone/>
            </a:pPr>
            <a:endParaRPr lang="es-ES" sz="1000" b="0" kern="1200" baseline="0" dirty="0">
              <a:solidFill>
                <a:schemeClr val="tx1"/>
              </a:solidFill>
              <a:latin typeface="Arial" pitchFamily="34" charset="0"/>
              <a:ea typeface="+mn-ea"/>
              <a:cs typeface="Arial" pitchFamily="34" charset="0"/>
            </a:endParaRPr>
          </a:p>
          <a:p>
            <a:pPr marL="0" indent="-228600">
              <a:buFont typeface="+mj-lt"/>
              <a:buNone/>
            </a:pPr>
            <a:r>
              <a:rPr lang="es-ES" sz="1000" b="0" kern="1200" baseline="0" dirty="0">
                <a:solidFill>
                  <a:schemeClr val="tx1"/>
                </a:solidFill>
                <a:latin typeface="Arial" pitchFamily="34" charset="0"/>
                <a:ea typeface="+mn-ea"/>
                <a:cs typeface="Arial" pitchFamily="34" charset="0"/>
              </a:rPr>
              <a:t>Esta teoría fue bastante aceptada durante las décadas de 1960 y 1970, en especial entre los gerentes practicantes, quizá porque era intuitivamente lógica y fácil de entender. Pero Maslow no dio soporte empírico alguno a su teoría, y diversos estudios que intentaron validarla no lo consiguieron.</a:t>
            </a:r>
            <a:endParaRPr lang="es-ES" b="1"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13</a:t>
            </a:fld>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47500" lnSpcReduction="20000"/>
          </a:bodyPr>
          <a:lstStyle/>
          <a:p>
            <a:pPr marL="0" marR="0" indent="0" algn="just" defTabSz="914400" rtl="0" eaLnBrk="0" fontAlgn="base" latinLnBrk="0" hangingPunct="0">
              <a:lnSpc>
                <a:spcPct val="100000"/>
              </a:lnSpc>
              <a:spcBef>
                <a:spcPct val="30000"/>
              </a:spcBef>
              <a:spcAft>
                <a:spcPct val="0"/>
              </a:spcAft>
              <a:buClrTx/>
              <a:buSzTx/>
              <a:buFontTx/>
              <a:buNone/>
              <a:tabLst/>
              <a:defRPr/>
            </a:pPr>
            <a:r>
              <a:rPr lang="es-ES" dirty="0"/>
              <a:t>Apuntes de Cristina:</a:t>
            </a:r>
          </a:p>
          <a:p>
            <a:endParaRPr lang="es-ES" dirty="0"/>
          </a:p>
          <a:p>
            <a:r>
              <a:rPr lang="es-ES" sz="1000" b="1" kern="1200" dirty="0">
                <a:solidFill>
                  <a:schemeClr val="tx1"/>
                </a:solidFill>
                <a:latin typeface="Arial" pitchFamily="34" charset="0"/>
                <a:ea typeface="+mn-ea"/>
                <a:cs typeface="Arial" pitchFamily="34" charset="0"/>
              </a:rPr>
              <a:t>DOUGLAS MCGREGOR (1908-1964)</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 </a:t>
            </a:r>
          </a:p>
          <a:p>
            <a:r>
              <a:rPr lang="es-ES" sz="1000" kern="1200" dirty="0">
                <a:solidFill>
                  <a:schemeClr val="tx1"/>
                </a:solidFill>
                <a:latin typeface="Arial" pitchFamily="34" charset="0"/>
                <a:ea typeface="+mn-ea"/>
                <a:cs typeface="Arial" pitchFamily="34" charset="0"/>
              </a:rPr>
              <a:t>Profesor del MIT usó la perspectiva de las relaciones humanas para comparar las presunciones que los directivos realizaban acerca de sus empleados, a lo que denominó Teoría X y Teoría Y.</a:t>
            </a:r>
          </a:p>
          <a:p>
            <a:r>
              <a:rPr lang="es-ES" sz="1000" kern="1200" dirty="0">
                <a:solidFill>
                  <a:schemeClr val="tx1"/>
                </a:solidFill>
                <a:latin typeface="Arial" pitchFamily="34" charset="0"/>
                <a:ea typeface="+mn-ea"/>
                <a:cs typeface="Arial" pitchFamily="34" charset="0"/>
              </a:rPr>
              <a:t>Líderes y directivos que operan bajo la Teoría X piensan que los empleados son perezosos carentes de ambiciones, y esos directivos usan los controles externos de penalizaciones y recompensas para conducir a los empleados hacia los objetivos de la organización. Tienden a supervisar de forma cerrada, impidiendo que muestren su iniciativa individual y su creatividad. McGregor pensaba que un elevado control y una supervisión autocrática basada en las creencias de la Teoría X podían llegar a ser más ineficientes, ya que perdían en potencial humano que podría realizar contribuciones sustanciales a la organización.</a:t>
            </a:r>
          </a:p>
          <a:p>
            <a:r>
              <a:rPr lang="es-ES" sz="1000" kern="1200" dirty="0">
                <a:solidFill>
                  <a:schemeClr val="tx1"/>
                </a:solidFill>
                <a:latin typeface="Arial" pitchFamily="34" charset="0"/>
                <a:ea typeface="+mn-ea"/>
                <a:cs typeface="Arial" pitchFamily="34" charset="0"/>
              </a:rPr>
              <a:t>De acuerdo con </a:t>
            </a:r>
            <a:r>
              <a:rPr lang="es-ES" sz="1000" kern="1200" dirty="0" err="1">
                <a:solidFill>
                  <a:schemeClr val="tx1"/>
                </a:solidFill>
                <a:latin typeface="Arial" pitchFamily="34" charset="0"/>
                <a:ea typeface="+mn-ea"/>
                <a:cs typeface="Arial" pitchFamily="34" charset="0"/>
              </a:rPr>
              <a:t>McGregor</a:t>
            </a:r>
            <a:r>
              <a:rPr lang="es-ES" sz="1000" kern="1200" dirty="0">
                <a:solidFill>
                  <a:schemeClr val="tx1"/>
                </a:solidFill>
                <a:latin typeface="Arial" pitchFamily="34" charset="0"/>
                <a:ea typeface="+mn-ea"/>
                <a:cs typeface="Arial" pitchFamily="34" charset="0"/>
              </a:rPr>
              <a:t>, los líderes que asumían las creencias de la Teoría Y pensaban que a muchos empleados no les disgustaba su trabajo y querían realizar contribuciones útiles a la organización. Los empleados podían ejercitar su iniciativa y creatividad, y alcanzaban un rendimiento superior al esperado y a sus propias expectativas de trabajo cuando se les daba responsabilidad. </a:t>
            </a:r>
            <a:r>
              <a:rPr lang="es-ES" sz="1000" kern="1200" dirty="0" err="1">
                <a:solidFill>
                  <a:schemeClr val="tx1"/>
                </a:solidFill>
                <a:latin typeface="Arial" pitchFamily="34" charset="0"/>
                <a:ea typeface="+mn-ea"/>
                <a:cs typeface="Arial" pitchFamily="34" charset="0"/>
              </a:rPr>
              <a:t>McGregor</a:t>
            </a:r>
            <a:r>
              <a:rPr lang="es-ES" sz="1000" kern="1200" dirty="0">
                <a:solidFill>
                  <a:schemeClr val="tx1"/>
                </a:solidFill>
                <a:latin typeface="Arial" pitchFamily="34" charset="0"/>
                <a:ea typeface="+mn-ea"/>
                <a:cs typeface="Arial" pitchFamily="34" charset="0"/>
              </a:rPr>
              <a:t> pensaba que la dirección fundamentada en la Teoría Y permitía a la organización utilizar el potencial humano de todos sus empleados, y ser más productivos. Compartir el poder y la responsabilidad con los empleados hace que ellos se sientan más comprometidos con los objetivos de la organización. La Teoría Y se ajusta a los estilos actuales de liderazgo que fomentan la participación del empleado y el “</a:t>
            </a:r>
            <a:r>
              <a:rPr lang="es-ES" sz="1000" i="1" kern="1200" dirty="0" err="1">
                <a:solidFill>
                  <a:schemeClr val="tx1"/>
                </a:solidFill>
                <a:latin typeface="Arial" pitchFamily="34" charset="0"/>
                <a:ea typeface="+mn-ea"/>
                <a:cs typeface="Arial" pitchFamily="34" charset="0"/>
              </a:rPr>
              <a:t>empowerment</a:t>
            </a:r>
            <a:r>
              <a:rPr lang="es-ES" sz="1000" i="1" kern="1200" dirty="0">
                <a:solidFill>
                  <a:schemeClr val="tx1"/>
                </a:solidFill>
                <a:latin typeface="Arial" pitchFamily="34" charset="0"/>
                <a:ea typeface="+mn-ea"/>
                <a:cs typeface="Arial" pitchFamily="34" charset="0"/>
              </a:rPr>
              <a:t>” </a:t>
            </a:r>
            <a:r>
              <a:rPr lang="es-ES" sz="1000" kern="1200" dirty="0">
                <a:solidFill>
                  <a:schemeClr val="tx1"/>
                </a:solidFill>
                <a:latin typeface="Arial" pitchFamily="34" charset="0"/>
                <a:ea typeface="+mn-ea"/>
                <a:cs typeface="Arial" pitchFamily="34" charset="0"/>
              </a:rPr>
              <a:t>(delegación de autoridad responsable), y que a menudo usan la visión basada en el aprendizaje donde el conocimiento de los empleados es considerado como una fuente de ventaja competitiva.</a:t>
            </a:r>
          </a:p>
          <a:p>
            <a:endParaRPr lang="es-ES" dirty="0"/>
          </a:p>
          <a:p>
            <a:endParaRPr lang="es-ES" dirty="0"/>
          </a:p>
          <a:p>
            <a:r>
              <a:rPr lang="es-ES" dirty="0"/>
              <a:t>Libro de Bachillerato:</a:t>
            </a:r>
          </a:p>
          <a:p>
            <a:endParaRPr lang="es-ES" dirty="0"/>
          </a:p>
          <a:p>
            <a:r>
              <a:rPr lang="es-ES" dirty="0" err="1"/>
              <a:t>McGregor</a:t>
            </a:r>
            <a:r>
              <a:rPr lang="es-ES" dirty="0"/>
              <a:t> estudió el comportamiento del directivo y observó que éste dependía de la visión que</a:t>
            </a:r>
            <a:r>
              <a:rPr lang="es-ES" baseline="0" dirty="0"/>
              <a:t> tenía de los trabajadores. A partir de este estudio, identificó dos posturas:</a:t>
            </a:r>
          </a:p>
          <a:p>
            <a:pPr marL="228600" indent="-228600">
              <a:buFont typeface="+mj-lt"/>
              <a:buAutoNum type="alphaLcParenR"/>
            </a:pPr>
            <a:r>
              <a:rPr lang="es-ES" baseline="0" dirty="0"/>
              <a:t>Según la </a:t>
            </a:r>
            <a:r>
              <a:rPr lang="es-ES" b="1" baseline="0" dirty="0"/>
              <a:t>Teoría X</a:t>
            </a:r>
            <a:r>
              <a:rPr lang="es-ES" b="0" baseline="0" dirty="0"/>
              <a:t> hay personas que:</a:t>
            </a:r>
          </a:p>
          <a:p>
            <a:pPr marL="228600" indent="-228600">
              <a:buFont typeface="Arial" pitchFamily="34" charset="0"/>
              <a:buChar char="•"/>
            </a:pPr>
            <a:r>
              <a:rPr lang="es-ES" b="0" baseline="0" dirty="0"/>
              <a:t>Tienen aversión al trabajo, lo consideran un mal que se ha de soportar y, como consecuencia, trabajan lo mínimo posible.</a:t>
            </a:r>
          </a:p>
          <a:p>
            <a:pPr marL="228600" indent="-228600">
              <a:buFont typeface="Arial" pitchFamily="34" charset="0"/>
              <a:buChar char="•"/>
            </a:pPr>
            <a:r>
              <a:rPr lang="es-ES" b="0" baseline="0" dirty="0"/>
              <a:t>No tienen ambición y, por tanto, no quieren responsabilidades.</a:t>
            </a:r>
          </a:p>
          <a:p>
            <a:pPr marL="228600" indent="-228600">
              <a:buFont typeface="Arial" pitchFamily="34" charset="0"/>
              <a:buChar char="•"/>
            </a:pPr>
            <a:r>
              <a:rPr lang="es-ES" b="0" baseline="0" dirty="0"/>
              <a:t>Prefieren que les manden.</a:t>
            </a:r>
          </a:p>
          <a:p>
            <a:pPr marL="228600" indent="-228600">
              <a:buFont typeface="Arial" pitchFamily="34" charset="0"/>
              <a:buChar char="•"/>
            </a:pPr>
            <a:r>
              <a:rPr lang="es-ES" b="0" baseline="0" dirty="0"/>
              <a:t>No quieren cambios y prefieren métodos conocidos.</a:t>
            </a:r>
          </a:p>
          <a:p>
            <a:pPr marL="228600" indent="-228600">
              <a:buFont typeface="+mj-lt"/>
              <a:buAutoNum type="alphaLcParenR" startAt="2"/>
            </a:pPr>
            <a:r>
              <a:rPr lang="es-ES" b="0" baseline="0" dirty="0"/>
              <a:t>Según la </a:t>
            </a:r>
            <a:r>
              <a:rPr lang="es-ES" b="1" baseline="0" dirty="0"/>
              <a:t>Teoría Y</a:t>
            </a:r>
            <a:r>
              <a:rPr lang="es-ES" b="0" baseline="0" dirty="0"/>
              <a:t>, hay personas que:</a:t>
            </a:r>
          </a:p>
          <a:p>
            <a:pPr marL="228600" indent="-228600">
              <a:buFont typeface="Arial" pitchFamily="34" charset="0"/>
              <a:buChar char="•"/>
            </a:pPr>
            <a:r>
              <a:rPr lang="es-ES" b="0" baseline="0" dirty="0"/>
              <a:t>Quieren trabajar, el trabajo les estimula y les ayuda a realizarse.</a:t>
            </a:r>
          </a:p>
          <a:p>
            <a:pPr marL="228600" indent="-228600">
              <a:buFont typeface="Arial" pitchFamily="34" charset="0"/>
              <a:buChar char="•"/>
            </a:pPr>
            <a:r>
              <a:rPr lang="es-ES" b="0" baseline="0" dirty="0"/>
              <a:t>Creen que la energía que desprenden con el trabajo es tan natural como la energía desprendida con el deporte o con el juego.</a:t>
            </a:r>
          </a:p>
          <a:p>
            <a:pPr marL="228600" indent="-228600">
              <a:buFont typeface="Arial" pitchFamily="34" charset="0"/>
              <a:buChar char="•"/>
            </a:pPr>
            <a:r>
              <a:rPr lang="es-ES" b="0" baseline="0" dirty="0"/>
              <a:t>Quieren responsabilidades y se sienten responsables de su trabajo.</a:t>
            </a:r>
          </a:p>
          <a:p>
            <a:pPr marL="228600" indent="-228600">
              <a:buFont typeface="Arial" pitchFamily="34" charset="0"/>
              <a:buNone/>
            </a:pPr>
            <a:endParaRPr lang="es-ES" b="0" baseline="0" dirty="0"/>
          </a:p>
          <a:p>
            <a:pPr marL="0" indent="-228600">
              <a:buFont typeface="Arial" pitchFamily="34" charset="0"/>
              <a:buNone/>
            </a:pPr>
            <a:r>
              <a:rPr lang="es-ES" b="0" baseline="0" dirty="0"/>
              <a:t>Por tanto, según se participe de la Teoría X o la Teoría Y, la forma de dirigir a las personas será totalmente distinta: el primer tipo de trabajador necesita una dirección autoritaria y el segundo mucho más flexible y democrática </a:t>
            </a:r>
            <a:r>
              <a:rPr lang="es-ES" b="0" baseline="0" dirty="0">
                <a:sym typeface="Wingdings" pitchFamily="2" charset="2"/>
              </a:rPr>
              <a:t> puesto que estos casos son extremos, y que en cada situación se aplica el estilo más conveniente, existe también una postura intermedia para trabajadores con comportamientos intermedios  representación en unos ejes de coordenadas:</a:t>
            </a:r>
          </a:p>
          <a:p>
            <a:pPr marL="0" indent="-228600">
              <a:buFont typeface="Wingdings"/>
              <a:buChar char="à"/>
            </a:pPr>
            <a:r>
              <a:rPr lang="es-ES" b="0" baseline="0" dirty="0">
                <a:sym typeface="Wingdings" pitchFamily="2" charset="2"/>
              </a:rPr>
              <a:t>El punto intermedio (punto B) debería motivar a los trabajadores que están por debajo del directivo. Por ello, es importante que:</a:t>
            </a:r>
          </a:p>
          <a:p>
            <a:pPr marL="0" indent="-228600">
              <a:buFont typeface="+mj-lt"/>
              <a:buAutoNum type="alphaLcParenR"/>
            </a:pPr>
            <a:r>
              <a:rPr lang="es-ES" b="0" baseline="0" dirty="0">
                <a:sym typeface="Wingdings" pitchFamily="2" charset="2"/>
              </a:rPr>
              <a:t>Se pueda delegar responsabilidad, es decir, que los trabajadores puedan decidir, en momentos determinados, acciones que afecten a su trabajo en concreto.</a:t>
            </a:r>
          </a:p>
          <a:p>
            <a:pPr marL="0" indent="-228600">
              <a:buFont typeface="+mj-lt"/>
              <a:buAutoNum type="alphaLcParenR"/>
            </a:pPr>
            <a:r>
              <a:rPr lang="es-ES" b="0" baseline="0" dirty="0">
                <a:sym typeface="Wingdings" pitchFamily="2" charset="2"/>
              </a:rPr>
              <a:t>Los trabajadores sepan que se espera de su trabajo y, a la vez, se les reconozca cuando lo hacen bien.</a:t>
            </a:r>
          </a:p>
          <a:p>
            <a:pPr marL="0" indent="-228600">
              <a:buFont typeface="+mj-lt"/>
              <a:buAutoNum type="alphaLcParenR"/>
            </a:pPr>
            <a:r>
              <a:rPr lang="es-ES" b="0" baseline="0" dirty="0">
                <a:sym typeface="Wingdings" pitchFamily="2" charset="2"/>
              </a:rPr>
              <a:t>Se den facilidades para que el personal de la empresa pueda formarse y reciclarse.</a:t>
            </a:r>
          </a:p>
          <a:p>
            <a:pPr marL="0" indent="-228600">
              <a:buFont typeface="+mj-lt"/>
              <a:buAutoNum type="alphaLcParenR"/>
            </a:pPr>
            <a:r>
              <a:rPr lang="es-ES" b="0" baseline="0" dirty="0">
                <a:sym typeface="Wingdings" pitchFamily="2" charset="2"/>
              </a:rPr>
              <a:t>Los salarios se correspondan con el trabajo y el esfuerzo realizados. </a:t>
            </a:r>
          </a:p>
          <a:p>
            <a:pPr marL="0" indent="-228600">
              <a:buFont typeface="+mj-lt"/>
              <a:buNone/>
            </a:pPr>
            <a:endParaRPr lang="es-ES" b="0" baseline="0" dirty="0">
              <a:sym typeface="Wingdings" pitchFamily="2" charset="2"/>
            </a:endParaRPr>
          </a:p>
          <a:p>
            <a:pPr marL="0" indent="-228600">
              <a:buFont typeface="Wingdings"/>
              <a:buChar char="à"/>
            </a:pPr>
            <a:r>
              <a:rPr lang="es-ES" b="0" baseline="0" dirty="0">
                <a:sym typeface="Wingdings" pitchFamily="2" charset="2"/>
              </a:rPr>
              <a:t>Posteriormente ha aparecido una nueva teoría, la llamada </a:t>
            </a:r>
            <a:r>
              <a:rPr lang="es-ES" b="1" baseline="0" dirty="0">
                <a:sym typeface="Wingdings" pitchFamily="2" charset="2"/>
              </a:rPr>
              <a:t>Teoría Z</a:t>
            </a:r>
            <a:r>
              <a:rPr lang="es-ES" b="0" baseline="0" dirty="0">
                <a:sym typeface="Wingdings" pitchFamily="2" charset="2"/>
              </a:rPr>
              <a:t>: esta teoría apareció cuando </a:t>
            </a:r>
            <a:r>
              <a:rPr lang="es-ES" b="0" baseline="0" dirty="0" err="1">
                <a:sym typeface="Wingdings" pitchFamily="2" charset="2"/>
              </a:rPr>
              <a:t>Willian</a:t>
            </a:r>
            <a:r>
              <a:rPr lang="es-ES" b="0" baseline="0" dirty="0">
                <a:sym typeface="Wingdings" pitchFamily="2" charset="2"/>
              </a:rPr>
              <a:t> </a:t>
            </a:r>
            <a:r>
              <a:rPr lang="es-ES" b="0" baseline="0" dirty="0" err="1">
                <a:sym typeface="Wingdings" pitchFamily="2" charset="2"/>
              </a:rPr>
              <a:t>Ouchi</a:t>
            </a:r>
            <a:r>
              <a:rPr lang="es-ES" b="0" baseline="0" dirty="0">
                <a:sym typeface="Wingdings" pitchFamily="2" charset="2"/>
              </a:rPr>
              <a:t>, tras estudiar la diferencia entre la gestión de las empresas norteamericana y las japonesas concluyó que las técnicas de dirección de las empresas japonesas también sirven fuera de Japón.</a:t>
            </a:r>
          </a:p>
          <a:p>
            <a:pPr marL="0" indent="-228600">
              <a:buFont typeface="Wingdings"/>
              <a:buChar char="à"/>
            </a:pPr>
            <a:r>
              <a:rPr lang="es-ES" b="0" baseline="0" dirty="0">
                <a:sym typeface="Wingdings" pitchFamily="2" charset="2"/>
              </a:rPr>
              <a:t>Las empresas japonesas promueven una mayor relación entre la empresa y el trabajador ya que se le considera como parte importante de la compañía. Además, la empresa es parte de su vida, ya que dedica una gran porción de su tiempo a ella y en ella consigue el dinero necesario para vivir. En estas empresas se confía plenamente en el trabajador, haciéndole partícipe de todos los procesos y decisiones ya que, si los empleados están bien informados de la situación de la empresa a todos los niveles, se considerarán importantes y darán el máximo de sí mismos. Además, la mayoría de las mejoras que se hacen en la empresa proceden de iniciativas de los trabajadores hasta el punto de que a menudo se les da más importancia que a las de la propia dirección.</a:t>
            </a:r>
          </a:p>
          <a:p>
            <a:pPr marL="0" indent="-228600">
              <a:buFont typeface="Wingdings"/>
              <a:buChar char="à"/>
            </a:pPr>
            <a:r>
              <a:rPr lang="es-ES" b="0" baseline="0" dirty="0">
                <a:sym typeface="Wingdings" pitchFamily="2" charset="2"/>
              </a:rPr>
              <a:t>La Teoría Z, por tanto, va encaminada hacia el trabajo conjunto y considera que todos los empleados son importantes en la empresa, por lo que busca la conciliación entre los intereses de los trabajadores y los de la organización. Trata, en definitiva, de valorar adecuadamente a los empleados y reconocer su aportación, estimular la comunicación, el respeto mutuo y la relación a largo plazo, promover la mejora continua en todos los niveles de la empresa y fomentar una cultura participativa, basada en las relaciones humanas. El objetivo último es mejorar la productividad empresarial.</a:t>
            </a:r>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14</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32500" lnSpcReduction="20000"/>
          </a:bodyPr>
          <a:lstStyle/>
          <a:p>
            <a:r>
              <a:rPr lang="es-ES" sz="1000" b="1" kern="1200" dirty="0">
                <a:solidFill>
                  <a:schemeClr val="tx1"/>
                </a:solidFill>
                <a:latin typeface="Arial" pitchFamily="34" charset="0"/>
                <a:ea typeface="+mn-ea"/>
                <a:cs typeface="Arial" pitchFamily="34" charset="0"/>
              </a:rPr>
              <a:t>TEORÍA DE SISTEMAS </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Teoría moderna de la dirección que ve a la organización como un sistema que define una serie de parte interrelacionadas que funcionan como un todo para alcanzar un objetivo común.</a:t>
            </a:r>
          </a:p>
          <a:p>
            <a:r>
              <a:rPr lang="es-ES" sz="1000" kern="1200" dirty="0">
                <a:solidFill>
                  <a:schemeClr val="tx1"/>
                </a:solidFill>
                <a:latin typeface="Arial" pitchFamily="34" charset="0"/>
                <a:ea typeface="+mn-ea"/>
                <a:cs typeface="Arial" pitchFamily="34" charset="0"/>
              </a:rPr>
              <a:t> </a:t>
            </a:r>
          </a:p>
          <a:p>
            <a:r>
              <a:rPr lang="es-ES" sz="1000" b="1" kern="1200" dirty="0">
                <a:solidFill>
                  <a:schemeClr val="tx1"/>
                </a:solidFill>
                <a:latin typeface="Arial" pitchFamily="34" charset="0"/>
                <a:ea typeface="+mn-ea"/>
                <a:cs typeface="Arial" pitchFamily="34" charset="0"/>
              </a:rPr>
              <a:t>TEORÍA CONTINGENTE</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Establece que no hay una mejor manera de dirigir y organizar una organización porque las características situacionales, llamadas contingencias, cambian de unas a otras; también la visión de que no hay una estrategia de recursos humanos que por sí misma sea buena o mala, sino que depende de la situación o del contexto.</a:t>
            </a:r>
          </a:p>
          <a:p>
            <a:r>
              <a:rPr lang="es-ES" sz="1000" kern="1200" dirty="0">
                <a:solidFill>
                  <a:schemeClr val="tx1"/>
                </a:solidFill>
                <a:latin typeface="Arial" pitchFamily="34" charset="0"/>
                <a:ea typeface="+mn-ea"/>
                <a:cs typeface="Arial" pitchFamily="34" charset="0"/>
              </a:rPr>
              <a:t> </a:t>
            </a:r>
          </a:p>
          <a:p>
            <a:r>
              <a:rPr lang="es-ES" sz="1000" b="1" kern="1200" dirty="0">
                <a:solidFill>
                  <a:schemeClr val="tx1"/>
                </a:solidFill>
                <a:latin typeface="Arial" pitchFamily="34" charset="0"/>
                <a:ea typeface="+mn-ea"/>
                <a:cs typeface="Arial" pitchFamily="34" charset="0"/>
              </a:rPr>
              <a:t>GESTIÓN DE CALIDAD TOTAL (TQM)</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Enfoque organizativo global que se centra en la calidad como principal objetivo. La base de este enfoque es la comprensión de que todos los empleados y unidades organizativas deben trabajar en armonía para satisfacer al cliente. Los elementos clave de este enfoque son:</a:t>
            </a:r>
          </a:p>
          <a:p>
            <a:pPr lvl="0">
              <a:buFont typeface="Arial" pitchFamily="34" charset="0"/>
              <a:buChar char="•"/>
            </a:pPr>
            <a:r>
              <a:rPr lang="es-ES" sz="1000" kern="1200" dirty="0">
                <a:solidFill>
                  <a:schemeClr val="tx1"/>
                </a:solidFill>
                <a:latin typeface="Arial" pitchFamily="34" charset="0"/>
                <a:ea typeface="+mn-ea"/>
                <a:cs typeface="Arial" pitchFamily="34" charset="0"/>
              </a:rPr>
              <a:t> Centrarse en el cliente: es importante conocer cuáles son los clientes de la organización.</a:t>
            </a:r>
          </a:p>
          <a:p>
            <a:pPr lvl="0">
              <a:buFont typeface="Arial" pitchFamily="34" charset="0"/>
              <a:buChar char="•"/>
            </a:pPr>
            <a:r>
              <a:rPr lang="es-ES" sz="1000" kern="1200" dirty="0">
                <a:solidFill>
                  <a:schemeClr val="tx1"/>
                </a:solidFill>
                <a:latin typeface="Arial" pitchFamily="34" charset="0"/>
                <a:ea typeface="+mn-ea"/>
                <a:cs typeface="Arial" pitchFamily="34" charset="0"/>
              </a:rPr>
              <a:t> Implicación del empleado</a:t>
            </a:r>
          </a:p>
          <a:p>
            <a:pPr lvl="0">
              <a:buFont typeface="Arial" pitchFamily="34" charset="0"/>
              <a:buChar char="•"/>
            </a:pPr>
            <a:r>
              <a:rPr lang="es-ES" sz="1000" kern="1200" dirty="0">
                <a:solidFill>
                  <a:schemeClr val="tx1"/>
                </a:solidFill>
                <a:latin typeface="Arial" pitchFamily="34" charset="0"/>
                <a:ea typeface="+mn-ea"/>
                <a:cs typeface="Arial" pitchFamily="34" charset="0"/>
              </a:rPr>
              <a:t> Mejora continua</a:t>
            </a:r>
          </a:p>
          <a:p>
            <a:r>
              <a:rPr lang="es-ES" sz="1000" kern="1200" dirty="0">
                <a:solidFill>
                  <a:schemeClr val="tx1"/>
                </a:solidFill>
                <a:latin typeface="Arial" pitchFamily="34" charset="0"/>
                <a:ea typeface="+mn-ea"/>
                <a:cs typeface="Arial" pitchFamily="34" charset="0"/>
              </a:rPr>
              <a:t> </a:t>
            </a:r>
          </a:p>
          <a:p>
            <a:r>
              <a:rPr lang="es-ES" sz="1000" kern="1200" dirty="0">
                <a:solidFill>
                  <a:schemeClr val="tx1"/>
                </a:solidFill>
                <a:latin typeface="Arial" pitchFamily="34" charset="0"/>
                <a:ea typeface="+mn-ea"/>
                <a:cs typeface="Arial" pitchFamily="34" charset="0"/>
              </a:rPr>
              <a:t>Libro de </a:t>
            </a:r>
            <a:r>
              <a:rPr lang="es-ES" sz="1000" kern="1200" dirty="0" err="1">
                <a:solidFill>
                  <a:schemeClr val="tx1"/>
                </a:solidFill>
                <a:latin typeface="Arial" pitchFamily="34" charset="0"/>
                <a:ea typeface="+mn-ea"/>
                <a:cs typeface="Arial" pitchFamily="34" charset="0"/>
              </a:rPr>
              <a:t>Robbins</a:t>
            </a:r>
            <a:r>
              <a:rPr lang="es-ES" sz="1000" kern="1200" dirty="0">
                <a:solidFill>
                  <a:schemeClr val="tx1"/>
                </a:solidFill>
                <a:latin typeface="Arial" pitchFamily="34" charset="0"/>
                <a:ea typeface="+mn-ea"/>
                <a:cs typeface="Arial" pitchFamily="34" charset="0"/>
              </a:rPr>
              <a:t>:</a:t>
            </a:r>
          </a:p>
          <a:p>
            <a:endParaRPr lang="es-ES" sz="1000" kern="120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ENFOQUE CONTEMPORÁNEO</a:t>
            </a:r>
          </a:p>
          <a:p>
            <a:r>
              <a:rPr lang="es-ES" sz="1000" kern="1200" baseline="0" dirty="0">
                <a:solidFill>
                  <a:schemeClr val="tx1"/>
                </a:solidFill>
                <a:latin typeface="Arial" pitchFamily="34" charset="0"/>
                <a:ea typeface="+mn-ea"/>
                <a:cs typeface="Arial" pitchFamily="34" charset="0"/>
              </a:rPr>
              <a:t>Como hemos visto, muchos elementos de los primeros enfoques de la teoría de la administración aún influyen en la forma de dirigir de los gerentes. En su mayoría, los primeros enfoques se centraban en las preocupaciones de los gerentes </a:t>
            </a:r>
            <a:r>
              <a:rPr lang="es-ES" sz="1000" i="1" kern="1200" baseline="0" dirty="0">
                <a:solidFill>
                  <a:schemeClr val="tx1"/>
                </a:solidFill>
                <a:latin typeface="Arial" pitchFamily="34" charset="0"/>
                <a:ea typeface="+mn-ea"/>
                <a:cs typeface="Arial" pitchFamily="34" charset="0"/>
              </a:rPr>
              <a:t>al interior de. la organización. </a:t>
            </a:r>
            <a:r>
              <a:rPr lang="es-ES" sz="1000" kern="1200" baseline="0" dirty="0">
                <a:solidFill>
                  <a:schemeClr val="tx1"/>
                </a:solidFill>
                <a:latin typeface="Arial" pitchFamily="34" charset="0"/>
                <a:ea typeface="+mn-ea"/>
                <a:cs typeface="Arial" pitchFamily="34" charset="0"/>
              </a:rPr>
              <a:t>A principios de la década de 1960, los investigadores en administración comenzaron a analizar lo que ocurría en el entorno que estaba </a:t>
            </a:r>
            <a:r>
              <a:rPr lang="es-ES" sz="1000" i="1" kern="1200" baseline="0" dirty="0">
                <a:solidFill>
                  <a:schemeClr val="tx1"/>
                </a:solidFill>
                <a:latin typeface="Arial" pitchFamily="34" charset="0"/>
                <a:ea typeface="+mn-ea"/>
                <a:cs typeface="Arial" pitchFamily="34" charset="0"/>
              </a:rPr>
              <a:t>fuera de los límites de la organización. </a:t>
            </a:r>
            <a:r>
              <a:rPr lang="es-ES" sz="1000" kern="1200" baseline="0" dirty="0">
                <a:solidFill>
                  <a:schemeClr val="tx1"/>
                </a:solidFill>
                <a:latin typeface="Arial" pitchFamily="34" charset="0"/>
                <a:ea typeface="+mn-ea"/>
                <a:cs typeface="Arial" pitchFamily="34" charset="0"/>
              </a:rPr>
              <a:t>Dos perspectivas contemporáneas de administración forman parte de este enfoque: la de sistemas y la de contingencias. Analicemos cada una.</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TEORÍA DE SISTEMAS</a:t>
            </a:r>
          </a:p>
          <a:p>
            <a:r>
              <a:rPr lang="es-ES" sz="1000" kern="1200" baseline="0" dirty="0">
                <a:solidFill>
                  <a:schemeClr val="tx1"/>
                </a:solidFill>
                <a:latin typeface="Arial" pitchFamily="34" charset="0"/>
                <a:ea typeface="+mn-ea"/>
                <a:cs typeface="Arial" pitchFamily="34" charset="0"/>
              </a:rPr>
              <a:t>La teoría de sistemas es una teoría básica en las ciencias físicas, pero nunca se había aplicado a los esfuerzos humanos organizados. En 1938, Chester </a:t>
            </a:r>
            <a:r>
              <a:rPr lang="es-ES" sz="1000" kern="1200" baseline="0" dirty="0" err="1">
                <a:solidFill>
                  <a:schemeClr val="tx1"/>
                </a:solidFill>
                <a:latin typeface="Arial" pitchFamily="34" charset="0"/>
                <a:ea typeface="+mn-ea"/>
                <a:cs typeface="Arial" pitchFamily="34" charset="0"/>
              </a:rPr>
              <a:t>Barnard</a:t>
            </a:r>
            <a:r>
              <a:rPr lang="es-ES" sz="1000" kern="1200" baseline="0" dirty="0">
                <a:solidFill>
                  <a:schemeClr val="tx1"/>
                </a:solidFill>
                <a:latin typeface="Arial" pitchFamily="34" charset="0"/>
                <a:ea typeface="+mn-ea"/>
                <a:cs typeface="Arial" pitchFamily="34" charset="0"/>
              </a:rPr>
              <a:t>, un ejecutivo de una compañía telefónica, escribió por primera vez en su libro, </a:t>
            </a:r>
            <a:r>
              <a:rPr lang="es-ES" sz="1000" i="1" kern="1200" baseline="0" dirty="0">
                <a:solidFill>
                  <a:schemeClr val="tx1"/>
                </a:solidFill>
                <a:latin typeface="Arial" pitchFamily="34" charset="0"/>
                <a:ea typeface="+mn-ea"/>
                <a:cs typeface="Arial" pitchFamily="34" charset="0"/>
              </a:rPr>
              <a:t>Las Junciones del ejecutivo (</a:t>
            </a:r>
            <a:r>
              <a:rPr lang="es-ES" sz="1000" i="1" kern="1200" baseline="0" dirty="0" err="1">
                <a:solidFill>
                  <a:schemeClr val="tx1"/>
                </a:solidFill>
                <a:latin typeface="Arial" pitchFamily="34" charset="0"/>
                <a:ea typeface="+mn-ea"/>
                <a:cs typeface="Arial" pitchFamily="34" charset="0"/>
              </a:rPr>
              <a:t>The</a:t>
            </a:r>
            <a:r>
              <a:rPr lang="es-ES" sz="1000" i="1" kern="1200" baseline="0" dirty="0">
                <a:solidFill>
                  <a:schemeClr val="tx1"/>
                </a:solidFill>
                <a:latin typeface="Arial" pitchFamily="34" charset="0"/>
                <a:ea typeface="+mn-ea"/>
                <a:cs typeface="Arial" pitchFamily="34" charset="0"/>
              </a:rPr>
              <a:t> </a:t>
            </a:r>
            <a:r>
              <a:rPr lang="es-ES" sz="1000" i="1" kern="1200" baseline="0" dirty="0" err="1">
                <a:solidFill>
                  <a:schemeClr val="tx1"/>
                </a:solidFill>
                <a:latin typeface="Arial" pitchFamily="34" charset="0"/>
                <a:ea typeface="+mn-ea"/>
                <a:cs typeface="Arial" pitchFamily="34" charset="0"/>
              </a:rPr>
              <a:t>Functions</a:t>
            </a:r>
            <a:r>
              <a:rPr lang="es-ES" sz="1000" i="1" kern="1200" baseline="0" dirty="0">
                <a:solidFill>
                  <a:schemeClr val="tx1"/>
                </a:solidFill>
                <a:latin typeface="Arial" pitchFamily="34" charset="0"/>
                <a:ea typeface="+mn-ea"/>
                <a:cs typeface="Arial" pitchFamily="34" charset="0"/>
              </a:rPr>
              <a:t> of </a:t>
            </a:r>
            <a:r>
              <a:rPr lang="es-ES" sz="1000" i="1" kern="1200" baseline="0" dirty="0" err="1">
                <a:solidFill>
                  <a:schemeClr val="tx1"/>
                </a:solidFill>
                <a:latin typeface="Arial" pitchFamily="34" charset="0"/>
                <a:ea typeface="+mn-ea"/>
                <a:cs typeface="Arial" pitchFamily="34" charset="0"/>
              </a:rPr>
              <a:t>an</a:t>
            </a:r>
            <a:r>
              <a:rPr lang="es-ES" sz="1000" i="1" kern="1200" baseline="0" dirty="0">
                <a:solidFill>
                  <a:schemeClr val="tx1"/>
                </a:solidFill>
                <a:latin typeface="Arial" pitchFamily="34" charset="0"/>
                <a:ea typeface="+mn-ea"/>
                <a:cs typeface="Arial" pitchFamily="34" charset="0"/>
              </a:rPr>
              <a:t> </a:t>
            </a:r>
            <a:r>
              <a:rPr lang="es-ES" sz="1000" i="1" kern="1200" baseline="0" dirty="0" err="1">
                <a:solidFill>
                  <a:schemeClr val="tx1"/>
                </a:solidFill>
                <a:latin typeface="Arial" pitchFamily="34" charset="0"/>
                <a:ea typeface="+mn-ea"/>
                <a:cs typeface="Arial" pitchFamily="34" charset="0"/>
              </a:rPr>
              <a:t>Executive</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que una organización funcionaba como un sistema cooperativo. Sin embargo, fue en la década de 1960 cuando los investigadores en administración comenzaron a analizar más </a:t>
            </a:r>
            <a:r>
              <a:rPr lang="es-ES" sz="1000" kern="1200" baseline="0" dirty="0">
                <a:solidFill>
                  <a:schemeClr val="tx1"/>
                </a:solidFill>
                <a:latin typeface="Arial" pitchFamily="34" charset="0"/>
                <a:ea typeface="+mn-ea"/>
                <a:cs typeface="Arial" pitchFamily="34" charset="0"/>
              </a:rPr>
              <a:t>cuidadosamente la teoría de sistemas y cómo se relacionaba con las organizaciones.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Un </a:t>
            </a:r>
            <a:r>
              <a:rPr lang="es-ES" sz="1000" b="1" kern="1200" baseline="0" dirty="0">
                <a:solidFill>
                  <a:schemeClr val="tx1"/>
                </a:solidFill>
                <a:latin typeface="Arial" pitchFamily="34" charset="0"/>
                <a:ea typeface="+mn-ea"/>
                <a:cs typeface="Arial" pitchFamily="34" charset="0"/>
              </a:rPr>
              <a:t>sistema es un conjunto de partes interrelacionadas e interdependientes dispuestas de tal forma que se produce un todo unificado</a:t>
            </a:r>
            <a:r>
              <a:rPr lang="es-ES" sz="1000" kern="1200" baseline="0" dirty="0">
                <a:solidFill>
                  <a:schemeClr val="tx1"/>
                </a:solidFill>
                <a:latin typeface="Arial" pitchFamily="34" charset="0"/>
                <a:ea typeface="+mn-ea"/>
                <a:cs typeface="Arial" pitchFamily="34" charset="0"/>
              </a:rPr>
              <a:t>. Los dos tipos básicos de sistemas son cerrados y abiertos. Los </a:t>
            </a:r>
            <a:r>
              <a:rPr lang="es-ES" sz="1000" b="1" kern="1200" baseline="0" dirty="0">
                <a:solidFill>
                  <a:schemeClr val="tx1"/>
                </a:solidFill>
                <a:latin typeface="Arial" pitchFamily="34" charset="0"/>
                <a:ea typeface="+mn-ea"/>
                <a:cs typeface="Arial" pitchFamily="34" charset="0"/>
              </a:rPr>
              <a:t>sistemas cerrados </a:t>
            </a:r>
            <a:r>
              <a:rPr lang="es-ES" sz="1000" b="0" kern="1200" baseline="0" dirty="0">
                <a:solidFill>
                  <a:schemeClr val="tx1"/>
                </a:solidFill>
                <a:latin typeface="Arial" pitchFamily="34" charset="0"/>
                <a:ea typeface="+mn-ea"/>
                <a:cs typeface="Arial" pitchFamily="34" charset="0"/>
              </a:rPr>
              <a:t>no reciben influencia de su entorno ni interactúan con él. Por el contrario, los </a:t>
            </a:r>
            <a:r>
              <a:rPr lang="es-ES" sz="1000" b="1" kern="1200" baseline="0" dirty="0">
                <a:solidFill>
                  <a:schemeClr val="tx1"/>
                </a:solidFill>
                <a:latin typeface="Arial" pitchFamily="34" charset="0"/>
                <a:ea typeface="+mn-ea"/>
                <a:cs typeface="Arial" pitchFamily="34" charset="0"/>
              </a:rPr>
              <a:t>sistemas abiertos</a:t>
            </a:r>
            <a:r>
              <a:rPr lang="es-ES" sz="1000" b="0" kern="1200" baseline="0" dirty="0">
                <a:solidFill>
                  <a:schemeClr val="tx1"/>
                </a:solidFill>
                <a:latin typeface="Arial" pitchFamily="34" charset="0"/>
                <a:ea typeface="+mn-ea"/>
                <a:cs typeface="Arial" pitchFamily="34" charset="0"/>
              </a:rPr>
              <a:t> se ven influenciados por su entorno e interactúan con él. Hoy en </a:t>
            </a:r>
            <a:r>
              <a:rPr lang="es-ES" sz="1000" kern="1200" baseline="0" dirty="0">
                <a:solidFill>
                  <a:schemeClr val="tx1"/>
                </a:solidFill>
                <a:latin typeface="Arial" pitchFamily="34" charset="0"/>
                <a:ea typeface="+mn-ea"/>
                <a:cs typeface="Arial" pitchFamily="34" charset="0"/>
              </a:rPr>
              <a:t>día, cuando describimos a las organizaciones como sistemas, nos referimos a sistemas abiertos. La figura 2-7 muestra el diagrama de una organización desde la perspectiva de sistemas abiertos. Como puede ver, una organización toma elementos (recursos) de su entorno y los transforma o procesa como productos que se distribuyen nuevamente en el entorno. La organización está "abierta" al entorno e interactúa con él.</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El enfoque sistémico y los gerentes. </a:t>
            </a:r>
            <a:r>
              <a:rPr lang="es-ES" sz="1000" b="0" kern="1200" baseline="0" dirty="0">
                <a:solidFill>
                  <a:schemeClr val="tx1"/>
                </a:solidFill>
                <a:latin typeface="Arial" pitchFamily="34" charset="0"/>
                <a:ea typeface="+mn-ea"/>
                <a:cs typeface="Arial" pitchFamily="34" charset="0"/>
              </a:rPr>
              <a:t>¿De qué manera el enfoque sistémico contribuye a </a:t>
            </a:r>
            <a:r>
              <a:rPr lang="es-ES" sz="1000" kern="1200" baseline="0" dirty="0">
                <a:solidFill>
                  <a:schemeClr val="tx1"/>
                </a:solidFill>
                <a:latin typeface="Arial" pitchFamily="34" charset="0"/>
                <a:ea typeface="+mn-ea"/>
                <a:cs typeface="Arial" pitchFamily="34" charset="0"/>
              </a:rPr>
              <a:t>nuestra comprensión de la administración? Los investigadores visualizan una organización como si estuviera formada por "factores interdependientes que incluyen individuos, grupos, actitudes, motivos, estructura formal, interacciones, objetivos, estatus y autoridad“. Lo que esto significa es que los gerentes coordinan actividades laborales en las distintas partes de la organización y se aseguran de que todas estas partes funcionen juntas para que los objetivos de la empresa puedan lograrse. Por ejemplo, el enfoque sistémico reconoce que, no importa qué tan eficiente pueda ser el departamento de producción, si el departamento de marketing no se anticipa a los cambios en los gustos del cliente y trabaja con el departamento de desarrollo de productos para producir lo que los clientes desean, el desempeño global de la organización sentirá las consecuencias. </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Además, el enfoque sistémico implica que las decisiones y acciones de un área de la organización afectarán a otras áreas. Por ejemplo, si el departamento de compras no adquiere la cantidad correcta de insumos de calidad, el departamento de producción no podrá hacer su trabajo.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Por último, el enfoque sistémico reconoce que las organizaciones no están aisladas. Dependen del entorno para obtener sus recursos y para que éste absorba sus productos. Ninguna organización puede sobrevivir durante mucho tiempo si ignora los reglamentos gubernamentales, las relaciones con proveedores o de las diversas entidades de las que depende. (En el capítulo 3 estudiaremos estas fuerzas ambientales externas.).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¿Qué tan importante es el enfoque sistémico para la administración? Lo es, y en gran manera. Por ejemplo, considere a un gerente de turno de uno de los restaurantes Wendy, el cual debe coordinar el trabajo de los empleados que toman las órdenes de los clientes en el mostrador y de las que son para llevar, dirigir la entrega y descarga de provisiones, así como resolver cualquier problema que surja con los clientes. Este gerente "maneja" todas las partes del "sistema" para que el restaurante logre sus metas diarias de ventas.</a:t>
            </a:r>
            <a:endParaRPr lang="es-ES" sz="1000" b="1" kern="1200" baseline="0" dirty="0">
              <a:solidFill>
                <a:schemeClr val="tx1"/>
              </a:solidFill>
              <a:latin typeface="Arial" pitchFamily="34" charset="0"/>
              <a:ea typeface="+mn-ea"/>
              <a:cs typeface="Arial" pitchFamily="34" charset="0"/>
            </a:endParaRP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ENFOQUE DE CONTINGENCIAS</a:t>
            </a:r>
          </a:p>
          <a:p>
            <a:r>
              <a:rPr lang="es-ES" sz="1000" kern="1200" baseline="0" dirty="0">
                <a:solidFill>
                  <a:schemeClr val="tx1"/>
                </a:solidFill>
                <a:latin typeface="Arial" pitchFamily="34" charset="0"/>
                <a:ea typeface="+mn-ea"/>
                <a:cs typeface="Arial" pitchFamily="34" charset="0"/>
              </a:rPr>
              <a:t>Los primeros teóricos de la administración nos presentaron principios de administración que, en general, asumieron que eran aplicables de manera universal. Investigaciones posteriores encontraron excepciones a muchos de estos principios. Por ejemplo, la división del trabajo es valiosa y se utiliza mucho, pero las tareas pueden volverse </a:t>
            </a:r>
            <a:r>
              <a:rPr lang="es-ES" sz="1000" i="1" kern="1200" baseline="0" dirty="0">
                <a:solidFill>
                  <a:schemeClr val="tx1"/>
                </a:solidFill>
                <a:latin typeface="Arial" pitchFamily="34" charset="0"/>
                <a:ea typeface="+mn-ea"/>
                <a:cs typeface="Arial" pitchFamily="34" charset="0"/>
              </a:rPr>
              <a:t>demasiado especializadas. </a:t>
            </a:r>
            <a:r>
              <a:rPr lang="es-ES" sz="1000" kern="1200" baseline="0" dirty="0">
                <a:solidFill>
                  <a:schemeClr val="tx1"/>
                </a:solidFill>
                <a:latin typeface="Arial" pitchFamily="34" charset="0"/>
                <a:ea typeface="+mn-ea"/>
                <a:cs typeface="Arial" pitchFamily="34" charset="0"/>
              </a:rPr>
              <a:t>La burocracia es deseable en muchas situaciones, pero en otras circunstancias, otros diseños estructurales son más efectivos. La administración no se basa (y no puede hacerlo) en principios simplistas que puedan aplicarse en todas las situaciones. Situaciones cambiantes y diferentes requieren que los gerentes utilicen enfoques y técnicas distintas. El </a:t>
            </a:r>
            <a:r>
              <a:rPr lang="es-ES" sz="1000" b="1" kern="1200" baseline="0" dirty="0">
                <a:solidFill>
                  <a:schemeClr val="tx1"/>
                </a:solidFill>
                <a:latin typeface="Arial" pitchFamily="34" charset="0"/>
                <a:ea typeface="+mn-ea"/>
                <a:cs typeface="Arial" pitchFamily="34" charset="0"/>
              </a:rPr>
              <a:t>enfoque de contingencias </a:t>
            </a:r>
            <a:r>
              <a:rPr lang="es-ES" sz="1000" b="0" kern="1200" baseline="0" dirty="0">
                <a:solidFill>
                  <a:schemeClr val="tx1"/>
                </a:solidFill>
                <a:latin typeface="Arial" pitchFamily="34" charset="0"/>
                <a:ea typeface="+mn-ea"/>
                <a:cs typeface="Arial" pitchFamily="34" charset="0"/>
              </a:rPr>
              <a:t>(algunas veces llamado</a:t>
            </a:r>
            <a:r>
              <a:rPr lang="es-ES" sz="1000" b="1" kern="1200" baseline="0" dirty="0">
                <a:solidFill>
                  <a:schemeClr val="tx1"/>
                </a:solidFill>
                <a:latin typeface="Arial" pitchFamily="34" charset="0"/>
                <a:ea typeface="+mn-ea"/>
                <a:cs typeface="Arial" pitchFamily="34" charset="0"/>
              </a:rPr>
              <a:t> enfoque de situaciones o situacional</a:t>
            </a:r>
            <a:r>
              <a:rPr lang="es-ES" sz="1000" b="0"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plantea que las organizaciones no son iguales, enfrentan situaciones distintas (contingencias) y requieren diferentes formas de dirección.</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El enfoque de contingencias y los gerentes.</a:t>
            </a:r>
            <a:r>
              <a:rPr lang="es-ES" sz="1000" b="0" kern="1200" baseline="0" dirty="0">
                <a:solidFill>
                  <a:schemeClr val="tx1"/>
                </a:solidFill>
                <a:latin typeface="Arial" pitchFamily="34" charset="0"/>
                <a:ea typeface="+mn-ea"/>
                <a:cs typeface="Arial" pitchFamily="34" charset="0"/>
              </a:rPr>
              <a:t> Una buena manera de describir contingencia es </a:t>
            </a:r>
            <a:r>
              <a:rPr lang="es-ES" sz="1000" kern="1200" baseline="0" dirty="0">
                <a:solidFill>
                  <a:schemeClr val="tx1"/>
                </a:solidFill>
                <a:latin typeface="Arial" pitchFamily="34" charset="0"/>
                <a:ea typeface="+mn-ea"/>
                <a:cs typeface="Arial" pitchFamily="34" charset="0"/>
              </a:rPr>
              <a:t>"si…, entonces": “</a:t>
            </a:r>
            <a:r>
              <a:rPr lang="es-ES" sz="1000" i="1" kern="1200" baseline="0" dirty="0">
                <a:solidFill>
                  <a:schemeClr val="tx1"/>
                </a:solidFill>
                <a:latin typeface="Arial" pitchFamily="34" charset="0"/>
                <a:ea typeface="+mn-ea"/>
                <a:cs typeface="Arial" pitchFamily="34" charset="0"/>
              </a:rPr>
              <a:t>Sí” </a:t>
            </a:r>
            <a:r>
              <a:rPr lang="es-ES" sz="1000" i="0" kern="1200" baseline="0" dirty="0">
                <a:solidFill>
                  <a:schemeClr val="tx1"/>
                </a:solidFill>
                <a:latin typeface="Arial" pitchFamily="34" charset="0"/>
                <a:ea typeface="+mn-ea"/>
                <a:cs typeface="Arial" pitchFamily="34" charset="0"/>
              </a:rPr>
              <a:t>es la forma en que se encuentra mi situación, “</a:t>
            </a:r>
            <a:r>
              <a:rPr lang="es-ES" sz="1000" i="1" kern="1200" baseline="0" dirty="0">
                <a:solidFill>
                  <a:schemeClr val="tx1"/>
                </a:solidFill>
                <a:latin typeface="Arial" pitchFamily="34" charset="0"/>
                <a:ea typeface="+mn-ea"/>
                <a:cs typeface="Arial" pitchFamily="34" charset="0"/>
              </a:rPr>
              <a:t>entonces”</a:t>
            </a:r>
            <a:r>
              <a:rPr lang="es-ES" sz="1000" i="0" kern="1200" baseline="0" dirty="0">
                <a:solidFill>
                  <a:schemeClr val="tx1"/>
                </a:solidFill>
                <a:latin typeface="Arial" pitchFamily="34" charset="0"/>
                <a:ea typeface="+mn-ea"/>
                <a:cs typeface="Arial" pitchFamily="34" charset="0"/>
              </a:rPr>
              <a:t> es la mejor forma </a:t>
            </a:r>
            <a:r>
              <a:rPr lang="es-ES" sz="1000" kern="1200" baseline="0" dirty="0">
                <a:solidFill>
                  <a:schemeClr val="tx1"/>
                </a:solidFill>
                <a:latin typeface="Arial" pitchFamily="34" charset="0"/>
                <a:ea typeface="+mn-ea"/>
                <a:cs typeface="Arial" pitchFamily="34" charset="0"/>
              </a:rPr>
              <a:t>que tengo para manejar esta situación. Este enfoque es intuitivamente lógico debido a que las organizaciones, e incluso las unidades de la misma organización, son diferentes en términos de tamaño, objetivos, actividades laborales, etcétera. </a:t>
            </a:r>
            <a:r>
              <a:rPr lang="es-ES" sz="1000" i="0" kern="1200" baseline="0" dirty="0">
                <a:solidFill>
                  <a:schemeClr val="tx1"/>
                </a:solidFill>
                <a:latin typeface="Arial" pitchFamily="34" charset="0"/>
                <a:ea typeface="+mn-ea"/>
                <a:cs typeface="Arial" pitchFamily="34" charset="0"/>
              </a:rPr>
              <a:t>las situaciones. Pero, por supuesto, una cosa es decir que la forma de dirigir </a:t>
            </a:r>
            <a:r>
              <a:rPr lang="es-ES" sz="1000" kern="1200" baseline="0" dirty="0">
                <a:solidFill>
                  <a:schemeClr val="tx1"/>
                </a:solidFill>
                <a:latin typeface="Arial" pitchFamily="34" charset="0"/>
                <a:ea typeface="+mn-ea"/>
                <a:cs typeface="Arial" pitchFamily="34" charset="0"/>
              </a:rPr>
              <a:t>Sería sorprendente encontrar reglas de administración que fueran aplicables de manera universal y que funcionaran en </a:t>
            </a:r>
            <a:r>
              <a:rPr lang="es-ES" sz="1000" i="1" kern="1200" baseline="0" dirty="0">
                <a:solidFill>
                  <a:schemeClr val="tx1"/>
                </a:solidFill>
                <a:latin typeface="Arial" pitchFamily="34" charset="0"/>
                <a:ea typeface="+mn-ea"/>
                <a:cs typeface="Arial" pitchFamily="34" charset="0"/>
              </a:rPr>
              <a:t>todas </a:t>
            </a:r>
            <a:r>
              <a:rPr lang="es-ES" sz="1000" kern="1200" baseline="0" dirty="0">
                <a:solidFill>
                  <a:schemeClr val="tx1"/>
                </a:solidFill>
                <a:latin typeface="Arial" pitchFamily="34" charset="0"/>
                <a:ea typeface="+mn-ea"/>
                <a:cs typeface="Arial" pitchFamily="34" charset="0"/>
              </a:rPr>
              <a:t>"depende de la situación" y otra es decir que la situación depende de la forma de dirigir. Los investigadores en administración siguen trabajando para identificar estas variables situacionales. La figura 2-8 describe cuatro variables generales de contingencia. Aunque la lista no es exhaustiva en modo alguno (se han identificado más de 100 variables diferentes), ésta presenta a aquellas que se utilizan más comúnmente y le da una idea de lo que queremos decir con el término </a:t>
            </a:r>
            <a:r>
              <a:rPr lang="es-ES" sz="1000" i="1" kern="1200" baseline="0" dirty="0">
                <a:solidFill>
                  <a:schemeClr val="tx1"/>
                </a:solidFill>
                <a:latin typeface="Arial" pitchFamily="34" charset="0"/>
                <a:ea typeface="+mn-ea"/>
                <a:cs typeface="Arial" pitchFamily="34" charset="0"/>
              </a:rPr>
              <a:t>variable de contingencia. </a:t>
            </a:r>
            <a:r>
              <a:rPr lang="es-ES" sz="1000" i="0" kern="1200" baseline="0" dirty="0">
                <a:solidFill>
                  <a:schemeClr val="tx1"/>
                </a:solidFill>
                <a:latin typeface="Arial" pitchFamily="34" charset="0"/>
                <a:ea typeface="+mn-ea"/>
                <a:cs typeface="Arial" pitchFamily="34" charset="0"/>
              </a:rPr>
              <a:t>El valor principal del enfoque de contingencias</a:t>
            </a:r>
            <a:r>
              <a:rPr lang="es-ES" sz="1000" i="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es que enfatiza que no existen reglas simplistas o universales que los gerentes deban seguir.</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Figura 2-8 Variable generales </a:t>
            </a:r>
          </a:p>
          <a:p>
            <a:pPr>
              <a:buFont typeface="Arial" pitchFamily="34" charset="0"/>
              <a:buChar char="•"/>
            </a:pPr>
            <a:r>
              <a:rPr lang="es-ES" sz="1000" b="1" kern="1200" baseline="0" dirty="0">
                <a:solidFill>
                  <a:schemeClr val="tx1"/>
                </a:solidFill>
                <a:latin typeface="Arial" pitchFamily="34" charset="0"/>
                <a:ea typeface="+mn-ea"/>
                <a:cs typeface="Arial" pitchFamily="34" charset="0"/>
              </a:rPr>
              <a:t> Tamaño de la organización. </a:t>
            </a:r>
            <a:r>
              <a:rPr lang="es-ES" sz="1000" b="0" kern="1200" baseline="0" dirty="0">
                <a:solidFill>
                  <a:schemeClr val="tx1"/>
                </a:solidFill>
                <a:latin typeface="Arial" pitchFamily="34" charset="0"/>
                <a:ea typeface="+mn-ea"/>
                <a:cs typeface="Arial" pitchFamily="34" charset="0"/>
              </a:rPr>
              <a:t>Cuando el tamaño aumenta también lo hacen los problemas </a:t>
            </a:r>
            <a:r>
              <a:rPr lang="es-ES" sz="1000" kern="1200" baseline="0" dirty="0">
                <a:solidFill>
                  <a:schemeClr val="tx1"/>
                </a:solidFill>
                <a:latin typeface="Arial" pitchFamily="34" charset="0"/>
                <a:ea typeface="+mn-ea"/>
                <a:cs typeface="Arial" pitchFamily="34" charset="0"/>
              </a:rPr>
              <a:t>de coordinación. Por ejemplo, es probable que el tipo de estructura organizacional adecuada para una empresa de 50,000 empleados sea ineficiente para una de 50.</a:t>
            </a:r>
          </a:p>
          <a:p>
            <a:pPr>
              <a:buFont typeface="Arial" pitchFamily="34" charset="0"/>
              <a:buChar char="•"/>
            </a:pPr>
            <a:r>
              <a:rPr lang="es-ES" sz="1000" b="1" kern="1200" baseline="0" dirty="0">
                <a:solidFill>
                  <a:schemeClr val="tx1"/>
                </a:solidFill>
                <a:latin typeface="Arial" pitchFamily="34" charset="0"/>
                <a:ea typeface="+mn-ea"/>
                <a:cs typeface="Arial" pitchFamily="34" charset="0"/>
              </a:rPr>
              <a:t> Tecnología para tareas rutinarias. </a:t>
            </a:r>
            <a:r>
              <a:rPr lang="es-ES" sz="1000" b="0" kern="1200" baseline="0" dirty="0">
                <a:solidFill>
                  <a:schemeClr val="tx1"/>
                </a:solidFill>
                <a:latin typeface="Arial" pitchFamily="34" charset="0"/>
                <a:ea typeface="+mn-ea"/>
                <a:cs typeface="Arial" pitchFamily="34" charset="0"/>
              </a:rPr>
              <a:t>Para lograr sus metas, una organización utiliza tecnología. </a:t>
            </a:r>
            <a:r>
              <a:rPr lang="es-ES" sz="1000" kern="1200" baseline="0" dirty="0">
                <a:solidFill>
                  <a:schemeClr val="tx1"/>
                </a:solidFill>
                <a:latin typeface="Arial" pitchFamily="34" charset="0"/>
                <a:ea typeface="+mn-ea"/>
                <a:cs typeface="Arial" pitchFamily="34" charset="0"/>
              </a:rPr>
              <a:t>Las tecnologías de rutina requieren estructuras organizacionales, estilos de liderazgo y sistemas de control que difieren de lo que necesitan las tecnologías personalizadas o que no son de rutina.</a:t>
            </a:r>
          </a:p>
          <a:p>
            <a:pPr>
              <a:buFont typeface="Arial" pitchFamily="34" charset="0"/>
              <a:buChar char="•"/>
            </a:pPr>
            <a:r>
              <a:rPr lang="es-ES" sz="1000" b="1" kern="1200" baseline="0" dirty="0">
                <a:solidFill>
                  <a:schemeClr val="tx1"/>
                </a:solidFill>
                <a:latin typeface="Arial" pitchFamily="34" charset="0"/>
                <a:ea typeface="+mn-ea"/>
                <a:cs typeface="Arial" pitchFamily="34" charset="0"/>
              </a:rPr>
              <a:t> Incertidumbre ambiental. </a:t>
            </a:r>
            <a:r>
              <a:rPr lang="es-ES" sz="1000" b="0" kern="1200" baseline="0" dirty="0">
                <a:solidFill>
                  <a:schemeClr val="tx1"/>
                </a:solidFill>
                <a:latin typeface="Arial" pitchFamily="34" charset="0"/>
                <a:ea typeface="+mn-ea"/>
                <a:cs typeface="Arial" pitchFamily="34" charset="0"/>
              </a:rPr>
              <a:t>El grado de incertidumbre ocasionado por cambios ambientales </a:t>
            </a:r>
            <a:r>
              <a:rPr lang="es-ES" sz="1000" kern="1200" baseline="0" dirty="0">
                <a:solidFill>
                  <a:schemeClr val="tx1"/>
                </a:solidFill>
                <a:latin typeface="Arial" pitchFamily="34" charset="0"/>
                <a:ea typeface="+mn-ea"/>
                <a:cs typeface="Arial" pitchFamily="34" charset="0"/>
              </a:rPr>
              <a:t>influye en el proceso de administración. Lo que funciona bien en un entorno estable y predecible puede ser totalmente inapropiado en un ambiente muy cambiante e impredecible.</a:t>
            </a:r>
          </a:p>
          <a:p>
            <a:pPr>
              <a:buFont typeface="Arial" pitchFamily="34" charset="0"/>
              <a:buChar char="•"/>
            </a:pPr>
            <a:r>
              <a:rPr lang="es-ES" sz="1000" b="1" kern="1200" baseline="0" dirty="0">
                <a:solidFill>
                  <a:schemeClr val="tx1"/>
                </a:solidFill>
                <a:latin typeface="Arial" pitchFamily="34" charset="0"/>
                <a:ea typeface="+mn-ea"/>
                <a:cs typeface="Arial" pitchFamily="34" charset="0"/>
              </a:rPr>
              <a:t> Diferencias individuales. </a:t>
            </a:r>
            <a:r>
              <a:rPr lang="es-ES" sz="1000" b="0" kern="1200" baseline="0" dirty="0">
                <a:solidFill>
                  <a:schemeClr val="tx1"/>
                </a:solidFill>
                <a:latin typeface="Arial" pitchFamily="34" charset="0"/>
                <a:ea typeface="+mn-ea"/>
                <a:cs typeface="Arial" pitchFamily="34" charset="0"/>
              </a:rPr>
              <a:t>Los individuos difieren en términos de sus deseos de crecimiento, </a:t>
            </a:r>
            <a:r>
              <a:rPr lang="es-ES" sz="1000" kern="1200" baseline="0" dirty="0">
                <a:solidFill>
                  <a:schemeClr val="tx1"/>
                </a:solidFill>
                <a:latin typeface="Arial" pitchFamily="34" charset="0"/>
                <a:ea typeface="+mn-ea"/>
                <a:cs typeface="Arial" pitchFamily="34" charset="0"/>
              </a:rPr>
              <a:t>autonomía, tolerancia a la ambigüedad y expectativas. Éstas y otras diferencias individuales son particularmente importantes cuando los gerentes seleccionan técnicas de motivación, estilos de liderazgo y diseños de labores.</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ADMINISTRACIÓN DE LA CALIDAD TOTAL</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En las décadas de 1980 y 1990 la revolución en la calidad se extendió por los sectores privado y público.10 Ésta fue impulsada por un pequeño grupo de expertos en calidad, cuyos miembros más famosos fueron W. Edwards </a:t>
            </a:r>
            <a:r>
              <a:rPr lang="es-ES" sz="1000" kern="1200" baseline="0" dirty="0" err="1">
                <a:solidFill>
                  <a:schemeClr val="tx1"/>
                </a:solidFill>
                <a:latin typeface="Arial" pitchFamily="34" charset="0"/>
                <a:ea typeface="+mn-ea"/>
                <a:cs typeface="Arial" pitchFamily="34" charset="0"/>
              </a:rPr>
              <a:t>Deming</a:t>
            </a:r>
            <a:r>
              <a:rPr lang="es-ES" sz="1000" kern="1200" baseline="0" dirty="0">
                <a:solidFill>
                  <a:schemeClr val="tx1"/>
                </a:solidFill>
                <a:latin typeface="Arial" pitchFamily="34" charset="0"/>
                <a:ea typeface="+mn-ea"/>
                <a:cs typeface="Arial" pitchFamily="34" charset="0"/>
              </a:rPr>
              <a:t> y Joseph M. Juran. Las ideas y técnicas que defendieron durante la década de 1950 tuvieron algunos seguidores en Estados Unidos, pero fueron recibidas con entusiasmo por organizaciones japonesas. Sin embargo, cuando los fabricantes japoneses comenzaron a superar a sus competidores estadounidenses en comparaciones de calidad, los gerentes occidentales pronto tomaron con más seriedad las ideas de </a:t>
            </a:r>
            <a:r>
              <a:rPr lang="es-ES" sz="1000" kern="1200" baseline="0" dirty="0" err="1">
                <a:solidFill>
                  <a:schemeClr val="tx1"/>
                </a:solidFill>
                <a:latin typeface="Arial" pitchFamily="34" charset="0"/>
                <a:ea typeface="+mn-ea"/>
                <a:cs typeface="Arial" pitchFamily="34" charset="0"/>
              </a:rPr>
              <a:t>Deming</a:t>
            </a:r>
            <a:r>
              <a:rPr lang="es-ES" sz="1000" kern="1200" baseline="0" dirty="0">
                <a:solidFill>
                  <a:schemeClr val="tx1"/>
                </a:solidFill>
                <a:latin typeface="Arial" pitchFamily="34" charset="0"/>
                <a:ea typeface="+mn-ea"/>
                <a:cs typeface="Arial" pitchFamily="34" charset="0"/>
              </a:rPr>
              <a:t> y Juran; ideas que se convirtieron en la base de los programas actuales de administración de la calidad.</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La administración de la calidad total (ACT) </a:t>
            </a:r>
            <a:r>
              <a:rPr lang="es-ES" sz="1000" b="0" kern="1200" baseline="0" dirty="0">
                <a:solidFill>
                  <a:schemeClr val="tx1"/>
                </a:solidFill>
                <a:latin typeface="Arial" pitchFamily="34" charset="0"/>
                <a:ea typeface="+mn-ea"/>
                <a:cs typeface="Arial" pitchFamily="34" charset="0"/>
              </a:rPr>
              <a:t>es una filosofía de administración comprometida </a:t>
            </a:r>
            <a:r>
              <a:rPr lang="es-ES" sz="1000" kern="1200" baseline="0" dirty="0">
                <a:solidFill>
                  <a:schemeClr val="tx1"/>
                </a:solidFill>
                <a:latin typeface="Arial" pitchFamily="34" charset="0"/>
                <a:ea typeface="+mn-ea"/>
                <a:cs typeface="Arial" pitchFamily="34" charset="0"/>
              </a:rPr>
              <a:t>con la mejora continua para responder a las necesidades y expectativas del cliente (vea la figura 2-5). El término cl</a:t>
            </a:r>
            <a:r>
              <a:rPr lang="es-ES" sz="1000" i="1" kern="1200" baseline="0" dirty="0">
                <a:solidFill>
                  <a:schemeClr val="tx1"/>
                </a:solidFill>
                <a:latin typeface="Arial" pitchFamily="34" charset="0"/>
                <a:ea typeface="+mn-ea"/>
                <a:cs typeface="Arial" pitchFamily="34" charset="0"/>
              </a:rPr>
              <a:t>iente incluye a cualquiera que interactúe con los productos </a:t>
            </a:r>
            <a:r>
              <a:rPr lang="es-ES" sz="1000" kern="1200" baseline="0" dirty="0">
                <a:solidFill>
                  <a:schemeClr val="tx1"/>
                </a:solidFill>
                <a:latin typeface="Arial" pitchFamily="34" charset="0"/>
                <a:ea typeface="+mn-ea"/>
                <a:cs typeface="Arial" pitchFamily="34" charset="0"/>
              </a:rPr>
              <a:t>o servicios de la empresa, ya sea de manera interna o externa; abarca a empleados y proveedores, así como a la gente que compra bienes o servicios de la organización. La </a:t>
            </a:r>
            <a:r>
              <a:rPr lang="es-ES" sz="1000" i="1" kern="1200" baseline="0" dirty="0">
                <a:solidFill>
                  <a:schemeClr val="tx1"/>
                </a:solidFill>
                <a:latin typeface="Arial" pitchFamily="34" charset="0"/>
                <a:ea typeface="+mn-ea"/>
                <a:cs typeface="Arial" pitchFamily="34" charset="0"/>
              </a:rPr>
              <a:t>mejora continua no es posible sin mediciones precisas, lo que requiere de técnicas estadísticas que </a:t>
            </a:r>
            <a:r>
              <a:rPr lang="es-ES" sz="1000" kern="1200" baseline="0" dirty="0">
                <a:solidFill>
                  <a:schemeClr val="tx1"/>
                </a:solidFill>
                <a:latin typeface="Arial" pitchFamily="34" charset="0"/>
                <a:ea typeface="+mn-ea"/>
                <a:cs typeface="Arial" pitchFamily="34" charset="0"/>
              </a:rPr>
              <a:t>miden cada variable crítica de los procesos de trabajo de la empresa. Estas mediciones se comparan con los estándares para identificar y corregir problemas.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ACT fue una variante de los primeros enfoques de la administración que se basaban en la creencia de que mantener costos bajos era la única forma de aumentar la productividad. La industria automotriz de Estados Unidos se utiliza frecuentemente como</a:t>
            </a:r>
          </a:p>
          <a:p>
            <a:r>
              <a:rPr lang="es-ES" sz="1000" kern="1200" baseline="0" dirty="0">
                <a:solidFill>
                  <a:schemeClr val="tx1"/>
                </a:solidFill>
                <a:latin typeface="Arial" pitchFamily="34" charset="0"/>
                <a:ea typeface="+mn-ea"/>
                <a:cs typeface="Arial" pitchFamily="34" charset="0"/>
              </a:rPr>
              <a:t>un ejemplo de lo que puede salir mal cuando los gerentes se centran sólo en tratar de bajar los costos. A finales de la década de 1970, General Motors, Ford y Chrysler fabricaron automóviles que muchos consumidores rechazaron. El segundo autor recuerda haber comprado un Pontiac Grand </a:t>
            </a:r>
            <a:r>
              <a:rPr lang="es-ES" sz="1000" kern="1200" baseline="0" dirty="0" err="1">
                <a:solidFill>
                  <a:schemeClr val="tx1"/>
                </a:solidFill>
                <a:latin typeface="Arial" pitchFamily="34" charset="0"/>
                <a:ea typeface="+mn-ea"/>
                <a:cs typeface="Arial" pitchFamily="34" charset="0"/>
              </a:rPr>
              <a:t>Prix</a:t>
            </a:r>
            <a:r>
              <a:rPr lang="es-ES" sz="1000" kern="1200" baseline="0" dirty="0">
                <a:solidFill>
                  <a:schemeClr val="tx1"/>
                </a:solidFill>
                <a:latin typeface="Arial" pitchFamily="34" charset="0"/>
                <a:ea typeface="+mn-ea"/>
                <a:cs typeface="Arial" pitchFamily="34" charset="0"/>
              </a:rPr>
              <a:t> de General Motors a finales de dicha década, haberlo sacado del lote, llevado hasta una gasolinera y haber visto cómo se derramaba la gasolina en el suelo ¡debido a un agujero en el tanque del automóvil! Si consideramos los costos por defectos, las reparaciones de trabajos de muy mala calidad, los retiros de productos y los costosos controles para identificar problemas de calidad, en realidad los fabricantes estadounidenses fueron </a:t>
            </a:r>
            <a:r>
              <a:rPr lang="es-ES" sz="1000" i="1" kern="1200" baseline="0" dirty="0">
                <a:solidFill>
                  <a:schemeClr val="tx1"/>
                </a:solidFill>
                <a:latin typeface="Arial" pitchFamily="34" charset="0"/>
                <a:ea typeface="+mn-ea"/>
                <a:cs typeface="Arial" pitchFamily="34" charset="0"/>
              </a:rPr>
              <a:t>menos </a:t>
            </a:r>
            <a:r>
              <a:rPr lang="es-ES" sz="1000" i="0" kern="1200" baseline="0" dirty="0">
                <a:solidFill>
                  <a:schemeClr val="tx1"/>
                </a:solidFill>
                <a:latin typeface="Arial" pitchFamily="34" charset="0"/>
                <a:ea typeface="+mn-ea"/>
                <a:cs typeface="Arial" pitchFamily="34" charset="0"/>
              </a:rPr>
              <a:t>productivos que muchos competidores extranjeros. Los </a:t>
            </a:r>
            <a:r>
              <a:rPr lang="es-ES" sz="1000" kern="1200" baseline="0" dirty="0">
                <a:solidFill>
                  <a:schemeClr val="tx1"/>
                </a:solidFill>
                <a:latin typeface="Arial" pitchFamily="34" charset="0"/>
                <a:ea typeface="+mn-ea"/>
                <a:cs typeface="Arial" pitchFamily="34" charset="0"/>
              </a:rPr>
              <a:t>japoneses demostraron que </a:t>
            </a:r>
            <a:r>
              <a:rPr lang="es-ES" sz="1000" i="1" kern="1200" baseline="0" dirty="0">
                <a:solidFill>
                  <a:schemeClr val="tx1"/>
                </a:solidFill>
                <a:latin typeface="Arial" pitchFamily="34" charset="0"/>
                <a:ea typeface="+mn-ea"/>
                <a:cs typeface="Arial" pitchFamily="34" charset="0"/>
              </a:rPr>
              <a:t>era </a:t>
            </a:r>
            <a:r>
              <a:rPr lang="es-ES" sz="1000" i="0" kern="1200" baseline="0" dirty="0">
                <a:solidFill>
                  <a:schemeClr val="tx1"/>
                </a:solidFill>
                <a:latin typeface="Arial" pitchFamily="34" charset="0"/>
                <a:ea typeface="+mn-ea"/>
                <a:cs typeface="Arial" pitchFamily="34" charset="0"/>
              </a:rPr>
              <a:t>posible que los fabricantes de más alta calidad estuvieran</a:t>
            </a:r>
          </a:p>
          <a:p>
            <a:r>
              <a:rPr lang="es-ES" sz="1000" i="0" kern="1200" baseline="0" dirty="0">
                <a:solidFill>
                  <a:schemeClr val="tx1"/>
                </a:solidFill>
                <a:latin typeface="Arial" pitchFamily="34" charset="0"/>
                <a:ea typeface="+mn-ea"/>
                <a:cs typeface="Arial" pitchFamily="34" charset="0"/>
              </a:rPr>
              <a:t>entre los productores con más bajos costos. Los fabricantes de muchas industrias </a:t>
            </a:r>
            <a:r>
              <a:rPr lang="es-ES" sz="1000" kern="1200" baseline="0" dirty="0">
                <a:solidFill>
                  <a:schemeClr val="tx1"/>
                </a:solidFill>
                <a:latin typeface="Arial" pitchFamily="34" charset="0"/>
                <a:ea typeface="+mn-ea"/>
                <a:cs typeface="Arial" pitchFamily="34" charset="0"/>
              </a:rPr>
              <a:t>ahora reconocen la importancia de la administración de la calidad e implementan muchos de sus componentes básicos.</a:t>
            </a:r>
            <a:endParaRPr lang="es-ES" sz="1000" kern="1200" dirty="0">
              <a:solidFill>
                <a:schemeClr val="tx1"/>
              </a:solidFill>
              <a:latin typeface="Arial" pitchFamily="34" charset="0"/>
              <a:ea typeface="+mn-ea"/>
              <a:cs typeface="Arial" pitchFamily="34" charset="0"/>
            </a:endParaRPr>
          </a:p>
          <a:p>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Figura</a:t>
            </a:r>
            <a:r>
              <a:rPr lang="es-ES" sz="1000" kern="1200" baseline="0" dirty="0">
                <a:solidFill>
                  <a:schemeClr val="tx1"/>
                </a:solidFill>
                <a:latin typeface="Arial" pitchFamily="34" charset="0"/>
                <a:ea typeface="+mn-ea"/>
                <a:cs typeface="Arial" pitchFamily="34" charset="0"/>
              </a:rPr>
              <a:t> 2-5. Qué es la administración de la calidad?</a:t>
            </a:r>
            <a:endParaRPr lang="es-ES" sz="1000" kern="1200" dirty="0">
              <a:solidFill>
                <a:schemeClr val="tx1"/>
              </a:solidFill>
              <a:latin typeface="Arial" pitchFamily="34" charset="0"/>
              <a:ea typeface="+mn-ea"/>
              <a:cs typeface="Arial" pitchFamily="34" charset="0"/>
            </a:endParaRPr>
          </a:p>
          <a:p>
            <a:pPr marL="228600" indent="-228600">
              <a:buFont typeface="+mj-lt"/>
              <a:buAutoNum type="arabicPeriod"/>
            </a:pPr>
            <a:r>
              <a:rPr lang="es-ES" sz="1000" b="1" i="0" kern="1200" baseline="0" dirty="0">
                <a:solidFill>
                  <a:schemeClr val="tx1"/>
                </a:solidFill>
                <a:latin typeface="Arial" pitchFamily="34" charset="0"/>
                <a:ea typeface="+mn-ea"/>
                <a:cs typeface="Arial" pitchFamily="34" charset="0"/>
              </a:rPr>
              <a:t>Intensificar la atención al cliente</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El cliente incluye a las personas externas que compran los productos o servicios de la organización, </a:t>
            </a:r>
            <a:r>
              <a:rPr lang="es-ES" sz="1000" i="0" kern="1200" baseline="0" dirty="0" err="1">
                <a:solidFill>
                  <a:schemeClr val="tx1"/>
                </a:solidFill>
                <a:latin typeface="Arial" pitchFamily="34" charset="0"/>
                <a:ea typeface="+mn-ea"/>
                <a:cs typeface="Arial" pitchFamily="34" charset="0"/>
              </a:rPr>
              <a:t>asi</a:t>
            </a:r>
            <a:r>
              <a:rPr lang="es-ES" sz="1000" i="0" kern="1200" baseline="0" dirty="0">
                <a:solidFill>
                  <a:schemeClr val="tx1"/>
                </a:solidFill>
                <a:latin typeface="Arial" pitchFamily="34" charset="0"/>
                <a:ea typeface="+mn-ea"/>
                <a:cs typeface="Arial" pitchFamily="34" charset="0"/>
              </a:rPr>
              <a:t> como clientes internos que interactúan y sirven a otros en la empresa.</a:t>
            </a:r>
          </a:p>
          <a:p>
            <a:pPr marL="228600" indent="-228600">
              <a:buFont typeface="+mj-lt"/>
              <a:buAutoNum type="arabicPeriod"/>
            </a:pPr>
            <a:r>
              <a:rPr lang="es-ES" sz="1000" b="1" kern="1200" baseline="0" dirty="0">
                <a:solidFill>
                  <a:schemeClr val="tx1"/>
                </a:solidFill>
                <a:latin typeface="Arial" pitchFamily="34" charset="0"/>
                <a:ea typeface="+mn-ea"/>
                <a:cs typeface="Arial" pitchFamily="34" charset="0"/>
              </a:rPr>
              <a:t>Ocuparse de la </a:t>
            </a:r>
            <a:r>
              <a:rPr lang="es-ES" sz="1000" b="1" i="0" kern="1200" baseline="0" dirty="0">
                <a:solidFill>
                  <a:schemeClr val="tx1"/>
                </a:solidFill>
                <a:latin typeface="Arial" pitchFamily="34" charset="0"/>
                <a:ea typeface="+mn-ea"/>
                <a:cs typeface="Arial" pitchFamily="34" charset="0"/>
              </a:rPr>
              <a:t>mejora</a:t>
            </a:r>
            <a:r>
              <a:rPr lang="es-ES" sz="1000" b="1" i="1" kern="1200" baseline="0" dirty="0">
                <a:solidFill>
                  <a:schemeClr val="tx1"/>
                </a:solidFill>
                <a:latin typeface="Arial" pitchFamily="34" charset="0"/>
                <a:ea typeface="+mn-ea"/>
                <a:cs typeface="Arial" pitchFamily="34" charset="0"/>
              </a:rPr>
              <a:t> </a:t>
            </a:r>
            <a:r>
              <a:rPr lang="es-ES" sz="1000" b="1" i="0" kern="1200" baseline="0" dirty="0">
                <a:solidFill>
                  <a:schemeClr val="tx1"/>
                </a:solidFill>
                <a:latin typeface="Arial" pitchFamily="34" charset="0"/>
                <a:ea typeface="+mn-ea"/>
                <a:cs typeface="Arial" pitchFamily="34" charset="0"/>
              </a:rPr>
              <a:t>continua</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La administración de la calidad es un compromiso </a:t>
            </a:r>
            <a:r>
              <a:rPr lang="es-ES" sz="1000" kern="1200" baseline="0" dirty="0">
                <a:solidFill>
                  <a:schemeClr val="tx1"/>
                </a:solidFill>
                <a:latin typeface="Arial" pitchFamily="34" charset="0"/>
                <a:ea typeface="+mn-ea"/>
                <a:cs typeface="Arial" pitchFamily="34" charset="0"/>
              </a:rPr>
              <a:t>a nunca estar satisfecho. "Muy bien" no es suficiente. La calidad siempre puede mejorarse.</a:t>
            </a:r>
          </a:p>
          <a:p>
            <a:pPr marL="228600" indent="-228600">
              <a:buFont typeface="+mj-lt"/>
              <a:buAutoNum type="arabicPeriod"/>
            </a:pPr>
            <a:r>
              <a:rPr lang="es-ES" sz="1000" b="1" i="0" kern="1200" baseline="0" dirty="0">
                <a:solidFill>
                  <a:schemeClr val="tx1"/>
                </a:solidFill>
                <a:latin typeface="Arial" pitchFamily="34" charset="0"/>
                <a:ea typeface="+mn-ea"/>
                <a:cs typeface="Arial" pitchFamily="34" charset="0"/>
              </a:rPr>
              <a:t>Enfocarse en los procesos</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La administración de la calidad se centra en los procesos de </a:t>
            </a:r>
            <a:r>
              <a:rPr lang="es-ES" sz="1000" kern="1200" baseline="0" dirty="0">
                <a:solidFill>
                  <a:schemeClr val="tx1"/>
                </a:solidFill>
                <a:latin typeface="Arial" pitchFamily="34" charset="0"/>
                <a:ea typeface="+mn-ea"/>
                <a:cs typeface="Arial" pitchFamily="34" charset="0"/>
              </a:rPr>
              <a:t>trabajo mientras la calidad de los bienes y servicios mejora continuamente.</a:t>
            </a:r>
          </a:p>
          <a:p>
            <a:pPr marL="228600" indent="-228600">
              <a:buFont typeface="+mj-lt"/>
              <a:buAutoNum type="arabicPeriod"/>
            </a:pPr>
            <a:r>
              <a:rPr lang="es-ES" sz="1000" b="1" i="0" kern="1200" baseline="0" dirty="0">
                <a:solidFill>
                  <a:schemeClr val="tx1"/>
                </a:solidFill>
                <a:latin typeface="Arial" pitchFamily="34" charset="0"/>
                <a:ea typeface="+mn-ea"/>
                <a:cs typeface="Arial" pitchFamily="34" charset="0"/>
              </a:rPr>
              <a:t>Mejorar la calidad de todo lo que hace la organización</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Esto se relaciona con el producto final</a:t>
            </a:r>
            <a:r>
              <a:rPr lang="es-ES" sz="1000" kern="1200" baseline="0" dirty="0">
                <a:solidFill>
                  <a:schemeClr val="tx1"/>
                </a:solidFill>
                <a:latin typeface="Arial" pitchFamily="34" charset="0"/>
                <a:ea typeface="+mn-ea"/>
                <a:cs typeface="Arial" pitchFamily="34" charset="0"/>
              </a:rPr>
              <a:t>, con cómo maneja la organización sus entregas, qué tan rápido responde a las quejas, qué tan amablemente se responde a los telefonemas, etcétera.</a:t>
            </a:r>
          </a:p>
          <a:p>
            <a:pPr marL="228600" indent="-228600">
              <a:buFont typeface="+mj-lt"/>
              <a:buAutoNum type="arabicPeriod"/>
            </a:pPr>
            <a:r>
              <a:rPr lang="es-ES" sz="1000" b="1" i="0" kern="1200" baseline="0" dirty="0">
                <a:solidFill>
                  <a:schemeClr val="tx1"/>
                </a:solidFill>
                <a:latin typeface="Arial" pitchFamily="34" charset="0"/>
                <a:ea typeface="+mn-ea"/>
                <a:cs typeface="Arial" pitchFamily="34" charset="0"/>
              </a:rPr>
              <a:t>Mediciones precisas</a:t>
            </a:r>
            <a:r>
              <a:rPr lang="es-ES" sz="1000" i="0" kern="1200" baseline="0" dirty="0">
                <a:solidFill>
                  <a:schemeClr val="tx1"/>
                </a:solidFill>
                <a:latin typeface="Arial" pitchFamily="34" charset="0"/>
                <a:ea typeface="+mn-ea"/>
                <a:cs typeface="Arial" pitchFamily="34" charset="0"/>
              </a:rPr>
              <a:t>. La administración de la calidad utiliza técnicas estadísticas para medir cada variable crítica de las operaciones de la empresa. Éstas se comparan con los estándares para identificar problemas, ubicar sus raíces y eliminar lo que los ocasiona.</a:t>
            </a:r>
          </a:p>
          <a:p>
            <a:pPr marL="228600" indent="-228600">
              <a:buFont typeface="+mj-lt"/>
              <a:buAutoNum type="arabicPeriod"/>
            </a:pPr>
            <a:r>
              <a:rPr lang="es-ES" sz="1000" b="1" i="0" kern="1200" baseline="0" dirty="0">
                <a:solidFill>
                  <a:schemeClr val="tx1"/>
                </a:solidFill>
                <a:latin typeface="Arial" pitchFamily="34" charset="0"/>
                <a:ea typeface="+mn-ea"/>
                <a:cs typeface="Arial" pitchFamily="34" charset="0"/>
              </a:rPr>
              <a:t>Fortalecimiento de los empleados</a:t>
            </a:r>
            <a:r>
              <a:rPr lang="es-ES" sz="1000" i="0" kern="1200" baseline="0" dirty="0">
                <a:solidFill>
                  <a:schemeClr val="tx1"/>
                </a:solidFill>
                <a:latin typeface="Arial" pitchFamily="34" charset="0"/>
                <a:ea typeface="+mn-ea"/>
                <a:cs typeface="Arial" pitchFamily="34" charset="0"/>
              </a:rPr>
              <a:t>. La administración de la calidad involucra a la gente de la línea del proceso de mejoramiento. Los equipos se utilizan </a:t>
            </a:r>
            <a:r>
              <a:rPr lang="es-ES" sz="1000" kern="1200" baseline="0" dirty="0">
                <a:solidFill>
                  <a:schemeClr val="tx1"/>
                </a:solidFill>
                <a:latin typeface="Arial" pitchFamily="34" charset="0"/>
                <a:ea typeface="+mn-ea"/>
                <a:cs typeface="Arial" pitchFamily="34" charset="0"/>
              </a:rPr>
              <a:t>ampliamente en programas de administración de la calidad como medio para fortalecer la búsqueda y resolución de problemas.</a:t>
            </a:r>
            <a:endParaRPr lang="es-ES" sz="1000" kern="1200" dirty="0">
              <a:solidFill>
                <a:schemeClr val="tx1"/>
              </a:solidFill>
              <a:latin typeface="Arial" pitchFamily="34" charset="0"/>
              <a:ea typeface="+mn-ea"/>
              <a:cs typeface="Arial" pitchFamily="34" charset="0"/>
            </a:endParaRPr>
          </a:p>
          <a:p>
            <a:endParaRPr lang="es-ES" sz="1000" b="1"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ORGANIZACIÓN QUE APRENDE</a:t>
            </a:r>
            <a:endParaRPr lang="es-ES" sz="1000" kern="1200" dirty="0">
              <a:solidFill>
                <a:schemeClr val="tx1"/>
              </a:solidFill>
              <a:latin typeface="Arial" pitchFamily="34" charset="0"/>
              <a:ea typeface="+mn-ea"/>
              <a:cs typeface="Arial" pitchFamily="34" charset="0"/>
            </a:endParaRPr>
          </a:p>
          <a:p>
            <a:r>
              <a:rPr lang="es-ES" sz="1000" b="1" kern="1200" dirty="0">
                <a:solidFill>
                  <a:schemeClr val="tx1"/>
                </a:solidFill>
                <a:latin typeface="Arial" pitchFamily="34" charset="0"/>
                <a:ea typeface="+mn-ea"/>
                <a:cs typeface="Arial" pitchFamily="34" charset="0"/>
              </a:rPr>
              <a:t> </a:t>
            </a:r>
            <a:endParaRPr lang="es-ES" sz="1000" kern="1200" dirty="0">
              <a:solidFill>
                <a:schemeClr val="tx1"/>
              </a:solidFill>
              <a:latin typeface="Arial" pitchFamily="34" charset="0"/>
              <a:ea typeface="+mn-ea"/>
              <a:cs typeface="Arial" pitchFamily="34" charset="0"/>
            </a:endParaRPr>
          </a:p>
          <a:p>
            <a:r>
              <a:rPr lang="es-ES" sz="1000" kern="1200" dirty="0">
                <a:solidFill>
                  <a:schemeClr val="tx1"/>
                </a:solidFill>
                <a:latin typeface="Arial" pitchFamily="34" charset="0"/>
                <a:ea typeface="+mn-ea"/>
                <a:cs typeface="Arial" pitchFamily="34" charset="0"/>
              </a:rPr>
              <a:t>Enfoque de la administración basado en la idea de que una organización que anticipa el cambio de forma más rápida que sus competidores, obtiene una ventaja en el mercado.  </a:t>
            </a:r>
          </a:p>
          <a:p>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16</a:t>
            </a:fld>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normAutofit fontScale="85000" lnSpcReduction="20000"/>
          </a:bodyPr>
          <a:lstStyle/>
          <a:p>
            <a:r>
              <a:rPr lang="es-AR" b="1" dirty="0"/>
              <a:t>modelo de contingencias</a:t>
            </a:r>
          </a:p>
          <a:p>
            <a:r>
              <a:rPr lang="es-AR" dirty="0"/>
              <a:t>Modelo administrativo que reconoce las diferencias que existen entre organizaciones, lo cual implica que cada una de ellas enfrenta situaciones (contingencias) distintas y requiere formas de administración específicas</a:t>
            </a:r>
          </a:p>
          <a:p>
            <a:r>
              <a:rPr lang="es-AR" sz="1200" b="1" i="0" u="none" strike="noStrike" kern="1200" cap="none" spc="0" baseline="0" dirty="0">
                <a:solidFill>
                  <a:srgbClr val="000000"/>
                </a:solidFill>
                <a:uFillTx/>
                <a:latin typeface="Calibri" pitchFamily="34"/>
              </a:rPr>
              <a:t>Tamaño de la organización. </a:t>
            </a:r>
            <a:r>
              <a:rPr lang="es-AR" sz="1200" b="0" i="0" u="none" strike="noStrike" kern="1200" cap="none" spc="0" baseline="0" dirty="0">
                <a:solidFill>
                  <a:srgbClr val="000000"/>
                </a:solidFill>
                <a:uFillTx/>
                <a:latin typeface="Calibri" pitchFamily="34"/>
              </a:rPr>
              <a:t>A medida que la empresa crece, también lo hacen los problemas de coordinación. Por ejemplo, el tipo de estructura organizacional apropiado para una empresa de 50 000 empleados, seguramente será ineficiente para una </a:t>
            </a:r>
            <a:r>
              <a:rPr lang="en-US" sz="1200" b="0" i="0" u="none" strike="noStrike" kern="1200" cap="none" spc="0" baseline="0" dirty="0" err="1">
                <a:solidFill>
                  <a:srgbClr val="000000"/>
                </a:solidFill>
                <a:uFillTx/>
                <a:latin typeface="Calibri" pitchFamily="34"/>
              </a:rPr>
              <a:t>organización</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conformada</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por</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cincuenta</a:t>
            </a:r>
            <a:r>
              <a:rPr lang="en-US" sz="1200" b="0" i="0" u="none" strike="noStrike" kern="1200" cap="none" spc="0" baseline="0" dirty="0">
                <a:solidFill>
                  <a:srgbClr val="000000"/>
                </a:solidFill>
                <a:uFillTx/>
                <a:latin typeface="Calibri" pitchFamily="34"/>
              </a:rPr>
              <a:t>.</a:t>
            </a:r>
          </a:p>
          <a:p>
            <a:r>
              <a:rPr lang="es-AR" sz="1200" b="1" i="0" u="none" strike="noStrike" kern="1200" cap="none" spc="0" baseline="0" dirty="0">
                <a:solidFill>
                  <a:srgbClr val="000000"/>
                </a:solidFill>
                <a:uFillTx/>
                <a:latin typeface="Calibri" pitchFamily="34"/>
              </a:rPr>
              <a:t>Tecnologías rutinarias. </a:t>
            </a:r>
            <a:r>
              <a:rPr lang="es-AR" sz="1200" b="0" i="0" u="none" strike="noStrike" kern="1200" cap="none" spc="0" baseline="0" dirty="0">
                <a:solidFill>
                  <a:srgbClr val="000000"/>
                </a:solidFill>
                <a:uFillTx/>
                <a:latin typeface="Calibri" pitchFamily="34"/>
              </a:rPr>
              <a:t>Para lograr su propósito, la organización emplea tecnología. Las tecnologías rutinarias demandan estructuras organizacionales, estilos de liderazgo y sistemas de control distintos de los que son necesarios cuando se utilizan tecnologías a </a:t>
            </a:r>
            <a:r>
              <a:rPr lang="en-US" sz="1200" b="0" i="0" u="none" strike="noStrike" kern="1200" cap="none" spc="0" baseline="0" dirty="0">
                <a:solidFill>
                  <a:srgbClr val="000000"/>
                </a:solidFill>
                <a:uFillTx/>
                <a:latin typeface="Calibri" pitchFamily="34"/>
              </a:rPr>
              <a:t>la </a:t>
            </a:r>
            <a:r>
              <a:rPr lang="en-US" sz="1200" b="0" i="0" u="none" strike="noStrike" kern="1200" cap="none" spc="0" baseline="0" dirty="0" err="1">
                <a:solidFill>
                  <a:srgbClr val="000000"/>
                </a:solidFill>
                <a:uFillTx/>
                <a:latin typeface="Calibri" pitchFamily="34"/>
              </a:rPr>
              <a:t>medida</a:t>
            </a:r>
            <a:r>
              <a:rPr lang="en-US" sz="1200" b="0" i="0" u="none" strike="noStrike" kern="1200" cap="none" spc="0" baseline="0" dirty="0">
                <a:solidFill>
                  <a:srgbClr val="000000"/>
                </a:solidFill>
                <a:uFillTx/>
                <a:latin typeface="Calibri" pitchFamily="34"/>
              </a:rPr>
              <a:t> o no </a:t>
            </a:r>
            <a:r>
              <a:rPr lang="en-US" sz="1200" b="0" i="0" u="none" strike="noStrike" kern="1200" cap="none" spc="0" baseline="0" dirty="0" err="1">
                <a:solidFill>
                  <a:srgbClr val="000000"/>
                </a:solidFill>
                <a:uFillTx/>
                <a:latin typeface="Calibri" pitchFamily="34"/>
              </a:rPr>
              <a:t>rutinarias</a:t>
            </a:r>
            <a:r>
              <a:rPr lang="en-US" sz="1200" b="0" i="0" u="none" strike="noStrike" kern="1200" cap="none" spc="0" baseline="0" dirty="0">
                <a:solidFill>
                  <a:srgbClr val="000000"/>
                </a:solidFill>
                <a:uFillTx/>
                <a:latin typeface="Calibri" pitchFamily="34"/>
              </a:rPr>
              <a:t>.</a:t>
            </a:r>
          </a:p>
          <a:p>
            <a:r>
              <a:rPr lang="es-AR" sz="1200" b="1" i="0" u="none" strike="noStrike" kern="1200" cap="none" spc="0" baseline="0" dirty="0">
                <a:solidFill>
                  <a:srgbClr val="000000"/>
                </a:solidFill>
                <a:uFillTx/>
                <a:latin typeface="Calibri" pitchFamily="34"/>
              </a:rPr>
              <a:t>Incertidumbre del entorno. </a:t>
            </a:r>
            <a:r>
              <a:rPr lang="es-AR" sz="1200" b="0" i="0" u="none" strike="noStrike" kern="1200" cap="none" spc="0" baseline="0" dirty="0">
                <a:solidFill>
                  <a:srgbClr val="000000"/>
                </a:solidFill>
                <a:uFillTx/>
                <a:latin typeface="Calibri" pitchFamily="34"/>
              </a:rPr>
              <a:t>El grado de incertidumbre provocado por los cambios del entorno influye en el proceso administrativo. Lo que funciona bien en un entorno estable y predecible podría ser totalmente inapropiado en un entorno impredecible y caracterizado por una rápida transformación.</a:t>
            </a:r>
          </a:p>
          <a:p>
            <a:r>
              <a:rPr lang="es-AR" sz="1200" b="1" i="0" u="none" strike="noStrike" kern="1200" cap="none" spc="0" baseline="0" dirty="0">
                <a:solidFill>
                  <a:srgbClr val="000000"/>
                </a:solidFill>
                <a:uFillTx/>
                <a:latin typeface="Calibri" pitchFamily="34"/>
              </a:rPr>
              <a:t>Diferencias individuales. </a:t>
            </a:r>
            <a:r>
              <a:rPr lang="es-AR" sz="1200" b="0" i="0" u="none" strike="noStrike" kern="1200" cap="none" spc="0" baseline="0" dirty="0">
                <a:solidFill>
                  <a:srgbClr val="000000"/>
                </a:solidFill>
                <a:uFillTx/>
                <a:latin typeface="Calibri" pitchFamily="34"/>
              </a:rPr>
              <a:t>Las personas son distintas entre sí en términos de su deseo de crecimiento, autonomía, tolerancia a la ambigüedad y expectativas. Éstas y otras</a:t>
            </a:r>
          </a:p>
          <a:p>
            <a:r>
              <a:rPr lang="en-US" sz="1200" b="0" i="0" u="none" strike="noStrike" kern="1200" cap="none" spc="0" baseline="0" dirty="0" err="1">
                <a:solidFill>
                  <a:srgbClr val="000000"/>
                </a:solidFill>
                <a:uFillTx/>
                <a:latin typeface="Calibri" pitchFamily="34"/>
              </a:rPr>
              <a:t>diferencias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individuales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resultan</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particularmente</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importantes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cuando</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los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gerentes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eligen</a:t>
            </a:r>
            <a:r>
              <a:rPr lang="en-US" sz="1200" b="0" i="0" u="none" strike="noStrike" kern="1200" cap="none" spc="0" baseline="0" dirty="0">
                <a:solidFill>
                  <a:srgbClr val="000000"/>
                </a:solidFill>
                <a:uFillTx/>
                <a:latin typeface="Calibri" pitchFamily="34"/>
              </a:rPr>
              <a:t> </a:t>
            </a:r>
            <a:r>
              <a:rPr lang="es-AR" sz="1200" b="0" i="0" u="none" strike="noStrike" kern="1200" cap="none" spc="0" baseline="0" dirty="0">
                <a:solidFill>
                  <a:srgbClr val="000000"/>
                </a:solidFill>
                <a:uFillTx/>
                <a:latin typeface="Calibri" pitchFamily="34"/>
              </a:rPr>
              <a:t>técnicas de motivación, estilos de liderazgo y diseños de puestos de trabajo.</a:t>
            </a:r>
          </a:p>
          <a:p>
            <a:endParaRPr lang="es-AR" sz="1200" b="0" i="0" u="none" strike="noStrike" kern="1200" cap="none" spc="0" baseline="0" dirty="0">
              <a:solidFill>
                <a:srgbClr val="000000"/>
              </a:solidFill>
              <a:uFillTx/>
              <a:latin typeface="Calibri" pitchFamily="34"/>
            </a:endParaRPr>
          </a:p>
          <a:p>
            <a:r>
              <a:rPr lang="es-ES" sz="1200" dirty="0">
                <a:latin typeface="Arial Narrow"/>
                <a:cs typeface="Arial Narrow"/>
              </a:rPr>
              <a:t>Lawrence y </a:t>
            </a:r>
            <a:r>
              <a:rPr lang="es-ES" sz="1200" dirty="0" err="1">
                <a:latin typeface="Arial Narrow"/>
                <a:cs typeface="Arial Narrow"/>
              </a:rPr>
              <a:t>Lorsch</a:t>
            </a:r>
            <a:r>
              <a:rPr lang="es-ES" sz="1200" dirty="0">
                <a:latin typeface="Arial Narrow"/>
                <a:cs typeface="Arial Narrow"/>
              </a:rPr>
              <a:t> (1967) investigaron </a:t>
            </a:r>
            <a:r>
              <a:rPr lang="es-ES" sz="1200" b="1" dirty="0">
                <a:latin typeface="Arial Narrow"/>
                <a:cs typeface="Arial Narrow"/>
              </a:rPr>
              <a:t>cómo influye el nivel de incertidumbre del entorno sobre el diseño organizativo</a:t>
            </a:r>
          </a:p>
          <a:p>
            <a:endParaRPr lang="es-ES" sz="1200" b="1" dirty="0">
              <a:latin typeface="Arial Narrow"/>
            </a:endParaRPr>
          </a:p>
          <a:p>
            <a:pPr algn="just"/>
            <a:r>
              <a:rPr lang="es-ES" dirty="0">
                <a:latin typeface="Arial Narrow" panose="020B0606020202030204" pitchFamily="34" charset="0"/>
              </a:rPr>
              <a:t>Las tecnologías se pueden clasificar a partir de dos dimensiones</a:t>
            </a:r>
          </a:p>
          <a:p>
            <a:pPr lvl="1">
              <a:buFont typeface="Wingdings" panose="05000000000000000000" pitchFamily="2" charset="2"/>
              <a:buChar char="§"/>
            </a:pPr>
            <a:r>
              <a:rPr lang="es-ES" b="1" dirty="0">
                <a:solidFill>
                  <a:schemeClr val="accent6">
                    <a:lumMod val="75000"/>
                  </a:schemeClr>
                </a:solidFill>
                <a:latin typeface="Arial Narrow" panose="020B0606020202030204" pitchFamily="34" charset="0"/>
              </a:rPr>
              <a:t>Variabilidad de la tarea </a:t>
            </a:r>
            <a:r>
              <a:rPr lang="es-ES" dirty="0">
                <a:latin typeface="Arial Narrow" panose="020B0606020202030204" pitchFamily="34" charset="0"/>
              </a:rPr>
              <a:t>(</a:t>
            </a:r>
            <a:r>
              <a:rPr lang="es-ES" i="1" dirty="0" err="1">
                <a:latin typeface="Arial Narrow" panose="020B0606020202030204" pitchFamily="34" charset="0"/>
              </a:rPr>
              <a:t>task</a:t>
            </a:r>
            <a:r>
              <a:rPr lang="es-ES" i="1" dirty="0">
                <a:latin typeface="Arial Narrow" panose="020B0606020202030204" pitchFamily="34" charset="0"/>
              </a:rPr>
              <a:t> </a:t>
            </a:r>
            <a:r>
              <a:rPr lang="es-ES" i="1" dirty="0" err="1">
                <a:latin typeface="Arial Narrow" panose="020B0606020202030204" pitchFamily="34" charset="0"/>
              </a:rPr>
              <a:t>variability</a:t>
            </a:r>
            <a:r>
              <a:rPr lang="es-ES" dirty="0">
                <a:latin typeface="Arial Narrow" panose="020B0606020202030204" pitchFamily="34" charset="0"/>
              </a:rPr>
              <a:t>):</a:t>
            </a:r>
          </a:p>
          <a:p>
            <a:pPr lvl="2" algn="just"/>
            <a:r>
              <a:rPr lang="es-ES" dirty="0">
                <a:latin typeface="Arial Narrow" panose="020B0606020202030204" pitchFamily="34" charset="0"/>
              </a:rPr>
              <a:t>Número de excepciones –situaciones nuevas o inesperadas– que un individuo tiene que resolver habitualmente al realizar una tarea. </a:t>
            </a:r>
          </a:p>
          <a:p>
            <a:pPr lvl="2" algn="just"/>
            <a:r>
              <a:rPr lang="es-ES" dirty="0">
                <a:latin typeface="Arial Narrow" panose="020B0606020202030204" pitchFamily="34" charset="0"/>
              </a:rPr>
              <a:t>Frecuencia de hechos inesperados y novedosos que tienen lugar en el proceso de trabajo.</a:t>
            </a:r>
          </a:p>
          <a:p>
            <a:pPr lvl="2" algn="just"/>
            <a:endParaRPr lang="es-ES" dirty="0">
              <a:latin typeface="Arial Narrow" panose="020B0606020202030204" pitchFamily="34" charset="0"/>
            </a:endParaRPr>
          </a:p>
          <a:p>
            <a:pPr lvl="1">
              <a:buFont typeface="Wingdings" panose="05000000000000000000" pitchFamily="2" charset="2"/>
              <a:buChar char="§"/>
            </a:pPr>
            <a:r>
              <a:rPr lang="es-ES" b="1" dirty="0">
                <a:solidFill>
                  <a:schemeClr val="accent6">
                    <a:lumMod val="75000"/>
                  </a:schemeClr>
                </a:solidFill>
                <a:latin typeface="Arial Narrow" panose="020B0606020202030204" pitchFamily="34" charset="0"/>
              </a:rPr>
              <a:t>Posibilidad de analizar la tarea </a:t>
            </a:r>
            <a:r>
              <a:rPr lang="es-ES" dirty="0">
                <a:latin typeface="Arial Narrow" panose="020B0606020202030204" pitchFamily="34" charset="0"/>
              </a:rPr>
              <a:t>(</a:t>
            </a:r>
            <a:r>
              <a:rPr lang="es-ES" i="1" dirty="0" err="1">
                <a:latin typeface="Arial Narrow" panose="020B0606020202030204" pitchFamily="34" charset="0"/>
              </a:rPr>
              <a:t>task</a:t>
            </a:r>
            <a:r>
              <a:rPr lang="es-ES" i="1" dirty="0">
                <a:latin typeface="Arial Narrow" panose="020B0606020202030204" pitchFamily="34" charset="0"/>
              </a:rPr>
              <a:t> </a:t>
            </a:r>
            <a:r>
              <a:rPr lang="es-ES" i="1" dirty="0" err="1">
                <a:latin typeface="Arial Narrow" panose="020B0606020202030204" pitchFamily="34" charset="0"/>
              </a:rPr>
              <a:t>analyzability</a:t>
            </a:r>
            <a:r>
              <a:rPr lang="es-ES" dirty="0">
                <a:latin typeface="Arial Narrow" panose="020B0606020202030204" pitchFamily="34" charset="0"/>
              </a:rPr>
              <a:t>):</a:t>
            </a:r>
          </a:p>
          <a:p>
            <a:pPr lvl="2" algn="just"/>
            <a:r>
              <a:rPr lang="es-ES" dirty="0">
                <a:latin typeface="Arial Narrow" panose="020B0606020202030204" pitchFamily="34" charset="0"/>
              </a:rPr>
              <a:t>Capacidad de aplicar procedimientos estándar en el proceso de trabajo.</a:t>
            </a:r>
          </a:p>
          <a:p>
            <a:pPr lvl="2" algn="just"/>
            <a:r>
              <a:rPr lang="es-ES" dirty="0">
                <a:latin typeface="Arial Narrow" panose="020B0606020202030204" pitchFamily="34" charset="0"/>
              </a:rPr>
              <a:t>Cuando el </a:t>
            </a:r>
            <a:r>
              <a:rPr lang="es-ES" b="1" dirty="0">
                <a:latin typeface="Arial Narrow" panose="020B0606020202030204" pitchFamily="34" charset="0"/>
              </a:rPr>
              <a:t>proceso de trabajo es altamente analizable </a:t>
            </a:r>
            <a:r>
              <a:rPr lang="es-ES" dirty="0">
                <a:latin typeface="Arial Narrow" panose="020B0606020202030204" pitchFamily="34" charset="0"/>
              </a:rPr>
              <a:t>puede reducirse a pasos mecánicos y los participantes pueden programar un procedimiento objetivo para resolver problemas</a:t>
            </a:r>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17</a:t>
            </a:fld>
            <a:endParaRPr lang="en-US"/>
          </a:p>
        </p:txBody>
      </p:sp>
    </p:spTree>
    <p:extLst>
      <p:ext uri="{BB962C8B-B14F-4D97-AF65-F5344CB8AC3E}">
        <p14:creationId xmlns:p14="http://schemas.microsoft.com/office/powerpoint/2010/main" val="1214238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18</a:t>
            </a:fld>
            <a:endParaRPr lang="en-US"/>
          </a:p>
        </p:txBody>
      </p:sp>
    </p:spTree>
    <p:extLst>
      <p:ext uri="{BB962C8B-B14F-4D97-AF65-F5344CB8AC3E}">
        <p14:creationId xmlns:p14="http://schemas.microsoft.com/office/powerpoint/2010/main" val="657998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normAutofit fontScale="92500" lnSpcReduction="10000"/>
          </a:bodyPr>
          <a:lstStyle/>
          <a:p>
            <a:r>
              <a:rPr lang="es-AR" sz="1200" b="1" i="0" u="none" strike="noStrike" kern="1200" cap="none" spc="0" baseline="0" dirty="0">
                <a:solidFill>
                  <a:srgbClr val="000000"/>
                </a:solidFill>
                <a:uFillTx/>
                <a:latin typeface="Calibri" pitchFamily="34"/>
              </a:rPr>
              <a:t>La administración de la calidad total (también conocida por las siglas de Total </a:t>
            </a:r>
            <a:r>
              <a:rPr lang="es-AR" sz="1200" b="1" i="0" u="none" strike="noStrike" kern="1200" cap="none" spc="0" baseline="0" dirty="0" err="1">
                <a:solidFill>
                  <a:srgbClr val="000000"/>
                </a:solidFill>
                <a:uFillTx/>
                <a:latin typeface="Calibri" pitchFamily="34"/>
              </a:rPr>
              <a:t>Quality</a:t>
            </a:r>
            <a:r>
              <a:rPr lang="es-AR" sz="1200" b="1" i="0" u="none" strike="noStrike" kern="1200" cap="none" spc="0" baseline="0" dirty="0">
                <a:solidFill>
                  <a:srgbClr val="000000"/>
                </a:solidFill>
                <a:uFillTx/>
                <a:latin typeface="Calibri" pitchFamily="34"/>
              </a:rPr>
              <a:t> Management, TQM), es una filosofía administrativa cuya finalidad es la mejora continua y responder</a:t>
            </a:r>
          </a:p>
          <a:p>
            <a:r>
              <a:rPr lang="es-AR" sz="1200" b="1" i="0" u="none" strike="noStrike" kern="1200" cap="none" spc="0" baseline="0" dirty="0">
                <a:solidFill>
                  <a:srgbClr val="000000"/>
                </a:solidFill>
                <a:uFillTx/>
                <a:latin typeface="Calibri" pitchFamily="34"/>
              </a:rPr>
              <a:t>a las necesidades y expectativas del cliente </a:t>
            </a:r>
          </a:p>
          <a:p>
            <a:endParaRPr lang="es-AR" sz="1200" b="1" i="0" u="none" strike="noStrike" kern="1200" cap="none" spc="0" baseline="0" dirty="0">
              <a:solidFill>
                <a:srgbClr val="000000"/>
              </a:solidFill>
              <a:uFillTx/>
              <a:latin typeface="Calibri" pitchFamily="34"/>
            </a:endParaRPr>
          </a:p>
          <a:p>
            <a:r>
              <a:rPr lang="es-AR" sz="1200" b="1" i="0" u="none" strike="noStrike" kern="1200" cap="none" spc="0" baseline="0" dirty="0">
                <a:solidFill>
                  <a:srgbClr val="000000"/>
                </a:solidFill>
                <a:uFillTx/>
                <a:latin typeface="Calibri" pitchFamily="34"/>
              </a:rPr>
              <a:t>Intenso enfoque en el cliente. </a:t>
            </a:r>
            <a:r>
              <a:rPr lang="es-AR" sz="1200" b="0" i="0" u="none" strike="noStrike" kern="1200" cap="none" spc="0" baseline="0" dirty="0">
                <a:solidFill>
                  <a:srgbClr val="000000"/>
                </a:solidFill>
                <a:uFillTx/>
                <a:latin typeface="Calibri" pitchFamily="34"/>
              </a:rPr>
              <a:t>El término cliente hace referencia tanto a los entes ajenos a la organización que compran sus productos y servicios, como a los clientes</a:t>
            </a:r>
          </a:p>
          <a:p>
            <a:r>
              <a:rPr lang="es-AR" sz="1200" b="0" i="0" u="none" strike="noStrike" kern="1200" cap="none" spc="0" baseline="0" dirty="0">
                <a:solidFill>
                  <a:srgbClr val="000000"/>
                </a:solidFill>
                <a:uFillTx/>
                <a:latin typeface="Calibri" pitchFamily="34"/>
              </a:rPr>
              <a:t>internos que interactúan en ella y dan servicio a otros integrantes de la empresa. </a:t>
            </a:r>
          </a:p>
          <a:p>
            <a:r>
              <a:rPr lang="es-AR" sz="1200" b="1" i="0" u="none" strike="noStrike" kern="1200" cap="none" spc="0" baseline="0" dirty="0">
                <a:solidFill>
                  <a:srgbClr val="000000"/>
                </a:solidFill>
                <a:uFillTx/>
                <a:latin typeface="Calibri" pitchFamily="34"/>
              </a:rPr>
              <a:t>2. Interés en la mejora continua. </a:t>
            </a:r>
            <a:r>
              <a:rPr lang="es-AR" sz="1200" b="0" i="0" u="none" strike="noStrike" kern="1200" cap="none" spc="0" baseline="0" dirty="0">
                <a:solidFill>
                  <a:srgbClr val="000000"/>
                </a:solidFill>
                <a:uFillTx/>
                <a:latin typeface="Calibri" pitchFamily="34"/>
              </a:rPr>
              <a:t>La administración de la calidad es un compromiso a nunca sentirse satisfechos. “Muy bien” no es suficiente. La calidad siempre puede </a:t>
            </a:r>
            <a:r>
              <a:rPr lang="en-US" sz="1200" b="0" i="0" u="none" strike="noStrike" kern="1200" cap="none" spc="0" baseline="0" dirty="0" err="1">
                <a:solidFill>
                  <a:srgbClr val="000000"/>
                </a:solidFill>
                <a:uFillTx/>
                <a:latin typeface="Calibri" pitchFamily="34"/>
              </a:rPr>
              <a:t>mejorarse</a:t>
            </a:r>
            <a:r>
              <a:rPr lang="en-US" sz="1200" b="0" i="0" u="none" strike="noStrike" kern="1200" cap="none" spc="0" baseline="0" dirty="0">
                <a:solidFill>
                  <a:srgbClr val="000000"/>
                </a:solidFill>
                <a:uFillTx/>
                <a:latin typeface="Calibri" pitchFamily="34"/>
              </a:rPr>
              <a:t>.</a:t>
            </a:r>
          </a:p>
          <a:p>
            <a:r>
              <a:rPr lang="es-AR" sz="1200" b="1" i="0" u="none" strike="noStrike" kern="1200" cap="none" spc="0" baseline="0" dirty="0">
                <a:solidFill>
                  <a:srgbClr val="000000"/>
                </a:solidFill>
                <a:uFillTx/>
                <a:latin typeface="Calibri" pitchFamily="34"/>
              </a:rPr>
              <a:t>3. Enfoque en los procesos. </a:t>
            </a:r>
            <a:r>
              <a:rPr lang="es-AR" sz="1200" b="0" i="0" u="none" strike="noStrike" kern="1200" cap="none" spc="0" baseline="0" dirty="0">
                <a:solidFill>
                  <a:srgbClr val="000000"/>
                </a:solidFill>
                <a:uFillTx/>
                <a:latin typeface="Calibri" pitchFamily="34"/>
              </a:rPr>
              <a:t>La administración de la calidad se enfoca en los procesos de trabajo, mientras la calidad de los bienes y servicios mejora de manera continua.</a:t>
            </a:r>
          </a:p>
          <a:p>
            <a:r>
              <a:rPr lang="es-AR" sz="1200" b="1" i="0" u="none" strike="noStrike" kern="1200" cap="none" spc="0" baseline="0" dirty="0">
                <a:solidFill>
                  <a:srgbClr val="000000"/>
                </a:solidFill>
                <a:uFillTx/>
                <a:latin typeface="Calibri" pitchFamily="34"/>
              </a:rPr>
              <a:t>4. Mejoramiento de la calidad de todo lo que hace la organización. </a:t>
            </a:r>
            <a:r>
              <a:rPr lang="es-AR" sz="1200" b="0" i="0" u="none" strike="noStrike" kern="1200" cap="none" spc="0" baseline="0" dirty="0">
                <a:solidFill>
                  <a:srgbClr val="000000"/>
                </a:solidFill>
                <a:uFillTx/>
                <a:latin typeface="Calibri" pitchFamily="34"/>
              </a:rPr>
              <a:t>Esto se refiere al producto final, a los mecanismos que utiliza la empresa para hacer las entregas, a</a:t>
            </a:r>
          </a:p>
          <a:p>
            <a:r>
              <a:rPr lang="es-AR" sz="1200" b="0" i="0" u="none" strike="noStrike" kern="1200" cap="none" spc="0" baseline="0" dirty="0">
                <a:solidFill>
                  <a:srgbClr val="000000"/>
                </a:solidFill>
                <a:uFillTx/>
                <a:latin typeface="Calibri" pitchFamily="34"/>
              </a:rPr>
              <a:t>cuán expedita es para responder las quejas, a la cortesía con que se contestan las </a:t>
            </a:r>
            <a:r>
              <a:rPr lang="en-US" sz="1200" b="0" i="0" u="none" strike="noStrike" kern="1200" cap="none" spc="0" baseline="0" dirty="0" err="1">
                <a:solidFill>
                  <a:srgbClr val="000000"/>
                </a:solidFill>
                <a:uFillTx/>
                <a:latin typeface="Calibri" pitchFamily="34"/>
              </a:rPr>
              <a:t>llamadas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telefónicas</a:t>
            </a:r>
            <a:r>
              <a:rPr lang="en-US" sz="1200" b="0" i="0" u="none" strike="noStrike" kern="1200" cap="none" spc="0" baseline="0" dirty="0">
                <a:solidFill>
                  <a:srgbClr val="000000"/>
                </a:solidFill>
                <a:uFillTx/>
                <a:latin typeface="Calibri" pitchFamily="34"/>
              </a:rPr>
              <a:t>, </a:t>
            </a:r>
            <a:r>
              <a:rPr lang="en-US" sz="1200" b="0" i="0" u="none" strike="noStrike" kern="1200" cap="none" spc="0" baseline="0" dirty="0" err="1">
                <a:solidFill>
                  <a:srgbClr val="000000"/>
                </a:solidFill>
                <a:uFillTx/>
                <a:latin typeface="Calibri" pitchFamily="34"/>
              </a:rPr>
              <a:t>etcétera</a:t>
            </a:r>
            <a:r>
              <a:rPr lang="en-US" sz="1200" b="0" i="0" u="none" strike="noStrike" kern="1200" cap="none" spc="0" baseline="0" dirty="0">
                <a:solidFill>
                  <a:srgbClr val="000000"/>
                </a:solidFill>
                <a:uFillTx/>
                <a:latin typeface="Calibri" pitchFamily="34"/>
              </a:rPr>
              <a:t>.</a:t>
            </a:r>
          </a:p>
          <a:p>
            <a:r>
              <a:rPr lang="es-AR" sz="1200" b="1" i="0" u="none" strike="noStrike" kern="1200" cap="none" spc="0" baseline="0" dirty="0">
                <a:solidFill>
                  <a:srgbClr val="000000"/>
                </a:solidFill>
                <a:uFillTx/>
                <a:latin typeface="Calibri" pitchFamily="34"/>
              </a:rPr>
              <a:t>5. Uso de medidas precisas. </a:t>
            </a:r>
            <a:r>
              <a:rPr lang="es-AR" sz="1200" b="0" i="0" u="none" strike="noStrike" kern="1200" cap="none" spc="0" baseline="0" dirty="0">
                <a:solidFill>
                  <a:srgbClr val="000000"/>
                </a:solidFill>
                <a:uFillTx/>
                <a:latin typeface="Calibri" pitchFamily="34"/>
              </a:rPr>
              <a:t>La administración de la calidad emplea técnicas estadísticas para medir todas las variables de importancia en las operaciones de la organización.</a:t>
            </a:r>
          </a:p>
          <a:p>
            <a:r>
              <a:rPr lang="es-AR" sz="1200" b="0" i="0" u="none" strike="noStrike" kern="1200" cap="none" spc="0" baseline="0" dirty="0">
                <a:solidFill>
                  <a:srgbClr val="000000"/>
                </a:solidFill>
                <a:uFillTx/>
                <a:latin typeface="Calibri" pitchFamily="34"/>
              </a:rPr>
              <a:t>Los resultados se contrastan con normas para identificar problemas, llegar hasta su raíz y erradicar las causas.</a:t>
            </a:r>
          </a:p>
          <a:p>
            <a:r>
              <a:rPr lang="es-AR" sz="1200" b="1" i="0" u="none" strike="noStrike" kern="1200" cap="none" spc="0" baseline="0" dirty="0">
                <a:solidFill>
                  <a:srgbClr val="000000"/>
                </a:solidFill>
                <a:uFillTx/>
                <a:latin typeface="Calibri" pitchFamily="34"/>
              </a:rPr>
              <a:t>6. Empoderamiento de los empleados. </a:t>
            </a:r>
            <a:r>
              <a:rPr lang="es-AR" sz="1200" b="0" i="0" u="none" strike="noStrike" kern="1200" cap="none" spc="0" baseline="0" dirty="0">
                <a:solidFill>
                  <a:srgbClr val="000000"/>
                </a:solidFill>
                <a:uFillTx/>
                <a:latin typeface="Calibri" pitchFamily="34"/>
              </a:rPr>
              <a:t>La administración de la calidad involucra a las personas que participan en el proceso de mejora. En los programas implementados bajo este modelo se utilizan mucho los equipos de trabajo, como vehículos de empoderamiento para encontrar problemas y solucionarlos.</a:t>
            </a:r>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19</a:t>
            </a:fld>
            <a:endParaRPr lang="en-US"/>
          </a:p>
        </p:txBody>
      </p:sp>
    </p:spTree>
    <p:extLst>
      <p:ext uri="{BB962C8B-B14F-4D97-AF65-F5344CB8AC3E}">
        <p14:creationId xmlns:p14="http://schemas.microsoft.com/office/powerpoint/2010/main" val="2417301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normAutofit fontScale="40000" lnSpcReduction="20000"/>
          </a:bodyPr>
          <a:lstStyle/>
          <a:p>
            <a:pPr marL="0" marR="0" lvl="0" indent="0" algn="l" defTabSz="914400" rtl="0" eaLnBrk="1" fontAlgn="auto" latinLnBrk="0" hangingPunct="0">
              <a:lnSpc>
                <a:spcPct val="100000"/>
              </a:lnSpc>
              <a:spcBef>
                <a:spcPts val="400"/>
              </a:spcBef>
              <a:spcAft>
                <a:spcPts val="0"/>
              </a:spcAft>
              <a:buClrTx/>
              <a:buSzTx/>
              <a:buFontTx/>
              <a:buNone/>
              <a:tabLst/>
              <a:defRPr/>
            </a:pPr>
            <a:r>
              <a:rPr lang="es-AR" dirty="0"/>
              <a:t>Las organizaciones ágiles deberán proporcionar productos y servicios que puedan cumplir con las cambiantes condiciones de los clientes y la competencia</a:t>
            </a:r>
            <a:endParaRPr lang="en-US" dirty="0"/>
          </a:p>
          <a:p>
            <a:r>
              <a:rPr lang="en-US" dirty="0"/>
              <a:t>McKinsey &amp; Company. The five trademarks of agile organizations. January 2018.</a:t>
            </a:r>
          </a:p>
          <a:p>
            <a:endParaRPr lang="en-US" dirty="0"/>
          </a:p>
          <a:p>
            <a:r>
              <a:rPr lang="es-AR" b="1" dirty="0"/>
              <a:t>Enfoque de Estrella del Norte incorporado a través de toda la organización</a:t>
            </a:r>
          </a:p>
          <a:p>
            <a:endParaRPr lang="es-AR" dirty="0"/>
          </a:p>
          <a:p>
            <a:r>
              <a:rPr lang="es-AR" dirty="0"/>
              <a:t>Las organizaciones ágiles repiensan, se enfocan y están comprometidas con la </a:t>
            </a:r>
            <a:r>
              <a:rPr lang="es-AR" b="1" dirty="0"/>
              <a:t>creación de valor con y para una amplia gama de partes interesadas</a:t>
            </a:r>
            <a:r>
              <a:rPr lang="es-AR" dirty="0"/>
              <a:t>; por ejemplo, empleados, inversionistas, socios y comunidades.</a:t>
            </a:r>
          </a:p>
          <a:p>
            <a:r>
              <a:rPr lang="es-AR" dirty="0"/>
              <a:t>Para satisfacer las necesidades en continua evolución de todos sus grupos de interés, las organizaciones ágiles diseñan </a:t>
            </a:r>
            <a:r>
              <a:rPr lang="es-AR" b="1" dirty="0"/>
              <a:t>enfoques distribuidos y flexibles para crear valor, </a:t>
            </a:r>
            <a:r>
              <a:rPr lang="es-AR" dirty="0"/>
              <a:t>integrando con frecuencia socios externos directamente en el sistema de creación de valor.</a:t>
            </a:r>
          </a:p>
          <a:p>
            <a:r>
              <a:rPr lang="es-AR" dirty="0"/>
              <a:t>Para dar coherencia y enfoque a sus modelos de creación de valor distribuido, las organizaciones ágiles establecen un propósito y una visión compartidos, la «Estrella del Norte» para la organización que ayuda a los empleados a sentirse personal y emocionalmente interesados. Este concepto de Estrella del Norte sirve de referencia cuando los clientes eligen dónde comprar, los empleados deciden dónde trabajar y los socios deciden dónde participar. Empresas como Amazon, Gore, Patagonia y </a:t>
            </a:r>
            <a:r>
              <a:rPr lang="es-AR" dirty="0" err="1"/>
              <a:t>Virgin</a:t>
            </a:r>
            <a:r>
              <a:rPr lang="es-AR" dirty="0"/>
              <a:t> ponen el foco de las partes interesadas en el corazón de su Estrella del Norte y, a su vez, en el corazón de la forma en que crean valor. Las personas de la organización, individual y proactivamente </a:t>
            </a:r>
            <a:r>
              <a:rPr lang="es-AR" b="1" dirty="0"/>
              <a:t>vigilan los cambios en las preferencias del cliente y el entorno externo y actúan en consecuencia. </a:t>
            </a:r>
            <a:r>
              <a:rPr lang="es-AR" dirty="0"/>
              <a:t>Estas empresas también pueden asignar recursos de manera flexible y rápida a donde más se necesitan. ,</a:t>
            </a:r>
          </a:p>
          <a:p>
            <a:endParaRPr lang="es-AR" dirty="0"/>
          </a:p>
          <a:p>
            <a:r>
              <a:rPr lang="es-AR" dirty="0"/>
              <a:t>Establecer una red de equipos facultados</a:t>
            </a:r>
          </a:p>
          <a:p>
            <a:r>
              <a:rPr lang="es-AR" dirty="0"/>
              <a:t>Las organizaciones ágiles </a:t>
            </a:r>
            <a:r>
              <a:rPr lang="es-AR" b="1" dirty="0"/>
              <a:t>mantienen una estructura estable de primer nivel, pero reemplazan gran parte de la jerarquía tradicional restante con una red de equipos flexibles y escalables</a:t>
            </a:r>
            <a:r>
              <a:rPr lang="es-AR" dirty="0"/>
              <a:t>. Las redes son una forma natural de organizar los esfuerzos porque equilibran la libertad individual con la coordinación colectiva. Una organización ágil comprende una red densa de equipos empoderados que operan con altos estándares de alineación, responsabilidad, experiencia, transparencia y colaboración. La compañía también debe tener un ecosistema estable para garantizar que estos equipos puedan operar de manera efectiva.</a:t>
            </a:r>
          </a:p>
          <a:p>
            <a:endParaRPr lang="es-AR" dirty="0"/>
          </a:p>
          <a:p>
            <a:r>
              <a:rPr lang="es-AR" dirty="0"/>
              <a:t>Ciclos rápidos de decisión y aprendizaje</a:t>
            </a:r>
          </a:p>
          <a:p>
            <a:endParaRPr lang="es-AR" dirty="0"/>
          </a:p>
          <a:p>
            <a:r>
              <a:rPr lang="es-AR" dirty="0"/>
              <a:t>Las organizaciones ágiles trabajan en ciclos rápidos de pensamiento y acción que están estrechamente alineados con su proceso de creatividad y resultados. Ya sea que éstos se implementen como pensamiento para el diseño, operaciones lean, desarrollo ágil u otras formas, esta integración e iteración continua y rápida de pensar, hacer y aprender conforma la capacidad de la organización para innovar y operar de una manera ágil.</a:t>
            </a:r>
          </a:p>
          <a:p>
            <a:endParaRPr lang="es-AR" dirty="0"/>
          </a:p>
          <a:p>
            <a:r>
              <a:rPr lang="es-AR" dirty="0"/>
              <a:t>Por ejemplo, en lugar de la planificación anual tradicional, el presupuesto y la revisión, algunas organizaciones se están moviendo a ciclos trimestrales, sistemas de gestión dinámica como Objetivos y Resultados Clave (OKR) y presupuestos de 12 meses consecutivos.</a:t>
            </a:r>
          </a:p>
          <a:p>
            <a:endParaRPr lang="es-AR" dirty="0"/>
          </a:p>
          <a:p>
            <a:r>
              <a:rPr lang="es-AR" dirty="0"/>
              <a:t>Existen varios elementos que caracterizan el modelo:</a:t>
            </a:r>
          </a:p>
          <a:p>
            <a:endParaRPr lang="es-AR" dirty="0"/>
          </a:p>
          <a:p>
            <a:r>
              <a:rPr lang="es-AR" dirty="0"/>
              <a:t>*Las organizaciones ágiles se centran en la iteración rápida y la experimentación.</a:t>
            </a:r>
          </a:p>
          <a:p>
            <a:r>
              <a:rPr lang="es-AR" dirty="0"/>
              <a:t>*Las organizaciones ágiles aprovechan las formas estandarizadas de trabajo para facilitar la interacción y comunicación entre equipos.</a:t>
            </a:r>
          </a:p>
          <a:p>
            <a:r>
              <a:rPr lang="es-AR" dirty="0"/>
              <a:t>*Las organizaciones ágiles están orientadas al desempeño por naturaleza.</a:t>
            </a:r>
          </a:p>
          <a:p>
            <a:r>
              <a:rPr lang="es-AR" dirty="0"/>
              <a:t>*Trabajar en ciclos rápidos requiere que las organizaciones ágiles insistan en una transparencia total de la    información, para que cada equipo pueda acceder rápida y fácilmente a la información que necesitan y compartir información con los demás.</a:t>
            </a:r>
          </a:p>
          <a:p>
            <a:r>
              <a:rPr lang="es-AR" dirty="0"/>
              <a:t>*Las organizaciones ágiles buscan que el aprendizaje continuo sea una parte continua y constante de su ADN.</a:t>
            </a:r>
          </a:p>
          <a:p>
            <a:r>
              <a:rPr lang="es-AR" dirty="0"/>
              <a:t>*Las organizaciones ágiles hacen hincapié en la toma de decisiones rápida, eficiente y continua, prefiriendo el 70 por ciento de probabilidad ahora contra el 100 por ciento de certeza más adelante.</a:t>
            </a:r>
          </a:p>
          <a:p>
            <a:endParaRPr lang="es-AR" dirty="0"/>
          </a:p>
          <a:p>
            <a:r>
              <a:rPr lang="es-AR" dirty="0"/>
              <a:t>4. Establecer un modelo de talento humano dinámico que encienda la pasión</a:t>
            </a:r>
          </a:p>
          <a:p>
            <a:endParaRPr lang="es-AR" dirty="0"/>
          </a:p>
          <a:p>
            <a:r>
              <a:rPr lang="es-AR" dirty="0"/>
              <a:t>Una cultura organizacional ágil pone a las personas en un centro que involucra y empodera a todos en la organización. Entonces, pueden crear valor de manera rápida, colaborativa y efectiva.</a:t>
            </a:r>
          </a:p>
          <a:p>
            <a:endParaRPr lang="es-AR" dirty="0"/>
          </a:p>
          <a:p>
            <a:r>
              <a:rPr lang="es-AR" dirty="0"/>
              <a:t>Las organizaciones que lo han hecho bien han invertido en un liderazgo que empodera y desarrolla a su gente, una comunidad fuerte que apoya y desarrolla la cultura, y los procesos de las personas subyacentes que fomentan el emprendimiento y la construcción de habilidades necesarias para que se produzca la agilidad.</a:t>
            </a:r>
          </a:p>
          <a:p>
            <a:endParaRPr lang="es-AR" dirty="0"/>
          </a:p>
          <a:p>
            <a:r>
              <a:rPr lang="es-AR" dirty="0"/>
              <a:t>El liderazgo en organizaciones ágiles sirve a las personas en la organización, empoderándolas y desarrollándolas. En lugar de planificadores, directores y controladores, se convierten en visionarios, arquitectos y entrenadores que empoderan a las personas con las competencias más relevantes para que puedan liderar, colaborar y ofrecer resultados excepcionales. Dichos líderes son catalizadores que motivan a las personas a actuar de forma orientada al equipo y participar en la toma de decisiones estratégicas y de organización que los afectarán a ellos y a su trabajo. A esto se le llama liderazgo compartido y servidor.</a:t>
            </a:r>
          </a:p>
          <a:p>
            <a:endParaRPr lang="es-AR" dirty="0"/>
          </a:p>
          <a:p>
            <a:r>
              <a:rPr lang="es-AR" dirty="0"/>
              <a:t>5. Incorporar tecnologías habilitadoras de última generación</a:t>
            </a:r>
          </a:p>
          <a:p>
            <a:endParaRPr lang="es-AR" dirty="0"/>
          </a:p>
          <a:p>
            <a:r>
              <a:rPr lang="es-AR" dirty="0"/>
              <a:t>Para muchas organizaciones, un replanteamiento radical del modelo organizacional requiere un replanteamiento de las tecnologías subyacentes y la habilitación de sus productos y procesos, así como las prácticas tecnológicas necesarias para respaldar la velocidad y la flexibilidad.</a:t>
            </a:r>
          </a:p>
          <a:p>
            <a:endParaRPr lang="es-AR" dirty="0"/>
          </a:p>
          <a:p>
            <a:r>
              <a:rPr lang="es-AR" dirty="0"/>
              <a:t>Las organizaciones ágiles deberán proporcionar productos y servicios que puedan cumplir con las cambiantes condiciones de los clientes y la competencia. Es probable que los productos y servicios tradicionales tengan que ser digitalizados o habilitados digitalmente. Los procesos operativos también deberán evolucionar de forma continua y rápida, lo que requerirá una arquitectura, sistemas y herramientas tecnológicas en evolución.</a:t>
            </a:r>
          </a:p>
          <a:p>
            <a:endParaRPr lang="es-AR" dirty="0"/>
          </a:p>
          <a:p>
            <a:r>
              <a:rPr lang="es-AR" dirty="0"/>
              <a:t>La tecnología debería incorporar progresivamente nuevas innovaciones técnicas, como contenedores, arquitecturas de micro-servicios y almacenamiento y servicios basados en la nube.</a:t>
            </a:r>
          </a:p>
          <a:p>
            <a:endParaRPr lang="es-AR" dirty="0"/>
          </a:p>
          <a:p>
            <a:r>
              <a:rPr lang="es-AR" dirty="0"/>
              <a:t>Conclusiones</a:t>
            </a:r>
          </a:p>
          <a:p>
            <a:r>
              <a:rPr lang="es-AR" dirty="0"/>
              <a:t>En una búsqueda continua por lograr una mayor competitividad, la conciencia organizacional debe incluir el objetivo de asimilar y adaptar las mejores prácticas. Entre otros, es necesario adoptar nuevos elementos que apoyen dichos esfuerzos. En resumen, son cinco los elementos que están cambiando el paradigma de las organizaciones en la búsqueda de un mejor desempeño:</a:t>
            </a:r>
          </a:p>
          <a:p>
            <a:endParaRPr lang="es-AR" dirty="0"/>
          </a:p>
          <a:p>
            <a:r>
              <a:rPr lang="es-AR" dirty="0"/>
              <a:t>a) Las organizaciones ágiles repiensan, se enfocan y están comprometidas con la creación de valor con y para una amplia gama de partes interesadas.</a:t>
            </a:r>
          </a:p>
          <a:p>
            <a:r>
              <a:rPr lang="es-AR" dirty="0"/>
              <a:t>b) Las organizaciones ágiles mantienen una estructura estable de primer nivel, pero reemplazan gran parte de la jerarquía tradicional restante con una red de equipos flexibles, escalables y facultados.</a:t>
            </a:r>
          </a:p>
          <a:p>
            <a:r>
              <a:rPr lang="es-AR" dirty="0"/>
              <a:t>c) Las organizaciones ágiles trabajan en ciclos rápidos de pensamiento y acción que están estrechamente alineados con su proceso de creatividad y resultados.</a:t>
            </a:r>
          </a:p>
          <a:p>
            <a:r>
              <a:rPr lang="es-AR" dirty="0"/>
              <a:t>d) Una cultura organizacional ágil pone a las personas en un centro que involucra y empodera a todos en la organización, lo que crea pasión y valor de manera rápida, colaborativa y efectiva.</a:t>
            </a:r>
          </a:p>
          <a:p>
            <a:r>
              <a:rPr lang="es-AR" dirty="0"/>
              <a:t>e) Para muchas organizaciones, un replanteamiento radical del modelo organizacional requiere un replanteamiento de las tecnologías subyacentes necesarias para respaldar la velocidad y la flexibilidad.</a:t>
            </a:r>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20</a:t>
            </a:fld>
            <a:endParaRPr lang="en-US"/>
          </a:p>
        </p:txBody>
      </p:sp>
    </p:spTree>
    <p:extLst>
      <p:ext uri="{BB962C8B-B14F-4D97-AF65-F5344CB8AC3E}">
        <p14:creationId xmlns:p14="http://schemas.microsoft.com/office/powerpoint/2010/main" val="2860619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normAutofit fontScale="40000" lnSpcReduction="20000"/>
          </a:bodyPr>
          <a:lstStyle/>
          <a:p>
            <a:r>
              <a:rPr lang="en-US" dirty="0"/>
              <a:t>McKinsey &amp; Company. The five trademarks of agile organizations. January 2018.</a:t>
            </a:r>
          </a:p>
          <a:p>
            <a:endParaRPr lang="en-US" dirty="0"/>
          </a:p>
          <a:p>
            <a:r>
              <a:rPr lang="es-AR" b="1" dirty="0"/>
              <a:t>Enfoque de Estrella del Norte incorporado a través de toda la organización</a:t>
            </a:r>
          </a:p>
          <a:p>
            <a:r>
              <a:rPr lang="es-AR" dirty="0"/>
              <a:t>Las organizaciones ágiles repiensan, se enfocan y están comprometidas con la creación de valor con y para una amplia gama de partes interesadas; por ejemplo, empleados, inversionistas, socios y comunidades.</a:t>
            </a:r>
          </a:p>
          <a:p>
            <a:r>
              <a:rPr lang="es-AR" dirty="0"/>
              <a:t>Para satisfacer las necesidades en continua evolución de todos sus grupos de interés, las organizaciones ágiles diseñan enfoques distribuidos y flexibles para crear valor, integrando con frecuencia socios externos directamente en el sistema de creación de valor.</a:t>
            </a:r>
          </a:p>
          <a:p>
            <a:r>
              <a:rPr lang="es-AR" dirty="0"/>
              <a:t>Para dar coherencia y enfoque a sus modelos de creación de valor distribuido, las organizaciones ágiles establecen un propósito y una visión compartidos, la «Estrella del Norte» para la organización que ayuda a los empleados a sentirse personal y emocionalmente interesados. Este concepto de Estrella del Norte sirve de referencia cuando los clientes eligen dónde comprar, los empleados deciden dónde trabajar y los socios deciden dónde participar. Empresas como Amazon, Gore, Patagonia y </a:t>
            </a:r>
            <a:r>
              <a:rPr lang="es-AR" dirty="0" err="1"/>
              <a:t>Virgin</a:t>
            </a:r>
            <a:r>
              <a:rPr lang="es-AR" dirty="0"/>
              <a:t> ponen el foco de las partes interesadas en el corazón de su Estrella del Norte y, a su vez, en el corazón de la forma en que crean valor. Las personas de la organización, individual y proactivamente, vigilan los cambios en las preferencias del cliente y el entorno externo y actúan en consecuencia. Estas empresas también pueden asignar recursos de manera flexible y rápida a donde más se necesitan.</a:t>
            </a:r>
          </a:p>
          <a:p>
            <a:endParaRPr lang="es-AR" dirty="0"/>
          </a:p>
          <a:p>
            <a:r>
              <a:rPr lang="es-AR" b="1" dirty="0"/>
              <a:t>Establecer una red de equipos facultados</a:t>
            </a:r>
          </a:p>
          <a:p>
            <a:r>
              <a:rPr lang="es-AR" dirty="0"/>
              <a:t>Las organizaciones ágiles mantienen una estructura estable de primer nivel, pero reemplazan gran parte de la jerarquía tradicional restante con una red de equipos flexibles y escalables. Las redes son una forma natural de organizar los esfuerzos porque equilibran la libertad individual con la coordinación colectiva. Una organización ágil comprende una red densa de equipos empoderados que operan con altos estándares de alineación, responsabilidad, experiencia, transparencia y colaboración. La compañía también debe tener un ecosistema estable para garantizar que estos equipos puedan operar de manera efectiva.</a:t>
            </a:r>
          </a:p>
          <a:p>
            <a:endParaRPr lang="es-AR" b="1" dirty="0"/>
          </a:p>
          <a:p>
            <a:r>
              <a:rPr lang="es-AR" b="1" dirty="0"/>
              <a:t>Ciclos rápidos de decisión y aprendizaje</a:t>
            </a:r>
          </a:p>
          <a:p>
            <a:r>
              <a:rPr lang="es-AR" dirty="0"/>
              <a:t>Las organizaciones ágiles trabajan en ciclos rápidos de pensamiento y acción que están estrechamente alineados con su proceso de creatividad y resultados. Ya sea que éstos se implementen como pensamiento para el diseño, operaciones lean, desarrollo ágil u otras formas, esta integración e iteración continua y rápida de pensar, hacer y aprender conforma la capacidad de la organización para innovar y operar de una manera ágil.</a:t>
            </a:r>
          </a:p>
          <a:p>
            <a:r>
              <a:rPr lang="es-AR" b="1" dirty="0"/>
              <a:t>Por ejemplo, en lugar de la planificación anual tradicional, el presupuesto y la revisión, algunas organizaciones se están moviendo a ciclos trimestrales, sistemas de gestión dinámica como Objetivos y Resultados Clave (OKR) y presupuestos de 12 meses consecutivos.</a:t>
            </a:r>
          </a:p>
          <a:p>
            <a:r>
              <a:rPr lang="es-AR" dirty="0"/>
              <a:t>Existen varios elementos que caracterizan el modelo:</a:t>
            </a:r>
          </a:p>
          <a:p>
            <a:r>
              <a:rPr lang="es-AR" dirty="0"/>
              <a:t>*Las organizaciones ágiles se centran en la </a:t>
            </a:r>
            <a:r>
              <a:rPr lang="es-AR" b="1" dirty="0"/>
              <a:t>iteración rápida y la experimentación</a:t>
            </a:r>
            <a:r>
              <a:rPr lang="es-AR" dirty="0"/>
              <a:t>.</a:t>
            </a:r>
          </a:p>
          <a:p>
            <a:r>
              <a:rPr lang="es-AR" dirty="0"/>
              <a:t>*Las organizaciones ágiles aprovechan las formas estandarizadas de trabajo para facilitar la interacción y comunicación entre equipos.</a:t>
            </a:r>
          </a:p>
          <a:p>
            <a:r>
              <a:rPr lang="es-AR" dirty="0"/>
              <a:t>*Las organizaciones ágiles están </a:t>
            </a:r>
            <a:r>
              <a:rPr lang="es-AR" b="1" dirty="0"/>
              <a:t>orientadas al desempeño </a:t>
            </a:r>
            <a:r>
              <a:rPr lang="es-AR" dirty="0"/>
              <a:t>por naturaleza.</a:t>
            </a:r>
          </a:p>
          <a:p>
            <a:r>
              <a:rPr lang="es-AR" dirty="0"/>
              <a:t>*Trabajar en ciclos rápidos requiere que las organizaciones ágiles insistan en una transparencia total de la</a:t>
            </a:r>
            <a:r>
              <a:rPr lang="es-AR" baseline="0" dirty="0"/>
              <a:t> </a:t>
            </a:r>
            <a:r>
              <a:rPr lang="es-AR" dirty="0"/>
              <a:t>información, para que cada equipo pueda acceder rápida y fácilmente a la información que necesitan y compartir información con los demás.</a:t>
            </a:r>
          </a:p>
          <a:p>
            <a:r>
              <a:rPr lang="es-AR" dirty="0"/>
              <a:t>*Las organizaciones ágiles buscan que </a:t>
            </a:r>
            <a:r>
              <a:rPr lang="es-AR" b="1" dirty="0"/>
              <a:t>el aprendizaje continuo sea una parte continua y constante de </a:t>
            </a:r>
            <a:r>
              <a:rPr lang="es-AR" dirty="0"/>
              <a:t>su ADN.</a:t>
            </a:r>
          </a:p>
          <a:p>
            <a:r>
              <a:rPr lang="es-AR" dirty="0"/>
              <a:t>*Las organizaciones ágiles hacen hincapié en la toma de decisiones rápida, eficiente y continua, prefiriendo el 70 por ciento de probabilidad ahora contra el 100 por ciento de certeza más adelante.</a:t>
            </a:r>
          </a:p>
          <a:p>
            <a:endParaRPr lang="es-AR" dirty="0"/>
          </a:p>
          <a:p>
            <a:r>
              <a:rPr lang="es-AR" b="1" dirty="0"/>
              <a:t>Establecer un modelo de talento humano dinámico que encienda la pasión</a:t>
            </a:r>
          </a:p>
          <a:p>
            <a:r>
              <a:rPr lang="es-AR" dirty="0"/>
              <a:t>Una cultura organizacional ágil pone a las personas en un centro que involucra y empodera a todos en la organización. Entonces, pueden crear valor de manera rápida, colaborativa y efectiva.</a:t>
            </a:r>
          </a:p>
          <a:p>
            <a:r>
              <a:rPr lang="es-AR" dirty="0"/>
              <a:t>Las organizaciones que lo han hecho bien han invertido en un liderazgo que empodera y desarrolla a su gente, una comunidad fuerte que apoya y desarrolla la cultura, y los procesos de las personas subyacentes que fomentan el emprendimiento y la construcción de habilidades necesarias para que se produzca la agilidad.</a:t>
            </a:r>
          </a:p>
          <a:p>
            <a:r>
              <a:rPr lang="es-AR" dirty="0"/>
              <a:t>El liderazgo en organizaciones ágiles sirve a las personas en la organización, empoderándolas y desarrollándolas. En lugar de planificadores, directores y controladores, se convierten en visionarios, arquitectos y entrenadores que empoderan a las personas con las competencias más relevantes para que puedan liderar, colaborar y ofrecer resultados excepcionales. Dichos líderes son catalizadores que motivan a las personas a actuar de forma orientada al equipo y participar en la toma de decisiones estratégicas y de organización que los afectarán a ellos y a su trabajo. A esto se le llama liderazgo compartido y servidor.</a:t>
            </a:r>
          </a:p>
          <a:p>
            <a:endParaRPr lang="es-AR" dirty="0"/>
          </a:p>
          <a:p>
            <a:r>
              <a:rPr lang="es-AR" b="1" dirty="0"/>
              <a:t>Incorporar tecnologías habilitadoras de última generación</a:t>
            </a:r>
          </a:p>
          <a:p>
            <a:r>
              <a:rPr lang="es-AR" dirty="0"/>
              <a:t>Para muchas organizaciones, un replanteamiento radical del modelo organizacional requiere un replanteamiento de las tecnologías subyacentes y la habilitación de sus productos y procesos, así como las prácticas tecnológicas necesarias para respaldar la velocidad y la flexibilidad.</a:t>
            </a:r>
          </a:p>
          <a:p>
            <a:r>
              <a:rPr lang="es-AR" dirty="0"/>
              <a:t>Las organizaciones ágiles deberán proporcionar productos y servicios que puedan cumplir con las cambiantes condiciones de los clientes y la competencia. Es probable que los productos y servicios tradicionales tengan que ser digitalizados o habilitados digitalmente. Los procesos operativos también deberán evolucionar de forma continua y rápida, lo que requerirá una arquitectura, sistemas y herramientas tecnológicas en evolución.</a:t>
            </a:r>
          </a:p>
          <a:p>
            <a:r>
              <a:rPr lang="es-AR" dirty="0"/>
              <a:t>La tecnología debería incorporar progresivamente nuevas innovaciones técnicas, como contenedores, arquitecturas de micro-servicios y almacenamiento y servicios basados en la nube.</a:t>
            </a:r>
          </a:p>
          <a:p>
            <a:endParaRPr lang="es-AR" dirty="0"/>
          </a:p>
          <a:p>
            <a:r>
              <a:rPr lang="es-AR" dirty="0"/>
              <a:t>Conclusiones</a:t>
            </a:r>
          </a:p>
          <a:p>
            <a:r>
              <a:rPr lang="es-AR" dirty="0"/>
              <a:t>En una búsqueda continua por lograr una mayor competitividad, la conciencia organizacional debe incluir el objetivo de asimilar y adaptar las mejores prácticas. Entre otros, es necesario adoptar nuevos elementos que apoyen dichos esfuerzos. En resumen, </a:t>
            </a:r>
            <a:r>
              <a:rPr lang="es-AR" b="1" dirty="0"/>
              <a:t>son cinco los elementos que están cambiando el paradigma de las organizaciones en la búsqueda de un mejor desempeño</a:t>
            </a:r>
            <a:r>
              <a:rPr lang="es-AR" dirty="0"/>
              <a:t>:</a:t>
            </a:r>
          </a:p>
          <a:p>
            <a:endParaRPr lang="es-AR" dirty="0"/>
          </a:p>
          <a:p>
            <a:r>
              <a:rPr lang="es-AR" dirty="0"/>
              <a:t>a) Las organizaciones ágiles repiensan, se enfocan y están comprometidas con la creación de valor con y para una amplia gama de partes interesadas.</a:t>
            </a:r>
          </a:p>
          <a:p>
            <a:r>
              <a:rPr lang="es-AR" dirty="0"/>
              <a:t>b) Las organizaciones ágiles mantienen una estructura estable de primer nivel, pero reemplazan gran parte de la jerarquía tradicional restante con una red de equipos flexibles, escalables y facultados.</a:t>
            </a:r>
          </a:p>
          <a:p>
            <a:r>
              <a:rPr lang="es-AR" dirty="0"/>
              <a:t>c) Las organizaciones ágiles trabajan en ciclos rápidos de pensamiento y acción que están estrechamente alineados con su proceso de creatividad y resultados.</a:t>
            </a:r>
          </a:p>
          <a:p>
            <a:r>
              <a:rPr lang="es-AR" dirty="0"/>
              <a:t>d) Una cultura organizacional ágil pone a las personas en un centro que involucra y empodera a todos en la organización, lo que crea pasión y valor de manera rápida, colaborativa y efectiva.</a:t>
            </a:r>
          </a:p>
          <a:p>
            <a:r>
              <a:rPr lang="es-AR" dirty="0"/>
              <a:t>e) Para muchas organizaciones, un replanteamiento radical del modelo organizacional requiere un replanteamiento de las tecnologías subyacentes necesarias para respaldar la velocidad y la flexibilidad.</a:t>
            </a:r>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21</a:t>
            </a:fld>
            <a:endParaRPr lang="en-US"/>
          </a:p>
        </p:txBody>
      </p:sp>
    </p:spTree>
    <p:extLst>
      <p:ext uri="{BB962C8B-B14F-4D97-AF65-F5344CB8AC3E}">
        <p14:creationId xmlns:p14="http://schemas.microsoft.com/office/powerpoint/2010/main" val="2136118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normAutofit fontScale="85000" lnSpcReduction="20000"/>
          </a:bodyPr>
          <a:lstStyle/>
          <a:p>
            <a:r>
              <a:rPr lang="en-US" sz="1200" b="0" i="0" u="none" strike="noStrike" kern="1200" cap="none" spc="0" baseline="0" dirty="0" err="1">
                <a:solidFill>
                  <a:srgbClr val="000000"/>
                </a:solidFill>
                <a:uFillTx/>
                <a:latin typeface="Calibri" pitchFamily="34"/>
              </a:rPr>
              <a:t>Doz</a:t>
            </a:r>
            <a:r>
              <a:rPr lang="en-US" sz="1200" b="0" i="0" u="none" strike="noStrike" kern="1200" cap="none" spc="0" baseline="0" dirty="0">
                <a:solidFill>
                  <a:srgbClr val="000000"/>
                </a:solidFill>
                <a:uFillTx/>
                <a:latin typeface="Calibri" pitchFamily="34"/>
              </a:rPr>
              <a:t>, 2020) </a:t>
            </a:r>
          </a:p>
          <a:p>
            <a:r>
              <a:rPr lang="en-US" sz="1200" b="0" i="0" u="none" strike="noStrike" kern="1200" cap="none" spc="0" baseline="0" dirty="0">
                <a:solidFill>
                  <a:srgbClr val="000000"/>
                </a:solidFill>
                <a:uFillTx/>
                <a:latin typeface="Calibri" pitchFamily="34"/>
              </a:rPr>
              <a:t>Strategic agility sounds like an oxymoron, and more importantly, presents a real action conundrum for executives! Even when defined as “the ability to exploit, or create to one's advantage changing patterns of resource deployment in a thoughtful and purposeful but also fast and nimble way rather than remain hostage to stable pre-set plans and existing business models” (</a:t>
            </a:r>
            <a:r>
              <a:rPr lang="en-US" sz="1200" b="0" i="0" u="none" strike="noStrike" kern="1200" cap="none" spc="0" baseline="0" dirty="0" err="1">
                <a:solidFill>
                  <a:srgbClr val="000000"/>
                </a:solidFill>
                <a:uFillTx/>
                <a:latin typeface="Calibri" pitchFamily="34"/>
              </a:rPr>
              <a:t>Doz</a:t>
            </a:r>
            <a:r>
              <a:rPr lang="en-US" sz="1200" b="0" i="0" u="none" strike="noStrike" kern="1200" cap="none" spc="0" baseline="0" dirty="0">
                <a:solidFill>
                  <a:srgbClr val="000000"/>
                </a:solidFill>
                <a:uFillTx/>
                <a:latin typeface="Calibri" pitchFamily="34"/>
              </a:rPr>
              <a:t> &amp; </a:t>
            </a:r>
            <a:r>
              <a:rPr lang="en-US" sz="1200" b="0" i="0" u="none" strike="noStrike" kern="1200" cap="none" spc="0" baseline="0" dirty="0" err="1">
                <a:solidFill>
                  <a:srgbClr val="000000"/>
                </a:solidFill>
                <a:uFillTx/>
                <a:latin typeface="Calibri" pitchFamily="34"/>
              </a:rPr>
              <a:t>Kosonen</a:t>
            </a:r>
            <a:r>
              <a:rPr lang="en-US" sz="1200" b="0" i="0" u="none" strike="noStrike" kern="1200" cap="none" spc="0" baseline="0" dirty="0">
                <a:solidFill>
                  <a:srgbClr val="000000"/>
                </a:solidFill>
                <a:uFillTx/>
                <a:latin typeface="Calibri" pitchFamily="34"/>
              </a:rPr>
              <a:t>, 2007b) it still seems to be a contradiction in terms and a source of management conflicts.</a:t>
            </a:r>
          </a:p>
          <a:p>
            <a:endParaRPr lang="en-US" sz="1200" b="0" i="0" u="none" strike="noStrike" kern="1200" cap="none" spc="0" baseline="0" dirty="0">
              <a:solidFill>
                <a:srgbClr val="000000"/>
              </a:solidFill>
              <a:uFillTx/>
              <a:latin typeface="Calibri" pitchFamily="34"/>
            </a:endParaRPr>
          </a:p>
          <a:p>
            <a:r>
              <a:rPr lang="en-US" sz="1200" b="0" i="0" u="none" strike="noStrike" kern="1200" cap="none" spc="0" baseline="0" dirty="0">
                <a:solidFill>
                  <a:srgbClr val="000000"/>
                </a:solidFill>
                <a:uFillTx/>
                <a:latin typeface="Calibri" pitchFamily="34"/>
              </a:rPr>
              <a:t>In some industries such as information and communication technology, strategic agility is already a key determinant of performance, and firms in other industries increasingly face the need for it. It is a tough challenge (</a:t>
            </a:r>
            <a:r>
              <a:rPr lang="en-US" sz="1200" b="0" i="0" u="none" strike="noStrike" kern="1200" cap="none" spc="0" baseline="0" dirty="0" err="1">
                <a:solidFill>
                  <a:srgbClr val="000000"/>
                </a:solidFill>
                <a:uFillTx/>
                <a:latin typeface="Calibri" pitchFamily="34"/>
              </a:rPr>
              <a:t>Doz</a:t>
            </a:r>
            <a:r>
              <a:rPr lang="en-US" sz="1200" b="0" i="0" u="none" strike="noStrike" kern="1200" cap="none" spc="0" baseline="0" dirty="0">
                <a:solidFill>
                  <a:srgbClr val="000000"/>
                </a:solidFill>
                <a:uFillTx/>
                <a:latin typeface="Calibri" pitchFamily="34"/>
              </a:rPr>
              <a:t> &amp; </a:t>
            </a:r>
            <a:r>
              <a:rPr lang="en-US" sz="1200" b="0" i="0" u="none" strike="noStrike" kern="1200" cap="none" spc="0" baseline="0" dirty="0" err="1">
                <a:solidFill>
                  <a:srgbClr val="000000"/>
                </a:solidFill>
                <a:uFillTx/>
                <a:latin typeface="Calibri" pitchFamily="34"/>
              </a:rPr>
              <a:t>Kosonen</a:t>
            </a:r>
            <a:r>
              <a:rPr lang="en-US" sz="1200" b="0" i="0" u="none" strike="noStrike" kern="1200" cap="none" spc="0" baseline="0" dirty="0">
                <a:solidFill>
                  <a:srgbClr val="000000"/>
                </a:solidFill>
                <a:uFillTx/>
                <a:latin typeface="Calibri" pitchFamily="34"/>
              </a:rPr>
              <a:t>, 2007b). </a:t>
            </a:r>
          </a:p>
          <a:p>
            <a:endParaRPr lang="en-US" sz="1200" b="0" i="0" u="none" strike="noStrike" kern="1200" cap="none" spc="0" baseline="0" dirty="0">
              <a:solidFill>
                <a:srgbClr val="000000"/>
              </a:solidFill>
              <a:uFillTx/>
              <a:latin typeface="Calibri" pitchFamily="34"/>
            </a:endParaRPr>
          </a:p>
          <a:p>
            <a:endParaRPr lang="en-US" sz="1200" b="0" i="0" u="none" strike="noStrike" kern="1200" cap="none" spc="0" baseline="0" dirty="0">
              <a:solidFill>
                <a:srgbClr val="000000"/>
              </a:solidFill>
              <a:uFillTx/>
              <a:latin typeface="Calibri" pitchFamily="34"/>
            </a:endParaRPr>
          </a:p>
          <a:p>
            <a:r>
              <a:rPr lang="es-AR" sz="1200" b="1" i="0" u="none" strike="noStrike" kern="1200" cap="none" spc="0" baseline="0" dirty="0">
                <a:solidFill>
                  <a:srgbClr val="000000"/>
                </a:solidFill>
                <a:effectLst/>
                <a:uFillTx/>
                <a:latin typeface="Calibri" pitchFamily="34"/>
              </a:rPr>
              <a:t>empresas agiles como Google, Dropbox, </a:t>
            </a:r>
            <a:r>
              <a:rPr lang="es-AR" sz="1200" b="1" i="0" u="none" strike="noStrike" kern="1200" cap="none" spc="0" baseline="0" dirty="0" err="1">
                <a:solidFill>
                  <a:srgbClr val="000000"/>
                </a:solidFill>
                <a:effectLst/>
                <a:uFillTx/>
                <a:latin typeface="Calibri" pitchFamily="34"/>
              </a:rPr>
              <a:t>Spotify</a:t>
            </a:r>
            <a:r>
              <a:rPr lang="es-AR" sz="1200" b="1" i="0" u="none" strike="noStrike" kern="1200" cap="none" spc="0" baseline="0" dirty="0">
                <a:solidFill>
                  <a:srgbClr val="000000"/>
                </a:solidFill>
                <a:effectLst/>
                <a:uFillTx/>
                <a:latin typeface="Calibri" pitchFamily="34"/>
              </a:rPr>
              <a:t>, Facebook, Idealista, </a:t>
            </a:r>
            <a:r>
              <a:rPr lang="es-AR" sz="1200" b="1" i="0" u="none" strike="noStrike" kern="1200" cap="none" spc="0" baseline="0" dirty="0" err="1">
                <a:solidFill>
                  <a:srgbClr val="000000"/>
                </a:solidFill>
                <a:effectLst/>
                <a:uFillTx/>
                <a:latin typeface="Calibri" pitchFamily="34"/>
              </a:rPr>
              <a:t>Infojobs</a:t>
            </a:r>
            <a:r>
              <a:rPr lang="es-AR" sz="1200" b="1" i="0" u="none" strike="noStrike" kern="1200" cap="none" spc="0" baseline="0" dirty="0">
                <a:solidFill>
                  <a:srgbClr val="000000"/>
                </a:solidFill>
                <a:effectLst/>
                <a:uFillTx/>
                <a:latin typeface="Calibri" pitchFamily="34"/>
              </a:rPr>
              <a:t> o BBVA, que siguen un modelo con la mínima jerarquía</a:t>
            </a:r>
            <a:r>
              <a:rPr lang="es-AR" sz="1200" b="0" i="0" u="none" strike="noStrike" kern="1200" cap="none" spc="0" baseline="0" dirty="0">
                <a:solidFill>
                  <a:srgbClr val="000000"/>
                </a:solidFill>
                <a:effectLst/>
                <a:uFillTx/>
                <a:latin typeface="Calibri" pitchFamily="34"/>
              </a:rPr>
              <a:t>, donde el poder de decisión está en las personas que hacen el trabajo, y que representan un referente de competitividad mundial.</a:t>
            </a:r>
            <a:endParaRPr lang="en-US" sz="1200" b="0" i="0" u="none" strike="noStrike" kern="1200" cap="none" spc="0" baseline="0" dirty="0">
              <a:solidFill>
                <a:srgbClr val="000000"/>
              </a:solidFill>
              <a:uFillTx/>
              <a:latin typeface="Calibri" pitchFamily="34"/>
            </a:endParaRPr>
          </a:p>
          <a:p>
            <a:r>
              <a:rPr lang="en-US" dirty="0"/>
              <a:t>Burns and Stalker (1961) for instance argued that bureaucratic hierarchies were best suited to stable environments (efficiency) and more flexible organic organizations to fast changing environments (adaptability). </a:t>
            </a:r>
            <a:r>
              <a:rPr lang="en-US" dirty="0" err="1"/>
              <a:t>Mintzberg</a:t>
            </a:r>
            <a:r>
              <a:rPr lang="en-US" dirty="0"/>
              <a:t> (1979) further developed these organizational typologies. Thompson (1967) attempted to provide an early reconciliation between agility and efficiency by suggesting organizations</a:t>
            </a:r>
          </a:p>
          <a:p>
            <a:r>
              <a:rPr lang="en-US" dirty="0"/>
              <a:t>could have a stable “technical core” and more adaptive and organic connections to their environments. A similar concern underlies March's (1991) seminal articulation of exploration and exploitation demands on organizations and of the organizational difficulties that result from the need to balance and integrate them. He stressed: “The basic problem confronting an organization is to engage in sufficient exploitation to ensure its current viability and at the same time, devote enough energy to exploration to ensure its future viability” (1991). This same challenge was framed as the need for “ambidexterity” on the part of organizations (Duncan, 1976; </a:t>
            </a:r>
            <a:r>
              <a:rPr lang="en-US" dirty="0" err="1"/>
              <a:t>Tushman</a:t>
            </a:r>
            <a:r>
              <a:rPr lang="en-US" dirty="0"/>
              <a:t> &amp; O'Reilly, 1996; O'Reilly &amp; </a:t>
            </a:r>
            <a:r>
              <a:rPr lang="en-US" dirty="0" err="1"/>
              <a:t>Tushman</a:t>
            </a:r>
            <a:r>
              <a:rPr lang="en-US" dirty="0"/>
              <a:t>, 2004, 2007; </a:t>
            </a:r>
            <a:r>
              <a:rPr lang="en-US" dirty="0" err="1"/>
              <a:t>Raisch</a:t>
            </a:r>
            <a:r>
              <a:rPr lang="en-US" dirty="0"/>
              <a:t>, </a:t>
            </a:r>
            <a:r>
              <a:rPr lang="en-US" dirty="0" err="1"/>
              <a:t>Birkinshaw</a:t>
            </a:r>
            <a:r>
              <a:rPr lang="en-US" dirty="0"/>
              <a:t>, Probst, &amp; </a:t>
            </a:r>
            <a:r>
              <a:rPr lang="en-US" dirty="0" err="1"/>
              <a:t>Tushman</a:t>
            </a:r>
            <a:r>
              <a:rPr lang="en-US" dirty="0"/>
              <a:t>, 2009; for a review, see O'Reilly III &amp; </a:t>
            </a:r>
            <a:r>
              <a:rPr lang="en-US" dirty="0" err="1"/>
              <a:t>Tushman</a:t>
            </a:r>
            <a:r>
              <a:rPr lang="en-US" dirty="0"/>
              <a:t>, 2013, for a review of literature linking ambidexterity and HR practices see </a:t>
            </a:r>
            <a:r>
              <a:rPr lang="en-US" dirty="0" err="1"/>
              <a:t>Junni</a:t>
            </a:r>
            <a:r>
              <a:rPr lang="en-US" dirty="0"/>
              <a:t>, Sarala, </a:t>
            </a:r>
            <a:r>
              <a:rPr lang="en-US" dirty="0" err="1"/>
              <a:t>Tarba</a:t>
            </a:r>
            <a:r>
              <a:rPr lang="en-US" dirty="0"/>
              <a:t>, &amp; Cooper, 2015). However, such organizational ambidexterity was conceived of in terms of structural segregation of renewal efforts from operational activities with reconciliation only at the top. </a:t>
            </a:r>
          </a:p>
          <a:p>
            <a:endParaRPr lang="en-US" dirty="0"/>
          </a:p>
          <a:p>
            <a:r>
              <a:rPr lang="en-US" b="1" dirty="0"/>
              <a:t>Strategic agility results from consistent and coherent behaviors and skills in the senior management more than from a structure or from a duality. It can be conceptualized as resulting from a combination of forces that draw their strength from the behaviors and skills of individual managers engaged in collective action</a:t>
            </a:r>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22</a:t>
            </a:fld>
            <a:endParaRPr lang="en-US"/>
          </a:p>
        </p:txBody>
      </p:sp>
    </p:spTree>
    <p:extLst>
      <p:ext uri="{BB962C8B-B14F-4D97-AF65-F5344CB8AC3E}">
        <p14:creationId xmlns:p14="http://schemas.microsoft.com/office/powerpoint/2010/main" val="4572642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2488" y="744538"/>
            <a:ext cx="4964112" cy="3722687"/>
          </a:xfrm>
        </p:spPr>
      </p:sp>
      <p:sp>
        <p:nvSpPr>
          <p:cNvPr id="3" name="Marcador de notas 2"/>
          <p:cNvSpPr>
            <a:spLocks noGrp="1"/>
          </p:cNvSpPr>
          <p:nvPr>
            <p:ph type="body" idx="1"/>
          </p:nvPr>
        </p:nvSpPr>
        <p:spPr/>
        <p:txBody>
          <a:bodyPr>
            <a:normAutofit fontScale="92500"/>
          </a:bodyPr>
          <a:lstStyle/>
          <a:p>
            <a:pPr marL="0" marR="0" lvl="0" indent="0" algn="l" defTabSz="914400" rtl="0" eaLnBrk="1" fontAlgn="auto" latinLnBrk="0" hangingPunct="0">
              <a:lnSpc>
                <a:spcPct val="100000"/>
              </a:lnSpc>
              <a:spcBef>
                <a:spcPts val="400"/>
              </a:spcBef>
              <a:spcAft>
                <a:spcPts val="0"/>
              </a:spcAft>
              <a:buClrTx/>
              <a:buSzTx/>
              <a:buFontTx/>
              <a:buNone/>
              <a:tabLst/>
              <a:defRPr/>
            </a:pPr>
            <a:endParaRPr lang="es-AR" dirty="0"/>
          </a:p>
          <a:p>
            <a:pPr marL="0" marR="0" lvl="0" indent="0" algn="l" defTabSz="914400" rtl="0" eaLnBrk="1" fontAlgn="auto" latinLnBrk="0" hangingPunct="0">
              <a:lnSpc>
                <a:spcPct val="100000"/>
              </a:lnSpc>
              <a:spcBef>
                <a:spcPts val="400"/>
              </a:spcBef>
              <a:spcAft>
                <a:spcPts val="0"/>
              </a:spcAft>
              <a:buClrTx/>
              <a:buSzTx/>
              <a:buFontTx/>
              <a:buNone/>
              <a:tabLst/>
              <a:defRPr/>
            </a:pPr>
            <a:endParaRPr lang="es-AR" dirty="0"/>
          </a:p>
          <a:p>
            <a:pPr marL="0" marR="0" lvl="0" indent="0" algn="l" defTabSz="914400" rtl="0" eaLnBrk="1" fontAlgn="auto" latinLnBrk="0" hangingPunct="0">
              <a:lnSpc>
                <a:spcPct val="100000"/>
              </a:lnSpc>
              <a:spcBef>
                <a:spcPts val="400"/>
              </a:spcBef>
              <a:spcAft>
                <a:spcPts val="0"/>
              </a:spcAft>
              <a:buClrTx/>
              <a:buSzTx/>
              <a:buFontTx/>
              <a:buNone/>
              <a:tabLst/>
              <a:defRPr/>
            </a:pPr>
            <a:endParaRPr lang="es-AR" dirty="0"/>
          </a:p>
          <a:p>
            <a:pPr marL="0" marR="0" lvl="0" indent="0" algn="l" defTabSz="914400" rtl="0" eaLnBrk="1" fontAlgn="auto" latinLnBrk="0" hangingPunct="0">
              <a:lnSpc>
                <a:spcPct val="100000"/>
              </a:lnSpc>
              <a:spcBef>
                <a:spcPts val="400"/>
              </a:spcBef>
              <a:spcAft>
                <a:spcPts val="0"/>
              </a:spcAft>
              <a:buClrTx/>
              <a:buSzTx/>
              <a:buFontTx/>
              <a:buNone/>
              <a:tabLst/>
              <a:defRPr/>
            </a:pPr>
            <a:r>
              <a:rPr lang="es-AR" dirty="0"/>
              <a:t>Aportes</a:t>
            </a:r>
            <a:r>
              <a:rPr lang="es-AR" baseline="0" dirty="0"/>
              <a:t> al final de la segunda revolución industrial (1871-1914)- Poderío manufacturero pasa de UK a USA y Alemania. T</a:t>
            </a:r>
            <a:r>
              <a:rPr lang="en-US" baseline="0" dirty="0"/>
              <a:t>he Second Industrial Revolution witnessed the expansion of electricity, petroleum and steel.</a:t>
            </a:r>
            <a:r>
              <a:rPr lang="es-AR" baseline="0" dirty="0"/>
              <a:t> </a:t>
            </a:r>
            <a:r>
              <a:rPr lang="en-US" baseline="0" dirty="0"/>
              <a:t>The Second Industrial Revolution transformed society in significant ways. Among the social effects that caused this revolution can include: Urbanization increased rapidly. The population moved into hastily built housing in cities to be nearer to the factories. </a:t>
            </a:r>
            <a:r>
              <a:rPr lang="en-US" b="1" baseline="0" dirty="0"/>
              <a:t>MASS PRODUCTION </a:t>
            </a:r>
          </a:p>
          <a:p>
            <a:pPr marL="0" marR="0" lvl="0" indent="0" algn="l" defTabSz="914400" rtl="0" eaLnBrk="1" fontAlgn="auto" latinLnBrk="0" hangingPunct="0">
              <a:lnSpc>
                <a:spcPct val="100000"/>
              </a:lnSpc>
              <a:spcBef>
                <a:spcPts val="400"/>
              </a:spcBef>
              <a:spcAft>
                <a:spcPts val="0"/>
              </a:spcAft>
              <a:buClrTx/>
              <a:buSzTx/>
              <a:buFontTx/>
              <a:buNone/>
              <a:tabLst/>
              <a:defRPr/>
            </a:pPr>
            <a:endParaRPr lang="en-US" b="1" baseline="0" dirty="0"/>
          </a:p>
          <a:p>
            <a:r>
              <a:rPr lang="es-AR" sz="1200" b="0" i="0" u="none" strike="noStrike" kern="1200" cap="none" spc="0" baseline="0" dirty="0">
                <a:solidFill>
                  <a:srgbClr val="000000"/>
                </a:solidFill>
                <a:effectLst/>
                <a:uFillTx/>
                <a:latin typeface="Calibri" pitchFamily="34"/>
              </a:rPr>
              <a:t>La </a:t>
            </a:r>
            <a:r>
              <a:rPr lang="es-AR" sz="1200" b="0" i="0" u="none" strike="noStrike" kern="1200" cap="none" spc="0" baseline="0" dirty="0">
                <a:solidFill>
                  <a:srgbClr val="000000"/>
                </a:solidFill>
                <a:effectLst/>
                <a:uFillTx/>
                <a:latin typeface="Calibri" pitchFamily="34"/>
                <a:hlinkClick r:id="rId3" tooltip="Segunda Revolución Industrial"/>
              </a:rPr>
              <a:t>Segunda Revolución Industrial</a:t>
            </a:r>
            <a:r>
              <a:rPr lang="es-AR" sz="1200" b="0" i="0" u="none" strike="noStrike" kern="1200" cap="none" spc="0" baseline="0" dirty="0">
                <a:solidFill>
                  <a:srgbClr val="000000"/>
                </a:solidFill>
                <a:effectLst/>
                <a:uFillTx/>
                <a:latin typeface="Calibri" pitchFamily="34"/>
              </a:rPr>
              <a:t> se refiere a los cambios interrelacionados que se produjeron aproximadamente entre </a:t>
            </a:r>
            <a:r>
              <a:rPr lang="es-AR" sz="1200" b="0" i="0" u="none" strike="noStrike" kern="1200" cap="none" spc="0" baseline="0" dirty="0">
                <a:solidFill>
                  <a:srgbClr val="000000"/>
                </a:solidFill>
                <a:effectLst/>
                <a:uFillTx/>
                <a:latin typeface="Calibri" pitchFamily="34"/>
                <a:hlinkClick r:id="rId4" tooltip="1870"/>
              </a:rPr>
              <a:t>1870</a:t>
            </a:r>
            <a:r>
              <a:rPr lang="es-AR" sz="1200" b="0" i="0" u="none" strike="noStrike" kern="1200" cap="none" spc="0" baseline="0" dirty="0">
                <a:solidFill>
                  <a:srgbClr val="000000"/>
                </a:solidFill>
                <a:effectLst/>
                <a:uFillTx/>
                <a:latin typeface="Calibri" pitchFamily="34"/>
              </a:rPr>
              <a:t> hasta </a:t>
            </a:r>
            <a:r>
              <a:rPr lang="es-AR" sz="1200" b="0" i="0" u="none" strike="noStrike" kern="1200" cap="none" spc="0" baseline="0" dirty="0">
                <a:solidFill>
                  <a:srgbClr val="000000"/>
                </a:solidFill>
                <a:effectLst/>
                <a:uFillTx/>
                <a:latin typeface="Calibri" pitchFamily="34"/>
                <a:hlinkClick r:id="rId5" tooltip="1914"/>
              </a:rPr>
              <a:t>1914</a:t>
            </a:r>
            <a:r>
              <a:rPr lang="es-AR" sz="1200" b="0" i="0" u="none" strike="noStrike" kern="1200" cap="none" spc="0" baseline="0" dirty="0">
                <a:solidFill>
                  <a:srgbClr val="000000"/>
                </a:solidFill>
                <a:effectLst/>
                <a:uFillTx/>
                <a:latin typeface="Calibri" pitchFamily="34"/>
              </a:rPr>
              <a:t>. Durante este periodo los cambios sufrieron una fuerte aceleración. El </a:t>
            </a:r>
            <a:r>
              <a:rPr lang="es-AR" sz="1200" b="1" i="0" u="none" strike="noStrike" kern="1200" cap="none" spc="0" baseline="0" dirty="0">
                <a:solidFill>
                  <a:srgbClr val="000000"/>
                </a:solidFill>
                <a:effectLst/>
                <a:uFillTx/>
                <a:latin typeface="Calibri" pitchFamily="34"/>
              </a:rPr>
              <a:t>proceso de industrialización cambió su naturaleza y el crecimiento económico varió de modelo. Los cambios técnicos siguieron ocupando una posición central, junto a las innovaciones técnicas concentradas, esencialmente, en nuevas fuentes de energía como el gas, el petróleo o la electricidad; nuevos materiales y nuevos sistemas de transporte (</a:t>
            </a:r>
            <a:r>
              <a:rPr lang="es-AR" sz="1200" b="1" i="0" u="none" strike="noStrike" kern="1200" cap="none" spc="0" baseline="0" dirty="0">
                <a:solidFill>
                  <a:srgbClr val="000000"/>
                </a:solidFill>
                <a:effectLst/>
                <a:uFillTx/>
                <a:latin typeface="Calibri" pitchFamily="34"/>
                <a:hlinkClick r:id="rId6" tooltip="Avión"/>
              </a:rPr>
              <a:t>avión</a:t>
            </a:r>
            <a:r>
              <a:rPr lang="es-AR" sz="1200" b="1" i="0" u="none" strike="noStrike" kern="1200" cap="none" spc="0" baseline="0" dirty="0">
                <a:solidFill>
                  <a:srgbClr val="000000"/>
                </a:solidFill>
                <a:effectLst/>
                <a:uFillTx/>
                <a:latin typeface="Calibri" pitchFamily="34"/>
              </a:rPr>
              <a:t>, </a:t>
            </a:r>
            <a:r>
              <a:rPr lang="es-AR" sz="1200" b="1" i="0" u="none" strike="noStrike" kern="1200" cap="none" spc="0" baseline="0" dirty="0">
                <a:solidFill>
                  <a:srgbClr val="000000"/>
                </a:solidFill>
                <a:effectLst/>
                <a:uFillTx/>
                <a:latin typeface="Calibri" pitchFamily="34"/>
                <a:hlinkClick r:id="rId7" tooltip="Automóvil"/>
              </a:rPr>
              <a:t>automóvil</a:t>
            </a:r>
            <a:r>
              <a:rPr lang="es-AR" sz="1200" b="1" i="0" u="none" strike="noStrike" kern="1200" cap="none" spc="0" baseline="0" dirty="0">
                <a:solidFill>
                  <a:srgbClr val="000000"/>
                </a:solidFill>
                <a:effectLst/>
                <a:uFillTx/>
                <a:latin typeface="Calibri" pitchFamily="34"/>
              </a:rPr>
              <a:t> y nuevas máquinas a vapor) y comunicación (</a:t>
            </a:r>
            <a:r>
              <a:rPr lang="es-AR" sz="1200" b="1" i="0" u="none" strike="noStrike" kern="1200" cap="none" spc="0" baseline="0" dirty="0">
                <a:solidFill>
                  <a:srgbClr val="000000"/>
                </a:solidFill>
                <a:effectLst/>
                <a:uFillTx/>
                <a:latin typeface="Calibri" pitchFamily="34"/>
                <a:hlinkClick r:id="rId8" tooltip="Teléfono"/>
              </a:rPr>
              <a:t>teléfono</a:t>
            </a:r>
            <a:r>
              <a:rPr lang="es-AR" sz="1200" b="1" i="0" u="none" strike="noStrike" kern="1200" cap="none" spc="0" baseline="0" dirty="0">
                <a:solidFill>
                  <a:srgbClr val="000000"/>
                </a:solidFill>
                <a:effectLst/>
                <a:uFillTx/>
                <a:latin typeface="Calibri" pitchFamily="34"/>
              </a:rPr>
              <a:t> y </a:t>
            </a:r>
            <a:r>
              <a:rPr lang="es-AR" sz="1200" b="1" i="0" u="none" strike="noStrike" kern="1200" cap="none" spc="0" baseline="0" dirty="0">
                <a:solidFill>
                  <a:srgbClr val="000000"/>
                </a:solidFill>
                <a:effectLst/>
                <a:uFillTx/>
                <a:latin typeface="Calibri" pitchFamily="34"/>
                <a:hlinkClick r:id="rId9" tooltip="Radio (medio de comunicación)"/>
              </a:rPr>
              <a:t>radio</a:t>
            </a:r>
            <a:r>
              <a:rPr lang="es-AR" sz="1200" b="1" i="0" u="none" strike="noStrike" kern="1200" cap="none" spc="0" baseline="0" dirty="0">
                <a:solidFill>
                  <a:srgbClr val="000000"/>
                </a:solidFill>
                <a:effectLst/>
                <a:uFillTx/>
                <a:latin typeface="Calibri" pitchFamily="34"/>
              </a:rPr>
              <a:t>) indujeron transformaciones en cadena que afectaron al factor trabajo y al sistema educativo y científico; al tamaño y gestión de las empresas, a la forma de organización del trabajo, al consumo, hasta desembocar también en la política.</a:t>
            </a:r>
            <a:r>
              <a:rPr lang="es-AR" sz="1200" b="1" i="0" u="none" strike="noStrike" kern="1200" cap="none" spc="0" baseline="30000" dirty="0">
                <a:solidFill>
                  <a:srgbClr val="000000"/>
                </a:solidFill>
                <a:effectLst/>
                <a:uFillTx/>
                <a:latin typeface="Calibri" pitchFamily="34"/>
                <a:hlinkClick r:id="rId10"/>
              </a:rPr>
              <a:t>15</a:t>
            </a:r>
            <a:r>
              <a:rPr lang="es-AR" sz="1200" b="0" i="0" u="none" strike="noStrike" kern="1200" cap="none" spc="0" baseline="0" dirty="0">
                <a:solidFill>
                  <a:srgbClr val="000000"/>
                </a:solidFill>
                <a:effectLst/>
                <a:uFillTx/>
                <a:latin typeface="Calibri" pitchFamily="34"/>
              </a:rPr>
              <a:t>​Este proceso se produjo en el marco de la denominada </a:t>
            </a:r>
            <a:r>
              <a:rPr lang="es-AR" sz="1200" b="0" i="0" u="none" strike="noStrike" kern="1200" cap="none" spc="0" baseline="0" dirty="0">
                <a:solidFill>
                  <a:srgbClr val="000000"/>
                </a:solidFill>
                <a:effectLst/>
                <a:uFillTx/>
                <a:latin typeface="Calibri" pitchFamily="34"/>
                <a:hlinkClick r:id="rId11" tooltip="Primera globalización"/>
              </a:rPr>
              <a:t>primera globalización</a:t>
            </a:r>
            <a:r>
              <a:rPr lang="es-AR" sz="1200" b="0" i="0" u="none" strike="noStrike" kern="1200" cap="none" spc="0" baseline="0" dirty="0">
                <a:solidFill>
                  <a:srgbClr val="000000"/>
                </a:solidFill>
                <a:effectLst/>
                <a:uFillTx/>
                <a:latin typeface="Calibri" pitchFamily="34"/>
              </a:rPr>
              <a:t>, que supuso una progresiva </a:t>
            </a:r>
            <a:r>
              <a:rPr lang="es-AR" sz="1200" b="0" i="0" u="none" strike="noStrike" kern="1200" cap="none" spc="0" baseline="0" dirty="0">
                <a:solidFill>
                  <a:srgbClr val="000000"/>
                </a:solidFill>
                <a:effectLst/>
                <a:uFillTx/>
                <a:latin typeface="Calibri" pitchFamily="34"/>
                <a:hlinkClick r:id="rId12" tooltip="Internacionalización productiva"/>
              </a:rPr>
              <a:t>internacionalización de la economía</a:t>
            </a:r>
            <a:r>
              <a:rPr lang="es-AR" sz="1200" b="0" i="0" u="none" strike="noStrike" kern="1200" cap="none" spc="0" baseline="0" dirty="0">
                <a:solidFill>
                  <a:srgbClr val="000000"/>
                </a:solidFill>
                <a:effectLst/>
                <a:uFillTx/>
                <a:latin typeface="Calibri" pitchFamily="34"/>
              </a:rPr>
              <a:t>, y que funcionaba de forma creciente a escala mundial por la revolución de los transportes. Ello condujo a su extensión a más territorios que la primera revolución, limitada a Gran Bretaña, y que llegaría a alcanzar a casi toda Europa occidental, Estados Unidos y Japón.</a:t>
            </a:r>
            <a:r>
              <a:rPr lang="es-AR" sz="1200" b="0" i="0" u="none" strike="noStrike" kern="1200" cap="none" spc="0" baseline="30000" dirty="0">
                <a:solidFill>
                  <a:srgbClr val="000000"/>
                </a:solidFill>
                <a:effectLst/>
                <a:uFillTx/>
                <a:latin typeface="Calibri" pitchFamily="34"/>
                <a:hlinkClick r:id="rId13"/>
              </a:rPr>
              <a:t>16</a:t>
            </a:r>
            <a:r>
              <a:rPr lang="es-AR" sz="1200" b="0" i="0" u="none" strike="noStrike" kern="1200" cap="none" spc="0" baseline="0" dirty="0">
                <a:solidFill>
                  <a:srgbClr val="000000"/>
                </a:solidFill>
                <a:effectLst/>
                <a:uFillTx/>
                <a:latin typeface="Calibri" pitchFamily="34"/>
              </a:rPr>
              <a:t>​</a:t>
            </a:r>
          </a:p>
          <a:p>
            <a:r>
              <a:rPr lang="es-AR" sz="1200" b="0" i="0" u="none" strike="noStrike" kern="1200" cap="none" spc="0" baseline="0" dirty="0">
                <a:solidFill>
                  <a:srgbClr val="000000"/>
                </a:solidFill>
                <a:effectLst/>
                <a:uFillTx/>
                <a:latin typeface="Calibri" pitchFamily="34"/>
              </a:rPr>
              <a:t>Entre los cambios sucedidos en los países que vivieron la industrialización durante este periodo destacan las innovaciones tecnológicas, los cambios organizativos en las empresas y los mercados y el nacimiento de lo que podría considerarse como la </a:t>
            </a:r>
            <a:r>
              <a:rPr lang="es-AR" sz="1200" b="0" i="0" u="none" strike="noStrike" kern="1200" cap="none" spc="0" baseline="0" dirty="0">
                <a:solidFill>
                  <a:srgbClr val="000000"/>
                </a:solidFill>
                <a:effectLst/>
                <a:uFillTx/>
                <a:latin typeface="Calibri" pitchFamily="34"/>
                <a:hlinkClick r:id="rId11" tooltip="Primera globalización"/>
              </a:rPr>
              <a:t>primera globalización</a:t>
            </a:r>
            <a:r>
              <a:rPr lang="es-AR" sz="1200" b="0" i="0" u="none" strike="noStrike" kern="1200" cap="none" spc="0" baseline="0" dirty="0">
                <a:solidFill>
                  <a:srgbClr val="000000"/>
                </a:solidFill>
                <a:effectLst/>
                <a:uFillTx/>
                <a:latin typeface="Calibri" pitchFamily="34"/>
              </a:rPr>
              <a:t>.</a:t>
            </a:r>
            <a:r>
              <a:rPr lang="es-AR" sz="1200" b="0" i="0" u="none" strike="noStrike" kern="1200" cap="none" spc="0" baseline="30000" dirty="0">
                <a:solidFill>
                  <a:srgbClr val="000000"/>
                </a:solidFill>
                <a:effectLst/>
                <a:uFillTx/>
                <a:latin typeface="Calibri" pitchFamily="34"/>
                <a:hlinkClick r:id="rId14"/>
              </a:rPr>
              <a:t>17</a:t>
            </a:r>
            <a:r>
              <a:rPr lang="es-AR" sz="1200" b="0" i="0" u="none" strike="noStrike" kern="1200" cap="none" spc="0" baseline="0" dirty="0">
                <a:solidFill>
                  <a:srgbClr val="000000"/>
                </a:solidFill>
                <a:effectLst/>
                <a:uFillTx/>
                <a:latin typeface="Calibri" pitchFamily="34"/>
              </a:rPr>
              <a:t>​</a:t>
            </a:r>
            <a:endParaRPr lang="en-US" dirty="0"/>
          </a:p>
          <a:p>
            <a:pPr marL="0" marR="0" lvl="0" indent="0" algn="l" defTabSz="914400" rtl="0" eaLnBrk="1" fontAlgn="auto" latinLnBrk="0" hangingPunct="0">
              <a:lnSpc>
                <a:spcPct val="100000"/>
              </a:lnSpc>
              <a:spcBef>
                <a:spcPts val="400"/>
              </a:spcBef>
              <a:spcAft>
                <a:spcPts val="0"/>
              </a:spcAft>
              <a:buClrTx/>
              <a:buSzTx/>
              <a:buFontTx/>
              <a:buNone/>
              <a:tabLst/>
              <a:defRPr/>
            </a:pPr>
            <a:endParaRPr lang="en-US" b="1" dirty="0"/>
          </a:p>
          <a:p>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23</a:t>
            </a:fld>
            <a:endParaRPr lang="en-US"/>
          </a:p>
        </p:txBody>
      </p:sp>
    </p:spTree>
    <p:extLst>
      <p:ext uri="{BB962C8B-B14F-4D97-AF65-F5344CB8AC3E}">
        <p14:creationId xmlns:p14="http://schemas.microsoft.com/office/powerpoint/2010/main" val="622034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Marcador de imagen de diapositiva 1"/>
          <p:cNvSpPr>
            <a:spLocks noGrp="1" noRot="1" noChangeAspect="1" noTextEdit="1"/>
          </p:cNvSpPr>
          <p:nvPr>
            <p:ph type="sldImg"/>
          </p:nvPr>
        </p:nvSpPr>
        <p:spPr>
          <a:xfrm>
            <a:off x="852488" y="744538"/>
            <a:ext cx="4964112" cy="3722687"/>
          </a:xfrm>
          <a:ln/>
        </p:spPr>
      </p:sp>
      <p:sp>
        <p:nvSpPr>
          <p:cNvPr id="55299"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p>
            <a:r>
              <a:rPr lang="es-AR" altLang="es-AR" b="1">
                <a:latin typeface="Arial" panose="020B0604020202020204" pitchFamily="34" charset="0"/>
                <a:cs typeface="Arial" panose="020B0604020202020204" pitchFamily="34" charset="0"/>
              </a:rPr>
              <a:t>Oxford (2017) </a:t>
            </a:r>
            <a:r>
              <a:rPr lang="es-AR" altLang="es-AR">
                <a:latin typeface="Arial" panose="020B0604020202020204" pitchFamily="34" charset="0"/>
                <a:cs typeface="Arial" panose="020B0604020202020204" pitchFamily="34" charset="0"/>
              </a:rPr>
              <a:t>El progreso económico implica hacer que los trabajadores pasen a ocupaciones e industrias nuevas, no a ocupaciones e industrias viejas. Por lo tanto, una preocupación que esto plantea es que los sectores de las nuevas tecnologías del presente no han dado lugar a las mismas oportunidades de empleo para los trabajadores menos calificados, como sí lo hicieron las industrias que los precedieron. Las estimaciones de Berger y Frey (2016a), por ejemplo, muestran que menos del 0,5% de la fuerza de trabajo de los Estados Unidos se trasladó a trabajos tecnológicos que se crearon a lo largo de los años 2000; mientras que, en la década de 1990, esa cifra era del 4,4%.</a:t>
            </a:r>
            <a:br>
              <a:rPr lang="es-AR" altLang="es-AR">
                <a:latin typeface="Arial" panose="020B0604020202020204" pitchFamily="34" charset="0"/>
                <a:cs typeface="Arial" panose="020B0604020202020204" pitchFamily="34" charset="0"/>
              </a:rPr>
            </a:br>
            <a:br>
              <a:rPr lang="es-AR" altLang="es-AR">
                <a:latin typeface="Arial" panose="020B0604020202020204" pitchFamily="34" charset="0"/>
                <a:cs typeface="Arial" panose="020B0604020202020204" pitchFamily="34" charset="0"/>
              </a:rPr>
            </a:br>
            <a:r>
              <a:rPr lang="es-AR" altLang="es-AR">
                <a:latin typeface="Arial" panose="020B0604020202020204" pitchFamily="34" charset="0"/>
                <a:cs typeface="Arial" panose="020B0604020202020204" pitchFamily="34" charset="0"/>
              </a:rPr>
              <a:t>Moretti (2010) muestra que cada nuevo trabajo en el sector de la tecnología creará aproximadamente 4,9 puestos de trabajo adicionales en el sector de servicios a nivel interno. Los trabajos tecnológicos, en otras palabras, siguen desempeñando un papel  crucial para generar demanda de trabajo en el sector de servicios interno. Un estudio reciente llevado a cabo por Frey, Berger y Chen (2016) demostró que el multiplicador asociado con los trabajos calificados en la industria manufacturera es incluso mucho mayor en  el mundo en desarrollo; concretamente, es aproximadamente entre seis y nueve veces más alto que el multiplicador del empleo calificado registrado en Estados Unidos. </a:t>
            </a:r>
          </a:p>
          <a:p>
            <a:endParaRPr lang="es-AR" altLang="es-AR">
              <a:latin typeface="Arial" panose="020B0604020202020204" pitchFamily="34" charset="0"/>
              <a:cs typeface="Arial" panose="020B0604020202020204" pitchFamily="34" charset="0"/>
            </a:endParaRPr>
          </a:p>
          <a:p>
            <a:r>
              <a:rPr lang="es-AR" altLang="es-AR">
                <a:latin typeface="Arial" panose="020B0604020202020204" pitchFamily="34" charset="0"/>
                <a:cs typeface="Arial" panose="020B0604020202020204" pitchFamily="34" charset="0"/>
              </a:rPr>
              <a:t>A medida que los trabajos en el sector de la tecnología tienden a agruparse, la demanda de servicios locales se vuelve, asimismo, cada vez más concentrada: los trabajadores con niveles bajos de calificación deberán trasladarse a aquellos lugares donde se creen los  nuevos trabajos del sector tecnológico. Mientras tanto, los puestos de trabajo antiguos que se pierden por la automatización se encuentran en lugares distintos de aquellos en los que se crean los puestos de trabajo nuevos.</a:t>
            </a:r>
          </a:p>
          <a:p>
            <a:endParaRPr lang="es-AR" altLang="es-AR">
              <a:latin typeface="Arial" panose="020B0604020202020204" pitchFamily="34" charset="0"/>
              <a:cs typeface="Arial" panose="020B0604020202020204" pitchFamily="34" charset="0"/>
            </a:endParaRPr>
          </a:p>
          <a:p>
            <a:r>
              <a:rPr lang="es-AR" altLang="es-AR">
                <a:latin typeface="Arial" panose="020B0604020202020204" pitchFamily="34" charset="0"/>
                <a:cs typeface="Arial" panose="020B0604020202020204" pitchFamily="34" charset="0"/>
              </a:rPr>
              <a:t>la educación es otro aspecto crítico, y esto se pone de manifiesto en el hecho de que los nuevos puestos tienden a aglomerarse en lugares que cuentan con una fuerza de trabajo altamente calificada. Además, porque la educación es lo que les permite a los trabajadores pasarse a ocupaciones nuevas de un modo exitoso </a:t>
            </a:r>
          </a:p>
          <a:p>
            <a:endParaRPr lang="es-AR" altLang="es-AR">
              <a:latin typeface="Arial" panose="020B0604020202020204" pitchFamily="34" charset="0"/>
              <a:cs typeface="Arial" panose="020B0604020202020204" pitchFamily="34" charset="0"/>
            </a:endParaRPr>
          </a:p>
          <a:p>
            <a:r>
              <a:rPr lang="en-US" altLang="es-AR">
                <a:latin typeface="Arial" panose="020B0604020202020204" pitchFamily="34" charset="0"/>
                <a:cs typeface="Arial" panose="020B0604020202020204" pitchFamily="34" charset="0"/>
              </a:rPr>
              <a:t>Current changes in the world of work are frequently depicted as the fourth industrial revolution, or Industry 4.0 (Schwab, 2016), which is characterized by key technologies such as genetics, artifiial intelligence, cloud computing,  nanotechnology, biotechnology, and 3-D printing, among others. </a:t>
            </a:r>
            <a:br>
              <a:rPr lang="en-US" altLang="es-AR">
                <a:latin typeface="Arial" panose="020B0604020202020204" pitchFamily="34" charset="0"/>
                <a:cs typeface="Arial" panose="020B0604020202020204" pitchFamily="34" charset="0"/>
              </a:rPr>
            </a:br>
            <a:br>
              <a:rPr lang="en-US" altLang="es-AR">
                <a:latin typeface="Arial" panose="020B0604020202020204" pitchFamily="34" charset="0"/>
                <a:cs typeface="Arial" panose="020B0604020202020204" pitchFamily="34" charset="0"/>
              </a:rPr>
            </a:br>
            <a:endParaRPr lang="es-AR" altLang="es-AR">
              <a:latin typeface="Arial" panose="020B0604020202020204" pitchFamily="34" charset="0"/>
              <a:cs typeface="Arial" panose="020B0604020202020204" pitchFamily="34" charset="0"/>
            </a:endParaRPr>
          </a:p>
        </p:txBody>
      </p:sp>
      <p:sp>
        <p:nvSpPr>
          <p:cNvPr id="55300"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a:solidFill>
                  <a:schemeClr val="tx1"/>
                </a:solidFill>
                <a:latin typeface="Arial" panose="020B0604020202020204" pitchFamily="34" charset="0"/>
                <a:cs typeface="Arial" panose="020B0604020202020204" pitchFamily="34" charset="0"/>
              </a:defRPr>
            </a:lvl1pPr>
            <a:lvl2pPr marL="742950" indent="-285750" defTabSz="903288">
              <a:defRPr>
                <a:solidFill>
                  <a:schemeClr val="tx1"/>
                </a:solidFill>
                <a:latin typeface="Arial" panose="020B0604020202020204" pitchFamily="34" charset="0"/>
                <a:cs typeface="Arial" panose="020B0604020202020204" pitchFamily="34" charset="0"/>
              </a:defRPr>
            </a:lvl2pPr>
            <a:lvl3pPr marL="1143000" indent="-228600" defTabSz="903288">
              <a:defRPr>
                <a:solidFill>
                  <a:schemeClr val="tx1"/>
                </a:solidFill>
                <a:latin typeface="Arial" panose="020B0604020202020204" pitchFamily="34" charset="0"/>
                <a:cs typeface="Arial" panose="020B0604020202020204" pitchFamily="34" charset="0"/>
              </a:defRPr>
            </a:lvl3pPr>
            <a:lvl4pPr marL="1600200" indent="-228600" defTabSz="903288">
              <a:defRPr>
                <a:solidFill>
                  <a:schemeClr val="tx1"/>
                </a:solidFill>
                <a:latin typeface="Arial" panose="020B0604020202020204" pitchFamily="34" charset="0"/>
                <a:cs typeface="Arial" panose="020B0604020202020204" pitchFamily="34" charset="0"/>
              </a:defRPr>
            </a:lvl4pPr>
            <a:lvl5pPr marL="2057400" indent="-228600" defTabSz="903288">
              <a:defRPr>
                <a:solidFill>
                  <a:schemeClr val="tx1"/>
                </a:solidFill>
                <a:latin typeface="Arial" panose="020B0604020202020204" pitchFamily="34" charset="0"/>
                <a:cs typeface="Arial" panose="020B0604020202020204" pitchFamily="34" charset="0"/>
              </a:defRPr>
            </a:lvl5pPr>
            <a:lvl6pPr marL="25146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849C341-BBD6-4073-B780-42998972330B}" type="slidenum">
              <a:rPr lang="es-ES" altLang="es-AR" smtClean="0"/>
              <a:pPr/>
              <a:t>24</a:t>
            </a:fld>
            <a:endParaRPr lang="es-ES" altLang="es-AR"/>
          </a:p>
        </p:txBody>
      </p:sp>
    </p:spTree>
    <p:extLst>
      <p:ext uri="{BB962C8B-B14F-4D97-AF65-F5344CB8AC3E}">
        <p14:creationId xmlns:p14="http://schemas.microsoft.com/office/powerpoint/2010/main" val="11990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Marcador de imagen de diapositiva 1"/>
          <p:cNvSpPr>
            <a:spLocks noGrp="1" noRot="1" noChangeAspect="1" noTextEdit="1"/>
          </p:cNvSpPr>
          <p:nvPr>
            <p:ph type="sldImg"/>
          </p:nvPr>
        </p:nvSpPr>
        <p:spPr>
          <a:xfrm>
            <a:off x="852488" y="744538"/>
            <a:ext cx="4964112" cy="3722687"/>
          </a:xfrm>
          <a:ln/>
        </p:spPr>
      </p:sp>
      <p:sp>
        <p:nvSpPr>
          <p:cNvPr id="57347"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s-AR" b="1">
                <a:latin typeface="Arial" panose="020B0604020202020204" pitchFamily="34" charset="0"/>
                <a:cs typeface="Arial" panose="020B0604020202020204" pitchFamily="34" charset="0"/>
              </a:rPr>
              <a:t>ural Changes in the World of Work (Hirschi, 2017)</a:t>
            </a:r>
            <a:br>
              <a:rPr lang="en-US" altLang="es-AR">
                <a:latin typeface="Arial" panose="020B0604020202020204" pitchFamily="34" charset="0"/>
                <a:cs typeface="Arial" panose="020B0604020202020204" pitchFamily="34" charset="0"/>
              </a:rPr>
            </a:br>
            <a:r>
              <a:rPr lang="en-US" altLang="es-AR">
                <a:latin typeface="Arial" panose="020B0604020202020204" pitchFamily="34" charset="0"/>
                <a:cs typeface="Arial" panose="020B0604020202020204" pitchFamily="34" charset="0"/>
              </a:rPr>
              <a:t>A major result of technological progress in the U.S. and European labor markets in recent decades was an increasing job polarization (Autor &amp; Dorn, 2013; Goos, Manning, &amp; Salomons, 2009). Job polarization describes the phenomenon where </a:t>
            </a:r>
            <a:r>
              <a:rPr lang="en-US" altLang="es-AR" b="1">
                <a:latin typeface="Arial" panose="020B0604020202020204" pitchFamily="34" charset="0"/>
                <a:cs typeface="Arial" panose="020B0604020202020204" pitchFamily="34" charset="0"/>
              </a:rPr>
              <a:t>middle-skilled jobs are hollowed out</a:t>
            </a:r>
            <a:r>
              <a:rPr lang="en-US" altLang="es-AR">
                <a:latin typeface="Arial" panose="020B0604020202020204" pitchFamily="34" charset="0"/>
                <a:cs typeface="Arial" panose="020B0604020202020204" pitchFamily="34" charset="0"/>
              </a:rPr>
              <a:t>, whereas lower skilled service jobs and highskilled jobs increase disproportionately. This hollowing out is due to the fact that many middle-skilled jobs (e.g., offie administrators, machine operators) consist of cognitive or manual tasks that can relatively easily be automated with recent technology because they follow precise, predictable procedures. By contrast, lowskilled service jobs (e.g., personal caretakers, cleaners, security guards) encompass many tasks that are relatively easy to do for humans but are diffiult to automate with current technology. On the other hand, high-skilled jobs (e.g., technicians,</a:t>
            </a:r>
            <a:br>
              <a:rPr lang="en-US" altLang="es-AR">
                <a:latin typeface="Arial" panose="020B0604020202020204" pitchFamily="34" charset="0"/>
                <a:cs typeface="Arial" panose="020B0604020202020204" pitchFamily="34" charset="0"/>
              </a:rPr>
            </a:br>
            <a:r>
              <a:rPr lang="en-US" altLang="es-AR">
                <a:latin typeface="Arial" panose="020B0604020202020204" pitchFamily="34" charset="0"/>
                <a:cs typeface="Arial" panose="020B0604020202020204" pitchFamily="34" charset="0"/>
              </a:rPr>
              <a:t>educators, managers) frequently involve creative problem-solving and complex social interaction that are also harder to automate. One result of this job polarization is that many workers who performed middle-skill jobs have been pushed into lower paid and lower skilled occupations, whereas the pressure to increase skills through lifelong learning and continued education to avoid this fate has grown (Frey &amp; Osborne, 2013).</a:t>
            </a:r>
            <a:br>
              <a:rPr lang="en-US" altLang="es-AR">
                <a:latin typeface="Arial" panose="020B0604020202020204" pitchFamily="34" charset="0"/>
                <a:cs typeface="Arial" panose="020B0604020202020204" pitchFamily="34" charset="0"/>
              </a:rPr>
            </a:br>
            <a:br>
              <a:rPr lang="en-US" altLang="es-AR">
                <a:latin typeface="Arial" panose="020B0604020202020204" pitchFamily="34" charset="0"/>
                <a:cs typeface="Arial" panose="020B0604020202020204" pitchFamily="34" charset="0"/>
              </a:rPr>
            </a:br>
            <a:endParaRPr lang="es-AR" altLang="es-AR">
              <a:latin typeface="Arial" panose="020B0604020202020204" pitchFamily="34" charset="0"/>
              <a:cs typeface="Arial" panose="020B0604020202020204" pitchFamily="34" charset="0"/>
            </a:endParaRPr>
          </a:p>
        </p:txBody>
      </p:sp>
      <p:sp>
        <p:nvSpPr>
          <p:cNvPr id="57348"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a:solidFill>
                  <a:schemeClr val="tx1"/>
                </a:solidFill>
                <a:latin typeface="Arial" panose="020B0604020202020204" pitchFamily="34" charset="0"/>
                <a:cs typeface="Arial" panose="020B0604020202020204" pitchFamily="34" charset="0"/>
              </a:defRPr>
            </a:lvl1pPr>
            <a:lvl2pPr marL="742950" indent="-285750" defTabSz="903288">
              <a:defRPr>
                <a:solidFill>
                  <a:schemeClr val="tx1"/>
                </a:solidFill>
                <a:latin typeface="Arial" panose="020B0604020202020204" pitchFamily="34" charset="0"/>
                <a:cs typeface="Arial" panose="020B0604020202020204" pitchFamily="34" charset="0"/>
              </a:defRPr>
            </a:lvl2pPr>
            <a:lvl3pPr marL="1143000" indent="-228600" defTabSz="903288">
              <a:defRPr>
                <a:solidFill>
                  <a:schemeClr val="tx1"/>
                </a:solidFill>
                <a:latin typeface="Arial" panose="020B0604020202020204" pitchFamily="34" charset="0"/>
                <a:cs typeface="Arial" panose="020B0604020202020204" pitchFamily="34" charset="0"/>
              </a:defRPr>
            </a:lvl3pPr>
            <a:lvl4pPr marL="1600200" indent="-228600" defTabSz="903288">
              <a:defRPr>
                <a:solidFill>
                  <a:schemeClr val="tx1"/>
                </a:solidFill>
                <a:latin typeface="Arial" panose="020B0604020202020204" pitchFamily="34" charset="0"/>
                <a:cs typeface="Arial" panose="020B0604020202020204" pitchFamily="34" charset="0"/>
              </a:defRPr>
            </a:lvl4pPr>
            <a:lvl5pPr marL="2057400" indent="-228600" defTabSz="903288">
              <a:defRPr>
                <a:solidFill>
                  <a:schemeClr val="tx1"/>
                </a:solidFill>
                <a:latin typeface="Arial" panose="020B0604020202020204" pitchFamily="34" charset="0"/>
                <a:cs typeface="Arial" panose="020B0604020202020204" pitchFamily="34" charset="0"/>
              </a:defRPr>
            </a:lvl5pPr>
            <a:lvl6pPr marL="25146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94A51A-D30B-48A7-8807-2ECF3F012E3E}" type="slidenum">
              <a:rPr lang="es-ES" altLang="es-AR" smtClean="0"/>
              <a:pPr/>
              <a:t>25</a:t>
            </a:fld>
            <a:endParaRPr lang="es-ES" altLang="es-AR"/>
          </a:p>
        </p:txBody>
      </p:sp>
    </p:spTree>
    <p:extLst>
      <p:ext uri="{BB962C8B-B14F-4D97-AF65-F5344CB8AC3E}">
        <p14:creationId xmlns:p14="http://schemas.microsoft.com/office/powerpoint/2010/main" val="3386224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Marcador de imagen de diapositiva 1"/>
          <p:cNvSpPr>
            <a:spLocks noGrp="1" noRot="1" noChangeAspect="1" noTextEdit="1"/>
          </p:cNvSpPr>
          <p:nvPr>
            <p:ph type="sldImg"/>
          </p:nvPr>
        </p:nvSpPr>
        <p:spPr>
          <a:ln/>
        </p:spPr>
      </p:sp>
      <p:sp>
        <p:nvSpPr>
          <p:cNvPr id="59395" name="Marcador de nota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s-AR">
                <a:latin typeface="Arial" panose="020B0604020202020204" pitchFamily="34" charset="0"/>
                <a:cs typeface="Arial" panose="020B0604020202020204" pitchFamily="34" charset="0"/>
              </a:rPr>
              <a:t>Roles marked with * appear across multiple columns. This reflects the fact that they might be seeing stable or declining demand across one industry but be in demand in another.</a:t>
            </a:r>
          </a:p>
          <a:p>
            <a:endParaRPr lang="en-US" altLang="es-AR">
              <a:latin typeface="Arial" panose="020B0604020202020204" pitchFamily="34" charset="0"/>
              <a:cs typeface="Arial" panose="020B0604020202020204" pitchFamily="34" charset="0"/>
            </a:endParaRPr>
          </a:p>
          <a:p>
            <a:r>
              <a:rPr lang="es-AR" altLang="es-AR">
                <a:latin typeface="Arial" panose="020B0604020202020204" pitchFamily="34" charset="0"/>
                <a:cs typeface="Arial" panose="020B0604020202020204" pitchFamily="34" charset="0"/>
              </a:rPr>
              <a:t>Foro Económico Mundial, también llamado Foro de Davos, es una fundación sin fines de lucro con sede en Ginebra, que se reúne anualmente en Davos, y que sobre todo es conocida por su asamblea anual en Davos, Suiza</a:t>
            </a:r>
          </a:p>
        </p:txBody>
      </p:sp>
      <p:sp>
        <p:nvSpPr>
          <p:cNvPr id="59396" name="Marcador de número de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a:solidFill>
                  <a:schemeClr val="tx1"/>
                </a:solidFill>
                <a:latin typeface="Arial" panose="020B0604020202020204" pitchFamily="34" charset="0"/>
                <a:cs typeface="Arial" panose="020B0604020202020204" pitchFamily="34" charset="0"/>
              </a:defRPr>
            </a:lvl1pPr>
            <a:lvl2pPr marL="742950" indent="-285750" defTabSz="903288">
              <a:defRPr>
                <a:solidFill>
                  <a:schemeClr val="tx1"/>
                </a:solidFill>
                <a:latin typeface="Arial" panose="020B0604020202020204" pitchFamily="34" charset="0"/>
                <a:cs typeface="Arial" panose="020B0604020202020204" pitchFamily="34" charset="0"/>
              </a:defRPr>
            </a:lvl2pPr>
            <a:lvl3pPr marL="1143000" indent="-228600" defTabSz="903288">
              <a:defRPr>
                <a:solidFill>
                  <a:schemeClr val="tx1"/>
                </a:solidFill>
                <a:latin typeface="Arial" panose="020B0604020202020204" pitchFamily="34" charset="0"/>
                <a:cs typeface="Arial" panose="020B0604020202020204" pitchFamily="34" charset="0"/>
              </a:defRPr>
            </a:lvl3pPr>
            <a:lvl4pPr marL="1600200" indent="-228600" defTabSz="903288">
              <a:defRPr>
                <a:solidFill>
                  <a:schemeClr val="tx1"/>
                </a:solidFill>
                <a:latin typeface="Arial" panose="020B0604020202020204" pitchFamily="34" charset="0"/>
                <a:cs typeface="Arial" panose="020B0604020202020204" pitchFamily="34" charset="0"/>
              </a:defRPr>
            </a:lvl4pPr>
            <a:lvl5pPr marL="2057400" indent="-228600" defTabSz="903288">
              <a:defRPr>
                <a:solidFill>
                  <a:schemeClr val="tx1"/>
                </a:solidFill>
                <a:latin typeface="Arial" panose="020B0604020202020204" pitchFamily="34" charset="0"/>
                <a:cs typeface="Arial" panose="020B0604020202020204" pitchFamily="34" charset="0"/>
              </a:defRPr>
            </a:lvl5pPr>
            <a:lvl6pPr marL="25146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0A43E01-5347-4377-9AB6-2CFD53A79084}" type="slidenum">
              <a:rPr lang="es-ES" altLang="es-AR" smtClean="0"/>
              <a:pPr/>
              <a:t>26</a:t>
            </a:fld>
            <a:endParaRPr lang="es-ES" altLang="es-AR"/>
          </a:p>
        </p:txBody>
      </p:sp>
    </p:spTree>
    <p:extLst>
      <p:ext uri="{BB962C8B-B14F-4D97-AF65-F5344CB8AC3E}">
        <p14:creationId xmlns:p14="http://schemas.microsoft.com/office/powerpoint/2010/main" val="3855034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lnSpcReduction="10000"/>
          </a:bodyPr>
          <a:lstStyle/>
          <a:p>
            <a:endParaRPr lang="en-US" dirty="0"/>
          </a:p>
          <a:p>
            <a:endParaRPr lang="en-US" dirty="0"/>
          </a:p>
          <a:p>
            <a:endParaRPr lang="en-US" dirty="0"/>
          </a:p>
          <a:p>
            <a:r>
              <a:rPr lang="es-AR" dirty="0"/>
              <a:t>Los mercados laborales están experimentando cambios de gran escala que en su mayoría están relacionados con la Cuarta Revolución Industrial. Las empresas deben crear programas de formación internos, y elaborarlos de forma óptima para conseguir que el empleado adquiera las competencias que necesita para adaptarse a los cambios y desempeñar su trabajo de forma efectiva. Esta nueva forma de reentrenar a los trabajadores está basada en los </a:t>
            </a:r>
            <a:r>
              <a:rPr lang="es-AR" b="1" dirty="0"/>
              <a:t>conceptos de </a:t>
            </a:r>
            <a:r>
              <a:rPr lang="es-AR" b="1" dirty="0" err="1"/>
              <a:t>upskilling</a:t>
            </a:r>
            <a:r>
              <a:rPr lang="es-AR" b="1" dirty="0"/>
              <a:t> y </a:t>
            </a:r>
            <a:r>
              <a:rPr lang="es-AR" b="1" dirty="0" err="1"/>
              <a:t>reskilling</a:t>
            </a:r>
            <a:r>
              <a:rPr lang="es-AR" dirty="0"/>
              <a:t>, que se convierten en los más relevantes tras el surgimiento de la Transformación Digital de las compañías.</a:t>
            </a:r>
          </a:p>
          <a:p>
            <a:endParaRPr lang="es-AR" dirty="0"/>
          </a:p>
          <a:p>
            <a:r>
              <a:rPr lang="es-AR" b="1" dirty="0" err="1"/>
              <a:t>Reskilling</a:t>
            </a:r>
            <a:r>
              <a:rPr lang="es-AR" b="1" dirty="0"/>
              <a:t> implica capacitar a los empleados en un conjunto completamente nuevo de habilidades </a:t>
            </a:r>
            <a:r>
              <a:rPr lang="es-AR" dirty="0"/>
              <a:t>para prepararlos para asumir un papel diferente dentro de la empresa. Esto suele ocurrir cuando las tareas o responsabilidades anteriores de los trabajadores se vuelven irrelevantes, a menudo debido a los avances tecnológicos. El año pasado, por ejemplo, Amazon comenzó a capacitar programas para 100,000 de sus trabajadores para ponerlos en una carrera profesional relevante frente a la automatización. En este caso, los trabajadores del piso del almacén estaban preparados para nuevos roles potenciales como técnicos de TI, y los codificadores de bajo nivel se convirtieron en científicos de datos. </a:t>
            </a:r>
            <a:r>
              <a:rPr lang="es-AR" dirty="0" err="1"/>
              <a:t>Reskilling</a:t>
            </a:r>
            <a:r>
              <a:rPr lang="es-AR" dirty="0"/>
              <a:t> permite a las empresas retener trabajadores confiables y minimizar la rotación al invertir en el crecimiento de los empleados.</a:t>
            </a:r>
          </a:p>
          <a:p>
            <a:endParaRPr lang="es-AR" dirty="0"/>
          </a:p>
          <a:p>
            <a:r>
              <a:rPr lang="es-AR" b="1" dirty="0"/>
              <a:t>A diferencia del giro de 180 grados del </a:t>
            </a:r>
            <a:r>
              <a:rPr lang="es-AR" b="1" dirty="0" err="1"/>
              <a:t>reskilling</a:t>
            </a:r>
            <a:r>
              <a:rPr lang="es-AR" b="1" dirty="0"/>
              <a:t>, el </a:t>
            </a:r>
            <a:r>
              <a:rPr lang="es-AR" b="1" dirty="0" err="1"/>
              <a:t>upskilling</a:t>
            </a:r>
            <a:r>
              <a:rPr lang="es-AR" b="1" dirty="0"/>
              <a:t> </a:t>
            </a:r>
            <a:r>
              <a:rPr lang="es-AR" dirty="0"/>
              <a:t>ocurre cuando los trabajadores mejoran las habilidades existentes y profundizan sus habilidades e impacto dentro de su área de especialización. Al ampliar su conocimiento, los empleados se posicionan mejor para responsabilidades adicionales y roles de nivel superior en una carrera profesional en particular.  Por ejemplo, un vendedor necesitará aprender nuevas herramientas y habilidades digitales para interactuar mejor con su audiencia (y llegar a otras nuevas) en las plataformas sociales emergentes. Si lo hacen con éxito, simultáneamente impulsarán su negocio y se prepararán para el éxito futuro en puestos más avanzados.</a:t>
            </a:r>
            <a:endParaRPr lang="en-US" dirty="0"/>
          </a:p>
        </p:txBody>
      </p:sp>
      <p:sp>
        <p:nvSpPr>
          <p:cNvPr id="4" name="Marcador de número de diapositiva 3"/>
          <p:cNvSpPr>
            <a:spLocks noGrp="1"/>
          </p:cNvSpPr>
          <p:nvPr>
            <p:ph type="sldNum" sz="quarter" idx="10"/>
          </p:nvPr>
        </p:nvSpPr>
        <p:spPr/>
        <p:txBody>
          <a:bodyPr/>
          <a:lstStyle/>
          <a:p>
            <a:pPr lvl="0"/>
            <a:fld id="{609236A8-F990-4E0D-A67B-A668D00A9EDA}" type="slidenum">
              <a:rPr lang="en-US" smtClean="0"/>
              <a:pPr lvl="0"/>
              <a:t>27</a:t>
            </a:fld>
            <a:endParaRPr lang="en-US"/>
          </a:p>
        </p:txBody>
      </p:sp>
    </p:spTree>
    <p:extLst>
      <p:ext uri="{BB962C8B-B14F-4D97-AF65-F5344CB8AC3E}">
        <p14:creationId xmlns:p14="http://schemas.microsoft.com/office/powerpoint/2010/main" val="1715515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32500" lnSpcReduction="20000"/>
          </a:bodyPr>
          <a:lstStyle/>
          <a:p>
            <a:r>
              <a:rPr lang="es-ES" dirty="0"/>
              <a:t>Libro de Bachillerato:</a:t>
            </a:r>
          </a:p>
          <a:p>
            <a:r>
              <a:rPr lang="es-ES" dirty="0"/>
              <a:t>Se denomina proceso administrativo al conjunto de funciones</a:t>
            </a:r>
            <a:r>
              <a:rPr lang="es-ES" baseline="0" dirty="0"/>
              <a:t> y actividades que efectúa la administración de la empresa orientadas al logro de los fines y objetivos de la misma.</a:t>
            </a:r>
          </a:p>
          <a:p>
            <a:endParaRPr lang="es-ES" baseline="0" dirty="0"/>
          </a:p>
          <a:p>
            <a:r>
              <a:rPr lang="es-ES" baseline="0" dirty="0"/>
              <a:t>La administración de una empresa requiere el constante ejercicio de ciertas responsabilidades directivas a las que se denomina, conjuntamente, funciones de la administración o funciones administrativas.</a:t>
            </a:r>
          </a:p>
          <a:p>
            <a:endParaRPr lang="es-ES" dirty="0"/>
          </a:p>
          <a:p>
            <a:r>
              <a:rPr lang="es-ES" dirty="0"/>
              <a:t>Se trata de un proceso, por lo que estas funciones deben realizarse de forma correlativa, es decir, no se puede organizar</a:t>
            </a:r>
            <a:r>
              <a:rPr lang="es-ES" baseline="0" dirty="0"/>
              <a:t> sin antes planificar, ni se puede controlar si antes no se planifica ni organiza.</a:t>
            </a:r>
          </a:p>
          <a:p>
            <a:r>
              <a:rPr lang="es-ES" baseline="0" dirty="0"/>
              <a:t>	</a:t>
            </a:r>
            <a:r>
              <a:rPr lang="es-ES" baseline="0" dirty="0">
                <a:sym typeface="Wingdings" pitchFamily="2" charset="2"/>
              </a:rPr>
              <a:t> Proceso: conjunto de pasos o etapas necesarios para llevar a cabo una actividad o conseguir un objetivo.</a:t>
            </a:r>
            <a:endParaRPr lang="es-ES" baseline="0" dirty="0"/>
          </a:p>
          <a:p>
            <a:r>
              <a:rPr lang="es-ES" baseline="0" dirty="0"/>
              <a:t>Este proceso se compone de dos fases:</a:t>
            </a:r>
          </a:p>
          <a:p>
            <a:pPr marL="228600" indent="-228600">
              <a:buFont typeface="+mj-lt"/>
              <a:buAutoNum type="arabicPeriod"/>
            </a:pPr>
            <a:r>
              <a:rPr lang="es-ES" baseline="0" dirty="0"/>
              <a:t>La </a:t>
            </a:r>
            <a:r>
              <a:rPr lang="es-ES" b="1" baseline="0" dirty="0"/>
              <a:t>fase mecánica</a:t>
            </a:r>
            <a:r>
              <a:rPr lang="es-ES" b="0" baseline="0" dirty="0"/>
              <a:t> es la parte teórica de la administración en la que se establece lo que debe hacerse y se divide en dos funciones o </a:t>
            </a:r>
            <a:r>
              <a:rPr lang="es-ES" b="0" baseline="0" dirty="0" err="1"/>
              <a:t>subfases</a:t>
            </a:r>
            <a:r>
              <a:rPr lang="es-ES" b="0" baseline="0" dirty="0"/>
              <a:t>:</a:t>
            </a:r>
          </a:p>
          <a:p>
            <a:pPr marL="685800" lvl="1" indent="-228600">
              <a:buFont typeface="+mj-lt"/>
              <a:buAutoNum type="arabicPeriod"/>
            </a:pPr>
            <a:r>
              <a:rPr lang="es-ES" b="0" baseline="0" dirty="0"/>
              <a:t>La </a:t>
            </a:r>
            <a:r>
              <a:rPr lang="es-ES" b="1" baseline="0" dirty="0"/>
              <a:t>planificación</a:t>
            </a:r>
            <a:r>
              <a:rPr lang="es-ES" b="0" baseline="0" dirty="0"/>
              <a:t>, en la que se plantea lo que se va a hacer.</a:t>
            </a:r>
          </a:p>
          <a:p>
            <a:pPr marL="685800" lvl="1" indent="-228600">
              <a:buFont typeface="+mj-lt"/>
              <a:buAutoNum type="arabicPeriod"/>
            </a:pPr>
            <a:r>
              <a:rPr lang="es-ES" b="0" baseline="0" dirty="0"/>
              <a:t>La </a:t>
            </a:r>
            <a:r>
              <a:rPr lang="es-ES" b="1" baseline="0" dirty="0"/>
              <a:t>organización</a:t>
            </a:r>
            <a:r>
              <a:rPr lang="es-ES" b="0" baseline="0" dirty="0"/>
              <a:t>, en la que se analiza cómo se va a hacer.</a:t>
            </a:r>
          </a:p>
          <a:p>
            <a:pPr marL="228600" lvl="0" indent="-228600">
              <a:buFont typeface="+mj-lt"/>
              <a:buAutoNum type="arabicPeriod"/>
            </a:pPr>
            <a:r>
              <a:rPr lang="es-ES" b="0" baseline="0" dirty="0"/>
              <a:t>La </a:t>
            </a:r>
            <a:r>
              <a:rPr lang="es-ES" b="1" baseline="0" dirty="0"/>
              <a:t>fase dinámica</a:t>
            </a:r>
            <a:r>
              <a:rPr lang="es-ES" b="0" baseline="0" dirty="0"/>
              <a:t> se refiere a cómo poner en práctica todo lo que se ha planeado y organizado previamente y se divide en:</a:t>
            </a:r>
          </a:p>
          <a:p>
            <a:pPr marL="685800" lvl="1" indent="-228600">
              <a:buFont typeface="+mj-lt"/>
              <a:buAutoNum type="arabicPeriod" startAt="3"/>
            </a:pPr>
            <a:r>
              <a:rPr lang="es-ES" b="0" baseline="0" dirty="0"/>
              <a:t>La </a:t>
            </a:r>
            <a:r>
              <a:rPr lang="es-ES" b="1" baseline="0" dirty="0"/>
              <a:t>gestión </a:t>
            </a:r>
            <a:r>
              <a:rPr lang="es-ES" b="0" baseline="0" dirty="0"/>
              <a:t>o </a:t>
            </a:r>
            <a:r>
              <a:rPr lang="es-ES" b="1" baseline="0" dirty="0"/>
              <a:t>dirección</a:t>
            </a:r>
            <a:r>
              <a:rPr lang="es-ES" b="0" baseline="0" dirty="0"/>
              <a:t>, que consiste en determinar con qué y de qué manera se va a realizar.</a:t>
            </a:r>
          </a:p>
          <a:p>
            <a:pPr marL="685800" lvl="1" indent="-228600">
              <a:buFont typeface="+mj-lt"/>
              <a:buAutoNum type="arabicPeriod" startAt="3"/>
            </a:pPr>
            <a:r>
              <a:rPr lang="es-ES" b="0" baseline="0" dirty="0"/>
              <a:t>El </a:t>
            </a:r>
            <a:r>
              <a:rPr lang="es-ES" b="1" baseline="0" dirty="0"/>
              <a:t>control</a:t>
            </a:r>
            <a:r>
              <a:rPr lang="es-ES" b="0" baseline="0" dirty="0"/>
              <a:t> en la que se determina cómo se ha realizado.</a:t>
            </a:r>
          </a:p>
          <a:p>
            <a:pPr marL="685800" lvl="1" indent="-228600">
              <a:buFont typeface="+mj-lt"/>
              <a:buNone/>
            </a:pPr>
            <a:endParaRPr lang="es-ES" b="0" baseline="0" dirty="0"/>
          </a:p>
          <a:p>
            <a:pPr marL="0" lvl="0" indent="-228600">
              <a:buFont typeface="+mj-lt"/>
              <a:buNone/>
            </a:pPr>
            <a:r>
              <a:rPr lang="es-ES" b="0" dirty="0"/>
              <a:t>Libro</a:t>
            </a:r>
            <a:r>
              <a:rPr lang="es-ES" b="0" baseline="0" dirty="0"/>
              <a:t> de </a:t>
            </a:r>
            <a:r>
              <a:rPr lang="es-ES" b="0" baseline="0" dirty="0" err="1"/>
              <a:t>Robbins</a:t>
            </a:r>
            <a:r>
              <a:rPr lang="es-ES" b="0" baseline="0" dirty="0"/>
              <a:t>:</a:t>
            </a:r>
          </a:p>
          <a:p>
            <a:pPr marL="0" lvl="0" indent="-228600">
              <a:buFont typeface="+mj-lt"/>
              <a:buNone/>
            </a:pPr>
            <a:endParaRPr lang="es-ES" b="0" baseline="0" dirty="0"/>
          </a:p>
          <a:p>
            <a:r>
              <a:rPr lang="es-ES" sz="1000" kern="1200" baseline="0" dirty="0">
                <a:solidFill>
                  <a:schemeClr val="tx1"/>
                </a:solidFill>
                <a:latin typeface="Arial" pitchFamily="34" charset="0"/>
                <a:ea typeface="+mn-ea"/>
                <a:cs typeface="Arial" pitchFamily="34" charset="0"/>
              </a:rPr>
              <a:t>Solía ser muy sencillo definir quiénes eran los gerentes: eran los miembros administrativos que les decían a otros que hacer y cómo hacerlo. Era simple diferenciar a </a:t>
            </a:r>
            <a:r>
              <a:rPr lang="es-ES" sz="1000" i="1" kern="1200" baseline="0" dirty="0">
                <a:solidFill>
                  <a:schemeClr val="tx1"/>
                </a:solidFill>
                <a:latin typeface="Arial" pitchFamily="34" charset="0"/>
                <a:ea typeface="+mn-ea"/>
                <a:cs typeface="Arial" pitchFamily="34" charset="0"/>
              </a:rPr>
              <a:t>gerentes de empleados sin una posición gerencial. Pero ya no es tan sencillo. </a:t>
            </a:r>
            <a:r>
              <a:rPr lang="es-ES" sz="1000" kern="1200" baseline="0" dirty="0">
                <a:solidFill>
                  <a:schemeClr val="tx1"/>
                </a:solidFill>
                <a:latin typeface="Arial" pitchFamily="34" charset="0"/>
                <a:ea typeface="+mn-ea"/>
                <a:cs typeface="Arial" pitchFamily="34" charset="0"/>
              </a:rPr>
              <a:t>Entonces, </a:t>
            </a:r>
            <a:r>
              <a:rPr lang="es-ES" sz="1000" b="1" i="1" kern="1200" baseline="0" dirty="0">
                <a:solidFill>
                  <a:schemeClr val="tx1"/>
                </a:solidFill>
                <a:latin typeface="Arial" pitchFamily="34" charset="0"/>
                <a:ea typeface="+mn-ea"/>
                <a:cs typeface="Arial" pitchFamily="34" charset="0"/>
              </a:rPr>
              <a:t>¿cómo definimos quiénes son los gerentes? </a:t>
            </a:r>
            <a:r>
              <a:rPr lang="es-ES" sz="1000" i="0" kern="1200" baseline="0" dirty="0">
                <a:solidFill>
                  <a:schemeClr val="tx1"/>
                </a:solidFill>
                <a:latin typeface="Arial" pitchFamily="34" charset="0"/>
                <a:ea typeface="+mn-ea"/>
                <a:cs typeface="Arial" pitchFamily="34" charset="0"/>
              </a:rPr>
              <a:t>Un gerente es alguien que coordina y supervisa el trabajo de otras personas para que se logren los objetivos de la organización. </a:t>
            </a:r>
            <a:r>
              <a:rPr lang="es-ES" sz="1000" kern="1200" baseline="0" dirty="0">
                <a:solidFill>
                  <a:schemeClr val="tx1"/>
                </a:solidFill>
                <a:latin typeface="Arial" pitchFamily="34" charset="0"/>
                <a:ea typeface="+mn-ea"/>
                <a:cs typeface="Arial" pitchFamily="34" charset="0"/>
              </a:rPr>
              <a:t>El trabajo de un gerente no tiene que ver con logros </a:t>
            </a:r>
            <a:r>
              <a:rPr lang="es-ES" sz="1000" i="0" kern="1200" baseline="0" dirty="0">
                <a:solidFill>
                  <a:schemeClr val="tx1"/>
                </a:solidFill>
                <a:latin typeface="Arial" pitchFamily="34" charset="0"/>
                <a:ea typeface="+mn-ea"/>
                <a:cs typeface="Arial" pitchFamily="34" charset="0"/>
              </a:rPr>
              <a:t>personales, sino con ayudar a otros a realizar su trabajo. Esto puede significar la coordinación del trabajo de un departamento </a:t>
            </a:r>
            <a:r>
              <a:rPr lang="es-ES" sz="1000" kern="1200" baseline="0" dirty="0">
                <a:solidFill>
                  <a:schemeClr val="tx1"/>
                </a:solidFill>
                <a:latin typeface="Arial" pitchFamily="34" charset="0"/>
                <a:ea typeface="+mn-ea"/>
                <a:cs typeface="Arial" pitchFamily="34" charset="0"/>
              </a:rPr>
              <a:t>o supervisar a una sola persona. Podría involucrar la coordinación de las actividades de un equipo de personas de distintos departamentos o incluso de personas ajenas a la organización, como empleados temporales o empleados que trabajan con proveedores</a:t>
            </a:r>
          </a:p>
          <a:p>
            <a:r>
              <a:rPr lang="es-ES" sz="1000" kern="1200" baseline="0" dirty="0">
                <a:solidFill>
                  <a:schemeClr val="tx1"/>
                </a:solidFill>
                <a:latin typeface="Arial" pitchFamily="34" charset="0"/>
                <a:ea typeface="+mn-ea"/>
                <a:cs typeface="Arial" pitchFamily="34" charset="0"/>
              </a:rPr>
              <a:t>de la organización. También tenga presente que los gerentes pueden realizar labores no relacionadas con coordinar y supervisar el trabajo de otros. Por ejemplo, un supervisor</a:t>
            </a:r>
          </a:p>
          <a:p>
            <a:r>
              <a:rPr lang="es-ES" sz="1000" kern="1200" baseline="0" dirty="0">
                <a:solidFill>
                  <a:schemeClr val="tx1"/>
                </a:solidFill>
                <a:latin typeface="Arial" pitchFamily="34" charset="0"/>
                <a:ea typeface="+mn-ea"/>
                <a:cs typeface="Arial" pitchFamily="34" charset="0"/>
              </a:rPr>
              <a:t>de reclamaciones de seguros también puede procesar las reclamaciones además de coordinar las actividades laborales de otros empleados de reclamaciones.</a:t>
            </a:r>
          </a:p>
          <a:p>
            <a:r>
              <a:rPr lang="es-ES" sz="1000" kern="1200" baseline="0" dirty="0">
                <a:solidFill>
                  <a:schemeClr val="tx1"/>
                </a:solidFill>
                <a:latin typeface="Arial" pitchFamily="34" charset="0"/>
                <a:ea typeface="+mn-ea"/>
                <a:cs typeface="Arial" pitchFamily="34" charset="0"/>
              </a:rPr>
              <a:t>¿Existe alguna forma de clasificar a los gerentes de una empresa? En organizaciones estructuradas de forma tradicional (las cuales se dice tienen forma de pirámide, debido a que hay más empleados en los niveles organizacionales más bajos que en los niveles superiores), suele suceder que se clasifique a los gerentes como de primera línea, gerentes de nivel medio y gerentes de nivel alto (vea la figura 1-2). En el nivel más bajo de la administración, los </a:t>
            </a:r>
            <a:r>
              <a:rPr lang="es-ES" sz="1000" b="1" kern="1200" baseline="0" dirty="0">
                <a:solidFill>
                  <a:schemeClr val="tx1"/>
                </a:solidFill>
                <a:latin typeface="Arial" pitchFamily="34" charset="0"/>
                <a:ea typeface="+mn-ea"/>
                <a:cs typeface="Arial" pitchFamily="34" charset="0"/>
              </a:rPr>
              <a:t>gerentes de primera línea </a:t>
            </a:r>
            <a:r>
              <a:rPr lang="es-ES" sz="1000" kern="1200" baseline="0" dirty="0">
                <a:solidFill>
                  <a:schemeClr val="tx1"/>
                </a:solidFill>
                <a:latin typeface="Arial" pitchFamily="34" charset="0"/>
                <a:ea typeface="+mn-ea"/>
                <a:cs typeface="Arial" pitchFamily="34" charset="0"/>
              </a:rPr>
              <a:t>dirigen el trabajo del personal que por lo general está involucrado con la producción de la organización o con el servicio a los clientes de la empresa. Los gerentes de primera línea con frecuencia se conocen como </a:t>
            </a:r>
            <a:r>
              <a:rPr lang="es-ES" sz="1000" i="0" kern="1200" baseline="0" dirty="0">
                <a:solidFill>
                  <a:schemeClr val="tx1"/>
                </a:solidFill>
                <a:latin typeface="Arial" pitchFamily="34" charset="0"/>
                <a:ea typeface="+mn-ea"/>
                <a:cs typeface="Arial" pitchFamily="34" charset="0"/>
              </a:rPr>
              <a:t>supervisores pero también pueden recibir el nombre de gerentes de turno, gerentes de distrito, gerentes de departamento o gerentes de oficina. Los </a:t>
            </a:r>
            <a:r>
              <a:rPr lang="es-ES" sz="1000" b="1" i="0" kern="1200" baseline="0" dirty="0">
                <a:solidFill>
                  <a:schemeClr val="tx1"/>
                </a:solidFill>
                <a:latin typeface="Arial" pitchFamily="34" charset="0"/>
                <a:ea typeface="+mn-ea"/>
                <a:cs typeface="Arial" pitchFamily="34" charset="0"/>
              </a:rPr>
              <a:t>gerentes de nivel medio </a:t>
            </a:r>
            <a:r>
              <a:rPr lang="es-ES" sz="1000" b="0" i="0" kern="1200" baseline="0" dirty="0">
                <a:solidFill>
                  <a:schemeClr val="tx1"/>
                </a:solidFill>
                <a:latin typeface="Arial" pitchFamily="34" charset="0"/>
                <a:ea typeface="+mn-ea"/>
                <a:cs typeface="Arial" pitchFamily="34" charset="0"/>
              </a:rPr>
              <a:t>son aquellos que</a:t>
            </a:r>
            <a:r>
              <a:rPr lang="es-ES" sz="1000" b="1" i="0"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se encuentran entre el nivel más bajo y el más alto de la organización. Estos gerentes dirigen el trabajo de los gerentes de primera línea y pueden ostentar títulos como gerente regional, líder de proyecto, gerente de tienda o gerente de división. En los niveles superiores de la organización se encuentran los </a:t>
            </a:r>
            <a:r>
              <a:rPr lang="es-ES" sz="1000" b="1" i="0" kern="1200" baseline="0" dirty="0">
                <a:solidFill>
                  <a:schemeClr val="tx1"/>
                </a:solidFill>
                <a:latin typeface="Arial" pitchFamily="34" charset="0"/>
                <a:ea typeface="+mn-ea"/>
                <a:cs typeface="Arial" pitchFamily="34" charset="0"/>
              </a:rPr>
              <a:t>gerentes de nivel alto, </a:t>
            </a:r>
            <a:r>
              <a:rPr lang="es-ES" sz="1000" b="0" i="0" kern="1200" baseline="0" dirty="0">
                <a:solidFill>
                  <a:schemeClr val="tx1"/>
                </a:solidFill>
                <a:latin typeface="Arial" pitchFamily="34" charset="0"/>
                <a:ea typeface="+mn-ea"/>
                <a:cs typeface="Arial" pitchFamily="34" charset="0"/>
              </a:rPr>
              <a:t>quienes son</a:t>
            </a:r>
            <a:r>
              <a:rPr lang="es-ES" sz="1000" b="1" i="0" kern="1200" baseline="0" dirty="0">
                <a:solidFill>
                  <a:schemeClr val="tx1"/>
                </a:solidFill>
                <a:latin typeface="Arial" pitchFamily="34" charset="0"/>
                <a:ea typeface="+mn-ea"/>
                <a:cs typeface="Arial" pitchFamily="34" charset="0"/>
              </a:rPr>
              <a:t> </a:t>
            </a:r>
            <a:r>
              <a:rPr lang="es-ES" sz="1000" b="0" i="0" kern="1200" baseline="0" dirty="0">
                <a:solidFill>
                  <a:schemeClr val="tx1"/>
                </a:solidFill>
                <a:latin typeface="Arial" pitchFamily="34" charset="0"/>
                <a:ea typeface="+mn-ea"/>
                <a:cs typeface="Arial" pitchFamily="34" charset="0"/>
              </a:rPr>
              <a:t>responsables de tomar </a:t>
            </a:r>
            <a:r>
              <a:rPr lang="es-ES" sz="1000" i="0" kern="1200" baseline="0" dirty="0">
                <a:solidFill>
                  <a:schemeClr val="tx1"/>
                </a:solidFill>
                <a:latin typeface="Arial" pitchFamily="34" charset="0"/>
                <a:ea typeface="+mn-ea"/>
                <a:cs typeface="Arial" pitchFamily="34" charset="0"/>
              </a:rPr>
              <a:t>las decisiones de la empresa y de establecer los planes y objetivos que afectan a toda la organización. Estos individuos por lo general se conocen como vicepresidente ejecutivo, presidente, director administrativo, director de operaciones, director ejecutivo o también como CEO. En el dilema del principio de este capítulo, Allyson </a:t>
            </a:r>
            <a:r>
              <a:rPr lang="es-ES" sz="1000" i="0" kern="1200" baseline="0" dirty="0" err="1">
                <a:solidFill>
                  <a:schemeClr val="tx1"/>
                </a:solidFill>
                <a:latin typeface="Arial" pitchFamily="34" charset="0"/>
                <a:ea typeface="+mn-ea"/>
                <a:cs typeface="Arial" pitchFamily="34" charset="0"/>
              </a:rPr>
              <a:t>Koteski</a:t>
            </a:r>
            <a:r>
              <a:rPr lang="es-ES" sz="1000" i="0" kern="1200" baseline="0" dirty="0">
                <a:solidFill>
                  <a:schemeClr val="tx1"/>
                </a:solidFill>
                <a:latin typeface="Arial" pitchFamily="34" charset="0"/>
                <a:ea typeface="+mn-ea"/>
                <a:cs typeface="Arial" pitchFamily="34" charset="0"/>
              </a:rPr>
              <a:t> es una gerente de nivel medio. Como gerente de tienda es responsable del desempeño de ésta, pero también es una de los aproximadamente 1,500 gerentes de tienda de toda la empresa y le reporta a alguien de la oficina central del corporativo.</a:t>
            </a:r>
          </a:p>
          <a:p>
            <a:r>
              <a:rPr lang="es-ES" sz="1000" kern="1200" baseline="0" dirty="0">
                <a:solidFill>
                  <a:schemeClr val="tx1"/>
                </a:solidFill>
                <a:latin typeface="Arial" pitchFamily="34" charset="0"/>
                <a:ea typeface="+mn-ea"/>
                <a:cs typeface="Arial" pitchFamily="34" charset="0"/>
              </a:rPr>
              <a:t>Sin embargo, no todas las organizaciones trabajan con esta forma piramidal tradicional. Por ejemplo, algunas empresas están configuradas de manera más general y realizan el trabajo por medio de equipos de empleados en constante cambio, los cuales pasan de un proyecto a otro según lo demande el trabajo. Aunque no es tan fácil decir quiénes son los gerentes en estas organizaciones, sabemos que alguien debe desempeñar esa función; es decir, debe haber alguien que coordine y supervise el trabajo de otros, incluso si ese</a:t>
            </a:r>
          </a:p>
          <a:p>
            <a:r>
              <a:rPr lang="es-ES" sz="1000" kern="1200" baseline="0" dirty="0">
                <a:solidFill>
                  <a:schemeClr val="tx1"/>
                </a:solidFill>
                <a:latin typeface="Arial" pitchFamily="34" charset="0"/>
                <a:ea typeface="+mn-ea"/>
                <a:cs typeface="Arial" pitchFamily="34" charset="0"/>
              </a:rPr>
              <a:t>"alguien" cambia conforme cambian las tareas o proyectos laborales.</a:t>
            </a:r>
          </a:p>
          <a:p>
            <a:endParaRPr lang="es-ES" sz="1000" b="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QUÉ ES LA ADMINSTRACIÓN?</a:t>
            </a:r>
            <a:endParaRPr lang="es-ES" sz="1000" b="0" kern="1200" baseline="0" dirty="0">
              <a:solidFill>
                <a:schemeClr val="tx1"/>
              </a:solidFill>
              <a:latin typeface="Arial" pitchFamily="34" charset="0"/>
              <a:ea typeface="+mn-ea"/>
              <a:cs typeface="Arial" pitchFamily="34" charset="0"/>
            </a:endParaRPr>
          </a:p>
          <a:p>
            <a:endParaRPr lang="es-ES" sz="1000" b="1"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En pocas palabras, la administración es a lo que se dedican los gerentes. Pero esta sencilla afirmación no nos dice mucho, ¿o sí? Una mejor explicación es que la </a:t>
            </a:r>
            <a:r>
              <a:rPr lang="es-ES" sz="1000" b="1" kern="1200" baseline="0" dirty="0">
                <a:solidFill>
                  <a:schemeClr val="tx1"/>
                </a:solidFill>
                <a:latin typeface="Arial" pitchFamily="34" charset="0"/>
                <a:ea typeface="+mn-ea"/>
                <a:cs typeface="Arial" pitchFamily="34" charset="0"/>
              </a:rPr>
              <a:t>administración</a:t>
            </a:r>
            <a:r>
              <a:rPr lang="es-ES" sz="1000" b="0" kern="1200" baseline="0" dirty="0">
                <a:solidFill>
                  <a:schemeClr val="tx1"/>
                </a:solidFill>
                <a:latin typeface="Arial" pitchFamily="34" charset="0"/>
                <a:ea typeface="+mn-ea"/>
                <a:cs typeface="Arial" pitchFamily="34" charset="0"/>
              </a:rPr>
              <a:t> involucra</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la coordinación y supervisión de las actividades de otros, de tal forma que éstas se lleven a cabo de forma eficiente y eficaz. Ya sabemos que coordinar y supervisar el trabajo de otros es lo que distingue una posición gerencial de una que no lo es. Sin embargo, esto no significa que los gerentes puedan hacer lo que quieran en cualquier momento, en cualquier lugar o de cualquier forma. Por el contrario, la administración implica garantizar que la gente responsable de realizar actividades laborales las realice de forma eficiente y eficaz, o al menos es a lo que aspiran los gerentes.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a:t>
            </a:r>
            <a:r>
              <a:rPr lang="es-ES" sz="1000" b="1" kern="1200" baseline="0" dirty="0">
                <a:solidFill>
                  <a:schemeClr val="tx1"/>
                </a:solidFill>
                <a:latin typeface="Arial" pitchFamily="34" charset="0"/>
                <a:ea typeface="+mn-ea"/>
                <a:cs typeface="Arial" pitchFamily="34" charset="0"/>
              </a:rPr>
              <a:t>eficiencia </a:t>
            </a:r>
            <a:r>
              <a:rPr lang="es-ES" sz="1000" b="0" kern="1200" baseline="0" dirty="0">
                <a:solidFill>
                  <a:schemeClr val="tx1"/>
                </a:solidFill>
                <a:latin typeface="Arial" pitchFamily="34" charset="0"/>
                <a:ea typeface="+mn-ea"/>
                <a:cs typeface="Arial" pitchFamily="34" charset="0"/>
              </a:rPr>
              <a:t>se refiere a obtener los mejores resultados a partir de la menor cantidad </a:t>
            </a:r>
            <a:r>
              <a:rPr lang="es-ES" sz="1000" kern="1200" baseline="0" dirty="0">
                <a:solidFill>
                  <a:schemeClr val="tx1"/>
                </a:solidFill>
                <a:latin typeface="Arial" pitchFamily="34" charset="0"/>
                <a:ea typeface="+mn-ea"/>
                <a:cs typeface="Arial" pitchFamily="34" charset="0"/>
              </a:rPr>
              <a:t>de recursos. Debido a que los gerentes cuentan con escasos recursos (incluidos personal, dinero y equipo), se encargan de utilizar eficientemente dichos recursos. Con frecuencia a esto se le conoce como "hacer bien las cosas", es decir, no desperdiciar recursos. Por ejemplo, en la planta de HON </a:t>
            </a:r>
            <a:r>
              <a:rPr lang="es-ES" sz="1000" kern="1200" baseline="0" dirty="0" err="1">
                <a:solidFill>
                  <a:schemeClr val="tx1"/>
                </a:solidFill>
                <a:latin typeface="Arial" pitchFamily="34" charset="0"/>
                <a:ea typeface="+mn-ea"/>
                <a:cs typeface="Arial" pitchFamily="34" charset="0"/>
              </a:rPr>
              <a:t>Company</a:t>
            </a:r>
            <a:r>
              <a:rPr lang="es-ES" sz="1000" kern="1200" baseline="0" dirty="0">
                <a:solidFill>
                  <a:schemeClr val="tx1"/>
                </a:solidFill>
                <a:latin typeface="Arial" pitchFamily="34" charset="0"/>
                <a:ea typeface="+mn-ea"/>
                <a:cs typeface="Arial" pitchFamily="34" charset="0"/>
              </a:rPr>
              <a:t> en </a:t>
            </a:r>
            <a:r>
              <a:rPr lang="es-ES" sz="1000" kern="1200" baseline="0" dirty="0" err="1">
                <a:solidFill>
                  <a:schemeClr val="tx1"/>
                </a:solidFill>
                <a:latin typeface="Arial" pitchFamily="34" charset="0"/>
                <a:ea typeface="+mn-ea"/>
                <a:cs typeface="Arial" pitchFamily="34" charset="0"/>
              </a:rPr>
              <a:t>Cedartown</a:t>
            </a:r>
            <a:r>
              <a:rPr lang="es-ES" sz="1000" kern="1200" baseline="0" dirty="0">
                <a:solidFill>
                  <a:schemeClr val="tx1"/>
                </a:solidFill>
                <a:latin typeface="Arial" pitchFamily="34" charset="0"/>
                <a:ea typeface="+mn-ea"/>
                <a:cs typeface="Arial" pitchFamily="34" charset="0"/>
              </a:rPr>
              <a:t>, Georgia, donde los empleados fabrican y ensamblan muebles de oficina, se implementaron técnicas eficientes de manufactura a través de medidas como reducción de los niveles de inventario, disminución del tiempo de fabricación de productos y disminución de las tasas de productos defectuosos. Estas prácticas de trabajo eficiente representaron para la planta una reducción de costos de aproximadamente $7 millones en un año.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Sin embargo, no basta el simple hecho de ser eficiente. La administración también se ocupa de ser eficaz, realizar actividades tales que se logren los objetivos organizacionales. La </a:t>
            </a:r>
            <a:r>
              <a:rPr lang="es-ES" sz="1000" b="1" kern="1200" baseline="0" dirty="0">
                <a:solidFill>
                  <a:schemeClr val="tx1"/>
                </a:solidFill>
                <a:latin typeface="Arial" pitchFamily="34" charset="0"/>
                <a:ea typeface="+mn-ea"/>
                <a:cs typeface="Arial" pitchFamily="34" charset="0"/>
              </a:rPr>
              <a:t>eficacia </a:t>
            </a:r>
            <a:r>
              <a:rPr lang="es-ES" sz="1000" b="0" kern="1200" baseline="0" dirty="0">
                <a:solidFill>
                  <a:schemeClr val="tx1"/>
                </a:solidFill>
                <a:latin typeface="Arial" pitchFamily="34" charset="0"/>
                <a:ea typeface="+mn-ea"/>
                <a:cs typeface="Arial" pitchFamily="34" charset="0"/>
              </a:rPr>
              <a:t>se suele describir como "hacer las cosas correctas"; es decir, realizar aquellas </a:t>
            </a:r>
            <a:r>
              <a:rPr lang="es-ES" sz="1000" kern="1200" baseline="0" dirty="0">
                <a:solidFill>
                  <a:schemeClr val="tx1"/>
                </a:solidFill>
                <a:latin typeface="Arial" pitchFamily="34" charset="0"/>
                <a:ea typeface="+mn-ea"/>
                <a:cs typeface="Arial" pitchFamily="34" charset="0"/>
              </a:rPr>
              <a:t>actividades que ayudarán a la organización a alcanzar sus metas. Por ejemplo, en la fábrica HON, los objetivos incluyen satisfacer las rigurosas demandas de los clientes, ejecutar estrategias de manufactura de clase mundial y hacer que el trabajo de los empleados sea más sencillo y seguro. Por medio de diversas iniciativas se plantearon estos objetivos y se lograron. Mientras que la eficiencia tiene que ver con los </a:t>
            </a:r>
            <a:r>
              <a:rPr lang="es-ES" sz="1000" i="1" kern="1200" baseline="0" dirty="0">
                <a:solidFill>
                  <a:schemeClr val="tx1"/>
                </a:solidFill>
                <a:latin typeface="Arial" pitchFamily="34" charset="0"/>
                <a:ea typeface="+mn-ea"/>
                <a:cs typeface="Arial" pitchFamily="34" charset="0"/>
              </a:rPr>
              <a:t>medios </a:t>
            </a:r>
            <a:r>
              <a:rPr lang="es-ES" sz="1000" i="0" kern="1200" baseline="0" dirty="0">
                <a:solidFill>
                  <a:schemeClr val="tx1"/>
                </a:solidFill>
                <a:latin typeface="Arial" pitchFamily="34" charset="0"/>
                <a:ea typeface="+mn-ea"/>
                <a:cs typeface="Arial" pitchFamily="34" charset="0"/>
              </a:rPr>
              <a:t>para que las cosas se hagan, la eficacia</a:t>
            </a:r>
            <a:r>
              <a:rPr lang="es-ES" sz="1000" i="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tiene que ver con los </a:t>
            </a:r>
            <a:r>
              <a:rPr lang="es-ES" sz="1000" i="1" kern="1200" baseline="0" dirty="0">
                <a:solidFill>
                  <a:schemeClr val="tx1"/>
                </a:solidFill>
                <a:latin typeface="Arial" pitchFamily="34" charset="0"/>
                <a:ea typeface="+mn-ea"/>
                <a:cs typeface="Arial" pitchFamily="34" charset="0"/>
              </a:rPr>
              <a:t>fines </a:t>
            </a:r>
            <a:r>
              <a:rPr lang="es-ES" sz="1000" i="0" kern="1200" baseline="0" dirty="0">
                <a:solidFill>
                  <a:schemeClr val="tx1"/>
                </a:solidFill>
                <a:latin typeface="Arial" pitchFamily="34" charset="0"/>
                <a:ea typeface="+mn-ea"/>
                <a:cs typeface="Arial" pitchFamily="34" charset="0"/>
              </a:rPr>
              <a:t>o los logros de los objetivos de la organización (vea la figura </a:t>
            </a:r>
            <a:r>
              <a:rPr lang="es-ES" sz="1000" kern="1200" baseline="0" dirty="0">
                <a:solidFill>
                  <a:schemeClr val="tx1"/>
                </a:solidFill>
                <a:latin typeface="Arial" pitchFamily="34" charset="0"/>
                <a:ea typeface="+mn-ea"/>
                <a:cs typeface="Arial" pitchFamily="34" charset="0"/>
              </a:rPr>
              <a:t>1-3). En organizaciones exitosas, la alta eficiencia y la alta eficacia por lo general van de la mano. Una mala administración (la cual da pie a un bajo rendimiento) generalmente implica ser ineficiente e ineficaz o ser eficaz pero ineficiente.</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¿QUÉ HACEN LOS GERENTES?</a:t>
            </a:r>
          </a:p>
          <a:p>
            <a:r>
              <a:rPr lang="es-ES" sz="1000" kern="1200" baseline="0" dirty="0">
                <a:solidFill>
                  <a:schemeClr val="tx1"/>
                </a:solidFill>
                <a:latin typeface="Arial" pitchFamily="34" charset="0"/>
                <a:ea typeface="+mn-ea"/>
                <a:cs typeface="Arial" pitchFamily="34" charset="0"/>
              </a:rPr>
              <a:t>Describir lo que hacen los gerentes no es fácil. Así como no hay dos organizaciones iguales, no hay dos trabajos gerenciales iguales. A pesar de esto, investigadores en administración han desarrollado tres enfoques para describir lo que hacen los gerentes: funciones, roles y habilidades. En esta sección analizaremos cada enfoque y veremos cómo cambia el trabajo de un gerente.</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a) FUNCIONES DE LA ADMINISTRACIÓN</a:t>
            </a:r>
          </a:p>
          <a:p>
            <a:r>
              <a:rPr lang="es-ES" sz="1000" kern="1200" baseline="0" dirty="0">
                <a:solidFill>
                  <a:schemeClr val="tx1"/>
                </a:solidFill>
                <a:latin typeface="Arial" pitchFamily="34" charset="0"/>
                <a:ea typeface="+mn-ea"/>
                <a:cs typeface="Arial" pitchFamily="34" charset="0"/>
              </a:rPr>
              <a:t>De acuerdo con el enfoque de las funciones, los gerentes realizan ciertas actividades o funciones mientras coordinan eficiente y eficazmente el trabajo de otros. ¿Cuáles son estas funciones? A principios del siglo veinte, Henri </a:t>
            </a:r>
            <a:r>
              <a:rPr lang="es-ES" sz="1000" kern="1200" baseline="0" dirty="0" err="1">
                <a:solidFill>
                  <a:schemeClr val="tx1"/>
                </a:solidFill>
                <a:latin typeface="Arial" pitchFamily="34" charset="0"/>
                <a:ea typeface="+mn-ea"/>
                <a:cs typeface="Arial" pitchFamily="34" charset="0"/>
              </a:rPr>
              <a:t>Fayol</a:t>
            </a:r>
            <a:r>
              <a:rPr lang="es-ES" sz="1000" kern="1200" baseline="0" dirty="0">
                <a:solidFill>
                  <a:schemeClr val="tx1"/>
                </a:solidFill>
                <a:latin typeface="Arial" pitchFamily="34" charset="0"/>
                <a:ea typeface="+mn-ea"/>
                <a:cs typeface="Arial" pitchFamily="34" charset="0"/>
              </a:rPr>
              <a:t>, un empresario francés, propuso por primera vez, que todos los gerentes ejecutan cinco funciones: planear, organizar, mandar, coordinar y controlar.9 Hoy en día estas funciones se han resumido a cuatro: planeación, organización, dirección y control (vea la figura 1-4). Veamos brevemente cada una de estas funciones.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Si no tiene un destino específico en mente, entonces bastará cualquier camino. Sin embargo, si quiere llegar a algún lado en particular, necesita planear la mejor ruta para llegar ahí. Como una organización existe con el fin de lograr algún propósito en particular, alguien debe definir dicho propósito y los medios para lograrlo. La administración es ese alguien. Como los gerentes se ocupan de la </a:t>
            </a:r>
            <a:r>
              <a:rPr lang="es-ES" sz="1000" b="1" kern="1200" baseline="0" dirty="0">
                <a:solidFill>
                  <a:schemeClr val="tx1"/>
                </a:solidFill>
                <a:latin typeface="Arial" pitchFamily="34" charset="0"/>
                <a:ea typeface="+mn-ea"/>
                <a:cs typeface="Arial" pitchFamily="34" charset="0"/>
              </a:rPr>
              <a:t>planeación</a:t>
            </a:r>
            <a:r>
              <a:rPr lang="es-ES" sz="1000" b="0" kern="1200" baseline="0" dirty="0">
                <a:solidFill>
                  <a:schemeClr val="tx1"/>
                </a:solidFill>
                <a:latin typeface="Arial" pitchFamily="34" charset="0"/>
                <a:ea typeface="+mn-ea"/>
                <a:cs typeface="Arial" pitchFamily="34" charset="0"/>
              </a:rPr>
              <a:t>, definen objetivos, establecen</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estrategias para lograrlos y desarrollan planes para integrar y coordinar las actividades.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Los gerentes también son responsables de acordar y estructurar el trabajo para cumplir con las metas de la empresa. A esta función la llamamos </a:t>
            </a:r>
            <a:r>
              <a:rPr lang="es-ES" sz="1000" b="1" kern="1200" baseline="0" dirty="0">
                <a:solidFill>
                  <a:schemeClr val="tx1"/>
                </a:solidFill>
                <a:latin typeface="Arial" pitchFamily="34" charset="0"/>
                <a:ea typeface="+mn-ea"/>
                <a:cs typeface="Arial" pitchFamily="34" charset="0"/>
              </a:rPr>
              <a:t>organización. </a:t>
            </a:r>
            <a:r>
              <a:rPr lang="es-ES" sz="1000" b="0" kern="1200" baseline="0" dirty="0">
                <a:solidFill>
                  <a:schemeClr val="tx1"/>
                </a:solidFill>
                <a:latin typeface="Arial" pitchFamily="34" charset="0"/>
                <a:ea typeface="+mn-ea"/>
                <a:cs typeface="Arial" pitchFamily="34" charset="0"/>
              </a:rPr>
              <a:t>Cuando los g</a:t>
            </a:r>
            <a:r>
              <a:rPr lang="es-ES" sz="1000" kern="1200" baseline="0" dirty="0">
                <a:solidFill>
                  <a:schemeClr val="tx1"/>
                </a:solidFill>
                <a:latin typeface="Arial" pitchFamily="34" charset="0"/>
                <a:ea typeface="+mn-ea"/>
                <a:cs typeface="Arial" pitchFamily="34" charset="0"/>
              </a:rPr>
              <a:t>erentes organizan, determinan las tareas por realizar, quién las llevará a cabo, cómo se agruparán, quién le reportará a quién y dónde se tomarán las decisiones.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Toda empresa cuenta con personal, y el trabajo de un gerente es trabajar con personas y a través de ellas cumplir con los objetivos. Esta es la función de </a:t>
            </a:r>
            <a:r>
              <a:rPr lang="es-ES" sz="1000" b="1" kern="1200" baseline="0" dirty="0">
                <a:solidFill>
                  <a:schemeClr val="tx1"/>
                </a:solidFill>
                <a:latin typeface="Arial" pitchFamily="34" charset="0"/>
                <a:ea typeface="+mn-ea"/>
                <a:cs typeface="Arial" pitchFamily="34" charset="0"/>
              </a:rPr>
              <a:t>dirección. </a:t>
            </a:r>
            <a:r>
              <a:rPr lang="es-ES" sz="1000" b="0" kern="1200" baseline="0" dirty="0">
                <a:solidFill>
                  <a:schemeClr val="tx1"/>
                </a:solidFill>
                <a:latin typeface="Arial" pitchFamily="34" charset="0"/>
                <a:ea typeface="+mn-ea"/>
                <a:cs typeface="Arial" pitchFamily="34" charset="0"/>
              </a:rPr>
              <a:t>Cuando los</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gerentes motivan a sus subordinados, ayudan a resolver conflictos en los grupos de trabajo, influyen en los individuos o equipos cuando trabajan, seleccionan el canal de comunicación más efectivo o lidian de cualquier forma con asuntos relacionados con el comportamiento del personal, están dirigiendo.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función final de la administración es el </a:t>
            </a:r>
            <a:r>
              <a:rPr lang="es-ES" sz="1000" b="1" kern="1200" baseline="0" dirty="0">
                <a:solidFill>
                  <a:schemeClr val="tx1"/>
                </a:solidFill>
                <a:latin typeface="Arial" pitchFamily="34" charset="0"/>
                <a:ea typeface="+mn-ea"/>
                <a:cs typeface="Arial" pitchFamily="34" charset="0"/>
              </a:rPr>
              <a:t>control. </a:t>
            </a:r>
            <a:r>
              <a:rPr lang="es-ES" sz="1000" b="0" kern="1200" baseline="0" dirty="0">
                <a:solidFill>
                  <a:schemeClr val="tx1"/>
                </a:solidFill>
                <a:latin typeface="Arial" pitchFamily="34" charset="0"/>
                <a:ea typeface="+mn-ea"/>
                <a:cs typeface="Arial" pitchFamily="34" charset="0"/>
              </a:rPr>
              <a:t>Una vez que los objetivos y planes </a:t>
            </a:r>
            <a:r>
              <a:rPr lang="es-ES" sz="1000" kern="1200" baseline="0" dirty="0">
                <a:solidFill>
                  <a:schemeClr val="tx1"/>
                </a:solidFill>
                <a:latin typeface="Arial" pitchFamily="34" charset="0"/>
                <a:ea typeface="+mn-ea"/>
                <a:cs typeface="Arial" pitchFamily="34" charset="0"/>
              </a:rPr>
              <a:t>están establecidos (planeación), las tareas y acuerdos estructurales dispuestos (organización), y la gente contratada, entrenada y motivada (dirección), debe haber alguna</a:t>
            </a:r>
          </a:p>
          <a:p>
            <a:r>
              <a:rPr lang="es-ES" sz="1000" kern="1200" baseline="0" dirty="0">
                <a:solidFill>
                  <a:schemeClr val="tx1"/>
                </a:solidFill>
                <a:latin typeface="Arial" pitchFamily="34" charset="0"/>
                <a:ea typeface="+mn-ea"/>
                <a:cs typeface="Arial" pitchFamily="34" charset="0"/>
              </a:rPr>
              <a:t>evaluación para ver si las cosas marchan según lo planeado. Para asegurarse de que los objetivos se están cumpliendo y que el trabajo se está llevando a cabo como debe ser, los gerentes deben dar seguimiento y evaluar el rendimiento. El rendimiento real debe compararse con los objetivos establecidos. Si dichos objetivos no se están logrando, es trabajo del gerente reajustar el trabajo. Este proceso de seguimiento, comparación y corrección es la función de control.</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¿Qué tan bien describe el enfoque de las funciones lo que hacen los gerentes? ¿Los gerentes siempre planean, organizan, dirigen y luego controlan? En realidad, es probable que lo que un gerente hace no siempre ocurra en esta secuencia. Sin importar el orden en que se ejecuten estas funciones, el hecho es que los gerentes sí planean, organizan, dirigen y controlan cuando trabajan. Para ilustrar lo anterior, vuelva a leer la historia que inicia este capítulo. ¿Qué ejemplos de funciones gerenciales observa? Cuando </a:t>
            </a:r>
            <a:r>
              <a:rPr lang="es-ES" sz="1000" kern="1200" baseline="0" dirty="0" err="1">
                <a:solidFill>
                  <a:schemeClr val="tx1"/>
                </a:solidFill>
                <a:latin typeface="Arial" pitchFamily="34" charset="0"/>
                <a:ea typeface="+mn-ea"/>
                <a:cs typeface="Arial" pitchFamily="34" charset="0"/>
              </a:rPr>
              <a:t>Allyson</a:t>
            </a:r>
            <a:r>
              <a:rPr lang="es-ES" sz="1000" kern="1200" baseline="0" dirty="0">
                <a:solidFill>
                  <a:schemeClr val="tx1"/>
                </a:solidFill>
                <a:latin typeface="Arial" pitchFamily="34" charset="0"/>
                <a:ea typeface="+mn-ea"/>
                <a:cs typeface="Arial" pitchFamily="34" charset="0"/>
              </a:rPr>
              <a:t> trabaja para mantener motivados y comprometidos a sus empleados, eso es dirigir. Cuando trata con clientes no satisfechos, tiene que controlar, dirigir y tal vez incluso planear.</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Aunque el enfoque de las funciones se utiliza mucho para describir lo que hacen los gerentes, algunos argumentan que no es importante. Veamos otra perspectiva.</a:t>
            </a:r>
          </a:p>
          <a:p>
            <a:endParaRPr lang="es-ES" sz="1000" b="0" kern="1200" baseline="0" dirty="0">
              <a:solidFill>
                <a:schemeClr val="tx1"/>
              </a:solidFill>
              <a:latin typeface="Arial" pitchFamily="34" charset="0"/>
              <a:ea typeface="+mn-ea"/>
              <a:cs typeface="Arial" pitchFamily="34" charset="0"/>
            </a:endParaRPr>
          </a:p>
          <a:p>
            <a:r>
              <a:rPr lang="es-ES" sz="1000" b="0" kern="1200" baseline="0" dirty="0">
                <a:solidFill>
                  <a:schemeClr val="tx1"/>
                </a:solidFill>
                <a:latin typeface="Arial" pitchFamily="34" charset="0"/>
                <a:ea typeface="+mn-ea"/>
                <a:cs typeface="Arial" pitchFamily="34" charset="0"/>
                <a:sym typeface="Wingdings" pitchFamily="2" charset="2"/>
              </a:rPr>
              <a:t> Y empieza a hablar de los roles gerenciales y de las habilidades de los gerentes.</a:t>
            </a:r>
            <a:endParaRPr lang="es-ES" sz="1000" b="0" kern="1200" baseline="0" dirty="0">
              <a:solidFill>
                <a:schemeClr val="tx1"/>
              </a:solidFill>
              <a:latin typeface="Arial" pitchFamily="34" charset="0"/>
              <a:ea typeface="+mn-ea"/>
              <a:cs typeface="Arial" pitchFamily="34" charset="0"/>
            </a:endParaRPr>
          </a:p>
          <a:p>
            <a:endParaRPr lang="es-ES" b="0" dirty="0"/>
          </a:p>
        </p:txBody>
      </p:sp>
      <p:sp>
        <p:nvSpPr>
          <p:cNvPr id="4" name="3 Marcador de número de diapositiva"/>
          <p:cNvSpPr>
            <a:spLocks noGrp="1"/>
          </p:cNvSpPr>
          <p:nvPr>
            <p:ph type="sldNum" sz="quarter" idx="10"/>
          </p:nvPr>
        </p:nvSpPr>
        <p:spPr/>
        <p:txBody>
          <a:bodyPr/>
          <a:lstStyle/>
          <a:p>
            <a:pPr>
              <a:defRPr/>
            </a:pPr>
            <a:fld id="{1B469D80-CCF0-4B7B-8ACE-9ADEEA422B62}" type="slidenum">
              <a:rPr lang="es-ES" smtClean="0"/>
              <a:pPr>
                <a:defRPr/>
              </a:pPr>
              <a:t>29</a:t>
            </a:fld>
            <a:endParaRPr lang="es-E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3555" name="2 Marcador de notas"/>
          <p:cNvSpPr>
            <a:spLocks noGrp="1"/>
          </p:cNvSpPr>
          <p:nvPr>
            <p:ph type="body" idx="1"/>
          </p:nvPr>
        </p:nvSpPr>
        <p:spPr bwMode="auto">
          <a:noFill/>
        </p:spPr>
        <p:txBody>
          <a:bodyPr wrap="square" numCol="1" anchor="t" anchorCtr="0" compatLnSpc="1">
            <a:prstTxWarp prst="textNoShape">
              <a:avLst/>
            </a:prstTxWarp>
            <a:normAutofit fontScale="70000" lnSpcReduction="20000"/>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s-ES" dirty="0"/>
              <a:t>Libro de </a:t>
            </a:r>
            <a:r>
              <a:rPr lang="es-ES" dirty="0" err="1"/>
              <a:t>Robbins</a:t>
            </a:r>
            <a:r>
              <a:rPr lang="es-ES" dirty="0"/>
              <a:t>:</a:t>
            </a:r>
          </a:p>
          <a:p>
            <a:pPr marL="0" marR="0" indent="0" algn="l" defTabSz="914400" rtl="0" eaLnBrk="1" fontAlgn="base" latinLnBrk="0" hangingPunct="1">
              <a:lnSpc>
                <a:spcPct val="100000"/>
              </a:lnSpc>
              <a:spcBef>
                <a:spcPct val="0"/>
              </a:spcBef>
              <a:spcAft>
                <a:spcPct val="0"/>
              </a:spcAft>
              <a:buClrTx/>
              <a:buSzTx/>
              <a:buFontTx/>
              <a:buNone/>
              <a:tabLst/>
              <a:defRPr/>
            </a:pPr>
            <a:endParaRPr lang="es-ES" dirty="0"/>
          </a:p>
          <a:p>
            <a:r>
              <a:rPr lang="es-ES" sz="1000" b="1" kern="1200" baseline="0" dirty="0">
                <a:solidFill>
                  <a:schemeClr val="tx1"/>
                </a:solidFill>
                <a:latin typeface="Arial" pitchFamily="34" charset="0"/>
                <a:ea typeface="+mn-ea"/>
                <a:cs typeface="Arial" pitchFamily="34" charset="0"/>
              </a:rPr>
              <a:t>¿QUÉ ES LA PLANEACIÓN?</a:t>
            </a:r>
          </a:p>
          <a:p>
            <a:r>
              <a:rPr lang="es-ES" sz="1000" kern="1200" baseline="0" dirty="0">
                <a:solidFill>
                  <a:schemeClr val="tx1"/>
                </a:solidFill>
                <a:latin typeface="Arial" pitchFamily="34" charset="0"/>
                <a:ea typeface="+mn-ea"/>
                <a:cs typeface="Arial" pitchFamily="34" charset="0"/>
              </a:rPr>
              <a:t>Como dijimos en el capítulo 1, la planeación implica definir los objetivos de la organización, establecer estrategias para lograr dichos objetivos y desarrollar planes para integrar y coordinar actividades de trabajo. Tiene que ver tanto con los fines (qué) como con los medios (cómo).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Cuando utilizamos el término </a:t>
            </a:r>
            <a:r>
              <a:rPr lang="es-ES" sz="1000" i="1" kern="1200" baseline="0" dirty="0">
                <a:solidFill>
                  <a:schemeClr val="tx1"/>
                </a:solidFill>
                <a:latin typeface="Arial" pitchFamily="34" charset="0"/>
                <a:ea typeface="+mn-ea"/>
                <a:cs typeface="Arial" pitchFamily="34" charset="0"/>
              </a:rPr>
              <a:t>planeación, </a:t>
            </a:r>
            <a:r>
              <a:rPr lang="es-ES" sz="1000" i="0" kern="1200" baseline="0" dirty="0">
                <a:solidFill>
                  <a:schemeClr val="tx1"/>
                </a:solidFill>
                <a:latin typeface="Arial" pitchFamily="34" charset="0"/>
                <a:ea typeface="+mn-ea"/>
                <a:cs typeface="Arial" pitchFamily="34" charset="0"/>
              </a:rPr>
              <a:t>queremos decir planeación formal. En la planeación </a:t>
            </a:r>
            <a:r>
              <a:rPr lang="es-ES" sz="1000" kern="1200" baseline="0" dirty="0">
                <a:solidFill>
                  <a:schemeClr val="tx1"/>
                </a:solidFill>
                <a:latin typeface="Arial" pitchFamily="34" charset="0"/>
                <a:ea typeface="+mn-ea"/>
                <a:cs typeface="Arial" pitchFamily="34" charset="0"/>
              </a:rPr>
              <a:t>formal se definen los objetivos específicos durante un periodo específico. Estos objetivos se plantean por escrito y se comparten con los miembros de la organización para reducir la ambigüedad y crear una idea común de lo que tiene que hacerse. Por último, los planes específicos existen para lograr dichos objetivos.</a:t>
            </a:r>
          </a:p>
          <a:p>
            <a:endParaRPr lang="es-ES" sz="1000"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¿POR QUÉ LOS GERENTES PLANEAN?</a:t>
            </a:r>
          </a:p>
          <a:p>
            <a:r>
              <a:rPr lang="es-ES" sz="1000" kern="1200" baseline="0" dirty="0">
                <a:solidFill>
                  <a:schemeClr val="tx1"/>
                </a:solidFill>
                <a:latin typeface="Arial" pitchFamily="34" charset="0"/>
                <a:ea typeface="+mn-ea"/>
                <a:cs typeface="Arial" pitchFamily="34" charset="0"/>
              </a:rPr>
              <a:t>La planeación parece necesitar mucho esfuerzo. Entonces, ¿por qué los gerentes deben planear? Podemos darle al menos cuatro razones. Primero, la planeación </a:t>
            </a:r>
            <a:r>
              <a:rPr lang="es-ES" sz="1000" i="1" kern="1200" baseline="0" dirty="0">
                <a:solidFill>
                  <a:schemeClr val="tx1"/>
                </a:solidFill>
                <a:latin typeface="Arial" pitchFamily="34" charset="0"/>
                <a:ea typeface="+mn-ea"/>
                <a:cs typeface="Arial" pitchFamily="34" charset="0"/>
              </a:rPr>
              <a:t>proporciona dirección </a:t>
            </a:r>
            <a:r>
              <a:rPr lang="es-ES" sz="1000" kern="1200" baseline="0" dirty="0">
                <a:solidFill>
                  <a:schemeClr val="tx1"/>
                </a:solidFill>
                <a:latin typeface="Arial" pitchFamily="34" charset="0"/>
                <a:ea typeface="+mn-ea"/>
                <a:cs typeface="Arial" pitchFamily="34" charset="0"/>
              </a:rPr>
              <a:t>a los gerentes y también al resto de los empleados. Cuando los empleados saben lo que su empresa o equipo de trabajo intenta lograr y lo que ellos deben hacer para contribuir en el logro de los objetivos, pueden coordinar sus actividades, cooperar entre sí y hacer lo necesario para cumplir con los objetivos. Sin planeación, los departamentos e individuos podrían trabajar en objetivos diferentes y evitar que la organización logre sus objetivos con eficacia. </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Luego, la planeación </a:t>
            </a:r>
            <a:r>
              <a:rPr lang="es-ES" sz="1000" i="1" kern="1200" baseline="0" dirty="0">
                <a:solidFill>
                  <a:schemeClr val="tx1"/>
                </a:solidFill>
                <a:latin typeface="Arial" pitchFamily="34" charset="0"/>
                <a:ea typeface="+mn-ea"/>
                <a:cs typeface="Arial" pitchFamily="34" charset="0"/>
              </a:rPr>
              <a:t>reduce la incertidumbre, </a:t>
            </a:r>
            <a:r>
              <a:rPr lang="es-ES" sz="1000" i="0" kern="1200" baseline="0" dirty="0">
                <a:solidFill>
                  <a:schemeClr val="tx1"/>
                </a:solidFill>
                <a:latin typeface="Arial" pitchFamily="34" charset="0"/>
                <a:ea typeface="+mn-ea"/>
                <a:cs typeface="Arial" pitchFamily="34" charset="0"/>
              </a:rPr>
              <a:t>ya que obliga a los gerentes a ver a futuro,</a:t>
            </a:r>
            <a:r>
              <a:rPr lang="es-ES" sz="1000" i="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a anticipar el cambio, a considerar el efecto del cambio y a desarrollar respuestas adecuadas. Aunque la planeación no eliminará la incertidumbre, los gerentes planean para que puedan responder con eficacia.</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Además, la planeación </a:t>
            </a:r>
            <a:r>
              <a:rPr lang="es-ES" sz="1000" i="1" kern="1200" baseline="0" dirty="0">
                <a:solidFill>
                  <a:schemeClr val="tx1"/>
                </a:solidFill>
                <a:latin typeface="Arial" pitchFamily="34" charset="0"/>
                <a:ea typeface="+mn-ea"/>
                <a:cs typeface="Arial" pitchFamily="34" charset="0"/>
              </a:rPr>
              <a:t>minimiza el desperdicio y la redundancia. </a:t>
            </a:r>
            <a:r>
              <a:rPr lang="es-ES" sz="1000" i="0" kern="1200" baseline="0" dirty="0">
                <a:solidFill>
                  <a:schemeClr val="tx1"/>
                </a:solidFill>
                <a:latin typeface="Arial" pitchFamily="34" charset="0"/>
                <a:ea typeface="+mn-ea"/>
                <a:cs typeface="Arial" pitchFamily="34" charset="0"/>
              </a:rPr>
              <a:t>Cuando se coordinan las </a:t>
            </a:r>
            <a:r>
              <a:rPr lang="es-ES" sz="1000" kern="1200" baseline="0" dirty="0">
                <a:solidFill>
                  <a:schemeClr val="tx1"/>
                </a:solidFill>
                <a:latin typeface="Arial" pitchFamily="34" charset="0"/>
                <a:ea typeface="+mn-ea"/>
                <a:cs typeface="Arial" pitchFamily="34" charset="0"/>
              </a:rPr>
              <a:t>actividades laborales en torno a planes, las ineficiencias se vuelven obvias y pueden corregirse o eliminarse.</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Por último, la planeación </a:t>
            </a:r>
            <a:r>
              <a:rPr lang="es-ES" sz="1000" i="1" kern="1200" baseline="0" dirty="0">
                <a:solidFill>
                  <a:schemeClr val="tx1"/>
                </a:solidFill>
                <a:latin typeface="Arial" pitchFamily="34" charset="0"/>
                <a:ea typeface="+mn-ea"/>
                <a:cs typeface="Arial" pitchFamily="34" charset="0"/>
              </a:rPr>
              <a:t>establece los objetivos o los estándares utilizados para controlar. </a:t>
            </a:r>
            <a:r>
              <a:rPr lang="es-ES" sz="1000" kern="1200" baseline="0" dirty="0">
                <a:solidFill>
                  <a:schemeClr val="tx1"/>
                </a:solidFill>
                <a:latin typeface="Arial" pitchFamily="34" charset="0"/>
                <a:ea typeface="+mn-ea"/>
                <a:cs typeface="Arial" pitchFamily="34" charset="0"/>
              </a:rPr>
              <a:t>Cuando los gerentes planean, desarrollan objetivos y planes. Cuando controlan, ven si los planes se han llevado a cabo y si se cumplieron los objetivos. Sin planeación, no habría objetivos con los cuales medir o evaluar el esfuerzo laboral.</a:t>
            </a:r>
          </a:p>
          <a:p>
            <a:endParaRPr lang="es-ES" sz="1000" b="1" kern="1200" baseline="0" dirty="0">
              <a:solidFill>
                <a:schemeClr val="tx1"/>
              </a:solidFill>
              <a:latin typeface="Arial" pitchFamily="34" charset="0"/>
              <a:ea typeface="+mn-ea"/>
              <a:cs typeface="Arial" pitchFamily="34" charset="0"/>
            </a:endParaRPr>
          </a:p>
          <a:p>
            <a:r>
              <a:rPr lang="es-ES" sz="1000" b="1" kern="1200" baseline="0" dirty="0">
                <a:solidFill>
                  <a:schemeClr val="tx1"/>
                </a:solidFill>
                <a:latin typeface="Arial" pitchFamily="34" charset="0"/>
                <a:ea typeface="+mn-ea"/>
                <a:cs typeface="Arial" pitchFamily="34" charset="0"/>
              </a:rPr>
              <a:t>PLANEACIÓN Y DESEMPEÑO</a:t>
            </a:r>
          </a:p>
          <a:p>
            <a:r>
              <a:rPr lang="es-ES" sz="1000" kern="1200" baseline="0" dirty="0">
                <a:solidFill>
                  <a:schemeClr val="tx1"/>
                </a:solidFill>
                <a:latin typeface="Arial" pitchFamily="34" charset="0"/>
                <a:ea typeface="+mn-ea"/>
                <a:cs typeface="Arial" pitchFamily="34" charset="0"/>
              </a:rPr>
              <a:t>¿Vale la pena planear? Diversos estudios han analizado la relación entre la planeación y el desempeño. Aunque la mayoría han mostrado en general relaciones positivas, no podemos decir que las organizaciones que planean formalmente </a:t>
            </a:r>
            <a:r>
              <a:rPr lang="es-ES" sz="1000" i="1" kern="1200" baseline="0" dirty="0">
                <a:solidFill>
                  <a:schemeClr val="tx1"/>
                </a:solidFill>
                <a:latin typeface="Arial" pitchFamily="34" charset="0"/>
                <a:ea typeface="+mn-ea"/>
                <a:cs typeface="Arial" pitchFamily="34" charset="0"/>
              </a:rPr>
              <a:t>siempre superan el desempeño </a:t>
            </a:r>
            <a:r>
              <a:rPr lang="es-ES" sz="1000" kern="1200" baseline="0" dirty="0">
                <a:solidFill>
                  <a:schemeClr val="tx1"/>
                </a:solidFill>
                <a:latin typeface="Arial" pitchFamily="34" charset="0"/>
                <a:ea typeface="+mn-ea"/>
                <a:cs typeface="Arial" pitchFamily="34" charset="0"/>
              </a:rPr>
              <a:t>de aquellas que no planean. ¿Qué </a:t>
            </a:r>
            <a:r>
              <a:rPr lang="es-ES" sz="1000" i="1" kern="1200" baseline="0" dirty="0">
                <a:solidFill>
                  <a:schemeClr val="tx1"/>
                </a:solidFill>
                <a:latin typeface="Arial" pitchFamily="34" charset="0"/>
                <a:ea typeface="+mn-ea"/>
                <a:cs typeface="Arial" pitchFamily="34" charset="0"/>
              </a:rPr>
              <a:t>podemos concluir?</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Primero, en general, la planeación formal está asociada con resultados financieros positivos; utilidades más altas, rendimiento de activos más elevado, etcétera. Segundo, parece que hacer un buen trabajo de planeación e implementar esos planes tienen una función más importante en el alto desempeño que cuánta planeación se haya hecho. Después, en estudios donde la planeación formal no derivó en un mayor desempeño, con frecuencia el entorno externo fue el responsable. Cuando fuerzas externas, como regulaciones gubernamentales o sindicatos poderosos, restringen las opciones de los gerentes, ellos reducen el efecto que tiene la planeación sobre el desempeño de una organización. Por último, la relación planeación-desempeño parece estar influenciada por el marco de tiempo de la planeación. Parece que se necesitan al menos cuatro años de planeación formal antes de que</a:t>
            </a:r>
          </a:p>
          <a:p>
            <a:r>
              <a:rPr lang="es-ES" sz="1000" kern="1200" baseline="0" dirty="0">
                <a:solidFill>
                  <a:schemeClr val="tx1"/>
                </a:solidFill>
                <a:latin typeface="Arial" pitchFamily="34" charset="0"/>
                <a:ea typeface="+mn-ea"/>
                <a:cs typeface="Arial" pitchFamily="34" charset="0"/>
              </a:rPr>
              <a:t>ésta comience a afectar el desempeño.</a:t>
            </a:r>
          </a:p>
          <a:p>
            <a:endParaRPr lang="es-ES" sz="1000" kern="1200" baseline="0" dirty="0">
              <a:solidFill>
                <a:schemeClr val="tx1"/>
              </a:solidFill>
              <a:latin typeface="Arial" pitchFamily="34" charset="0"/>
              <a:ea typeface="+mn-ea"/>
              <a:cs typeface="Arial" pitchFamily="34" charset="0"/>
            </a:endParaRPr>
          </a:p>
          <a:p>
            <a:endParaRPr lang="es-ES" dirty="0"/>
          </a:p>
        </p:txBody>
      </p:sp>
      <p:sp>
        <p:nvSpPr>
          <p:cNvPr id="17411"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8A1F41F-6FCD-47AD-8A4B-BB728EE817E9}" type="slidenum">
              <a:rPr lang="es-ES"/>
              <a:pPr fontAlgn="base">
                <a:spcBef>
                  <a:spcPct val="0"/>
                </a:spcBef>
                <a:spcAft>
                  <a:spcPct val="0"/>
                </a:spcAft>
                <a:defRPr/>
              </a:pPr>
              <a:t>30</a:t>
            </a:fld>
            <a:endParaRPr lang="es-E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4579" name="2 Marcador de notas"/>
          <p:cNvSpPr>
            <a:spLocks noGrp="1"/>
          </p:cNvSpPr>
          <p:nvPr>
            <p:ph type="body" idx="1"/>
          </p:nvPr>
        </p:nvSpPr>
        <p:spPr bwMode="auto">
          <a:noFill/>
        </p:spPr>
        <p:txBody>
          <a:bodyPr wrap="square" numCol="1" anchor="t" anchorCtr="0" compatLnSpc="1">
            <a:prstTxWarp prst="textNoShape">
              <a:avLst/>
            </a:prstTxWarp>
            <a:normAutofit fontScale="62500" lnSpcReduction="20000"/>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s-ES_tradnl" sz="1200" kern="1200" dirty="0">
                <a:solidFill>
                  <a:schemeClr val="tx1"/>
                </a:solidFill>
                <a:latin typeface="+mn-lt"/>
                <a:ea typeface="+mn-ea"/>
                <a:cs typeface="+mn-cs"/>
              </a:rPr>
              <a:t>Se trata, por tanto, de proyectar la vida de la empresa en un plazo futuro de tiempo</a:t>
            </a:r>
            <a:r>
              <a:rPr lang="es-ES_tradnl" sz="1200" kern="1200" baseline="0" dirty="0">
                <a:solidFill>
                  <a:schemeClr val="tx1"/>
                </a:solidFill>
                <a:latin typeface="+mn-lt"/>
                <a:ea typeface="+mn-ea"/>
                <a:cs typeface="+mn-cs"/>
              </a:rPr>
              <a:t> </a:t>
            </a:r>
            <a:r>
              <a:rPr lang="es-ES_tradnl" sz="1200" kern="1200" baseline="0" dirty="0">
                <a:solidFill>
                  <a:schemeClr val="tx1"/>
                </a:solidFill>
                <a:latin typeface="+mn-lt"/>
                <a:ea typeface="+mn-ea"/>
                <a:cs typeface="+mn-cs"/>
                <a:sym typeface="Wingdings" pitchFamily="2" charset="2"/>
              </a:rPr>
              <a:t> </a:t>
            </a:r>
            <a:r>
              <a:rPr lang="es-ES_tradnl" sz="1200" b="1" kern="1200" baseline="0" dirty="0">
                <a:solidFill>
                  <a:schemeClr val="tx1"/>
                </a:solidFill>
                <a:latin typeface="+mn-lt"/>
                <a:ea typeface="+mn-ea"/>
                <a:cs typeface="+mn-cs"/>
                <a:sym typeface="Wingdings" pitchFamily="2" charset="2"/>
              </a:rPr>
              <a:t>e</a:t>
            </a:r>
            <a:r>
              <a:rPr lang="es-ES_tradnl" sz="1200" b="1" kern="1200" dirty="0">
                <a:solidFill>
                  <a:schemeClr val="tx1"/>
                </a:solidFill>
                <a:latin typeface="+mn-lt"/>
                <a:ea typeface="+mn-ea"/>
                <a:cs typeface="+mn-cs"/>
              </a:rPr>
              <a:t>jemplos</a:t>
            </a:r>
            <a:r>
              <a:rPr lang="es-ES_tradnl" sz="1200" kern="1200" dirty="0">
                <a:solidFill>
                  <a:schemeClr val="tx1"/>
                </a:solidFill>
                <a:latin typeface="+mn-lt"/>
                <a:ea typeface="+mn-ea"/>
                <a:cs typeface="+mn-cs"/>
              </a:rPr>
              <a:t> de planificación pueden ser tanto la elaboración de una estrategia como el fijar la cantidad exacta que la empresa va a producir de un determinado producto.</a:t>
            </a:r>
            <a:endParaRPr lang="es-ES" dirty="0"/>
          </a:p>
          <a:p>
            <a:pPr eaLnBrk="1" hangingPunct="1">
              <a:spcBef>
                <a:spcPct val="0"/>
              </a:spcBef>
            </a:pPr>
            <a:endParaRPr lang="es-ES" dirty="0"/>
          </a:p>
          <a:p>
            <a:pPr eaLnBrk="1" hangingPunct="1">
              <a:spcBef>
                <a:spcPct val="0"/>
              </a:spcBef>
            </a:pPr>
            <a:r>
              <a:rPr lang="es-ES" dirty="0"/>
              <a:t>Libro de </a:t>
            </a:r>
            <a:r>
              <a:rPr lang="es-ES" dirty="0" err="1"/>
              <a:t>Robbins</a:t>
            </a:r>
            <a:r>
              <a:rPr lang="es-ES" dirty="0"/>
              <a:t>:</a:t>
            </a:r>
          </a:p>
          <a:p>
            <a:r>
              <a:rPr lang="es-ES" sz="1000" kern="1200" baseline="0" dirty="0">
                <a:solidFill>
                  <a:schemeClr val="tx1"/>
                </a:solidFill>
                <a:latin typeface="Arial" pitchFamily="34" charset="0"/>
                <a:ea typeface="+mn-ea"/>
                <a:cs typeface="Arial" pitchFamily="34" charset="0"/>
              </a:rPr>
              <a:t>A la planeación frecuentemente se le conoce como la función principal de la administración, ya que ésta sienta las bases de todas las demás cosas que hacen los gerentes cuando organizan, dirigen y controlan. Esta involucra dos aspectos importantes: objetivos y planes.</a:t>
            </a:r>
          </a:p>
          <a:p>
            <a:endParaRPr lang="es-ES" sz="1000" kern="1200" baseline="0" dirty="0">
              <a:solidFill>
                <a:schemeClr val="tx1"/>
              </a:solidFill>
              <a:latin typeface="Arial" pitchFamily="34" charset="0"/>
              <a:ea typeface="+mn-ea"/>
              <a:cs typeface="Arial" pitchFamily="34" charset="0"/>
            </a:endParaRPr>
          </a:p>
          <a:p>
            <a:pPr lvl="1">
              <a:buFont typeface="Wingdings"/>
              <a:buChar char="à"/>
            </a:pPr>
            <a:r>
              <a:rPr lang="es-ES" sz="1000" kern="1200" baseline="0" dirty="0">
                <a:solidFill>
                  <a:schemeClr val="tx1"/>
                </a:solidFill>
                <a:latin typeface="Arial" pitchFamily="34" charset="0"/>
                <a:ea typeface="+mn-ea"/>
                <a:cs typeface="Arial" pitchFamily="34" charset="0"/>
              </a:rPr>
              <a:t>una parte importante de la planeación que realizan los gerentes es el desarrollo de estrategias organizativas. Toda organización tiene estrategias para hacer lo que se debe hacer en el negocio. Los gerentes deben administrar dichas estrategias de manera efectiva </a:t>
            </a:r>
            <a:r>
              <a:rPr lang="es-ES" sz="1000" kern="1200" baseline="0" dirty="0">
                <a:solidFill>
                  <a:schemeClr val="tx1"/>
                </a:solidFill>
                <a:latin typeface="Arial" pitchFamily="34" charset="0"/>
                <a:ea typeface="+mn-ea"/>
                <a:cs typeface="Arial" pitchFamily="34" charset="0"/>
                <a:sym typeface="Wingdings" pitchFamily="2" charset="2"/>
              </a:rPr>
              <a:t> involucra todas las funciones básicas de la </a:t>
            </a:r>
            <a:r>
              <a:rPr lang="es-ES" sz="1000" kern="1200" baseline="0" dirty="0" err="1">
                <a:solidFill>
                  <a:schemeClr val="tx1"/>
                </a:solidFill>
                <a:latin typeface="Arial" pitchFamily="34" charset="0"/>
                <a:ea typeface="+mn-ea"/>
                <a:cs typeface="Arial" pitchFamily="34" charset="0"/>
                <a:sym typeface="Wingdings" pitchFamily="2" charset="2"/>
              </a:rPr>
              <a:t>admón</a:t>
            </a:r>
            <a:r>
              <a:rPr lang="es-ES" sz="1000" kern="1200" baseline="0" dirty="0">
                <a:solidFill>
                  <a:schemeClr val="tx1"/>
                </a:solidFill>
                <a:latin typeface="Arial" pitchFamily="34" charset="0"/>
                <a:ea typeface="+mn-ea"/>
                <a:cs typeface="Arial" pitchFamily="34" charset="0"/>
                <a:sym typeface="Wingdings" pitchFamily="2" charset="2"/>
              </a:rPr>
              <a:t>: planeación, organización, dirección y control.  Las estrategias son los planes respecto a la manera en que la organización hará cualquier cosa que sea necesario hacer en el negocio, como competir exitosamente, o cómo atraer y satisfacer a sus clientes con el objeto de lograr sus objetivos  modelo de negocio: término utilizado con frecuencia en la admón. estratégica, y es simplemente la manera en que la empresa va a ganar dinero  se enfoca en dos factores:</a:t>
            </a:r>
          </a:p>
          <a:p>
            <a:pPr marL="1143000" lvl="2" indent="-228600">
              <a:buFont typeface="+mj-lt"/>
              <a:buAutoNum type="arabicPeriod"/>
            </a:pPr>
            <a:r>
              <a:rPr lang="es-ES" sz="1000" kern="1200" baseline="0" dirty="0">
                <a:solidFill>
                  <a:schemeClr val="tx1"/>
                </a:solidFill>
                <a:latin typeface="Arial" pitchFamily="34" charset="0"/>
                <a:ea typeface="+mn-ea"/>
                <a:cs typeface="Arial" pitchFamily="34" charset="0"/>
                <a:sym typeface="Wingdings" pitchFamily="2" charset="2"/>
              </a:rPr>
              <a:t>Si los clientes valorarán lo que produce la empresa</a:t>
            </a:r>
          </a:p>
          <a:p>
            <a:pPr marL="1143000" lvl="2" indent="-228600">
              <a:buFont typeface="+mj-lt"/>
              <a:buAutoNum type="arabicPeriod"/>
            </a:pPr>
            <a:r>
              <a:rPr lang="es-ES" sz="1000" kern="1200" baseline="0" dirty="0">
                <a:solidFill>
                  <a:schemeClr val="tx1"/>
                </a:solidFill>
                <a:latin typeface="Arial" pitchFamily="34" charset="0"/>
                <a:ea typeface="+mn-ea"/>
                <a:cs typeface="Arial" pitchFamily="34" charset="0"/>
                <a:sym typeface="Wingdings" pitchFamily="2" charset="2"/>
              </a:rPr>
              <a:t>Si la empresa puede ganar dinero produciéndolo.</a:t>
            </a:r>
            <a:endParaRPr lang="es-ES" sz="1000" kern="1200" baseline="0" dirty="0">
              <a:solidFill>
                <a:schemeClr val="tx1"/>
              </a:solidFill>
              <a:latin typeface="Arial" pitchFamily="34" charset="0"/>
              <a:ea typeface="+mn-ea"/>
              <a:cs typeface="Arial" pitchFamily="34" charset="0"/>
            </a:endParaRPr>
          </a:p>
          <a:p>
            <a:endParaRPr lang="es-ES" sz="1000" kern="1200" baseline="0" dirty="0">
              <a:solidFill>
                <a:schemeClr val="tx1"/>
              </a:solidFill>
              <a:latin typeface="Arial" pitchFamily="34" charset="0"/>
              <a:ea typeface="+mn-ea"/>
              <a:cs typeface="Arial" pitchFamily="34" charset="0"/>
            </a:endParaRP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Los </a:t>
            </a:r>
            <a:r>
              <a:rPr lang="es-ES" sz="1000" b="1" kern="1200" baseline="0" dirty="0">
                <a:solidFill>
                  <a:schemeClr val="tx1"/>
                </a:solidFill>
                <a:latin typeface="Arial" pitchFamily="34" charset="0"/>
                <a:ea typeface="+mn-ea"/>
                <a:cs typeface="Arial" pitchFamily="34" charset="0"/>
              </a:rPr>
              <a:t>objetivos (metas)</a:t>
            </a:r>
            <a:r>
              <a:rPr lang="es-ES" sz="1000" kern="1200" baseline="0" dirty="0">
                <a:solidFill>
                  <a:schemeClr val="tx1"/>
                </a:solidFill>
                <a:latin typeface="Arial" pitchFamily="34" charset="0"/>
                <a:ea typeface="+mn-ea"/>
                <a:cs typeface="Arial" pitchFamily="34" charset="0"/>
              </a:rPr>
              <a:t> son los resultados o propósitos deseados. Estos guían las decisiones de la administración y forman los criterios contra los cuales se miden los resultados. Es por esto que con frecuencia se les conoce como las bases de la planeación. Es necesario que conozca el objetivo deseado o resultado antes de poder establecer planes para lograrlo. Los planes son documentos que describen cómo se lograrán los objetivos. Por lo general incluyen asignaciones de recursos, programas y otras acciones necesarias para cumplir con los objetivos. Cuando los gerentes planean, desarrollan tanto objetivos como planes.</a:t>
            </a:r>
            <a:endParaRPr lang="es-ES" dirty="0"/>
          </a:p>
          <a:p>
            <a:pPr eaLnBrk="1" hangingPunct="1">
              <a:spcBef>
                <a:spcPct val="0"/>
              </a:spcBef>
            </a:pPr>
            <a:r>
              <a:rPr lang="es-ES" dirty="0"/>
              <a:t>Libro de Iborra:</a:t>
            </a:r>
          </a:p>
          <a:p>
            <a:pPr eaLnBrk="1" hangingPunct="1">
              <a:spcBef>
                <a:spcPct val="0"/>
              </a:spcBef>
            </a:pPr>
            <a:endParaRPr lang="es-ES" dirty="0"/>
          </a:p>
          <a:p>
            <a:pPr algn="just" eaLnBrk="1" hangingPunct="1">
              <a:spcBef>
                <a:spcPct val="0"/>
              </a:spcBef>
            </a:pPr>
            <a:r>
              <a:rPr lang="es-ES" dirty="0"/>
              <a:t>OBJETIVO: resultado que queremos alcanzar </a:t>
            </a:r>
            <a:r>
              <a:rPr lang="es-ES" dirty="0">
                <a:sym typeface="Wingdings" pitchFamily="2" charset="2"/>
              </a:rPr>
              <a:t> los objetivos empresariales</a:t>
            </a:r>
            <a:r>
              <a:rPr lang="es-ES" baseline="0" dirty="0">
                <a:sym typeface="Wingdings" pitchFamily="2" charset="2"/>
              </a:rPr>
              <a:t> son un compromiso directivo para la consecución de unos determinados resultados en un determinado periodo de tiempo.</a:t>
            </a:r>
          </a:p>
          <a:p>
            <a:pPr algn="just" eaLnBrk="1" hangingPunct="1">
              <a:spcBef>
                <a:spcPct val="0"/>
              </a:spcBef>
            </a:pPr>
            <a:endParaRPr lang="es-ES" baseline="0" dirty="0">
              <a:sym typeface="Wingdings" pitchFamily="2" charset="2"/>
            </a:endParaRPr>
          </a:p>
          <a:p>
            <a:pPr algn="just" eaLnBrk="1" hangingPunct="1">
              <a:spcBef>
                <a:spcPct val="0"/>
              </a:spcBef>
            </a:pPr>
            <a:r>
              <a:rPr lang="es-ES" baseline="0" dirty="0">
                <a:sym typeface="Wingdings" pitchFamily="2" charset="2"/>
              </a:rPr>
              <a:t>Para que realmente tengan la utilidad que de ellos se espera han de reunir una serie de características:</a:t>
            </a:r>
          </a:p>
          <a:p>
            <a:pPr marL="228600" indent="-228600" algn="just" eaLnBrk="1" hangingPunct="1">
              <a:spcBef>
                <a:spcPct val="0"/>
              </a:spcBef>
              <a:buFont typeface="+mj-lt"/>
              <a:buAutoNum type="arabicPeriod"/>
            </a:pPr>
            <a:r>
              <a:rPr lang="es-ES" baseline="0" dirty="0">
                <a:sym typeface="Wingdings" pitchFamily="2" charset="2"/>
              </a:rPr>
              <a:t>Ser claros y específicos</a:t>
            </a:r>
          </a:p>
          <a:p>
            <a:pPr marL="228600" marR="0" indent="-228600" algn="just" defTabSz="914400" rtl="0" eaLnBrk="1" fontAlgn="base" latinLnBrk="0" hangingPunct="1">
              <a:lnSpc>
                <a:spcPct val="100000"/>
              </a:lnSpc>
              <a:spcBef>
                <a:spcPct val="0"/>
              </a:spcBef>
              <a:spcAft>
                <a:spcPct val="0"/>
              </a:spcAft>
              <a:buClrTx/>
              <a:buSzTx/>
              <a:buFont typeface="+mj-lt"/>
              <a:buAutoNum type="arabicPeriod"/>
              <a:tabLst/>
              <a:defRPr/>
            </a:pPr>
            <a:r>
              <a:rPr lang="es-ES" baseline="0" dirty="0">
                <a:sym typeface="Wingdings" pitchFamily="2" charset="2"/>
              </a:rPr>
              <a:t>Ser reales</a:t>
            </a:r>
          </a:p>
          <a:p>
            <a:pPr marL="228600" marR="0" indent="-228600" algn="just" defTabSz="914400" rtl="0" eaLnBrk="1" fontAlgn="base" latinLnBrk="0" hangingPunct="1">
              <a:lnSpc>
                <a:spcPct val="100000"/>
              </a:lnSpc>
              <a:spcBef>
                <a:spcPct val="0"/>
              </a:spcBef>
              <a:spcAft>
                <a:spcPct val="0"/>
              </a:spcAft>
              <a:buClrTx/>
              <a:buSzTx/>
              <a:buFont typeface="+mj-lt"/>
              <a:buAutoNum type="arabicPeriod"/>
              <a:tabLst/>
              <a:defRPr/>
            </a:pPr>
            <a:r>
              <a:rPr lang="es-ES" baseline="0" dirty="0">
                <a:sym typeface="Wingdings" pitchFamily="2" charset="2"/>
              </a:rPr>
              <a:t>Se deben poder medir</a:t>
            </a:r>
          </a:p>
          <a:p>
            <a:pPr marL="0" marR="0" indent="-228600" algn="just" defTabSz="914400" rtl="0" eaLnBrk="1" fontAlgn="base" latinLnBrk="0" hangingPunct="1">
              <a:lnSpc>
                <a:spcPct val="100000"/>
              </a:lnSpc>
              <a:spcBef>
                <a:spcPct val="0"/>
              </a:spcBef>
              <a:spcAft>
                <a:spcPct val="0"/>
              </a:spcAft>
              <a:buClrTx/>
              <a:buSzTx/>
              <a:buFont typeface="+mj-lt"/>
              <a:buNone/>
              <a:tabLst/>
              <a:defRPr/>
            </a:pPr>
            <a:r>
              <a:rPr lang="es-ES" baseline="0" dirty="0">
                <a:sym typeface="Wingdings" pitchFamily="2" charset="2"/>
              </a:rPr>
              <a:t> Cuando los objetivos reúnen estas características sirven para aunar los esfuerzos de todos los que trabajan en una empresa en la misma dirección para dirigir sus recursos y capacidades, y para retar y motivar a su personal hacia las mismas metas. Asimismo, permiten conocer el nivel en que las metas se alcanzan y todo lo que se puede mejorar.</a:t>
            </a:r>
          </a:p>
          <a:p>
            <a:pPr marL="228600" marR="0" indent="-228600" algn="just" defTabSz="914400" rtl="0" eaLnBrk="1" fontAlgn="base" latinLnBrk="0" hangingPunct="1">
              <a:lnSpc>
                <a:spcPct val="100000"/>
              </a:lnSpc>
              <a:spcBef>
                <a:spcPct val="0"/>
              </a:spcBef>
              <a:spcAft>
                <a:spcPct val="0"/>
              </a:spcAft>
              <a:buClrTx/>
              <a:buSzTx/>
              <a:buFont typeface="+mj-lt"/>
              <a:buNone/>
              <a:tabLst/>
              <a:defRPr/>
            </a:pPr>
            <a:endParaRPr lang="es-ES" baseline="0" dirty="0">
              <a:sym typeface="Wingdings" pitchFamily="2" charset="2"/>
            </a:endParaRPr>
          </a:p>
          <a:p>
            <a:pPr marL="228600" marR="0" indent="-228600" algn="just" defTabSz="914400" rtl="0" eaLnBrk="1" fontAlgn="base" latinLnBrk="0" hangingPunct="1">
              <a:lnSpc>
                <a:spcPct val="100000"/>
              </a:lnSpc>
              <a:spcBef>
                <a:spcPct val="0"/>
              </a:spcBef>
              <a:spcAft>
                <a:spcPct val="0"/>
              </a:spcAft>
              <a:buClrTx/>
              <a:buSzTx/>
              <a:buFont typeface="+mj-lt"/>
              <a:buNone/>
              <a:tabLst/>
              <a:defRPr/>
            </a:pPr>
            <a:r>
              <a:rPr lang="es-ES" baseline="0" dirty="0">
                <a:sym typeface="Wingdings" pitchFamily="2" charset="2"/>
              </a:rPr>
              <a:t>Añado:  SMART</a:t>
            </a:r>
          </a:p>
          <a:p>
            <a:pPr marL="228600" marR="0" indent="-228600" algn="just" defTabSz="914400" rtl="0" eaLnBrk="1" fontAlgn="base" latinLnBrk="0" hangingPunct="1">
              <a:lnSpc>
                <a:spcPct val="100000"/>
              </a:lnSpc>
              <a:spcBef>
                <a:spcPct val="0"/>
              </a:spcBef>
              <a:spcAft>
                <a:spcPct val="0"/>
              </a:spcAft>
              <a:buClrTx/>
              <a:buSzTx/>
              <a:buFont typeface="Arial" pitchFamily="34" charset="0"/>
              <a:buChar char="•"/>
              <a:tabLst/>
              <a:defRPr/>
            </a:pPr>
            <a:r>
              <a:rPr lang="es-ES" baseline="0" dirty="0">
                <a:sym typeface="Wingdings" pitchFamily="2" charset="2"/>
              </a:rPr>
              <a:t>Ser alcanzables</a:t>
            </a:r>
          </a:p>
          <a:p>
            <a:pPr marL="228600" marR="0" indent="-228600" algn="just" defTabSz="914400" rtl="0" eaLnBrk="1" fontAlgn="base" latinLnBrk="0" hangingPunct="1">
              <a:lnSpc>
                <a:spcPct val="100000"/>
              </a:lnSpc>
              <a:spcBef>
                <a:spcPct val="0"/>
              </a:spcBef>
              <a:spcAft>
                <a:spcPct val="0"/>
              </a:spcAft>
              <a:buClrTx/>
              <a:buSzTx/>
              <a:buFont typeface="Arial" pitchFamily="34" charset="0"/>
              <a:buChar char="•"/>
              <a:tabLst/>
              <a:defRPr/>
            </a:pPr>
            <a:r>
              <a:rPr lang="es-ES" baseline="0" dirty="0">
                <a:sym typeface="Wingdings" pitchFamily="2" charset="2"/>
              </a:rPr>
              <a:t>Puestos en el tiempo</a:t>
            </a:r>
          </a:p>
          <a:p>
            <a:pPr marL="228600" indent="-228600" algn="just" eaLnBrk="1" hangingPunct="1">
              <a:spcBef>
                <a:spcPct val="0"/>
              </a:spcBef>
              <a:buFont typeface="Wingdings" pitchFamily="2" charset="2"/>
              <a:buChar char="à"/>
            </a:pPr>
            <a:r>
              <a:rPr lang="es-ES" dirty="0">
                <a:sym typeface="Wingdings" pitchFamily="2" charset="2"/>
              </a:rPr>
              <a:t>Página</a:t>
            </a:r>
            <a:r>
              <a:rPr lang="es-ES" baseline="0" dirty="0">
                <a:sym typeface="Wingdings" pitchFamily="2" charset="2"/>
              </a:rPr>
              <a:t> 217-218: tipos de objetivos</a:t>
            </a:r>
          </a:p>
          <a:p>
            <a:pPr marL="228600" indent="-228600" algn="just" eaLnBrk="1" hangingPunct="1">
              <a:spcBef>
                <a:spcPct val="0"/>
              </a:spcBef>
              <a:buFont typeface="Wingdings" pitchFamily="2" charset="2"/>
              <a:buChar char="à"/>
            </a:pPr>
            <a:endParaRPr lang="es-ES" baseline="0" dirty="0">
              <a:sym typeface="Wingdings" pitchFamily="2" charset="2"/>
            </a:endParaRPr>
          </a:p>
          <a:p>
            <a:pPr marL="0" indent="-228600" algn="just" eaLnBrk="1" hangingPunct="1">
              <a:spcBef>
                <a:spcPct val="0"/>
              </a:spcBef>
              <a:buFont typeface="Wingdings" pitchFamily="2" charset="2"/>
              <a:buNone/>
            </a:pPr>
            <a:r>
              <a:rPr lang="es-ES" baseline="0" dirty="0">
                <a:sym typeface="Wingdings" pitchFamily="2" charset="2"/>
              </a:rPr>
              <a:t>Para que los objetivos fijados se hagan realidad es necesario llevar a cabo una serie de acciones que permitan materializarlos, hay que definir qué medios y actividades se van a desarrollar para lograrlos y que unidades de la organización van a estar implicadas. Asimismo, es necesario que se lleven a cabo procesos de control para verificar que se han logrado las metas  es decir, para alcanzar los objetivos es necesario planificar y controlar.</a:t>
            </a:r>
          </a:p>
          <a:p>
            <a:pPr marL="0" indent="-228600" algn="just" eaLnBrk="1" hangingPunct="1">
              <a:spcBef>
                <a:spcPct val="0"/>
              </a:spcBef>
              <a:buFont typeface="Wingdings" pitchFamily="2" charset="2"/>
              <a:buNone/>
            </a:pPr>
            <a:endParaRPr lang="es-ES" baseline="0" dirty="0">
              <a:sym typeface="Wingdings" pitchFamily="2" charset="2"/>
            </a:endParaRPr>
          </a:p>
          <a:p>
            <a:pPr marL="0" indent="-228600" algn="just" eaLnBrk="1" hangingPunct="1">
              <a:spcBef>
                <a:spcPct val="0"/>
              </a:spcBef>
              <a:buFont typeface="Wingdings" pitchFamily="2" charset="2"/>
              <a:buNone/>
            </a:pPr>
            <a:r>
              <a:rPr lang="es-ES" baseline="0" dirty="0">
                <a:sym typeface="Wingdings" pitchFamily="2" charset="2"/>
              </a:rPr>
              <a:t>En sentido amplio, la planificación incluye la definición de metas u objetivos. Comprende, por tanto, lo que se va a hacer y cómo se va a hacer  en sentido estricto, la planificación proporciona los instrumentos necesarios para poder determinar </a:t>
            </a:r>
            <a:r>
              <a:rPr lang="es-ES" b="1" baseline="0" dirty="0">
                <a:sym typeface="Wingdings" pitchFamily="2" charset="2"/>
              </a:rPr>
              <a:t>quiénes</a:t>
            </a:r>
            <a:r>
              <a:rPr lang="es-ES" baseline="0" dirty="0">
                <a:sym typeface="Wingdings" pitchFamily="2" charset="2"/>
              </a:rPr>
              <a:t>, </a:t>
            </a:r>
            <a:r>
              <a:rPr lang="es-ES" b="1" baseline="0" dirty="0">
                <a:sym typeface="Wingdings" pitchFamily="2" charset="2"/>
              </a:rPr>
              <a:t>cuándo</a:t>
            </a:r>
            <a:r>
              <a:rPr lang="es-ES" baseline="0" dirty="0">
                <a:sym typeface="Wingdings" pitchFamily="2" charset="2"/>
              </a:rPr>
              <a:t> y </a:t>
            </a:r>
            <a:r>
              <a:rPr lang="es-ES" b="1" baseline="0" dirty="0">
                <a:sym typeface="Wingdings" pitchFamily="2" charset="2"/>
              </a:rPr>
              <a:t>de qué forma</a:t>
            </a:r>
            <a:r>
              <a:rPr lang="es-ES" baseline="0" dirty="0">
                <a:sym typeface="Wingdings" pitchFamily="2" charset="2"/>
              </a:rPr>
              <a:t> deben realizarse cada una de las actividades necesarias para lograr las metas fijadas por la empresa  diseñar y ejecutar los planes</a:t>
            </a:r>
          </a:p>
          <a:p>
            <a:pPr marL="0" indent="-228600" algn="just" eaLnBrk="1" hangingPunct="1">
              <a:spcBef>
                <a:spcPct val="0"/>
              </a:spcBef>
              <a:buFont typeface="Wingdings" pitchFamily="2" charset="2"/>
              <a:buNone/>
            </a:pPr>
            <a:endParaRPr lang="es-ES" baseline="0" dirty="0">
              <a:sym typeface="Wingdings" pitchFamily="2" charset="2"/>
            </a:endParaRPr>
          </a:p>
          <a:p>
            <a:pPr marL="0" indent="-228600" algn="just" eaLnBrk="1" hangingPunct="1">
              <a:spcBef>
                <a:spcPct val="0"/>
              </a:spcBef>
              <a:buFont typeface="Wingdings" pitchFamily="2" charset="2"/>
              <a:buNone/>
            </a:pPr>
            <a:r>
              <a:rPr lang="es-ES" baseline="0" dirty="0">
                <a:sym typeface="Wingdings" pitchFamily="2" charset="2"/>
              </a:rPr>
              <a:t>Los </a:t>
            </a:r>
            <a:r>
              <a:rPr lang="es-ES" b="1" baseline="0" dirty="0">
                <a:sym typeface="Wingdings" pitchFamily="2" charset="2"/>
              </a:rPr>
              <a:t>planes </a:t>
            </a:r>
            <a:r>
              <a:rPr lang="es-ES" b="0" baseline="0" dirty="0">
                <a:sym typeface="Wingdings" pitchFamily="2" charset="2"/>
              </a:rPr>
              <a:t>son modelos sistemáticos de una actuación pública o privada que se formulan anticipadamente para dirigirla y guiarla.</a:t>
            </a:r>
            <a:endParaRPr lang="es-ES" b="1" dirty="0"/>
          </a:p>
        </p:txBody>
      </p:sp>
      <p:sp>
        <p:nvSpPr>
          <p:cNvPr id="19459"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E8B455DF-F8F9-43C0-A326-ED6819DD754B}" type="slidenum">
              <a:rPr lang="es-ES">
                <a:solidFill>
                  <a:prstClr val="black"/>
                </a:solidFill>
              </a:rPr>
              <a:pPr>
                <a:defRPr/>
              </a:pPr>
              <a:t>31</a:t>
            </a:fld>
            <a:endParaRPr lang="es-E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457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a:p>
        </p:txBody>
      </p:sp>
      <p:sp>
        <p:nvSpPr>
          <p:cNvPr id="19459"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8B455DF-F8F9-43C0-A326-ED6819DD754B}" type="slidenum">
              <a:rPr lang="es-ES"/>
              <a:pPr fontAlgn="base">
                <a:spcBef>
                  <a:spcPct val="0"/>
                </a:spcBef>
                <a:spcAft>
                  <a:spcPct val="0"/>
                </a:spcAft>
                <a:defRPr/>
              </a:pPr>
              <a:t>32</a:t>
            </a:fld>
            <a:endParaRPr lang="es-E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6627" name="2 Marcador de notas"/>
          <p:cNvSpPr>
            <a:spLocks noGrp="1"/>
          </p:cNvSpPr>
          <p:nvPr>
            <p:ph type="body" idx="1"/>
          </p:nvPr>
        </p:nvSpPr>
        <p:spPr bwMode="auto">
          <a:noFill/>
        </p:spPr>
        <p:txBody>
          <a:bodyPr wrap="square" numCol="1" anchor="t" anchorCtr="0" compatLnSpc="1">
            <a:prstTxWarp prst="textNoShape">
              <a:avLst/>
            </a:prstTxWarp>
            <a:normAutofit fontScale="70000" lnSpcReduction="20000"/>
          </a:bodyPr>
          <a:lstStyle/>
          <a:p>
            <a:pPr eaLnBrk="1" hangingPunct="1">
              <a:spcBef>
                <a:spcPct val="0"/>
              </a:spcBef>
            </a:pPr>
            <a:r>
              <a:rPr lang="es-ES" dirty="0"/>
              <a:t>Libro de </a:t>
            </a:r>
            <a:r>
              <a:rPr lang="es-ES" dirty="0" err="1"/>
              <a:t>Robbins</a:t>
            </a:r>
            <a:r>
              <a:rPr lang="es-ES" dirty="0"/>
              <a:t>:</a:t>
            </a:r>
          </a:p>
          <a:p>
            <a:pPr eaLnBrk="1" hangingPunct="1">
              <a:spcBef>
                <a:spcPct val="0"/>
              </a:spcBef>
            </a:pPr>
            <a:endParaRPr lang="es-ES" dirty="0"/>
          </a:p>
          <a:p>
            <a:r>
              <a:rPr lang="es-ES" sz="1000" b="1" kern="1200" baseline="0" dirty="0">
                <a:solidFill>
                  <a:schemeClr val="tx1"/>
                </a:solidFill>
                <a:latin typeface="Arial" pitchFamily="34" charset="0"/>
                <a:ea typeface="+mn-ea"/>
                <a:cs typeface="Arial" pitchFamily="34" charset="0"/>
              </a:rPr>
              <a:t>TIPOS DE PLANES</a:t>
            </a:r>
          </a:p>
          <a:p>
            <a:r>
              <a:rPr lang="es-ES" sz="1000" kern="1200" baseline="0" dirty="0">
                <a:solidFill>
                  <a:schemeClr val="tx1"/>
                </a:solidFill>
                <a:latin typeface="Arial" pitchFamily="34" charset="0"/>
                <a:ea typeface="+mn-ea"/>
                <a:cs typeface="Arial" pitchFamily="34" charset="0"/>
              </a:rPr>
              <a:t>Las formas más populares para describir los planes organizacionales son en términos de alcance (estratégicos contra operacionales), de tiempo (corto contra largo plazos), de especificidad (direccionales contra concretos) y frecuencia de uso (únicos contra permanentes). Como muestra la figura 7-1, estos tipos de planes no son independientes. Esto es, los planes estratégicos generalmente son de largo plazo, direccionales y únicos, mientras que los planes operacionales por lo general son de corto plazo, concretos y permanentes.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¿Qué incluye cada uno?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Los </a:t>
            </a:r>
            <a:r>
              <a:rPr lang="es-ES" sz="1000" b="1" kern="1200" baseline="0" dirty="0">
                <a:solidFill>
                  <a:schemeClr val="tx1"/>
                </a:solidFill>
                <a:latin typeface="Arial" pitchFamily="34" charset="0"/>
                <a:ea typeface="+mn-ea"/>
                <a:cs typeface="Arial" pitchFamily="34" charset="0"/>
              </a:rPr>
              <a:t>planes estratégicos </a:t>
            </a:r>
            <a:r>
              <a:rPr lang="es-ES" sz="1000" b="0" kern="1200" baseline="0" dirty="0">
                <a:solidFill>
                  <a:schemeClr val="tx1"/>
                </a:solidFill>
                <a:latin typeface="Arial" pitchFamily="34" charset="0"/>
                <a:ea typeface="+mn-ea"/>
                <a:cs typeface="Arial" pitchFamily="34" charset="0"/>
              </a:rPr>
              <a:t>son planes que se aplican a toda la organización y establecen </a:t>
            </a:r>
            <a:r>
              <a:rPr lang="es-ES" sz="1000" kern="1200" baseline="0" dirty="0">
                <a:solidFill>
                  <a:schemeClr val="tx1"/>
                </a:solidFill>
                <a:latin typeface="Arial" pitchFamily="34" charset="0"/>
                <a:ea typeface="+mn-ea"/>
                <a:cs typeface="Arial" pitchFamily="34" charset="0"/>
              </a:rPr>
              <a:t>sus objetivos generales. A los planes que abarcan un área operativa particular de la organización se les llama </a:t>
            </a:r>
            <a:r>
              <a:rPr lang="es-ES" sz="1000" b="1" kern="1200" baseline="0" dirty="0">
                <a:solidFill>
                  <a:schemeClr val="tx1"/>
                </a:solidFill>
                <a:latin typeface="Arial" pitchFamily="34" charset="0"/>
                <a:ea typeface="+mn-ea"/>
                <a:cs typeface="Arial" pitchFamily="34" charset="0"/>
              </a:rPr>
              <a:t>planes operacionales. </a:t>
            </a:r>
            <a:r>
              <a:rPr lang="es-ES" sz="1000" b="0" kern="1200" baseline="0" dirty="0">
                <a:solidFill>
                  <a:schemeClr val="tx1"/>
                </a:solidFill>
                <a:latin typeface="Arial" pitchFamily="34" charset="0"/>
                <a:ea typeface="+mn-ea"/>
                <a:cs typeface="Arial" pitchFamily="34" charset="0"/>
              </a:rPr>
              <a:t>Estos dos tipos de planes difieren en que los </a:t>
            </a:r>
            <a:r>
              <a:rPr lang="es-ES" sz="1000" kern="1200" baseline="0" dirty="0">
                <a:solidFill>
                  <a:schemeClr val="tx1"/>
                </a:solidFill>
                <a:latin typeface="Arial" pitchFamily="34" charset="0"/>
                <a:ea typeface="+mn-ea"/>
                <a:cs typeface="Arial" pitchFamily="34" charset="0"/>
              </a:rPr>
              <a:t>planes estratégicos son amplios, mientras que los operacionales son limitados.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El número de años utilizados para definir planes de corto y largo plazos ha disminuido considerablemente debido a la incertidumbre ambiental. El largo plazo se utiliza para definir cualquier periodo mayor a siete años. Intente imaginar lo que probablemente estará haciendo en siete años, y podrá comenzar a darse cuenta de lo difícil que resulta para los gerentes establecer planes tan a futuro. Nosotros definimos los </a:t>
            </a:r>
            <a:r>
              <a:rPr lang="es-ES" sz="1000" b="1" kern="1200" baseline="0" dirty="0">
                <a:solidFill>
                  <a:schemeClr val="tx1"/>
                </a:solidFill>
                <a:latin typeface="Arial" pitchFamily="34" charset="0"/>
                <a:ea typeface="+mn-ea"/>
                <a:cs typeface="Arial" pitchFamily="34" charset="0"/>
              </a:rPr>
              <a:t>planes de largo plazo </a:t>
            </a:r>
            <a:r>
              <a:rPr lang="es-ES" sz="1000" b="0" kern="1200" baseline="0" dirty="0">
                <a:solidFill>
                  <a:schemeClr val="tx1"/>
                </a:solidFill>
                <a:latin typeface="Arial" pitchFamily="34" charset="0"/>
                <a:ea typeface="+mn-ea"/>
                <a:cs typeface="Arial" pitchFamily="34" charset="0"/>
              </a:rPr>
              <a:t>como </a:t>
            </a:r>
            <a:r>
              <a:rPr lang="es-ES" sz="1000" kern="1200" baseline="0" dirty="0">
                <a:solidFill>
                  <a:schemeClr val="tx1"/>
                </a:solidFill>
                <a:latin typeface="Arial" pitchFamily="34" charset="0"/>
                <a:ea typeface="+mn-ea"/>
                <a:cs typeface="Arial" pitchFamily="34" charset="0"/>
              </a:rPr>
              <a:t>aquellos con un periodo mayor a tres años. Los </a:t>
            </a:r>
            <a:r>
              <a:rPr lang="es-ES" sz="1000" b="1" kern="1200" baseline="0" dirty="0">
                <a:solidFill>
                  <a:schemeClr val="tx1"/>
                </a:solidFill>
                <a:latin typeface="Arial" pitchFamily="34" charset="0"/>
                <a:ea typeface="+mn-ea"/>
                <a:cs typeface="Arial" pitchFamily="34" charset="0"/>
              </a:rPr>
              <a:t>planes de corto plazo </a:t>
            </a:r>
            <a:r>
              <a:rPr lang="es-ES" sz="1000" b="0" kern="1200" baseline="0" dirty="0">
                <a:solidFill>
                  <a:schemeClr val="tx1"/>
                </a:solidFill>
                <a:latin typeface="Arial" pitchFamily="34" charset="0"/>
                <a:ea typeface="+mn-ea"/>
                <a:cs typeface="Arial" pitchFamily="34" charset="0"/>
              </a:rPr>
              <a:t>son aquellos</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que abarcan un año o menos. Cualquier periodo entre ambos sería un plan intermedio. Aunque estas clasificaciones de tiempo son bastante comunes, una organización puede utilizar cualquier marco de tiempo de planeación que desee.</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Intuitivamente podría parecer que los planes específicos serían preferibles a los planes direccionales, o con poca dirección. Los </a:t>
            </a:r>
            <a:r>
              <a:rPr lang="es-ES" sz="1000" b="1" kern="1200" baseline="0" dirty="0">
                <a:solidFill>
                  <a:schemeClr val="tx1"/>
                </a:solidFill>
                <a:latin typeface="Arial" pitchFamily="34" charset="0"/>
                <a:ea typeface="+mn-ea"/>
                <a:cs typeface="Arial" pitchFamily="34" charset="0"/>
              </a:rPr>
              <a:t>planes específicos </a:t>
            </a:r>
            <a:r>
              <a:rPr lang="es-ES" sz="1000" b="0" kern="1200" baseline="0" dirty="0">
                <a:solidFill>
                  <a:schemeClr val="tx1"/>
                </a:solidFill>
                <a:latin typeface="Arial" pitchFamily="34" charset="0"/>
                <a:ea typeface="+mn-ea"/>
                <a:cs typeface="Arial" pitchFamily="34" charset="0"/>
              </a:rPr>
              <a:t>son planes claramente </a:t>
            </a:r>
            <a:r>
              <a:rPr lang="es-ES" sz="1000" kern="1200" baseline="0" dirty="0">
                <a:solidFill>
                  <a:schemeClr val="tx1"/>
                </a:solidFill>
                <a:latin typeface="Arial" pitchFamily="34" charset="0"/>
                <a:ea typeface="+mn-ea"/>
                <a:cs typeface="Arial" pitchFamily="34" charset="0"/>
              </a:rPr>
              <a:t>definidos y no dan lugar a interpretaciones. Tienen objetivos definidos claramente, por lo que no hay ambigüedad y no existen problemas de malas interpretaciones. Por ejemplo, un gerente que busca aumentar 8 por ciento los resultados de su unidad de trabajo en un periodo de 12 meses podría establecer procedimientos específicos, asignaciones de presupuestos y programas de actividades para lograr ese objetivo. </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Sin embargo, cuando la incertidumbre es elevada y los gerentes deben ser flexibles para responder a cambios inesperados, los planes direccionales son preferibles. Los planes direccionales son planes flexibles que exponen pautas generales. Proporcionan un enfoque, pero no limitan a los gerentes con objetivos específicos o líneas de acción. Por ejemplo, Sylvia </a:t>
            </a:r>
            <a:r>
              <a:rPr lang="es-ES" sz="1000" kern="1200" baseline="0" dirty="0" err="1">
                <a:solidFill>
                  <a:schemeClr val="tx1"/>
                </a:solidFill>
                <a:latin typeface="Arial" pitchFamily="34" charset="0"/>
                <a:ea typeface="+mn-ea"/>
                <a:cs typeface="Arial" pitchFamily="34" charset="0"/>
              </a:rPr>
              <a:t>Rhone</a:t>
            </a:r>
            <a:r>
              <a:rPr lang="es-ES" sz="1000" kern="1200" baseline="0" dirty="0">
                <a:solidFill>
                  <a:schemeClr val="tx1"/>
                </a:solidFill>
                <a:latin typeface="Arial" pitchFamily="34" charset="0"/>
                <a:ea typeface="+mn-ea"/>
                <a:cs typeface="Arial" pitchFamily="34" charset="0"/>
              </a:rPr>
              <a:t>, presidenta de </a:t>
            </a:r>
            <a:r>
              <a:rPr lang="es-ES" sz="1000" kern="1200" baseline="0" dirty="0" err="1">
                <a:solidFill>
                  <a:schemeClr val="tx1"/>
                </a:solidFill>
                <a:latin typeface="Arial" pitchFamily="34" charset="0"/>
                <a:ea typeface="+mn-ea"/>
                <a:cs typeface="Arial" pitchFamily="34" charset="0"/>
              </a:rPr>
              <a:t>Motown</a:t>
            </a:r>
            <a:r>
              <a:rPr lang="es-ES" sz="1000" kern="1200" baseline="0" dirty="0">
                <a:solidFill>
                  <a:schemeClr val="tx1"/>
                </a:solidFill>
                <a:latin typeface="Arial" pitchFamily="34" charset="0"/>
                <a:ea typeface="+mn-ea"/>
                <a:cs typeface="Arial" pitchFamily="34" charset="0"/>
              </a:rPr>
              <a:t> Records, decía que tenía un objetivo sencillo: "firmar con grandes artistas". Entonces, en lugar de crear un plan específico para producir y comercializar 10 álbumes con nuevos artistas este año, podría formular un plan direccional para utilizar una red de personas alrededor del mundo que le informara sobre nuevos y promisorios talentos que pudieran aumentar el número de artistas que tiene bajo contrato. Sin embargo, recuerde que la flexibilidad de los planes direccionales debe ponderarse</a:t>
            </a:r>
          </a:p>
          <a:p>
            <a:r>
              <a:rPr lang="es-ES" sz="1000" kern="1200" baseline="0" dirty="0">
                <a:solidFill>
                  <a:schemeClr val="tx1"/>
                </a:solidFill>
                <a:latin typeface="Arial" pitchFamily="34" charset="0"/>
                <a:ea typeface="+mn-ea"/>
                <a:cs typeface="Arial" pitchFamily="34" charset="0"/>
              </a:rPr>
              <a:t>contra la falta de claridad de planes específicos.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Algunos planes que desarrollan los gerentes se utilizan varias veces, mientras que otros se utilizan sólo una vez. Un </a:t>
            </a:r>
            <a:r>
              <a:rPr lang="es-ES" sz="1000" b="1" kern="1200" baseline="0" dirty="0">
                <a:solidFill>
                  <a:schemeClr val="tx1"/>
                </a:solidFill>
                <a:latin typeface="Arial" pitchFamily="34" charset="0"/>
                <a:ea typeface="+mn-ea"/>
                <a:cs typeface="Arial" pitchFamily="34" charset="0"/>
              </a:rPr>
              <a:t>plan único</a:t>
            </a:r>
            <a:r>
              <a:rPr lang="es-ES" sz="1000" kern="1200" baseline="0" dirty="0">
                <a:solidFill>
                  <a:schemeClr val="tx1"/>
                </a:solidFill>
                <a:latin typeface="Arial" pitchFamily="34" charset="0"/>
                <a:ea typeface="+mn-ea"/>
                <a:cs typeface="Arial" pitchFamily="34" charset="0"/>
              </a:rPr>
              <a:t> es un plan para una vez, el cual se diseña específicamente para satisfacer las necesidades de una situación única. Por ejemplo, cuando </a:t>
            </a:r>
            <a:r>
              <a:rPr lang="es-ES" sz="1000" kern="1200" baseline="0" dirty="0" err="1">
                <a:solidFill>
                  <a:schemeClr val="tx1"/>
                </a:solidFill>
                <a:latin typeface="Arial" pitchFamily="34" charset="0"/>
                <a:ea typeface="+mn-ea"/>
                <a:cs typeface="Arial" pitchFamily="34" charset="0"/>
              </a:rPr>
              <a:t>Wal-Ma</a:t>
            </a:r>
            <a:r>
              <a:rPr lang="es-ES" sz="1000" kern="1200" baseline="0" dirty="0">
                <a:solidFill>
                  <a:schemeClr val="tx1"/>
                </a:solidFill>
                <a:latin typeface="Arial" pitchFamily="34" charset="0"/>
                <a:ea typeface="+mn-ea"/>
                <a:cs typeface="Arial" pitchFamily="34" charset="0"/>
              </a:rPr>
              <a:t> decidió expandir el número de tiendas en China, los ejecutivos de nivel alto formularon plan único como guía. En contraste, los </a:t>
            </a:r>
            <a:r>
              <a:rPr lang="es-ES" sz="1000" b="1" kern="1200" baseline="0" dirty="0">
                <a:solidFill>
                  <a:schemeClr val="tx1"/>
                </a:solidFill>
                <a:latin typeface="Arial" pitchFamily="34" charset="0"/>
                <a:ea typeface="+mn-ea"/>
                <a:cs typeface="Arial" pitchFamily="34" charset="0"/>
              </a:rPr>
              <a:t>planes permanentes</a:t>
            </a:r>
            <a:r>
              <a:rPr lang="es-ES" sz="1000" kern="1200" baseline="0" dirty="0">
                <a:solidFill>
                  <a:schemeClr val="tx1"/>
                </a:solidFill>
                <a:latin typeface="Arial" pitchFamily="34" charset="0"/>
                <a:ea typeface="+mn-ea"/>
                <a:cs typeface="Arial" pitchFamily="34" charset="0"/>
              </a:rPr>
              <a:t> son planes que se utilizan varias veces y que proporcionan una guía para las actividades que se realizan repetidamente. Los planes permanentes incluyen políticas, reglas y procedimientos, los cuales definimos en capítulo 6. Un ejemplo de un plan permanente es la política de acoso sexual desarrollado por la Universidad de Arizona, el cual proporciona una guía para los administradores, el profesorado y el personal de la universidad cuando hacen planes de contratación.</a:t>
            </a:r>
            <a:endParaRPr lang="es-ES" dirty="0"/>
          </a:p>
        </p:txBody>
      </p:sp>
      <p:sp>
        <p:nvSpPr>
          <p:cNvPr id="23555"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27067D74-3860-4B6E-B0A0-E83DE14B5200}" type="slidenum">
              <a:rPr lang="es-ES">
                <a:solidFill>
                  <a:prstClr val="black"/>
                </a:solidFill>
              </a:rPr>
              <a:pPr>
                <a:defRPr/>
              </a:pPr>
              <a:t>33</a:t>
            </a:fld>
            <a:endParaRPr lang="es-E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765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dirty="0"/>
          </a:p>
        </p:txBody>
      </p:sp>
      <p:sp>
        <p:nvSpPr>
          <p:cNvPr id="25603"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F1A0956A-EB54-4B82-8A30-B0216DACC8ED}" type="slidenum">
              <a:rPr lang="es-ES">
                <a:solidFill>
                  <a:prstClr val="black"/>
                </a:solidFill>
              </a:rPr>
              <a:pPr>
                <a:defRPr/>
              </a:pPr>
              <a:t>34</a:t>
            </a:fld>
            <a:endParaRPr lang="es-E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F61C41A-49D6-42B9-8D8E-7719BF04DD0D}" type="slidenum">
              <a:rPr lang="es-ES"/>
              <a:pPr/>
              <a:t>36</a:t>
            </a:fld>
            <a:endParaRPr lang="es-ES"/>
          </a:p>
        </p:txBody>
      </p:sp>
      <p:sp>
        <p:nvSpPr>
          <p:cNvPr id="5122" name="1 Marcador de imagen de diapositiva"/>
          <p:cNvSpPr>
            <a:spLocks noGrp="1" noRot="1" noChangeAspect="1" noTextEdit="1"/>
          </p:cNvSpPr>
          <p:nvPr>
            <p:ph type="sldImg"/>
          </p:nvPr>
        </p:nvSpPr>
        <p:spPr>
          <a:xfrm>
            <a:off x="992188" y="768350"/>
            <a:ext cx="5114925" cy="3836988"/>
          </a:xfrm>
          <a:ln/>
        </p:spPr>
      </p:sp>
      <p:sp>
        <p:nvSpPr>
          <p:cNvPr id="5123" name="2 Marcador de notas"/>
          <p:cNvSpPr>
            <a:spLocks noGrp="1"/>
          </p:cNvSpPr>
          <p:nvPr>
            <p:ph type="body" idx="1"/>
          </p:nvPr>
        </p:nvSpPr>
        <p:spPr/>
        <p:txBody>
          <a:bodyPr lIns="99038" tIns="49520" rIns="99038" bIns="49520"/>
          <a:lstStyle/>
          <a:p>
            <a:pPr>
              <a:spcBef>
                <a:spcPct val="0"/>
              </a:spcBef>
            </a:pPr>
            <a:r>
              <a:rPr lang="es-ES" dirty="0"/>
              <a:t>Libro de bachillerato:</a:t>
            </a:r>
          </a:p>
          <a:p>
            <a:pPr>
              <a:spcBef>
                <a:spcPct val="0"/>
              </a:spcBef>
            </a:pPr>
            <a:endParaRPr lang="es-ES" dirty="0"/>
          </a:p>
          <a:p>
            <a:pPr>
              <a:spcBef>
                <a:spcPct val="0"/>
              </a:spcBef>
            </a:pPr>
            <a:r>
              <a:rPr lang="es-ES" dirty="0"/>
              <a:t>La función de organización permite que los planes fijados se hagan realidad</a:t>
            </a:r>
            <a:r>
              <a:rPr lang="es-ES" baseline="0" dirty="0"/>
              <a:t> con la colaboración conjunta de todos los miembros que forman la organización </a:t>
            </a:r>
            <a:r>
              <a:rPr lang="es-ES" baseline="0" dirty="0">
                <a:sym typeface="Wingdings" pitchFamily="2" charset="2"/>
              </a:rPr>
              <a:t> el objetivo de la empresa es llevar a cabo una actividad concreta, diferenciada sobre la base de una especialización y organizada según unas reglas. Para lograrlo, es necesario que se establezca una organización para desempeñar esas tareas o funciones. Por tanto, la organización pretende ordenar tareas teniendo en cuenta la división del trabajo, las responsabilidades y las relaciones del personal en el funcionamiento de la empresa.</a:t>
            </a:r>
          </a:p>
          <a:p>
            <a:pPr>
              <a:spcBef>
                <a:spcPct val="0"/>
              </a:spcBef>
            </a:pPr>
            <a:endParaRPr lang="es-ES" baseline="0" dirty="0">
              <a:sym typeface="Wingdings" pitchFamily="2" charset="2"/>
            </a:endParaRPr>
          </a:p>
          <a:p>
            <a:pPr>
              <a:spcBef>
                <a:spcPct val="0"/>
              </a:spcBef>
            </a:pPr>
            <a:r>
              <a:rPr lang="es-ES" baseline="0" dirty="0">
                <a:sym typeface="Wingdings" pitchFamily="2" charset="2"/>
              </a:rPr>
              <a:t>Libro de </a:t>
            </a:r>
            <a:r>
              <a:rPr lang="es-ES" baseline="0" dirty="0" err="1">
                <a:sym typeface="Wingdings" pitchFamily="2" charset="2"/>
              </a:rPr>
              <a:t>Robbins</a:t>
            </a:r>
            <a:r>
              <a:rPr lang="es-ES" baseline="0" dirty="0">
                <a:sym typeface="Wingdings" pitchFamily="2" charset="2"/>
              </a:rPr>
              <a:t>:</a:t>
            </a:r>
          </a:p>
          <a:p>
            <a:pPr>
              <a:spcBef>
                <a:spcPct val="0"/>
              </a:spcBef>
            </a:pPr>
            <a:endParaRPr lang="es-ES" baseline="0" dirty="0">
              <a:sym typeface="Wingdings" pitchFamily="2" charset="2"/>
            </a:endParaRPr>
          </a:p>
          <a:p>
            <a:r>
              <a:rPr lang="es-ES" sz="1000" kern="1200" baseline="0" dirty="0">
                <a:solidFill>
                  <a:schemeClr val="tx1"/>
                </a:solidFill>
                <a:latin typeface="Arial" pitchFamily="34" charset="0"/>
                <a:ea typeface="+mn-ea"/>
                <a:cs typeface="Arial" pitchFamily="34" charset="0"/>
              </a:rPr>
              <a:t>Organizar es una tarea importante de los gerentes que no siempre se entiende o aprecia. Sin embargo, una vez establecidos los objetivos y los planes de la empresa, la función de organizar pone en marcha el proceso de ver que dichos objetivos y planes se lleven a cabo. Cuando los gerentes organizan, definen qué trabajo necesita realizarse y crean una estructura que permite que esas actividades laborales se completen eficiente y eficazmente.</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En la parte tres abordamos la función gerencial de organizar:</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El capítulo 9 presenta los conceptos de estructura y diseño organizacional</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Cuando la estructura organizacional está definida, es el momento de encontrar a la gente que ocupe los puestos que se han creado </a:t>
            </a:r>
            <a:r>
              <a:rPr lang="es-ES" sz="1000" kern="1200" baseline="0" dirty="0">
                <a:solidFill>
                  <a:schemeClr val="tx1"/>
                </a:solidFill>
                <a:latin typeface="Arial" pitchFamily="34" charset="0"/>
                <a:ea typeface="+mn-ea"/>
                <a:cs typeface="Arial" pitchFamily="34" charset="0"/>
                <a:sym typeface="Wingdings" pitchFamily="2" charset="2"/>
              </a:rPr>
              <a:t> e</a:t>
            </a:r>
            <a:r>
              <a:rPr lang="es-ES" sz="1000" kern="1200" baseline="0" dirty="0">
                <a:solidFill>
                  <a:schemeClr val="tx1"/>
                </a:solidFill>
                <a:latin typeface="Arial" pitchFamily="34" charset="0"/>
                <a:ea typeface="+mn-ea"/>
                <a:cs typeface="Arial" pitchFamily="34" charset="0"/>
              </a:rPr>
              <a:t>n el capítulo 10 explicamos la función de administración de recursos humanos. </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En el capítulo 11 nos enfocamos en los equipos de trabajo y la influencia que han tenido en la realización del trabajo y en las estructuras organizacionales. </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Por último, en el capítulo 12 vemos cómo el cambio organizacional y la innovación afectan la estructura y el diseño de una organización.</a:t>
            </a:r>
            <a:endParaRPr lang="es-ES" dirty="0"/>
          </a:p>
        </p:txBody>
      </p:sp>
      <p:sp>
        <p:nvSpPr>
          <p:cNvPr id="29699" name="3 Marcador de número de diapositiva"/>
          <p:cNvSpPr txBox="1">
            <a:spLocks noGrp="1"/>
          </p:cNvSpPr>
          <p:nvPr/>
        </p:nvSpPr>
        <p:spPr bwMode="auto">
          <a:xfrm>
            <a:off x="4021138" y="9721850"/>
            <a:ext cx="3076575" cy="511175"/>
          </a:xfrm>
          <a:prstGeom prst="rect">
            <a:avLst/>
          </a:prstGeom>
          <a:noFill/>
          <a:ln w="9525">
            <a:noFill/>
            <a:miter lim="800000"/>
            <a:headEnd/>
            <a:tailEnd/>
          </a:ln>
        </p:spPr>
        <p:txBody>
          <a:bodyPr lIns="99038" tIns="49520" rIns="99038" bIns="49520" anchor="b"/>
          <a:lstStyle/>
          <a:p>
            <a:pPr algn="r">
              <a:defRPr/>
            </a:pPr>
            <a:fld id="{51C73508-D456-41BB-A475-265C9D6D04ED}" type="slidenum">
              <a:rPr lang="es-ES" sz="1300">
                <a:latin typeface="+mn-lt"/>
              </a:rPr>
              <a:pPr algn="r">
                <a:defRPr/>
              </a:pPr>
              <a:t>36</a:t>
            </a:fld>
            <a:endParaRPr lang="es-ES" sz="1300">
              <a:latin typeface="+mn-lt"/>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lgn="just"/>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38</a:t>
            </a:fld>
            <a:endParaRPr lang="es-E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lnSpcReduction="10000"/>
          </a:bodyPr>
          <a:lstStyle/>
          <a:p>
            <a:pPr algn="just"/>
            <a:r>
              <a:rPr lang="es-ES" sz="1000" dirty="0"/>
              <a:t>Para entrar a hablar de la motivación en la empresa, se debe decir que el ser humano trabaja independientemente y se compromete con objetivos de cuya consecución espera la satisfacción de sus necesidades. Tal compromiso solamente tiene sentido cuando tienen resultados en la productividad, es decir, si los objetivos que persigue la persona para la satisfacción de sus necesidades son compatibles con los objetivos técnico-económicos de la empresa. Cuando se dice que esos objetivos son compatibles se quiere decir que:</a:t>
            </a:r>
          </a:p>
          <a:p>
            <a:pPr lvl="0" algn="just"/>
            <a:endParaRPr lang="es-ES" sz="1000" dirty="0"/>
          </a:p>
          <a:p>
            <a:pPr lvl="0" algn="just">
              <a:buFont typeface="Arial" pitchFamily="34" charset="0"/>
              <a:buChar char="•"/>
            </a:pPr>
            <a:r>
              <a:rPr lang="es-ES" sz="1000" dirty="0"/>
              <a:t> Los objetivos personales de los trabajadores son idénticos a los de la empresa, algo que es muy poco probable, o</a:t>
            </a:r>
          </a:p>
          <a:p>
            <a:pPr lvl="0" algn="just">
              <a:buFont typeface="Arial" pitchFamily="34" charset="0"/>
              <a:buChar char="•"/>
            </a:pPr>
            <a:r>
              <a:rPr lang="es-ES" sz="1000" dirty="0"/>
              <a:t> Los objetivos individuales del personal no son idénticos a los de la empresa pero pueden conseguirse al tiempo que se realizan los objetivos de esta.</a:t>
            </a:r>
          </a:p>
          <a:p>
            <a:pPr algn="just"/>
            <a:endParaRPr lang="es-ES" sz="1000" dirty="0"/>
          </a:p>
          <a:p>
            <a:pPr algn="just"/>
            <a:r>
              <a:rPr lang="es-ES" sz="1000" dirty="0"/>
              <a:t>M. Scott Myers dice, respaldado por la investigación de </a:t>
            </a:r>
            <a:r>
              <a:rPr lang="es-ES" sz="1000" dirty="0" err="1"/>
              <a:t>Herzberg</a:t>
            </a:r>
            <a:r>
              <a:rPr lang="es-ES" sz="1000" dirty="0"/>
              <a:t> y los estudios llevados a cabo por la Texas Instruments, que el ejecutivo se enfrenta con una doble tarea:</a:t>
            </a:r>
          </a:p>
          <a:p>
            <a:pPr lvl="0" algn="just">
              <a:buFont typeface="Arial" pitchFamily="34" charset="0"/>
              <a:buChar char="•"/>
            </a:pPr>
            <a:r>
              <a:rPr lang="es-ES" sz="1000" dirty="0"/>
              <a:t> La tarea de posibilitar al trabajador la satisfacción en su actividad, y</a:t>
            </a:r>
          </a:p>
          <a:p>
            <a:pPr lvl="0" algn="just">
              <a:buFont typeface="Arial" pitchFamily="34" charset="0"/>
              <a:buChar char="•"/>
            </a:pPr>
            <a:r>
              <a:rPr lang="es-ES" sz="1000" dirty="0"/>
              <a:t> La de configurar los factores periféricos a la actividad de tal forma que no den ninguna base al personal para su insatisfacción.</a:t>
            </a:r>
          </a:p>
          <a:p>
            <a:pPr algn="just"/>
            <a:endParaRPr lang="es-ES" sz="1000" dirty="0"/>
          </a:p>
          <a:p>
            <a:pPr algn="just"/>
            <a:r>
              <a:rPr lang="es-ES" sz="1000" dirty="0"/>
              <a:t>Todo esto teniendo en cuenta que si el trabajador no encuentra ningún factor motivador, se predispone a prestar atención a los factores periféricos, con la intención de cubrir con ellos su necesidad.</a:t>
            </a:r>
          </a:p>
          <a:p>
            <a:pPr algn="just"/>
            <a:endParaRPr lang="es-ES" sz="1000" dirty="0"/>
          </a:p>
          <a:p>
            <a:pPr algn="just"/>
            <a:r>
              <a:rPr lang="es-ES" sz="1000" dirty="0"/>
              <a:t>Desde los años 60 existe un esfuerzo continuo por aplicar los conocimientos sobre la investigación de la motivación a la actividad real de la empresa. Así se denomina desarrollo de la organización. Hoy en día el significado de esto ha cambiado pasando a ser un intento de aumentar la efectividad laboral por medio de la comunicación a ser un proceso metódico de configuración más efectiva de las organizaciones, proceso mediante el cual deben tenerse en cuenta puntos de vista tanto motivacionales como organizativos y estructurales.</a:t>
            </a:r>
            <a:endParaRPr lang="es-ES" sz="1000" dirty="0">
              <a:latin typeface="Arial" pitchFamily="34" charset="0"/>
              <a:cs typeface="Arial" pitchFamily="34" charset="0"/>
            </a:endParaRPr>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39</a:t>
            </a:fld>
            <a:endParaRPr lang="es-E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Por tanto, la</a:t>
            </a:r>
            <a:r>
              <a:rPr lang="es-ES" baseline="0" dirty="0"/>
              <a:t> motivación influye en tres aspectos del comportamiento:</a:t>
            </a:r>
          </a:p>
          <a:p>
            <a:pPr marL="247620" indent="-247620">
              <a:buAutoNum type="arabicPeriod"/>
            </a:pPr>
            <a:r>
              <a:rPr lang="es-ES" baseline="0" dirty="0"/>
              <a:t>En la decisión de iniciar una acción y hacerlo en una determinada dirección.</a:t>
            </a:r>
          </a:p>
          <a:p>
            <a:pPr marL="247620" indent="-247620">
              <a:buAutoNum type="arabicPeriod"/>
            </a:pPr>
            <a:r>
              <a:rPr lang="es-ES" baseline="0" dirty="0"/>
              <a:t>En la decisión de realizar un determinado nivel de esfuerzo o intensidad del esfuerzo.</a:t>
            </a:r>
          </a:p>
          <a:p>
            <a:pPr marL="247620" indent="-247620">
              <a:buAutoNum type="arabicPeriod"/>
            </a:pPr>
            <a:r>
              <a:rPr lang="es-ES" baseline="0" dirty="0"/>
              <a:t>En la decisión de persistir en el esfuerzo durante un período de tiempo (</a:t>
            </a:r>
            <a:r>
              <a:rPr lang="es-ES" baseline="0" dirty="0" err="1"/>
              <a:t>Peiro</a:t>
            </a:r>
            <a:r>
              <a:rPr lang="es-ES" baseline="0" dirty="0"/>
              <a:t>, 2013) </a:t>
            </a:r>
          </a:p>
          <a:p>
            <a:pPr marL="247620" indent="-247620"/>
            <a:endParaRPr lang="es-ES" baseline="0" dirty="0"/>
          </a:p>
          <a:p>
            <a:pPr marL="247620" indent="-247620"/>
            <a:r>
              <a:rPr lang="es-ES" baseline="0" dirty="0">
                <a:sym typeface="Wingdings" pitchFamily="2" charset="2"/>
              </a:rPr>
              <a:t> </a:t>
            </a:r>
            <a:r>
              <a:rPr lang="es-ES" baseline="0" dirty="0"/>
              <a:t>Dos direcciones: o nos acercamos al placer, o nos alejamos del dolor.</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40</a:t>
            </a:fld>
            <a:endParaRPr lang="es-E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El</a:t>
            </a:r>
            <a:r>
              <a:rPr lang="es-ES" baseline="0" dirty="0"/>
              <a:t> </a:t>
            </a:r>
            <a:r>
              <a:rPr lang="es-ES" b="1" baseline="0" dirty="0"/>
              <a:t>modelo de comportamiento </a:t>
            </a:r>
            <a:r>
              <a:rPr lang="es-ES" baseline="0" dirty="0"/>
              <a:t>es </a:t>
            </a:r>
            <a:r>
              <a:rPr lang="es-ES" b="1" baseline="0" dirty="0"/>
              <a:t>idéntico</a:t>
            </a:r>
            <a:r>
              <a:rPr lang="es-ES" baseline="0" dirty="0"/>
              <a:t> para todas las personas:</a:t>
            </a:r>
          </a:p>
          <a:p>
            <a:pPr lvl="1"/>
            <a:r>
              <a:rPr lang="es-ES" baseline="0" dirty="0"/>
              <a:t>Una necesidad rompe el estado de equilibrio </a:t>
            </a:r>
            <a:r>
              <a:rPr lang="es-ES" baseline="0" dirty="0">
                <a:sym typeface="Wingdings" pitchFamily="2" charset="2"/>
              </a:rPr>
              <a:t> se causa una tensión, un desequilibrio  este desequilibrio lleva al individuo a emprender una acción, un comportamiento  si el comportamiento es eficaz, el individuo encontrará la satisfacción y volverá al estado de equilibrio</a:t>
            </a:r>
          </a:p>
          <a:p>
            <a:pPr lvl="0"/>
            <a:r>
              <a:rPr lang="es-ES" baseline="0" dirty="0">
                <a:sym typeface="Wingdings" pitchFamily="2" charset="2"/>
              </a:rPr>
              <a:t>El </a:t>
            </a:r>
            <a:r>
              <a:rPr lang="es-ES" b="1" baseline="0" dirty="0">
                <a:sym typeface="Wingdings" pitchFamily="2" charset="2"/>
              </a:rPr>
              <a:t>resultado dependerá </a:t>
            </a:r>
            <a:r>
              <a:rPr lang="es-ES" baseline="0" dirty="0">
                <a:sym typeface="Wingdings" pitchFamily="2" charset="2"/>
              </a:rPr>
              <a:t>de la percepción del estímulo, de las necesidades y de los deseos  a veces el comportamiento encuentra una serie de barreras o impedimentos que producen insatisfacción o frustración</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42</a:t>
            </a:fld>
            <a:endParaRPr lang="es-E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La Psicología ha intentado ahondar en múltiples y diversas cuestiones</a:t>
            </a:r>
            <a:r>
              <a:rPr lang="es-ES" baseline="0" dirty="0"/>
              <a:t> relacionadas con la motivación humana </a:t>
            </a:r>
            <a:r>
              <a:rPr lang="es-ES" baseline="0" dirty="0">
                <a:sym typeface="Wingdings" pitchFamily="2" charset="2"/>
              </a:rPr>
              <a:t> </a:t>
            </a:r>
            <a:r>
              <a:rPr lang="es-ES" baseline="0" dirty="0" err="1">
                <a:sym typeface="Wingdings" pitchFamily="2" charset="2"/>
              </a:rPr>
              <a:t>d.p.d.v.</a:t>
            </a:r>
            <a:r>
              <a:rPr lang="es-ES" baseline="0" dirty="0">
                <a:sym typeface="Wingdings" pitchFamily="2" charset="2"/>
              </a:rPr>
              <a:t> de la psicología de las organizaciones, interesan dos vertientes básicas que permiten agrupar en dos grandes bloques las teorías que tratan de explicar aspectos relacionados con la motivación en las organizaciones.</a:t>
            </a:r>
          </a:p>
          <a:p>
            <a:r>
              <a:rPr lang="es-ES" baseline="0" dirty="0">
                <a:sym typeface="Wingdings" pitchFamily="2" charset="2"/>
              </a:rPr>
              <a:t>	 las citadas son sólo algunos ejemplos de las que existen</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43</a:t>
            </a:fld>
            <a:endParaRPr lang="es-E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“7 </a:t>
            </a:r>
            <a:r>
              <a:rPr lang="es-ES" dirty="0" err="1"/>
              <a:t>Ps</a:t>
            </a:r>
            <a:r>
              <a:rPr lang="es-ES" dirty="0"/>
              <a:t>” para brillar:</a:t>
            </a:r>
          </a:p>
          <a:p>
            <a:pPr marL="247620" indent="-247620">
              <a:buFont typeface="+mj-lt"/>
              <a:buAutoNum type="arabicPeriod"/>
            </a:pPr>
            <a:r>
              <a:rPr lang="es-ES" baseline="0" dirty="0"/>
              <a:t>Presencia</a:t>
            </a:r>
          </a:p>
          <a:p>
            <a:pPr marL="247620" indent="-247620">
              <a:buFont typeface="+mj-lt"/>
              <a:buAutoNum type="arabicPeriod"/>
            </a:pPr>
            <a:r>
              <a:rPr lang="es-ES" baseline="0" dirty="0"/>
              <a:t>Preguntar</a:t>
            </a:r>
          </a:p>
          <a:p>
            <a:pPr marL="247620" indent="-247620">
              <a:buFont typeface="+mj-lt"/>
              <a:buAutoNum type="arabicPeriod"/>
            </a:pPr>
            <a:r>
              <a:rPr lang="es-ES" baseline="0" dirty="0" err="1"/>
              <a:t>Positivizar</a:t>
            </a:r>
            <a:endParaRPr lang="es-ES" baseline="0" dirty="0"/>
          </a:p>
          <a:p>
            <a:pPr marL="247620" indent="-247620">
              <a:buFont typeface="+mj-lt"/>
              <a:buAutoNum type="arabicPeriod"/>
            </a:pPr>
            <a:r>
              <a:rPr lang="es-ES" baseline="0" dirty="0"/>
              <a:t>Potenciar</a:t>
            </a:r>
          </a:p>
          <a:p>
            <a:pPr marL="247620" indent="-247620">
              <a:buFont typeface="+mj-lt"/>
              <a:buAutoNum type="arabicPeriod"/>
            </a:pPr>
            <a:r>
              <a:rPr lang="es-ES" baseline="0" dirty="0" err="1"/>
              <a:t>emPatizar</a:t>
            </a:r>
            <a:endParaRPr lang="es-ES" baseline="0" dirty="0"/>
          </a:p>
          <a:p>
            <a:pPr marL="247620" indent="-247620">
              <a:buFont typeface="+mj-lt"/>
              <a:buAutoNum type="arabicPeriod"/>
            </a:pPr>
            <a:r>
              <a:rPr lang="es-ES" baseline="0" dirty="0"/>
              <a:t>Procesar</a:t>
            </a:r>
          </a:p>
          <a:p>
            <a:pPr marL="247620" indent="-247620">
              <a:buFont typeface="+mj-lt"/>
              <a:buAutoNum type="arabicPeriod"/>
            </a:pPr>
            <a:r>
              <a:rPr lang="es-ES" baseline="0" dirty="0"/>
              <a:t>Pactar </a:t>
            </a:r>
            <a:r>
              <a:rPr lang="es-ES" baseline="0" dirty="0">
                <a:sym typeface="Wingdings" pitchFamily="2" charset="2"/>
              </a:rPr>
              <a:t> </a:t>
            </a:r>
            <a:r>
              <a:rPr lang="es-ES" baseline="0" dirty="0" err="1">
                <a:sym typeface="Wingdings" pitchFamily="2" charset="2"/>
              </a:rPr>
              <a:t>co</a:t>
            </a:r>
            <a:r>
              <a:rPr lang="es-ES" baseline="0" dirty="0">
                <a:sym typeface="Wingdings" pitchFamily="2" charset="2"/>
              </a:rPr>
              <a:t>-crear</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44</a:t>
            </a:fld>
            <a:endParaRPr lang="es-E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lgn="just"/>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45</a:t>
            </a:fld>
            <a:endParaRPr lang="es-E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54075" y="744538"/>
            <a:ext cx="4960938" cy="3722687"/>
          </a:xfrm>
        </p:spPr>
      </p:sp>
      <p:sp>
        <p:nvSpPr>
          <p:cNvPr id="3" name="Marcador de notas 2"/>
          <p:cNvSpPr>
            <a:spLocks noGrp="1"/>
          </p:cNvSpPr>
          <p:nvPr>
            <p:ph type="body" idx="1"/>
          </p:nvPr>
        </p:nvSpPr>
        <p:spPr/>
        <p:txBody>
          <a:bodyPr>
            <a:normAutofit fontScale="92500" lnSpcReduction="20000"/>
          </a:bodyPr>
          <a:lstStyle/>
          <a:p>
            <a:r>
              <a:rPr lang="en-US" b="1" dirty="0"/>
              <a:t>Authoritarian leadership </a:t>
            </a:r>
            <a:r>
              <a:rPr lang="en-US" dirty="0"/>
              <a:t>is the use of </a:t>
            </a:r>
            <a:r>
              <a:rPr lang="en-US" dirty="0" err="1"/>
              <a:t>workcentered</a:t>
            </a:r>
            <a:r>
              <a:rPr lang="en-US" dirty="0"/>
              <a:t> behavior that is designed to ensure task accomplishment. As shown in Figure 13–1, this leader behavior typically involves the use of one-way communication from manager to subordinate. The focus of attention usually is on work progress, work procedures, and roadblocks that are preventing goal attainment. There is a managerial</a:t>
            </a:r>
          </a:p>
          <a:p>
            <a:r>
              <a:rPr lang="en-US" dirty="0"/>
              <a:t>tendency toward a lack of involvement with subordinates, where final decisions are in the hands of the higher-level employees. The distance translates into a lack of a relationship where managers focus on assignments over the needs of the employees. At times, the organizational leadership behavior is reflective of the political surroundings, as indicated in one study that focused on Romania.3</a:t>
            </a:r>
          </a:p>
          <a:p>
            <a:endParaRPr lang="en-US" dirty="0"/>
          </a:p>
          <a:p>
            <a:r>
              <a:rPr lang="en-US" dirty="0"/>
              <a:t>Paternalistic leadership uses work-centered behavior coupled with a protective employee-centered concern. This leadership style can be best summarized by the statement, “Work hard and the company will take care of you.” Paternalistic leaders expect everyone to work hard; in return, the employees are guaranteed employment and given security benefits such as medical and retirement programs. Usually, this leadership behavior satisfies some employee needs, and in turn subordinates tend to exhibit loyalty</a:t>
            </a:r>
          </a:p>
          <a:p>
            <a:r>
              <a:rPr lang="en-US" dirty="0"/>
              <a:t>and compliance. Studies have shown that this behavior is seen throughout Latin America, including Argentina, Bolivia, Chile, and Mexico,33 but also in China, Pakistan, India, Turkey, and the United States</a:t>
            </a:r>
          </a:p>
          <a:p>
            <a:endParaRPr lang="en-US" dirty="0"/>
          </a:p>
          <a:p>
            <a:r>
              <a:rPr lang="en-US" sz="1200" i="0" kern="1200" dirty="0">
                <a:solidFill>
                  <a:schemeClr val="tx1"/>
                </a:solidFill>
                <a:effectLst/>
                <a:latin typeface="+mn-lt"/>
                <a:ea typeface="+mn-ea"/>
                <a:cs typeface="+mn-cs"/>
              </a:rPr>
              <a:t>Paternalistic leadership has been shown to have a positive impact on employees’ attitudes in collectivistic cultures because the care, support, and protection provided by paternalistic leaders may address employees’ need for frequent contact and close personal relationships.37</a:t>
            </a:r>
          </a:p>
          <a:p>
            <a:endParaRPr lang="en-US" sz="120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Participative leadership </a:t>
            </a:r>
            <a:r>
              <a:rPr lang="en-US" sz="1200" i="0" kern="1200" dirty="0">
                <a:solidFill>
                  <a:schemeClr val="tx1"/>
                </a:solidFill>
                <a:effectLst/>
                <a:latin typeface="+mn-lt"/>
                <a:ea typeface="+mn-ea"/>
                <a:cs typeface="+mn-cs"/>
              </a:rPr>
              <a:t>is the use of both work-centered and people-centered approaches. Participative leaders typically encourage their people to play an active role in assuming control of their work, and authority usually is highly decentralized. The way in which leaders motivate employees could be through consulting with employees encouraging joint decisions, or delegating responsibilities. Regardless of the method, employees tend to be more creative and innovative when driven by leaders exhibiting this behavior. Participative leadership is very popular in many technologically advanced countries. Such leadership has been widely espoused in the United States, England, and other Anglo countries, and it is currently very popular in Scandinavian countries as well.</a:t>
            </a:r>
            <a:br>
              <a:rPr lang="en-US" sz="1200" i="0" kern="1200" dirty="0">
                <a:solidFill>
                  <a:schemeClr val="tx1"/>
                </a:solidFill>
                <a:effectLst/>
                <a:latin typeface="+mn-lt"/>
                <a:ea typeface="+mn-ea"/>
                <a:cs typeface="+mn-cs"/>
              </a:rPr>
            </a:br>
            <a:endParaRPr lang="en-US" dirty="0"/>
          </a:p>
        </p:txBody>
      </p:sp>
      <p:sp>
        <p:nvSpPr>
          <p:cNvPr id="4" name="Marcador de número de diapositiva 3"/>
          <p:cNvSpPr>
            <a:spLocks noGrp="1"/>
          </p:cNvSpPr>
          <p:nvPr>
            <p:ph type="sldNum" sz="quarter" idx="10"/>
          </p:nvPr>
        </p:nvSpPr>
        <p:spPr/>
        <p:txBody>
          <a:bodyPr/>
          <a:lstStyle/>
          <a:p>
            <a:fld id="{0693D096-AC13-4249-9768-519E1151B5F6}" type="slidenum">
              <a:rPr lang="es-AR" smtClean="0"/>
              <a:t>46</a:t>
            </a:fld>
            <a:endParaRPr lang="es-AR"/>
          </a:p>
        </p:txBody>
      </p:sp>
    </p:spTree>
    <p:extLst>
      <p:ext uri="{BB962C8B-B14F-4D97-AF65-F5344CB8AC3E}">
        <p14:creationId xmlns:p14="http://schemas.microsoft.com/office/powerpoint/2010/main" val="1896312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854075" y="744538"/>
            <a:ext cx="4960938" cy="3722687"/>
          </a:xfrm>
        </p:spPr>
      </p:sp>
      <p:sp>
        <p:nvSpPr>
          <p:cNvPr id="3" name="2 Marcador de notas"/>
          <p:cNvSpPr>
            <a:spLocks noGrp="1"/>
          </p:cNvSpPr>
          <p:nvPr>
            <p:ph type="body" idx="1"/>
          </p:nvPr>
        </p:nvSpPr>
        <p:spPr/>
        <p:txBody>
          <a:bodyPr>
            <a:normAutofit fontScale="70000" lnSpcReduction="20000"/>
          </a:bodyPr>
          <a:lstStyle/>
          <a:p>
            <a:pPr algn="just" fontAlgn="base"/>
            <a:r>
              <a:rPr lang="es-ES" b="1" dirty="0"/>
              <a:t>1.- Liderazgo Autocrático o Dictador:</a:t>
            </a:r>
          </a:p>
          <a:p>
            <a:pPr algn="just" fontAlgn="base"/>
            <a:r>
              <a:rPr lang="es-ES" dirty="0"/>
              <a:t>Habitualmente, se centran en la dinámica de trabajo a seguir, la </a:t>
            </a:r>
            <a:r>
              <a:rPr lang="es-ES" b="1" dirty="0"/>
              <a:t>estrategia</a:t>
            </a:r>
            <a:r>
              <a:rPr lang="es-ES" dirty="0"/>
              <a:t> y, básicamente, todo.</a:t>
            </a:r>
          </a:p>
          <a:p>
            <a:pPr algn="just" fontAlgn="base"/>
            <a:r>
              <a:rPr lang="es-ES" dirty="0"/>
              <a:t>El liderazgo autocrático gestiona correctamente el ofrecimiento de recompensas y castigos, ya que es donde se basa su control.</a:t>
            </a:r>
          </a:p>
          <a:p>
            <a:pPr algn="just" fontAlgn="base"/>
            <a:r>
              <a:rPr lang="es-ES" dirty="0"/>
              <a:t>Suele tener problemas para delegar. Es muy </a:t>
            </a:r>
            <a:r>
              <a:rPr lang="es-ES" b="1" dirty="0"/>
              <a:t>perfeccionista</a:t>
            </a:r>
            <a:r>
              <a:rPr lang="es-ES" dirty="0"/>
              <a:t>. Y puede llegar a ser agresivo cuando su equipo no llega a sus niveles de exigencia.</a:t>
            </a:r>
          </a:p>
          <a:p>
            <a:pPr algn="just" fontAlgn="base"/>
            <a:r>
              <a:rPr lang="es-ES" dirty="0"/>
              <a:t>Es </a:t>
            </a:r>
            <a:r>
              <a:rPr lang="es-ES" b="1" dirty="0"/>
              <a:t>el liderazgo ideal</a:t>
            </a:r>
            <a:r>
              <a:rPr lang="es-ES" dirty="0"/>
              <a:t> en situaciones de crisis, donde se deben tomar decisiones difíciles en beneficio de la empresa.</a:t>
            </a:r>
          </a:p>
          <a:p>
            <a:pPr algn="just" fontAlgn="base"/>
            <a:r>
              <a:rPr lang="es-ES" dirty="0"/>
              <a:t>Este tipo de liderazgo, a </a:t>
            </a:r>
            <a:r>
              <a:rPr lang="es-ES" b="1" dirty="0"/>
              <a:t>largo plazo</a:t>
            </a:r>
            <a:r>
              <a:rPr lang="es-ES" dirty="0"/>
              <a:t>, no es recomendable, ya que puede provocar negativismo en el equipo y el efecto “quemado”. Por ello, acaba generando un nivel alto de </a:t>
            </a:r>
            <a:r>
              <a:rPr lang="es-ES" b="1" dirty="0"/>
              <a:t>rotaciones</a:t>
            </a:r>
            <a:r>
              <a:rPr lang="es-ES" dirty="0"/>
              <a:t> en el equipo y conlleva problemas, si el equipo está formado por profesionales cualificados.</a:t>
            </a:r>
          </a:p>
          <a:p>
            <a:pPr algn="just" fontAlgn="base"/>
            <a:r>
              <a:rPr lang="es-ES" b="1" dirty="0"/>
              <a:t>2.- Liderazgo Paternalista o Transaccional:</a:t>
            </a:r>
          </a:p>
          <a:p>
            <a:pPr algn="just" fontAlgn="base"/>
            <a:r>
              <a:rPr lang="es-ES" dirty="0"/>
              <a:t>Su forma de gestionar equipos se basa también en castigos y recompensas.</a:t>
            </a:r>
          </a:p>
          <a:p>
            <a:pPr algn="just" fontAlgn="base"/>
            <a:r>
              <a:rPr lang="es-ES" dirty="0"/>
              <a:t>Su único objetivo es que los empleados trabajen más y mejor, a base de </a:t>
            </a:r>
            <a:r>
              <a:rPr lang="es-ES" b="1" dirty="0"/>
              <a:t>incentivos</a:t>
            </a:r>
            <a:r>
              <a:rPr lang="es-ES" dirty="0"/>
              <a:t> y motivándoles con los posibles premios a conseguir, si se logra el objetivo. En este aspecto es mucho más cercano que el autocrático, cosa que es su principal diferencia.</a:t>
            </a:r>
          </a:p>
          <a:p>
            <a:pPr algn="just" fontAlgn="base"/>
            <a:r>
              <a:rPr lang="es-ES" dirty="0"/>
              <a:t>Además de una fuerte supervisión, su otra característica es la de cumplir con los objetivos y hacer reparto de las </a:t>
            </a:r>
            <a:r>
              <a:rPr lang="es-ES" b="1" dirty="0"/>
              <a:t>recompensas</a:t>
            </a:r>
            <a:r>
              <a:rPr lang="es-ES" dirty="0"/>
              <a:t> por los </a:t>
            </a:r>
            <a:r>
              <a:rPr lang="es-ES" b="1" dirty="0"/>
              <a:t>resultados </a:t>
            </a:r>
            <a:r>
              <a:rPr lang="es-ES" dirty="0"/>
              <a:t>conseguidos.</a:t>
            </a:r>
          </a:p>
          <a:p>
            <a:pPr algn="just" fontAlgn="base"/>
            <a:r>
              <a:rPr lang="es-ES" dirty="0"/>
              <a:t>Tiende a crear estructuras de trabajo claras, donde queda muy bien definido lo que se requiere de cada uno de los integrantes del equipo y los </a:t>
            </a:r>
            <a:r>
              <a:rPr lang="es-ES" b="1" dirty="0"/>
              <a:t>incentivos</a:t>
            </a:r>
            <a:r>
              <a:rPr lang="es-ES" dirty="0"/>
              <a:t> que se van a percibir.</a:t>
            </a:r>
          </a:p>
          <a:p>
            <a:pPr algn="just" fontAlgn="base"/>
            <a:r>
              <a:rPr lang="es-ES" dirty="0"/>
              <a:t>Este tipo de liderazgo forma equipos que se sienten </a:t>
            </a:r>
            <a:r>
              <a:rPr lang="es-ES" b="1" dirty="0"/>
              <a:t>seguros y protegidos</a:t>
            </a:r>
            <a:r>
              <a:rPr lang="es-ES" dirty="0"/>
              <a:t>, porque saben y les gusta tener una figura, por encima de ellos, que les da consejos y les supervisa.</a:t>
            </a:r>
          </a:p>
          <a:p>
            <a:pPr algn="just" fontAlgn="base"/>
            <a:r>
              <a:rPr lang="es-ES" dirty="0"/>
              <a:t>Es un buen tipo de liderazgo en épocas estables donde el objetivo es que la empresa funcione sin problemas y con eficiencia. Pero es un estilo falto de flexibilidad para adaptarse a los </a:t>
            </a:r>
            <a:r>
              <a:rPr lang="es-ES" b="1" dirty="0"/>
              <a:t>cambios</a:t>
            </a:r>
            <a:r>
              <a:rPr lang="es-ES" dirty="0"/>
              <a:t> constantes del mundo empresarial actual.</a:t>
            </a:r>
          </a:p>
          <a:p>
            <a:pPr algn="just" fontAlgn="base"/>
            <a:r>
              <a:rPr lang="es-ES" b="1" dirty="0"/>
              <a:t>3.- Liderazgo Burocrático:</a:t>
            </a:r>
          </a:p>
          <a:p>
            <a:pPr algn="just" fontAlgn="base"/>
            <a:r>
              <a:rPr lang="es-ES" dirty="0"/>
              <a:t>Se siente muy cómodo con las relaciones personales del día a día, mucho más frías. Y no crea un entorno laboral cercano.</a:t>
            </a:r>
          </a:p>
          <a:p>
            <a:pPr algn="just" fontAlgn="base"/>
            <a:r>
              <a:rPr lang="es-ES" dirty="0"/>
              <a:t>Para cualquier problema que pueda surgir, recorren de forma automática a las soluciones que se aportan en el </a:t>
            </a:r>
            <a:r>
              <a:rPr lang="es-ES" b="1" dirty="0"/>
              <a:t>plan general</a:t>
            </a:r>
            <a:r>
              <a:rPr lang="es-ES" dirty="0"/>
              <a:t> de la empresa.</a:t>
            </a:r>
          </a:p>
          <a:p>
            <a:pPr algn="just" fontAlgn="base"/>
            <a:r>
              <a:rPr lang="es-ES" dirty="0"/>
              <a:t>No aprovechan en absoluto el potencial que pueda tener su equipo. Y, con el tiempo, crean un</a:t>
            </a:r>
            <a:r>
              <a:rPr lang="es-ES" baseline="0" dirty="0"/>
              <a:t> e</a:t>
            </a:r>
            <a:r>
              <a:rPr lang="es-ES" dirty="0"/>
              <a:t>ntorno </a:t>
            </a:r>
            <a:r>
              <a:rPr lang="es-ES" b="1" dirty="0"/>
              <a:t>distante</a:t>
            </a:r>
            <a:r>
              <a:rPr lang="es-ES" dirty="0"/>
              <a:t> entre todos los integrantes del equipo.</a:t>
            </a:r>
          </a:p>
          <a:p>
            <a:pPr algn="just" fontAlgn="base"/>
            <a:r>
              <a:rPr lang="es-ES" dirty="0"/>
              <a:t>Es un buen líder en entornos donde la mayor parte de los procesos son mecánicos.</a:t>
            </a:r>
          </a:p>
          <a:p>
            <a:pPr algn="just" fontAlgn="base"/>
            <a:r>
              <a:rPr lang="es-ES" dirty="0"/>
              <a:t>Se trata de un buen tipo de liderazgo para comandos intermedios </a:t>
            </a:r>
            <a:r>
              <a:rPr lang="es-ES" b="1" dirty="0"/>
              <a:t>industriales</a:t>
            </a:r>
            <a:r>
              <a:rPr lang="es-ES" dirty="0"/>
              <a:t>. Y nulo totalmente, para capitanear equipos que busquen innovar o conseguir nuevos retos.</a:t>
            </a:r>
          </a:p>
          <a:p>
            <a:pPr algn="just" fontAlgn="base"/>
            <a:r>
              <a:rPr lang="es-ES" b="1" dirty="0"/>
              <a:t>4.- Liderazgo Lateral:</a:t>
            </a:r>
          </a:p>
          <a:p>
            <a:pPr algn="just" fontAlgn="base"/>
            <a:r>
              <a:rPr lang="es-ES" dirty="0"/>
              <a:t>Es </a:t>
            </a:r>
            <a:r>
              <a:rPr lang="es-ES" b="1" dirty="0"/>
              <a:t>resolutivo</a:t>
            </a:r>
            <a:r>
              <a:rPr lang="es-ES" dirty="0"/>
              <a:t>. Y esta aptitud le permite, sobre todo en grupos grandes de trabajo donde habitualmente se les da muchas vueltas a las cosas por querer agradar al máximo, tomar decisiones y provocar avances que, en el fondo, el grupo agradece, ya que es un líder sin imposiciones.</a:t>
            </a:r>
          </a:p>
          <a:p>
            <a:pPr algn="just" fontAlgn="base"/>
            <a:r>
              <a:rPr lang="es-ES" dirty="0"/>
              <a:t>El riesgo de este tipo de liderazgo es que puede acabar asumiendo muchas más tareas de las óptimas. Y puede llegar a estar </a:t>
            </a:r>
            <a:r>
              <a:rPr lang="es-ES" b="1" dirty="0"/>
              <a:t>sobrepasado </a:t>
            </a:r>
            <a:r>
              <a:rPr lang="es-ES" dirty="0"/>
              <a:t>con la carga de trabajo.</a:t>
            </a:r>
          </a:p>
          <a:p>
            <a:pPr algn="just"/>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47</a:t>
            </a:fld>
            <a:endParaRPr lang="es-ES"/>
          </a:p>
        </p:txBody>
      </p:sp>
    </p:spTree>
    <p:extLst>
      <p:ext uri="{BB962C8B-B14F-4D97-AF65-F5344CB8AC3E}">
        <p14:creationId xmlns:p14="http://schemas.microsoft.com/office/powerpoint/2010/main" val="34412276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B2732B8D-A947-4FEE-9242-FBE3D31991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eaLnBrk="0" hangingPunct="0">
              <a:defRPr>
                <a:solidFill>
                  <a:schemeClr val="tx1"/>
                </a:solidFill>
                <a:latin typeface="Arial" panose="020B0604020202020204" pitchFamily="34" charset="0"/>
                <a:cs typeface="Arial" panose="020B0604020202020204" pitchFamily="34" charset="0"/>
              </a:defRPr>
            </a:lvl1pPr>
            <a:lvl2pPr marL="742950" indent="-285750" defTabSz="903288" eaLnBrk="0" hangingPunct="0">
              <a:defRPr>
                <a:solidFill>
                  <a:schemeClr val="tx1"/>
                </a:solidFill>
                <a:latin typeface="Arial" panose="020B0604020202020204" pitchFamily="34" charset="0"/>
                <a:cs typeface="Arial" panose="020B0604020202020204" pitchFamily="34" charset="0"/>
              </a:defRPr>
            </a:lvl2pPr>
            <a:lvl3pPr marL="1143000" indent="-228600" defTabSz="903288" eaLnBrk="0" hangingPunct="0">
              <a:defRPr>
                <a:solidFill>
                  <a:schemeClr val="tx1"/>
                </a:solidFill>
                <a:latin typeface="Arial" panose="020B0604020202020204" pitchFamily="34" charset="0"/>
                <a:cs typeface="Arial" panose="020B0604020202020204" pitchFamily="34" charset="0"/>
              </a:defRPr>
            </a:lvl3pPr>
            <a:lvl4pPr marL="1600200" indent="-228600" defTabSz="903288" eaLnBrk="0" hangingPunct="0">
              <a:defRPr>
                <a:solidFill>
                  <a:schemeClr val="tx1"/>
                </a:solidFill>
                <a:latin typeface="Arial" panose="020B0604020202020204" pitchFamily="34" charset="0"/>
                <a:cs typeface="Arial" panose="020B0604020202020204" pitchFamily="34" charset="0"/>
              </a:defRPr>
            </a:lvl4pPr>
            <a:lvl5pPr marL="2057400" indent="-228600" defTabSz="9032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DDA209D-FD1B-4EAC-BEAA-E906B2CB5744}" type="slidenum">
              <a:rPr lang="en-US" altLang="es-ES"/>
              <a:pPr eaLnBrk="1" hangingPunct="1"/>
              <a:t>48</a:t>
            </a:fld>
            <a:endParaRPr lang="en-US" altLang="es-ES"/>
          </a:p>
        </p:txBody>
      </p:sp>
      <p:sp>
        <p:nvSpPr>
          <p:cNvPr id="37891" name="Rectangle 2">
            <a:extLst>
              <a:ext uri="{FF2B5EF4-FFF2-40B4-BE49-F238E27FC236}">
                <a16:creationId xmlns:a16="http://schemas.microsoft.com/office/drawing/2014/main" id="{BFA0562B-7915-4764-8BF5-C96F50434C17}"/>
              </a:ext>
            </a:extLst>
          </p:cNvPr>
          <p:cNvSpPr>
            <a:spLocks noGrp="1" noRot="1" noChangeAspect="1" noChangeArrowheads="1" noTextEdit="1"/>
          </p:cNvSpPr>
          <p:nvPr>
            <p:ph type="sldImg"/>
          </p:nvPr>
        </p:nvSpPr>
        <p:spPr>
          <a:xfrm>
            <a:off x="854075" y="744538"/>
            <a:ext cx="4960938" cy="3722687"/>
          </a:xfrm>
          <a:ln/>
        </p:spPr>
      </p:sp>
      <p:sp>
        <p:nvSpPr>
          <p:cNvPr id="37892" name="Rectangle 3">
            <a:extLst>
              <a:ext uri="{FF2B5EF4-FFF2-40B4-BE49-F238E27FC236}">
                <a16:creationId xmlns:a16="http://schemas.microsoft.com/office/drawing/2014/main" id="{169E373F-8B50-4CA7-832B-8B2E46DF70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64817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70000" lnSpcReduction="20000"/>
          </a:bodyPr>
          <a:lstStyle/>
          <a:p>
            <a:r>
              <a:rPr lang="es-ES" sz="1000" b="1" kern="1200" dirty="0">
                <a:solidFill>
                  <a:schemeClr val="tx1"/>
                </a:solidFill>
                <a:effectLst/>
                <a:latin typeface="Arial" pitchFamily="34" charset="0"/>
                <a:ea typeface="+mn-ea"/>
                <a:cs typeface="Arial" pitchFamily="34" charset="0"/>
              </a:rPr>
              <a:t>UOC – módulo 2 Introducción a la empresa</a:t>
            </a:r>
            <a:endParaRPr lang="es-ES" sz="1000" kern="1200" dirty="0">
              <a:solidFill>
                <a:schemeClr val="tx1"/>
              </a:solidFill>
              <a:effectLst/>
              <a:latin typeface="Arial" pitchFamily="34" charset="0"/>
              <a:ea typeface="+mn-ea"/>
              <a:cs typeface="Arial" pitchFamily="34" charset="0"/>
            </a:endParaRPr>
          </a:p>
          <a:p>
            <a:r>
              <a:rPr lang="es-ES" sz="1000" b="1" u="sng" kern="1200" dirty="0">
                <a:solidFill>
                  <a:schemeClr val="tx1"/>
                </a:solidFill>
                <a:effectLst/>
                <a:latin typeface="Arial" pitchFamily="34" charset="0"/>
                <a:ea typeface="+mn-ea"/>
                <a:cs typeface="Arial" pitchFamily="34" charset="0"/>
              </a:rPr>
              <a:t>http://cv.uoc.edu/annotation/0c64a3e4f8f82b06d968f4312a54c5ad/516189/PID_00200468/modul_2.html</a:t>
            </a:r>
            <a:endParaRPr lang="es-ES" sz="1000" b="1" kern="1200" dirty="0">
              <a:solidFill>
                <a:schemeClr val="tx1"/>
              </a:solidFill>
              <a:effectLst/>
              <a:latin typeface="Arial" pitchFamily="34" charset="0"/>
              <a:ea typeface="+mn-ea"/>
              <a:cs typeface="Arial" pitchFamily="34" charset="0"/>
            </a:endParaRPr>
          </a:p>
          <a:p>
            <a:endParaRPr lang="es-ES" sz="1000" b="1" kern="1200" dirty="0">
              <a:solidFill>
                <a:schemeClr val="tx1"/>
              </a:solidFill>
              <a:effectLst/>
              <a:latin typeface="Arial" pitchFamily="34" charset="0"/>
              <a:ea typeface="+mn-ea"/>
              <a:cs typeface="Arial" pitchFamily="34" charset="0"/>
            </a:endParaRPr>
          </a:p>
          <a:p>
            <a:r>
              <a:rPr lang="es-ES" sz="1000" b="1" kern="1200" dirty="0">
                <a:solidFill>
                  <a:schemeClr val="tx1"/>
                </a:solidFill>
                <a:effectLst/>
                <a:latin typeface="Arial" pitchFamily="34" charset="0"/>
                <a:ea typeface="+mn-ea"/>
                <a:cs typeface="Arial" pitchFamily="34" charset="0"/>
              </a:rPr>
              <a:t>Algunas precisiones semánticas. Los problemas de dirigir, administrar y gestionar</a:t>
            </a:r>
            <a:endParaRPr lang="es-ES" sz="1000" kern="1200" dirty="0">
              <a:solidFill>
                <a:schemeClr val="tx1"/>
              </a:solidFill>
              <a:effectLst/>
              <a:latin typeface="Arial" pitchFamily="34" charset="0"/>
              <a:ea typeface="+mn-ea"/>
              <a:cs typeface="Arial" pitchFamily="34" charset="0"/>
            </a:endParaRPr>
          </a:p>
          <a:p>
            <a:r>
              <a:rPr lang="es-ES" sz="1000" kern="1200" dirty="0">
                <a:solidFill>
                  <a:schemeClr val="tx1"/>
                </a:solidFill>
                <a:effectLst/>
                <a:latin typeface="Arial" pitchFamily="34" charset="0"/>
                <a:ea typeface="+mn-ea"/>
                <a:cs typeface="Arial" pitchFamily="34" charset="0"/>
              </a:rPr>
              <a:t>En castellano existe una cierta confusión sobre cómo utilizar los términos </a:t>
            </a:r>
            <a:r>
              <a:rPr lang="es-ES" sz="1000" i="1" kern="1200" dirty="0">
                <a:solidFill>
                  <a:schemeClr val="tx1"/>
                </a:solidFill>
                <a:effectLst/>
                <a:latin typeface="Arial" pitchFamily="34" charset="0"/>
                <a:ea typeface="+mn-ea"/>
                <a:cs typeface="Arial" pitchFamily="34" charset="0"/>
              </a:rPr>
              <a:t>administración</a:t>
            </a:r>
            <a:r>
              <a:rPr lang="es-ES" sz="1000" kern="1200" dirty="0">
                <a:solidFill>
                  <a:schemeClr val="tx1"/>
                </a:solidFill>
                <a:effectLst/>
                <a:latin typeface="Arial" pitchFamily="34" charset="0"/>
                <a:ea typeface="+mn-ea"/>
                <a:cs typeface="Arial" pitchFamily="34" charset="0"/>
              </a:rPr>
              <a:t>, </a:t>
            </a:r>
            <a:r>
              <a:rPr lang="es-ES" sz="1000" i="1" kern="1200" dirty="0">
                <a:solidFill>
                  <a:schemeClr val="tx1"/>
                </a:solidFill>
                <a:effectLst/>
                <a:latin typeface="Arial" pitchFamily="34" charset="0"/>
                <a:ea typeface="+mn-ea"/>
                <a:cs typeface="Arial" pitchFamily="34" charset="0"/>
              </a:rPr>
              <a:t>dirección</a:t>
            </a:r>
            <a:r>
              <a:rPr lang="es-ES" sz="1000" kern="1200" dirty="0">
                <a:solidFill>
                  <a:schemeClr val="tx1"/>
                </a:solidFill>
                <a:effectLst/>
                <a:latin typeface="Arial" pitchFamily="34" charset="0"/>
                <a:ea typeface="+mn-ea"/>
                <a:cs typeface="Arial" pitchFamily="34" charset="0"/>
              </a:rPr>
              <a:t>, </a:t>
            </a:r>
            <a:r>
              <a:rPr lang="es-ES" sz="1000" i="1" kern="1200" dirty="0">
                <a:solidFill>
                  <a:schemeClr val="tx1"/>
                </a:solidFill>
                <a:effectLst/>
                <a:latin typeface="Arial" pitchFamily="34" charset="0"/>
                <a:ea typeface="+mn-ea"/>
                <a:cs typeface="Arial" pitchFamily="34" charset="0"/>
              </a:rPr>
              <a:t>dirección de recursos humanos</a:t>
            </a:r>
            <a:r>
              <a:rPr lang="es-ES" sz="1000" kern="1200" dirty="0">
                <a:solidFill>
                  <a:schemeClr val="tx1"/>
                </a:solidFill>
                <a:effectLst/>
                <a:latin typeface="Arial" pitchFamily="34" charset="0"/>
                <a:ea typeface="+mn-ea"/>
                <a:cs typeface="Arial" pitchFamily="34" charset="0"/>
              </a:rPr>
              <a:t> y </a:t>
            </a:r>
            <a:r>
              <a:rPr lang="es-ES" sz="1000" i="1" kern="1200" dirty="0">
                <a:solidFill>
                  <a:schemeClr val="tx1"/>
                </a:solidFill>
                <a:effectLst/>
                <a:latin typeface="Arial" pitchFamily="34" charset="0"/>
                <a:ea typeface="+mn-ea"/>
                <a:cs typeface="Arial" pitchFamily="34" charset="0"/>
              </a:rPr>
              <a:t>gestión</a:t>
            </a:r>
            <a:r>
              <a:rPr lang="es-ES" sz="1000" kern="1200" dirty="0">
                <a:solidFill>
                  <a:schemeClr val="tx1"/>
                </a:solidFill>
                <a:effectLst/>
                <a:latin typeface="Arial" pitchFamily="34" charset="0"/>
                <a:ea typeface="+mn-ea"/>
                <a:cs typeface="Arial" pitchFamily="34" charset="0"/>
              </a:rPr>
              <a:t>; confusión que va a en aumento si utilizamos traducciones latinoamericanas de texto anglosajones, donde se habla de </a:t>
            </a:r>
            <a:r>
              <a:rPr lang="es-ES" sz="1000" i="1" kern="1200" dirty="0" err="1">
                <a:solidFill>
                  <a:schemeClr val="tx1"/>
                </a:solidFill>
                <a:effectLst/>
                <a:latin typeface="Arial" pitchFamily="34" charset="0"/>
                <a:ea typeface="+mn-ea"/>
                <a:cs typeface="Arial" pitchFamily="34" charset="0"/>
              </a:rPr>
              <a:t>business</a:t>
            </a:r>
            <a:r>
              <a:rPr lang="es-ES" sz="1000" i="1" kern="1200" dirty="0">
                <a:solidFill>
                  <a:schemeClr val="tx1"/>
                </a:solidFill>
                <a:effectLst/>
                <a:latin typeface="Arial" pitchFamily="34" charset="0"/>
                <a:ea typeface="+mn-ea"/>
                <a:cs typeface="Arial" pitchFamily="34" charset="0"/>
              </a:rPr>
              <a:t> </a:t>
            </a:r>
            <a:r>
              <a:rPr lang="es-ES" sz="1000" i="1" kern="1200" dirty="0" err="1">
                <a:solidFill>
                  <a:schemeClr val="tx1"/>
                </a:solidFill>
                <a:effectLst/>
                <a:latin typeface="Arial" pitchFamily="34" charset="0"/>
                <a:ea typeface="+mn-ea"/>
                <a:cs typeface="Arial" pitchFamily="34" charset="0"/>
              </a:rPr>
              <a:t>administration</a:t>
            </a:r>
            <a:r>
              <a:rPr lang="es-ES" sz="1000" kern="1200" dirty="0">
                <a:solidFill>
                  <a:schemeClr val="tx1"/>
                </a:solidFill>
                <a:effectLst/>
                <a:latin typeface="Arial" pitchFamily="34" charset="0"/>
                <a:ea typeface="+mn-ea"/>
                <a:cs typeface="Arial" pitchFamily="34" charset="0"/>
              </a:rPr>
              <a:t> y </a:t>
            </a:r>
            <a:r>
              <a:rPr lang="es-ES" sz="1000" i="1" kern="1200" dirty="0" err="1">
                <a:solidFill>
                  <a:schemeClr val="tx1"/>
                </a:solidFill>
                <a:effectLst/>
                <a:latin typeface="Arial" pitchFamily="34" charset="0"/>
                <a:ea typeface="+mn-ea"/>
                <a:cs typeface="Arial" pitchFamily="34" charset="0"/>
              </a:rPr>
              <a:t>management</a:t>
            </a:r>
            <a:r>
              <a:rPr lang="es-ES" sz="1000" kern="1200" dirty="0">
                <a:solidFill>
                  <a:schemeClr val="tx1"/>
                </a:solidFill>
                <a:effectLst/>
                <a:latin typeface="Arial" pitchFamily="34" charset="0"/>
                <a:ea typeface="+mn-ea"/>
                <a:cs typeface="Arial" pitchFamily="34" charset="0"/>
              </a:rPr>
              <a:t>. Al final, la falta de convenio sobre algunos términos se ha traducido, por ejemplo, en la creación de un grado en Administración y Dirección de Empresas. </a:t>
            </a:r>
          </a:p>
          <a:p>
            <a:r>
              <a:rPr lang="es-ES" sz="1000" kern="1200" dirty="0">
                <a:solidFill>
                  <a:schemeClr val="tx1"/>
                </a:solidFill>
                <a:effectLst/>
                <a:latin typeface="Arial" pitchFamily="34" charset="0"/>
                <a:ea typeface="+mn-ea"/>
                <a:cs typeface="Arial" pitchFamily="34" charset="0"/>
              </a:rPr>
              <a:t>En España, se suele reservar la palabra </a:t>
            </a:r>
            <a:r>
              <a:rPr lang="es-ES" sz="1000" b="1" i="1" kern="1200" dirty="0">
                <a:solidFill>
                  <a:schemeClr val="tx1"/>
                </a:solidFill>
                <a:effectLst/>
                <a:latin typeface="Arial" pitchFamily="34" charset="0"/>
                <a:ea typeface="+mn-ea"/>
                <a:cs typeface="Arial" pitchFamily="34" charset="0"/>
              </a:rPr>
              <a:t>dirección</a:t>
            </a:r>
            <a:r>
              <a:rPr lang="es-ES" sz="1000" kern="1200" dirty="0">
                <a:solidFill>
                  <a:schemeClr val="tx1"/>
                </a:solidFill>
                <a:effectLst/>
                <a:latin typeface="Arial" pitchFamily="34" charset="0"/>
                <a:ea typeface="+mn-ea"/>
                <a:cs typeface="Arial" pitchFamily="34" charset="0"/>
              </a:rPr>
              <a:t> para las empresas; mientras que se habla de </a:t>
            </a:r>
            <a:r>
              <a:rPr lang="es-ES" sz="1000" b="1" i="1" kern="1200" dirty="0">
                <a:solidFill>
                  <a:schemeClr val="tx1"/>
                </a:solidFill>
                <a:effectLst/>
                <a:latin typeface="Arial" pitchFamily="34" charset="0"/>
                <a:ea typeface="+mn-ea"/>
                <a:cs typeface="Arial" pitchFamily="34" charset="0"/>
              </a:rPr>
              <a:t>administración</a:t>
            </a:r>
            <a:r>
              <a:rPr lang="es-ES" sz="1000" kern="1200" dirty="0">
                <a:solidFill>
                  <a:schemeClr val="tx1"/>
                </a:solidFill>
                <a:effectLst/>
                <a:latin typeface="Arial" pitchFamily="34" charset="0"/>
                <a:ea typeface="+mn-ea"/>
                <a:cs typeface="Arial" pitchFamily="34" charset="0"/>
              </a:rPr>
              <a:t> de entidades sin ánimo de lucro (como hospitales, escuelas, etc.). Pese a todo, la distinción no es nítida, ya que en el ámbito empresarial encontramos a los administradores (directivos) de una sociedad y al consejo de administración. A su vez, la </a:t>
            </a:r>
            <a:r>
              <a:rPr lang="es-ES" sz="1000" b="1" i="1" kern="1200" dirty="0">
                <a:solidFill>
                  <a:schemeClr val="tx1"/>
                </a:solidFill>
                <a:effectLst/>
                <a:latin typeface="Arial" pitchFamily="34" charset="0"/>
                <a:ea typeface="+mn-ea"/>
                <a:cs typeface="Arial" pitchFamily="34" charset="0"/>
              </a:rPr>
              <a:t>dirección de recursos humanos</a:t>
            </a:r>
            <a:r>
              <a:rPr lang="es-ES" sz="1000" b="1" kern="1200" dirty="0">
                <a:solidFill>
                  <a:schemeClr val="tx1"/>
                </a:solidFill>
                <a:effectLst/>
                <a:latin typeface="Arial" pitchFamily="34" charset="0"/>
                <a:ea typeface="+mn-ea"/>
                <a:cs typeface="Arial" pitchFamily="34" charset="0"/>
              </a:rPr>
              <a:t> </a:t>
            </a:r>
            <a:r>
              <a:rPr lang="es-ES" sz="1000" kern="1200" dirty="0">
                <a:solidFill>
                  <a:schemeClr val="tx1"/>
                </a:solidFill>
                <a:effectLst/>
                <a:latin typeface="Arial" pitchFamily="34" charset="0"/>
                <a:ea typeface="+mn-ea"/>
                <a:cs typeface="Arial" pitchFamily="34" charset="0"/>
              </a:rPr>
              <a:t>es una parte de la dirección general. El término </a:t>
            </a:r>
            <a:r>
              <a:rPr lang="es-ES" sz="1000" b="1" i="1" kern="1200" dirty="0">
                <a:solidFill>
                  <a:schemeClr val="tx1"/>
                </a:solidFill>
                <a:effectLst/>
                <a:latin typeface="Arial" pitchFamily="34" charset="0"/>
                <a:ea typeface="+mn-ea"/>
                <a:cs typeface="Arial" pitchFamily="34" charset="0"/>
              </a:rPr>
              <a:t>gestión</a:t>
            </a:r>
            <a:r>
              <a:rPr lang="es-ES" sz="1000" kern="1200" dirty="0">
                <a:solidFill>
                  <a:schemeClr val="tx1"/>
                </a:solidFill>
                <a:effectLst/>
                <a:latin typeface="Arial" pitchFamily="34" charset="0"/>
                <a:ea typeface="+mn-ea"/>
                <a:cs typeface="Arial" pitchFamily="34" charset="0"/>
              </a:rPr>
              <a:t>, de origen francés, se emplea, por lo general, para referirse a tareas directiva de nivel medio, operativas. </a:t>
            </a:r>
          </a:p>
          <a:p>
            <a:r>
              <a:rPr lang="es-ES" sz="1000" kern="1200" dirty="0">
                <a:solidFill>
                  <a:schemeClr val="tx1"/>
                </a:solidFill>
                <a:effectLst/>
                <a:latin typeface="Arial" pitchFamily="34" charset="0"/>
                <a:ea typeface="+mn-ea"/>
                <a:cs typeface="Arial" pitchFamily="34" charset="0"/>
              </a:rPr>
              <a:t>Otro problema semántico es el que proporciona la palabra </a:t>
            </a:r>
            <a:r>
              <a:rPr lang="es-ES" sz="1000" b="1" i="1" kern="1200" dirty="0">
                <a:solidFill>
                  <a:schemeClr val="tx1"/>
                </a:solidFill>
                <a:effectLst/>
                <a:latin typeface="Arial" pitchFamily="34" charset="0"/>
                <a:ea typeface="+mn-ea"/>
                <a:cs typeface="Arial" pitchFamily="34" charset="0"/>
              </a:rPr>
              <a:t>organización</a:t>
            </a:r>
            <a:r>
              <a:rPr lang="es-ES" sz="1000" kern="1200" dirty="0">
                <a:solidFill>
                  <a:schemeClr val="tx1"/>
                </a:solidFill>
                <a:effectLst/>
                <a:latin typeface="Arial" pitchFamily="34" charset="0"/>
                <a:ea typeface="+mn-ea"/>
                <a:cs typeface="Arial" pitchFamily="34" charset="0"/>
              </a:rPr>
              <a:t>, que tiene varias acepciones; </a:t>
            </a:r>
            <a:r>
              <a:rPr lang="es-ES" sz="1000" b="1" kern="1200" dirty="0">
                <a:solidFill>
                  <a:schemeClr val="tx1"/>
                </a:solidFill>
                <a:effectLst/>
                <a:latin typeface="Arial" pitchFamily="34" charset="0"/>
                <a:ea typeface="+mn-ea"/>
                <a:cs typeface="Arial" pitchFamily="34" charset="0"/>
              </a:rPr>
              <a:t>organizar</a:t>
            </a:r>
            <a:r>
              <a:rPr lang="es-ES" sz="1000" kern="1200" dirty="0">
                <a:solidFill>
                  <a:schemeClr val="tx1"/>
                </a:solidFill>
                <a:effectLst/>
                <a:latin typeface="Arial" pitchFamily="34" charset="0"/>
                <a:ea typeface="+mn-ea"/>
                <a:cs typeface="Arial" pitchFamily="34" charset="0"/>
              </a:rPr>
              <a:t> es una función del proceso directivo, y como tal, consiste en diseñar la estructura de la organización, entendida ahora como todo grupo humano (o unidad social) deliberadamente construido para alcanzar fines específicos. </a:t>
            </a:r>
          </a:p>
          <a:p>
            <a:r>
              <a:rPr lang="es-ES" sz="1000" kern="1200" dirty="0">
                <a:solidFill>
                  <a:schemeClr val="tx1"/>
                </a:solidFill>
                <a:effectLst/>
                <a:latin typeface="Arial" pitchFamily="34" charset="0"/>
                <a:ea typeface="+mn-ea"/>
                <a:cs typeface="Arial" pitchFamily="34" charset="0"/>
              </a:rPr>
              <a:t>Por último, el término </a:t>
            </a:r>
            <a:r>
              <a:rPr lang="es-ES" sz="1000" b="1" i="1" kern="1200" dirty="0">
                <a:solidFill>
                  <a:schemeClr val="tx1"/>
                </a:solidFill>
                <a:effectLst/>
                <a:latin typeface="Arial" pitchFamily="34" charset="0"/>
                <a:ea typeface="+mn-ea"/>
                <a:cs typeface="Arial" pitchFamily="34" charset="0"/>
              </a:rPr>
              <a:t>control</a:t>
            </a:r>
            <a:r>
              <a:rPr lang="es-ES" sz="1000" kern="1200" dirty="0">
                <a:solidFill>
                  <a:schemeClr val="tx1"/>
                </a:solidFill>
                <a:effectLst/>
                <a:latin typeface="Arial" pitchFamily="34" charset="0"/>
                <a:ea typeface="+mn-ea"/>
                <a:cs typeface="Arial" pitchFamily="34" charset="0"/>
              </a:rPr>
              <a:t> también plantea algunos problemas a los españoles, para quienes el control supone vigilancia, incluso castigo. No es ésta la acepción que se utiliza cuando se habla del control como fase del proceso directivo, donde se le identifica como </a:t>
            </a:r>
            <a:r>
              <a:rPr lang="es-ES" sz="1000" u="sng" kern="1200" dirty="0">
                <a:solidFill>
                  <a:schemeClr val="tx1"/>
                </a:solidFill>
                <a:effectLst/>
                <a:latin typeface="Arial" pitchFamily="34" charset="0"/>
                <a:ea typeface="+mn-ea"/>
                <a:cs typeface="Arial" pitchFamily="34" charset="0"/>
              </a:rPr>
              <a:t>verificación</a:t>
            </a:r>
            <a:r>
              <a:rPr lang="es-ES" sz="1000" kern="1200" dirty="0">
                <a:solidFill>
                  <a:schemeClr val="tx1"/>
                </a:solidFill>
                <a:effectLst/>
                <a:latin typeface="Arial" pitchFamily="34" charset="0"/>
                <a:ea typeface="+mn-ea"/>
                <a:cs typeface="Arial" pitchFamily="34" charset="0"/>
              </a:rPr>
              <a:t>. </a:t>
            </a:r>
          </a:p>
          <a:p>
            <a:r>
              <a:rPr lang="es-ES" sz="1000" kern="1200" dirty="0">
                <a:solidFill>
                  <a:schemeClr val="tx1"/>
                </a:solidFill>
                <a:effectLst/>
                <a:latin typeface="Arial" pitchFamily="34" charset="0"/>
                <a:ea typeface="+mn-ea"/>
                <a:cs typeface="Arial" pitchFamily="34" charset="0"/>
              </a:rPr>
              <a:t>Fuente: Cuervo (2008, pág. 145).</a:t>
            </a:r>
          </a:p>
          <a:p>
            <a:pPr marL="88900" lvl="0" indent="-25400" algn="just">
              <a:lnSpc>
                <a:spcPct val="80000"/>
              </a:lnSpc>
              <a:spcBef>
                <a:spcPct val="20000"/>
              </a:spcBef>
            </a:pPr>
            <a:endParaRPr lang="es-ES" sz="1000" b="1" kern="0" dirty="0">
              <a:latin typeface="Arial" panose="020B0604020202020204" pitchFamily="34" charset="0"/>
              <a:cs typeface="Arial" panose="020B0604020202020204" pitchFamily="34" charset="0"/>
            </a:endParaRPr>
          </a:p>
          <a:p>
            <a:pPr marL="88900" lvl="0" indent="-25400" algn="just">
              <a:lnSpc>
                <a:spcPct val="80000"/>
              </a:lnSpc>
              <a:spcBef>
                <a:spcPct val="20000"/>
              </a:spcBef>
            </a:pPr>
            <a:r>
              <a:rPr lang="es-ES" sz="1000" b="1" kern="0" dirty="0">
                <a:latin typeface="Arial" panose="020B0604020202020204" pitchFamily="34" charset="0"/>
                <a:cs typeface="Arial" panose="020B0604020202020204" pitchFamily="34" charset="0"/>
              </a:rPr>
              <a:t>DIRECCIÓN COMO FUNCIÓN BÁSICA DE ADMINISTRACIÓN:</a:t>
            </a:r>
          </a:p>
          <a:p>
            <a:r>
              <a:rPr lang="es-ES" sz="1000" kern="1200" dirty="0">
                <a:solidFill>
                  <a:schemeClr val="tx1"/>
                </a:solidFill>
                <a:effectLst/>
                <a:latin typeface="Arial" pitchFamily="34" charset="0"/>
                <a:ea typeface="+mn-ea"/>
                <a:cs typeface="Arial" pitchFamily="34" charset="0"/>
              </a:rPr>
              <a:t>Fayol, con la Dirección como función básica de administración, hace referencia a que todos los directivos a cualquier nivel toman decisiones que involucran y tienen que ver con personas.</a:t>
            </a:r>
          </a:p>
          <a:p>
            <a:r>
              <a:rPr lang="es-ES" sz="1000" kern="1200" dirty="0">
                <a:solidFill>
                  <a:schemeClr val="tx1"/>
                </a:solidFill>
                <a:effectLst/>
                <a:latin typeface="Arial" pitchFamily="34" charset="0"/>
                <a:ea typeface="+mn-ea"/>
                <a:cs typeface="Arial" pitchFamily="34" charset="0"/>
                <a:sym typeface="Wingdings" panose="05000000000000000000" pitchFamily="2" charset="2"/>
              </a:rPr>
              <a:t>     </a:t>
            </a:r>
            <a:r>
              <a:rPr lang="es-ES" sz="1000" kern="1200" dirty="0">
                <a:solidFill>
                  <a:schemeClr val="tx1"/>
                </a:solidFill>
                <a:effectLst/>
                <a:latin typeface="Arial" pitchFamily="34" charset="0"/>
                <a:ea typeface="+mn-ea"/>
                <a:cs typeface="Arial" pitchFamily="34" charset="0"/>
              </a:rPr>
              <a:t> Veremos después de forma más detallada la Dirección de RRHH al ser la parte de las organizaciones más relacionada con las personas.</a:t>
            </a:r>
          </a:p>
          <a:p>
            <a:pPr marL="88900" lvl="0" indent="-25400" algn="just">
              <a:lnSpc>
                <a:spcPct val="80000"/>
              </a:lnSpc>
              <a:spcBef>
                <a:spcPct val="20000"/>
              </a:spcBef>
            </a:pPr>
            <a:endParaRPr lang="es-ES" sz="1000" kern="0" dirty="0">
              <a:latin typeface="Arial" panose="020B0604020202020204" pitchFamily="34" charset="0"/>
              <a:cs typeface="Arial" panose="020B0604020202020204" pitchFamily="34" charset="0"/>
            </a:endParaRPr>
          </a:p>
          <a:p>
            <a:pPr marL="88900" lvl="0" indent="-25400" algn="just">
              <a:lnSpc>
                <a:spcPct val="80000"/>
              </a:lnSpc>
              <a:spcBef>
                <a:spcPct val="20000"/>
              </a:spcBef>
            </a:pPr>
            <a:r>
              <a:rPr lang="es-ES" sz="1000" kern="0" dirty="0">
                <a:latin typeface="Arial" panose="020B0604020202020204" pitchFamily="34" charset="0"/>
                <a:cs typeface="Arial" panose="020B0604020202020204" pitchFamily="34" charset="0"/>
              </a:rPr>
              <a:t>Dirigir consiste en guiar las acciones de la organización de manera que pueda alcanzar los objetivos establecidos </a:t>
            </a:r>
            <a:r>
              <a:rPr lang="es-ES" sz="1000" kern="0" dirty="0">
                <a:latin typeface="Arial" panose="020B0604020202020204" pitchFamily="34" charset="0"/>
                <a:cs typeface="Arial" panose="020B0604020202020204" pitchFamily="34" charset="0"/>
                <a:sym typeface="Wingdings" pitchFamily="2" charset="2"/>
              </a:rPr>
              <a:t> necesario:</a:t>
            </a:r>
          </a:p>
          <a:p>
            <a:pPr marL="546100" lvl="1" indent="-25400" algn="just">
              <a:lnSpc>
                <a:spcPct val="80000"/>
              </a:lnSpc>
              <a:spcBef>
                <a:spcPct val="20000"/>
              </a:spcBef>
              <a:buClr>
                <a:srgbClr val="C00000"/>
              </a:buClr>
              <a:buFont typeface="Wingdings" pitchFamily="2" charset="2"/>
              <a:buChar char="ü"/>
            </a:pPr>
            <a:r>
              <a:rPr lang="es-ES" sz="1000" kern="0" dirty="0">
                <a:latin typeface="Arial" panose="020B0604020202020204" pitchFamily="34" charset="0"/>
                <a:cs typeface="Arial" panose="020B0604020202020204" pitchFamily="34" charset="0"/>
                <a:sym typeface="Wingdings" pitchFamily="2" charset="2"/>
              </a:rPr>
              <a:t> Coordinar los medios y actividades</a:t>
            </a:r>
          </a:p>
          <a:p>
            <a:pPr marL="546100" lvl="1" indent="-25400" algn="just">
              <a:lnSpc>
                <a:spcPct val="80000"/>
              </a:lnSpc>
              <a:spcBef>
                <a:spcPct val="20000"/>
              </a:spcBef>
              <a:buClr>
                <a:srgbClr val="C00000"/>
              </a:buClr>
              <a:buFont typeface="Wingdings" pitchFamily="2" charset="2"/>
              <a:buChar char="ü"/>
            </a:pPr>
            <a:r>
              <a:rPr lang="es-ES" sz="1000" kern="0" dirty="0">
                <a:latin typeface="Arial" panose="020B0604020202020204" pitchFamily="34" charset="0"/>
                <a:cs typeface="Arial" panose="020B0604020202020204" pitchFamily="34" charset="0"/>
                <a:sym typeface="Wingdings" pitchFamily="2" charset="2"/>
              </a:rPr>
              <a:t> Liderar y motivar a los subordinados</a:t>
            </a:r>
            <a:endParaRPr lang="es-ES" sz="1000" kern="0" dirty="0">
              <a:latin typeface="Arial" panose="020B0604020202020204" pitchFamily="34" charset="0"/>
              <a:cs typeface="Arial" panose="020B0604020202020204" pitchFamily="34" charset="0"/>
            </a:endParaRPr>
          </a:p>
          <a:p>
            <a:endParaRPr lang="es-ES" sz="1000" dirty="0">
              <a:latin typeface="Arial" panose="020B0604020202020204" pitchFamily="34" charset="0"/>
              <a:cs typeface="Arial" panose="020B0604020202020204" pitchFamily="34"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s-ES" sz="1000" kern="1200" dirty="0">
                <a:solidFill>
                  <a:schemeClr val="tx1"/>
                </a:solidFill>
                <a:latin typeface="Arial" pitchFamily="34" charset="0"/>
                <a:ea typeface="+mn-ea"/>
                <a:cs typeface="Arial" pitchFamily="34" charset="0"/>
              </a:rPr>
              <a:t>https://excelencemanagement.wordpress.com/motivacion-y-liderazgo/</a:t>
            </a:r>
          </a:p>
          <a:p>
            <a:pPr algn="just"/>
            <a:endParaRPr lang="es-ES" sz="1000" b="1" kern="1200" dirty="0">
              <a:solidFill>
                <a:schemeClr val="tx1"/>
              </a:solidFill>
              <a:latin typeface="Arial" pitchFamily="34" charset="0"/>
              <a:ea typeface="+mn-ea"/>
              <a:cs typeface="Arial" pitchFamily="34" charset="0"/>
            </a:endParaRPr>
          </a:p>
          <a:p>
            <a:pPr algn="just"/>
            <a:r>
              <a:rPr lang="es-ES" sz="1000" b="1" kern="1200" dirty="0">
                <a:solidFill>
                  <a:schemeClr val="tx1"/>
                </a:solidFill>
                <a:latin typeface="Arial" pitchFamily="34" charset="0"/>
                <a:ea typeface="+mn-ea"/>
                <a:cs typeface="Arial" pitchFamily="34" charset="0"/>
              </a:rPr>
              <a:t>Motivación y Liderazgo</a:t>
            </a:r>
            <a:r>
              <a:rPr lang="es-ES" sz="1000" kern="1200" dirty="0">
                <a:solidFill>
                  <a:schemeClr val="tx1"/>
                </a:solidFill>
                <a:latin typeface="Arial" pitchFamily="34" charset="0"/>
                <a:ea typeface="+mn-ea"/>
                <a:cs typeface="Arial" pitchFamily="34" charset="0"/>
              </a:rPr>
              <a:t> son dos partes esenciales de una de las principales tareas de un directivo (equipo y tiempo), la de crear el equipo humano para conseguir que los objetivos de su empresa se cumplan.</a:t>
            </a:r>
          </a:p>
          <a:p>
            <a:pPr algn="just"/>
            <a:endParaRPr lang="es-ES" sz="1000" kern="1200" dirty="0">
              <a:solidFill>
                <a:schemeClr val="tx1"/>
              </a:solidFill>
              <a:latin typeface="Arial" pitchFamily="34" charset="0"/>
              <a:ea typeface="+mn-ea"/>
              <a:cs typeface="Arial" pitchFamily="34" charset="0"/>
            </a:endParaRPr>
          </a:p>
          <a:p>
            <a:pPr algn="just"/>
            <a:r>
              <a:rPr lang="es-ES" sz="1000" kern="1200" dirty="0">
                <a:solidFill>
                  <a:schemeClr val="tx1"/>
                </a:solidFill>
                <a:latin typeface="Arial" pitchFamily="34" charset="0"/>
                <a:ea typeface="+mn-ea"/>
                <a:cs typeface="Arial" pitchFamily="34" charset="0"/>
              </a:rPr>
              <a:t>Según Jack </a:t>
            </a:r>
            <a:r>
              <a:rPr lang="es-ES" sz="1000" kern="1200" dirty="0" err="1">
                <a:solidFill>
                  <a:schemeClr val="tx1"/>
                </a:solidFill>
                <a:latin typeface="Arial" pitchFamily="34" charset="0"/>
                <a:ea typeface="+mn-ea"/>
                <a:cs typeface="Arial" pitchFamily="34" charset="0"/>
              </a:rPr>
              <a:t>Welch</a:t>
            </a:r>
            <a:r>
              <a:rPr lang="es-ES" sz="1000" kern="1200" dirty="0">
                <a:solidFill>
                  <a:schemeClr val="tx1"/>
                </a:solidFill>
                <a:latin typeface="Arial" pitchFamily="34" charset="0"/>
                <a:ea typeface="+mn-ea"/>
                <a:cs typeface="Arial" pitchFamily="34" charset="0"/>
              </a:rPr>
              <a:t> “</a:t>
            </a:r>
            <a:r>
              <a:rPr lang="es-ES" sz="1000" i="1" kern="1200" dirty="0">
                <a:solidFill>
                  <a:schemeClr val="tx1"/>
                </a:solidFill>
                <a:latin typeface="Arial" pitchFamily="34" charset="0"/>
                <a:ea typeface="+mn-ea"/>
                <a:cs typeface="Arial" pitchFamily="34" charset="0"/>
              </a:rPr>
              <a:t>Un líder debe conocer a sus tropas, tratarlos como colegas, estar en el campo de batalla junto a su equipo, entender como su gente los retos y obstáculos que confrontan.”</a:t>
            </a:r>
            <a:r>
              <a:rPr lang="es-ES" sz="1000" kern="1200" dirty="0">
                <a:solidFill>
                  <a:schemeClr val="tx1"/>
                </a:solidFill>
                <a:latin typeface="Arial" pitchFamily="34" charset="0"/>
                <a:ea typeface="+mn-ea"/>
                <a:cs typeface="Arial" pitchFamily="34" charset="0"/>
              </a:rPr>
              <a:t> </a:t>
            </a:r>
          </a:p>
          <a:p>
            <a:pPr algn="just"/>
            <a:endParaRPr lang="es-ES" sz="1000" kern="1200" dirty="0">
              <a:solidFill>
                <a:schemeClr val="tx1"/>
              </a:solidFill>
              <a:latin typeface="Arial" pitchFamily="34" charset="0"/>
              <a:ea typeface="+mn-ea"/>
              <a:cs typeface="Arial" pitchFamily="34" charset="0"/>
            </a:endParaRPr>
          </a:p>
          <a:p>
            <a:pPr algn="just"/>
            <a:r>
              <a:rPr lang="es-ES" sz="1000" kern="1200" dirty="0">
                <a:solidFill>
                  <a:schemeClr val="tx1"/>
                </a:solidFill>
                <a:latin typeface="Arial" pitchFamily="34" charset="0"/>
                <a:ea typeface="+mn-ea"/>
                <a:cs typeface="Arial" pitchFamily="34" charset="0"/>
              </a:rPr>
              <a:t>La finalidad principal es la de pensar que una empresa con trabajadores motivados es una empresa con mejores rendimientos en lo que a recursos humanos se refiere. Posiblemente esos mejores resultados en los recursos humanos se transformarán en unos mejores resultados en otros ámbitos de la empresa, que pueden tener, cara al directivo, una mayor importancia.</a:t>
            </a:r>
            <a:endParaRPr lang="es-ES" dirty="0"/>
          </a:p>
          <a:p>
            <a:endParaRPr lang="es-ES" dirty="0"/>
          </a:p>
          <a:p>
            <a:endParaRPr lang="es-ES" sz="1000" kern="1200" baseline="0" dirty="0">
              <a:solidFill>
                <a:schemeClr val="tx1"/>
              </a:solidFill>
              <a:latin typeface="Arial" pitchFamily="34" charset="0"/>
              <a:ea typeface="+mn-ea"/>
              <a:cs typeface="Arial" pitchFamily="34" charset="0"/>
            </a:endParaRPr>
          </a:p>
          <a:p>
            <a:endParaRPr lang="es-ES" dirty="0"/>
          </a:p>
          <a:p>
            <a:pPr algn="just"/>
            <a:endParaRPr lang="es-ES" dirty="0"/>
          </a:p>
        </p:txBody>
      </p:sp>
      <p:sp>
        <p:nvSpPr>
          <p:cNvPr id="4" name="3 Marcador de número de diapositiva"/>
          <p:cNvSpPr>
            <a:spLocks noGrp="1"/>
          </p:cNvSpPr>
          <p:nvPr>
            <p:ph type="sldNum" sz="quarter" idx="10"/>
          </p:nvPr>
        </p:nvSpPr>
        <p:spPr/>
        <p:txBody>
          <a:bodyPr/>
          <a:lstStyle/>
          <a:p>
            <a:pPr>
              <a:defRPr/>
            </a:pPr>
            <a:fld id="{3514CA29-BFD1-4AA3-A682-789E844EB009}" type="slidenum">
              <a:rPr lang="es-ES" smtClean="0"/>
              <a:pPr>
                <a:defRPr/>
              </a:pPr>
              <a:t>49</a:t>
            </a:fld>
            <a:endParaRPr lang="es-E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9699" name="2 Marcador de notas"/>
          <p:cNvSpPr>
            <a:spLocks noGrp="1"/>
          </p:cNvSpPr>
          <p:nvPr>
            <p:ph type="body" idx="1"/>
          </p:nvPr>
        </p:nvSpPr>
        <p:spPr bwMode="auto">
          <a:noFill/>
        </p:spPr>
        <p:txBody>
          <a:bodyPr wrap="square" numCol="1" anchor="t" anchorCtr="0" compatLnSpc="1">
            <a:prstTxWarp prst="textNoShape">
              <a:avLst/>
            </a:prstTxWarp>
            <a:normAutofit fontScale="47500" lnSpcReduction="20000"/>
          </a:bodyPr>
          <a:lstStyle/>
          <a:p>
            <a:pPr eaLnBrk="1" hangingPunct="1">
              <a:spcBef>
                <a:spcPct val="0"/>
              </a:spcBef>
            </a:pPr>
            <a:r>
              <a:rPr lang="es-ES" dirty="0"/>
              <a:t>Podemos definir esta función como un proceso integrado por diversas actividades encaminadas a obtener y coordinar los recursos humanos de la organización. Desde este punto de vista, puede definirse como</a:t>
            </a:r>
            <a:r>
              <a:rPr lang="es-ES" baseline="0" dirty="0"/>
              <a:t> el proceso por el que una organización mantiene ocupados, por personal idóneo y de forma continuada, todos sus puestos de trabajo.</a:t>
            </a:r>
          </a:p>
          <a:p>
            <a:pPr eaLnBrk="1" hangingPunct="1">
              <a:spcBef>
                <a:spcPct val="0"/>
              </a:spcBef>
            </a:pPr>
            <a:endParaRPr lang="es-ES" baseline="0" dirty="0"/>
          </a:p>
          <a:p>
            <a:r>
              <a:rPr lang="es-ES" dirty="0"/>
              <a:t>Libro de Robbins:</a:t>
            </a:r>
          </a:p>
          <a:p>
            <a:endParaRPr lang="es-ES" dirty="0"/>
          </a:p>
          <a:p>
            <a:r>
              <a:rPr lang="es-ES" sz="1000" kern="1200" baseline="0" dirty="0">
                <a:solidFill>
                  <a:schemeClr val="tx1"/>
                </a:solidFill>
                <a:latin typeface="Arial" pitchFamily="34" charset="0"/>
                <a:ea typeface="+mn-ea"/>
                <a:cs typeface="Arial" pitchFamily="34" charset="0"/>
              </a:rPr>
              <a:t>Una vez definida la estructura de una organización, es hora de encontrar a la gente que ocupará los puestos que se crearon. Aquí es donde entra la administración de recursos humanos. Se trata de una importante tarea que tiene que ver con conseguir el número correcto de personas adecuadas en el lugar apropiado y en el momento oportuno.</a:t>
            </a:r>
          </a:p>
          <a:p>
            <a:endParaRPr lang="es-ES" dirty="0"/>
          </a:p>
          <a:p>
            <a:r>
              <a:rPr lang="es-ES" dirty="0"/>
              <a:t>Razones por las que la Administración de Recursos</a:t>
            </a:r>
            <a:r>
              <a:rPr lang="es-ES" baseline="0" dirty="0"/>
              <a:t> Humanos es importante:</a:t>
            </a:r>
          </a:p>
          <a:p>
            <a:endParaRPr lang="es-ES" sz="1000" kern="1200" baseline="0" dirty="0">
              <a:solidFill>
                <a:schemeClr val="tx1"/>
              </a:solidFill>
              <a:latin typeface="Arial" pitchFamily="34" charset="0"/>
              <a:ea typeface="+mn-ea"/>
              <a:cs typeface="Arial" pitchFamily="34" charset="0"/>
            </a:endParaRP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Primera, puede ser una </a:t>
            </a:r>
            <a:r>
              <a:rPr lang="es-ES" sz="1000" b="1" kern="1200" baseline="0" dirty="0">
                <a:solidFill>
                  <a:schemeClr val="tx1"/>
                </a:solidFill>
                <a:latin typeface="Arial" pitchFamily="34" charset="0"/>
                <a:ea typeface="+mn-ea"/>
                <a:cs typeface="Arial" pitchFamily="34" charset="0"/>
              </a:rPr>
              <a:t>importante fuente de ventajas competitivas</a:t>
            </a:r>
            <a:r>
              <a:rPr lang="es-ES" sz="1000" kern="1200" baseline="0" dirty="0">
                <a:solidFill>
                  <a:schemeClr val="tx1"/>
                </a:solidFill>
                <a:latin typeface="Arial" pitchFamily="34" charset="0"/>
                <a:ea typeface="+mn-ea"/>
                <a:cs typeface="Arial" pitchFamily="34" charset="0"/>
              </a:rPr>
              <a:t>, como se ha concluido en varios estudios. Y esto es cierto para organizaciones de todo el mundo, no solamente de Estados Unidas. El Human Capital </a:t>
            </a:r>
            <a:r>
              <a:rPr lang="es-ES" sz="1000" kern="1200" baseline="0" dirty="0" err="1">
                <a:solidFill>
                  <a:schemeClr val="tx1"/>
                </a:solidFill>
                <a:latin typeface="Arial" pitchFamily="34" charset="0"/>
                <a:ea typeface="+mn-ea"/>
                <a:cs typeface="Arial" pitchFamily="34" charset="0"/>
              </a:rPr>
              <a:t>Index</a:t>
            </a:r>
            <a:r>
              <a:rPr lang="es-ES" sz="1000" kern="1200" baseline="0" dirty="0">
                <a:solidFill>
                  <a:schemeClr val="tx1"/>
                </a:solidFill>
                <a:latin typeface="Arial" pitchFamily="34" charset="0"/>
                <a:ea typeface="+mn-ea"/>
                <a:cs typeface="Arial" pitchFamily="34" charset="0"/>
              </a:rPr>
              <a:t>, un estudio integral de más de 2,000 compañías globales, concluyó que los departamentos de RH orientados a la gente generan un valor para la organización al crear un valor superior a los accionistas.</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Segundo, la administración de recursos humanos </a:t>
            </a:r>
            <a:r>
              <a:rPr lang="es-ES" sz="1000" b="1" kern="1200" baseline="0" dirty="0">
                <a:solidFill>
                  <a:schemeClr val="tx1"/>
                </a:solidFill>
                <a:latin typeface="Arial" pitchFamily="34" charset="0"/>
                <a:ea typeface="+mn-ea"/>
                <a:cs typeface="Arial" pitchFamily="34" charset="0"/>
              </a:rPr>
              <a:t>es una parte importante de las estrategias de la organización</a:t>
            </a:r>
            <a:r>
              <a:rPr lang="es-ES" sz="1000" kern="1200" baseline="0" dirty="0">
                <a:solidFill>
                  <a:schemeClr val="tx1"/>
                </a:solidFill>
                <a:latin typeface="Arial" pitchFamily="34" charset="0"/>
                <a:ea typeface="+mn-ea"/>
                <a:cs typeface="Arial" pitchFamily="34" charset="0"/>
              </a:rPr>
              <a:t>. Lograr un éxito competitivo a través de la gente significa que los gerentes deben modificar su manera de pensar con respecto a sus empleados y a la forma en que ven la relación de trabajo. Deben trabajar con las personas y tratarlas como compañeros, no solamente como costos a eliminar o reducir. Esto es lo que hacen las organizaciones orientadas a la gente, como </a:t>
            </a:r>
            <a:r>
              <a:rPr lang="es-ES" sz="1000" kern="1200" baseline="0" dirty="0" err="1">
                <a:solidFill>
                  <a:schemeClr val="tx1"/>
                </a:solidFill>
                <a:latin typeface="Arial" pitchFamily="34" charset="0"/>
                <a:ea typeface="+mn-ea"/>
                <a:cs typeface="Arial" pitchFamily="34" charset="0"/>
              </a:rPr>
              <a:t>Southwest</a:t>
            </a:r>
            <a:r>
              <a:rPr lang="es-ES" sz="1000" kern="1200" baseline="0" dirty="0">
                <a:solidFill>
                  <a:schemeClr val="tx1"/>
                </a:solidFill>
                <a:latin typeface="Arial" pitchFamily="34" charset="0"/>
                <a:ea typeface="+mn-ea"/>
                <a:cs typeface="Arial" pitchFamily="34" charset="0"/>
              </a:rPr>
              <a:t> Airlines y W.L. Gore. </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Por último, se ha descubierto que </a:t>
            </a:r>
            <a:r>
              <a:rPr lang="es-ES" sz="1000" b="1" kern="1200" baseline="0" dirty="0">
                <a:solidFill>
                  <a:schemeClr val="tx1"/>
                </a:solidFill>
                <a:latin typeface="Arial" pitchFamily="34" charset="0"/>
                <a:ea typeface="+mn-ea"/>
                <a:cs typeface="Arial" pitchFamily="34" charset="0"/>
              </a:rPr>
              <a:t>la manera en que una organización trata a su gente afecta en gran manera su desempeño</a:t>
            </a:r>
            <a:r>
              <a:rPr lang="es-ES" sz="1000" kern="1200" baseline="0" dirty="0">
                <a:solidFill>
                  <a:schemeClr val="tx1"/>
                </a:solidFill>
                <a:latin typeface="Arial" pitchFamily="34" charset="0"/>
                <a:ea typeface="+mn-ea"/>
                <a:cs typeface="Arial" pitchFamily="34" charset="0"/>
              </a:rPr>
              <a:t>. Por ejemplo, un estudio reportó que al mejorar significativamente las prácticas laborales se podía incrementar el valor de mercado hasta 30 por ciento. Otro estudio que dio seguimiento al promedio de recuperación anual de las acciones de las compañías en la lista de "100 </a:t>
            </a:r>
            <a:r>
              <a:rPr lang="es-ES" sz="1000" kern="1200" baseline="0" dirty="0" err="1">
                <a:solidFill>
                  <a:schemeClr val="tx1"/>
                </a:solidFill>
                <a:latin typeface="Arial" pitchFamily="34" charset="0"/>
                <a:ea typeface="+mn-ea"/>
                <a:cs typeface="Arial" pitchFamily="34" charset="0"/>
              </a:rPr>
              <a:t>Best</a:t>
            </a:r>
            <a:r>
              <a:rPr lang="es-ES" sz="1000" kern="1200" baseline="0" dirty="0">
                <a:solidFill>
                  <a:schemeClr val="tx1"/>
                </a:solidFill>
                <a:latin typeface="Arial" pitchFamily="34" charset="0"/>
                <a:ea typeface="+mn-ea"/>
                <a:cs typeface="Arial" pitchFamily="34" charset="0"/>
              </a:rPr>
              <a:t> </a:t>
            </a:r>
            <a:r>
              <a:rPr lang="es-ES" sz="1000" kern="1200" baseline="0" dirty="0" err="1">
                <a:solidFill>
                  <a:schemeClr val="tx1"/>
                </a:solidFill>
                <a:latin typeface="Arial" pitchFamily="34" charset="0"/>
                <a:ea typeface="+mn-ea"/>
                <a:cs typeface="Arial" pitchFamily="34" charset="0"/>
              </a:rPr>
              <a:t>Companies</a:t>
            </a:r>
            <a:r>
              <a:rPr lang="es-ES" sz="1000" kern="1200" baseline="0" dirty="0">
                <a:solidFill>
                  <a:schemeClr val="tx1"/>
                </a:solidFill>
                <a:latin typeface="Arial" pitchFamily="34" charset="0"/>
                <a:ea typeface="+mn-ea"/>
                <a:cs typeface="Arial" pitchFamily="34" charset="0"/>
              </a:rPr>
              <a:t> to </a:t>
            </a:r>
            <a:r>
              <a:rPr lang="es-ES" sz="1000" kern="1200" baseline="0" dirty="0" err="1">
                <a:solidFill>
                  <a:schemeClr val="tx1"/>
                </a:solidFill>
                <a:latin typeface="Arial" pitchFamily="34" charset="0"/>
                <a:ea typeface="+mn-ea"/>
                <a:cs typeface="Arial" pitchFamily="34" charset="0"/>
              </a:rPr>
              <a:t>Work</a:t>
            </a:r>
            <a:r>
              <a:rPr lang="es-ES" sz="1000" kern="1200" baseline="0" dirty="0">
                <a:solidFill>
                  <a:schemeClr val="tx1"/>
                </a:solidFill>
                <a:latin typeface="Arial" pitchFamily="34" charset="0"/>
                <a:ea typeface="+mn-ea"/>
                <a:cs typeface="Arial" pitchFamily="34" charset="0"/>
              </a:rPr>
              <a:t> </a:t>
            </a:r>
            <a:r>
              <a:rPr lang="es-ES" sz="1000" kern="1200" baseline="0" dirty="0" err="1">
                <a:solidFill>
                  <a:schemeClr val="tx1"/>
                </a:solidFill>
                <a:latin typeface="Arial" pitchFamily="34" charset="0"/>
                <a:ea typeface="+mn-ea"/>
                <a:cs typeface="Arial" pitchFamily="34" charset="0"/>
              </a:rPr>
              <a:t>For</a:t>
            </a:r>
            <a:r>
              <a:rPr lang="es-ES" sz="1000" kern="1200" baseline="0" dirty="0">
                <a:solidFill>
                  <a:schemeClr val="tx1"/>
                </a:solidFill>
                <a:latin typeface="Arial" pitchFamily="34" charset="0"/>
                <a:ea typeface="+mn-ea"/>
                <a:cs typeface="Arial" pitchFamily="34" charset="0"/>
              </a:rPr>
              <a:t>" de </a:t>
            </a:r>
            <a:r>
              <a:rPr lang="es-ES" sz="1000" i="1" kern="1200" baseline="0" dirty="0" err="1">
                <a:solidFill>
                  <a:schemeClr val="tx1"/>
                </a:solidFill>
                <a:latin typeface="Arial" pitchFamily="34" charset="0"/>
                <a:ea typeface="+mn-ea"/>
                <a:cs typeface="Arial" pitchFamily="34" charset="0"/>
              </a:rPr>
              <a:t>Fortune</a:t>
            </a:r>
            <a:r>
              <a:rPr lang="es-ES" sz="1000" i="1" kern="1200" baseline="0" dirty="0">
                <a:solidFill>
                  <a:schemeClr val="tx1"/>
                </a:solidFill>
                <a:latin typeface="Arial" pitchFamily="34" charset="0"/>
                <a:ea typeface="+mn-ea"/>
                <a:cs typeface="Arial" pitchFamily="34" charset="0"/>
              </a:rPr>
              <a:t>, </a:t>
            </a:r>
            <a:r>
              <a:rPr lang="es-ES" sz="1000" i="0" kern="1200" baseline="0" dirty="0">
                <a:solidFill>
                  <a:schemeClr val="tx1"/>
                </a:solidFill>
                <a:latin typeface="Arial" pitchFamily="34" charset="0"/>
                <a:ea typeface="+mn-ea"/>
                <a:cs typeface="Arial" pitchFamily="34" charset="0"/>
              </a:rPr>
              <a:t>descubrió que </a:t>
            </a:r>
            <a:r>
              <a:rPr lang="es-ES" sz="1000" kern="1200" baseline="0" dirty="0">
                <a:solidFill>
                  <a:schemeClr val="tx1"/>
                </a:solidFill>
                <a:latin typeface="Arial" pitchFamily="34" charset="0"/>
                <a:ea typeface="+mn-ea"/>
                <a:cs typeface="Arial" pitchFamily="34" charset="0"/>
              </a:rPr>
              <a:t>estas compañías superaban el S&amp;P 500 en periodos de 10, 5, 3 y 1 año. A las prácticas laborales que llevaron a mejorar tanto el desempeño laboral individual como organizacional se les conoce como </a:t>
            </a:r>
            <a:r>
              <a:rPr lang="es-ES" sz="1000" b="1" kern="1200" baseline="0" dirty="0">
                <a:solidFill>
                  <a:schemeClr val="tx1"/>
                </a:solidFill>
                <a:latin typeface="Arial" pitchFamily="34" charset="0"/>
                <a:ea typeface="+mn-ea"/>
                <a:cs typeface="Arial" pitchFamily="34" charset="0"/>
              </a:rPr>
              <a:t>prácticas laborales de alto rendimiento </a:t>
            </a:r>
            <a:r>
              <a:rPr lang="es-ES" sz="1000" b="0" kern="1200" baseline="0" dirty="0">
                <a:solidFill>
                  <a:schemeClr val="tx1"/>
                </a:solidFill>
                <a:latin typeface="Arial" pitchFamily="34" charset="0"/>
                <a:ea typeface="+mn-ea"/>
                <a:cs typeface="Arial" pitchFamily="34" charset="0"/>
              </a:rPr>
              <a:t>(vea los ejemplos que aparecen en</a:t>
            </a:r>
            <a:r>
              <a:rPr lang="es-ES" sz="1000" b="1" kern="1200" baseline="0" dirty="0">
                <a:solidFill>
                  <a:schemeClr val="tx1"/>
                </a:solidFill>
                <a:latin typeface="Arial" pitchFamily="34" charset="0"/>
                <a:ea typeface="+mn-ea"/>
                <a:cs typeface="Arial" pitchFamily="34" charset="0"/>
              </a:rPr>
              <a:t> </a:t>
            </a:r>
            <a:r>
              <a:rPr lang="es-ES" sz="1000" kern="1200" baseline="0" dirty="0">
                <a:solidFill>
                  <a:schemeClr val="tx1"/>
                </a:solidFill>
                <a:latin typeface="Arial" pitchFamily="34" charset="0"/>
                <a:ea typeface="+mn-ea"/>
                <a:cs typeface="Arial" pitchFamily="34" charset="0"/>
              </a:rPr>
              <a:t>la figura 10-1). El denominador común entre estas prácticas parece ser un compromiso para mejorar el conocimiento, las habilidades y capacidades de los empleados de una organización; incrementar su motivación; disminuir la holgazanería en el trabajo y mejorar la retención de los empleados de calidad, así como promover que los de bajo desempeño se vayan.</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Incluso si una organización no utiliza prácticas laborales de alto rendimiento, existen actividades específicas en la administración de recursos humanos que se deben llevar a cabo para garantizar que la organización cuente con personal cualificado para realizar el trabajo que debe hacerse (actividades que comprenden el proceso de la administración de recursos humanos). La figura 10-2 muestra las ocho actividades de este proceso. Las primeras tres actividades aseguran la identificación y selección de los empleados competentes, las dos siguientes proporcionan a los empleados el conocimiento actualizado y las habilidades necesarias, y las tres últimas aseguran que la organización retenga a los empleados más competentes y de alta calidad. Antes de analizar detalladamente estas actividades, es necesario revisar los factores externos que afectan al proceso de la administración de recursos humanos.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Figura 10-2 Proceso de admón. de RRHH.</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Planeación</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Reclutamientos</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Selección</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Orientación</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Capacitación</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Manejo del desempeño</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Compensación y beneficios</a:t>
            </a:r>
          </a:p>
          <a:p>
            <a:pPr marL="228600" indent="-228600">
              <a:buFont typeface="+mj-lt"/>
              <a:buAutoNum type="arabicPeriod"/>
            </a:pPr>
            <a:r>
              <a:rPr lang="es-ES" sz="1000" kern="1200" baseline="0" dirty="0">
                <a:solidFill>
                  <a:schemeClr val="tx1"/>
                </a:solidFill>
                <a:latin typeface="Arial" pitchFamily="34" charset="0"/>
                <a:ea typeface="+mn-ea"/>
                <a:cs typeface="Arial" pitchFamily="34" charset="0"/>
              </a:rPr>
              <a:t>Desarrollo de carrera</a:t>
            </a:r>
          </a:p>
          <a:p>
            <a:pPr marL="228600" indent="-228600">
              <a:buFont typeface="+mj-lt"/>
              <a:buNone/>
            </a:pPr>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Figura 10-1 Prácticas laborales de alto rendimiento</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Equipos autodirigidos.</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Toma de decisiones descentralizada.</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Programas de capacitación para desarrollar conocimientos, habilidades y capacidades.</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Asignación flexible de posiciones,</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Comunicación abierta.</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Compensación basada en desempeño.</a:t>
            </a:r>
          </a:p>
          <a:p>
            <a:pPr>
              <a:buFont typeface="Arial" pitchFamily="34" charset="0"/>
              <a:buChar char="•"/>
            </a:pPr>
            <a:r>
              <a:rPr lang="es-ES" sz="1000" kern="1200" baseline="0" dirty="0">
                <a:solidFill>
                  <a:schemeClr val="tx1"/>
                </a:solidFill>
                <a:latin typeface="Arial" pitchFamily="34" charset="0"/>
                <a:ea typeface="+mn-ea"/>
                <a:cs typeface="Arial" pitchFamily="34" charset="0"/>
              </a:rPr>
              <a:t> Empleos basados en el perfil persona-trabajo y persona-organización.</a:t>
            </a:r>
            <a:endParaRPr lang="es-ES" dirty="0"/>
          </a:p>
        </p:txBody>
      </p:sp>
      <p:sp>
        <p:nvSpPr>
          <p:cNvPr id="35843"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1620A2F-6370-4446-A0D5-0C852A3205E3}" type="slidenum">
              <a:rPr lang="es-ES"/>
              <a:pPr fontAlgn="base">
                <a:spcBef>
                  <a:spcPct val="0"/>
                </a:spcBef>
                <a:spcAft>
                  <a:spcPct val="0"/>
                </a:spcAft>
                <a:defRPr/>
              </a:pPr>
              <a:t>50</a:t>
            </a:fld>
            <a:endParaRPr lang="es-E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a:defRPr/>
            </a:pPr>
            <a:fld id="{3514CA29-BFD1-4AA3-A682-789E844EB009}" type="slidenum">
              <a:rPr lang="es-ES" smtClean="0"/>
              <a:pPr>
                <a:defRPr/>
              </a:pPr>
              <a:t>51</a:t>
            </a:fld>
            <a:endParaRPr lang="es-ES"/>
          </a:p>
        </p:txBody>
      </p:sp>
    </p:spTree>
    <p:extLst>
      <p:ext uri="{BB962C8B-B14F-4D97-AF65-F5344CB8AC3E}">
        <p14:creationId xmlns:p14="http://schemas.microsoft.com/office/powerpoint/2010/main" val="16135921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379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a:p>
        </p:txBody>
      </p:sp>
      <p:sp>
        <p:nvSpPr>
          <p:cNvPr id="44035"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CDB85F5-0ECE-43FB-8749-E5A7B4B8BE7C}" type="slidenum">
              <a:rPr lang="es-ES"/>
              <a:pPr fontAlgn="base">
                <a:spcBef>
                  <a:spcPct val="0"/>
                </a:spcBef>
                <a:spcAft>
                  <a:spcPct val="0"/>
                </a:spcAft>
                <a:defRPr/>
              </a:pPr>
              <a:t>53</a:t>
            </a:fld>
            <a:endParaRPr lang="es-E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481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a:p>
        </p:txBody>
      </p:sp>
      <p:sp>
        <p:nvSpPr>
          <p:cNvPr id="46083"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59274D9-EA61-4AB8-BD8B-F5547AC5AD44}" type="slidenum">
              <a:rPr lang="es-ES"/>
              <a:pPr fontAlgn="base">
                <a:spcBef>
                  <a:spcPct val="0"/>
                </a:spcBef>
                <a:spcAft>
                  <a:spcPct val="0"/>
                </a:spcAft>
                <a:defRPr/>
              </a:pPr>
              <a:t>54</a:t>
            </a:fld>
            <a:endParaRPr lang="es-E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584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a:p>
        </p:txBody>
      </p:sp>
      <p:sp>
        <p:nvSpPr>
          <p:cNvPr id="48131"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CADC415-71F7-4CD3-96F8-F50099B4D855}" type="slidenum">
              <a:rPr lang="es-ES"/>
              <a:pPr fontAlgn="base">
                <a:spcBef>
                  <a:spcPct val="0"/>
                </a:spcBef>
                <a:spcAft>
                  <a:spcPct val="0"/>
                </a:spcAft>
                <a:defRPr/>
              </a:pPr>
              <a:t>56</a:t>
            </a:fld>
            <a:endParaRPr lang="es-E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789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ES"/>
          </a:p>
        </p:txBody>
      </p:sp>
      <p:sp>
        <p:nvSpPr>
          <p:cNvPr id="52227"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779AA58-F26D-45E8-A821-15F5BE3624D1}" type="slidenum">
              <a:rPr lang="es-ES"/>
              <a:pPr fontAlgn="base">
                <a:spcBef>
                  <a:spcPct val="0"/>
                </a:spcBef>
                <a:spcAft>
                  <a:spcPct val="0"/>
                </a:spcAft>
                <a:defRPr/>
              </a:pPr>
              <a:t>58</a:t>
            </a:fld>
            <a:endParaRPr lang="es-E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8915" name="2 Marcador de notas"/>
          <p:cNvSpPr>
            <a:spLocks noGrp="1"/>
          </p:cNvSpPr>
          <p:nvPr>
            <p:ph type="body" idx="1"/>
          </p:nvPr>
        </p:nvSpPr>
        <p:spPr bwMode="auto">
          <a:noFill/>
        </p:spPr>
        <p:txBody>
          <a:bodyPr wrap="square" numCol="1" anchor="t" anchorCtr="0" compatLnSpc="1">
            <a:prstTxWarp prst="textNoShape">
              <a:avLst/>
            </a:prstTxWarp>
            <a:normAutofit fontScale="77500" lnSpcReduction="20000"/>
          </a:bodyPr>
          <a:lstStyle/>
          <a:p>
            <a:pPr eaLnBrk="1" hangingPunct="1">
              <a:spcBef>
                <a:spcPct val="0"/>
              </a:spcBef>
            </a:pPr>
            <a:r>
              <a:rPr lang="es-ES" dirty="0"/>
              <a:t>Libro de </a:t>
            </a:r>
            <a:r>
              <a:rPr lang="es-ES" dirty="0" err="1"/>
              <a:t>Robbins</a:t>
            </a:r>
            <a:r>
              <a:rPr lang="es-ES" dirty="0"/>
              <a:t>:</a:t>
            </a:r>
          </a:p>
          <a:p>
            <a:pPr eaLnBrk="1" hangingPunct="1">
              <a:spcBef>
                <a:spcPct val="0"/>
              </a:spcBef>
            </a:pPr>
            <a:endParaRPr lang="es-ES" dirty="0"/>
          </a:p>
          <a:p>
            <a:pPr eaLnBrk="1" hangingPunct="1">
              <a:spcBef>
                <a:spcPct val="0"/>
              </a:spcBef>
            </a:pPr>
            <a:r>
              <a:rPr lang="es-ES" dirty="0"/>
              <a:t>Los controles apropiados pueden ayudar a detectar problemas en el desempeño y áreas de mejora.</a:t>
            </a:r>
          </a:p>
          <a:p>
            <a:pPr eaLnBrk="1" hangingPunct="1">
              <a:spcBef>
                <a:spcPct val="0"/>
              </a:spcBef>
            </a:pPr>
            <a:endParaRPr lang="es-ES" dirty="0"/>
          </a:p>
          <a:p>
            <a:r>
              <a:rPr lang="es-ES" sz="1000" kern="1200" baseline="0" dirty="0">
                <a:solidFill>
                  <a:schemeClr val="tx1"/>
                </a:solidFill>
                <a:latin typeface="Arial" pitchFamily="34" charset="0"/>
                <a:ea typeface="+mn-ea"/>
                <a:cs typeface="Arial" pitchFamily="34" charset="0"/>
              </a:rPr>
              <a:t>¿Qué es control? Es el proceso de monitoreo, comparación y corrección del desempeño laboral. Todos los gerentes deberían controlar, aun cuando piensen que sus unidades están trabajando según lo planeado; no pueden saber realmente cómo se están desempeñando las unidades a menos que hayan evaluado cuáles actividades se han realizado y hayan comparado el desempeño real contra el estándar deseado. Los controles efectivos garantizan que las tareas se completen de tal manera que se logren los objetivos. La efectividad de los controles se determina si se sabe qué tanto ayudan a los empleados y a los gerentes a alcanzar sus objetivos. </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¿Por qué es tan importante el control? Se puede planear, se puede crear una estructura organizacional para facilitar el logro eficiente de las metas y se puede motivar a los  empleados mediante un liderazgo efectivo. Pero no hay garantía de que las actividades vayan como se planeó y que, de hecho, se estén logrando los objetivos para los que tanto empleados como gerentes están trabajando. De tal suerte que el control es importante porque ayuda a los gerentes a saber si se están cumpliendo las metas organizacionales, y de no ser así, las razones por las que no se están cumpliendo. El valor de la función de control se puede ver en tres áreas específicas: planeación, otorgamiento de facultad de decisión a los empleados y protección del lugar de trabajo.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En el capítulo 7 describimos los objetivos, que proveen dirección específica a los empleados y gerentes, como la base de la planeación. Sin embargo, solo anunciar las metas o hacer que los empleados acepten las metas, no garantiza que se hayan tomado las acciones necesarias para lograr esas metas. Como dice el viejo refrán, "Hasta los mejores planes a veces salen mal". Un gerente efectivo da seguimiento para asegurarse de que los empleados realmente estén haciendo lo que se supone que hagan, y de que se estén cumpliendo los objetivos. Como el último paso en el proceso de administración, el control representa el enlace crítico de vuelta a la planeación (véase la figura 17-1). Si los gerentes no controlan, no tienen forma de saber si se están llevando a cabo sus objetivos y planes y las acciones que se deben tomar en el futuro.</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segunda razón por la que el control es importante es el otorgamiento de facultades de decisión a los empleados. Muchos gerentes se niegan a facultar a sus empleados porque temen que algo salga mal y se les responsabilice por ello. Pero un sistema efectivo de control puede proporcionar información y retroalimentación sobre el desempeño de los empleados y minimizar el riesgo de problemas potenciales.</a:t>
            </a:r>
          </a:p>
          <a:p>
            <a:endParaRPr lang="es-ES" sz="1000" kern="1200" baseline="0" dirty="0">
              <a:solidFill>
                <a:schemeClr val="tx1"/>
              </a:solidFill>
              <a:latin typeface="Arial" pitchFamily="34" charset="0"/>
              <a:ea typeface="+mn-ea"/>
              <a:cs typeface="Arial" pitchFamily="34" charset="0"/>
            </a:endParaRPr>
          </a:p>
          <a:p>
            <a:r>
              <a:rPr lang="es-ES" sz="1000" kern="1200" baseline="0" dirty="0">
                <a:solidFill>
                  <a:schemeClr val="tx1"/>
                </a:solidFill>
                <a:latin typeface="Arial" pitchFamily="34" charset="0"/>
                <a:ea typeface="+mn-ea"/>
                <a:cs typeface="Arial" pitchFamily="34" charset="0"/>
              </a:rPr>
              <a:t>La razón final por la que controlan los gerentes es para proteger a la organización y sus recursos. En el entorno de hoy existen más amenazas de desastres naturales, escándalos financieros, violencia en el lugar de trabajo, interrupciones en la cadena de suministros, violaciones de seguridad, y hasta posibles ataques terroristas. Los gerentes deben proteger los recursos organizacionales en caso de que cualquiera de los eventos antes mencionados ocurra. Los controles integrales y los planes de respaldo ayudarán a asegurar interrupciones laborales mínimas.</a:t>
            </a:r>
            <a:endParaRPr lang="es-ES" dirty="0"/>
          </a:p>
        </p:txBody>
      </p:sp>
      <p:sp>
        <p:nvSpPr>
          <p:cNvPr id="54275"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C6AC3D4-07EF-4D9B-8756-294FB24C904E}" type="slidenum">
              <a:rPr lang="es-ES"/>
              <a:pPr fontAlgn="base">
                <a:spcBef>
                  <a:spcPct val="0"/>
                </a:spcBef>
                <a:spcAft>
                  <a:spcPct val="0"/>
                </a:spcAft>
                <a:defRPr/>
              </a:pPr>
              <a:t>59</a:t>
            </a:fld>
            <a:endParaRPr lang="es-E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096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ES" b="1" dirty="0"/>
              <a:t>OJO!!!! PRÓXIMO CURSO CAMBIAR ORDEN </a:t>
            </a:r>
            <a:r>
              <a:rPr lang="es-ES" b="1" dirty="0">
                <a:sym typeface="Wingdings" panose="05000000000000000000" pitchFamily="2" charset="2"/>
              </a:rPr>
              <a:t> Preventivo – concurrente - correctivo</a:t>
            </a:r>
            <a:endParaRPr lang="es-ES" b="1" dirty="0"/>
          </a:p>
        </p:txBody>
      </p:sp>
      <p:sp>
        <p:nvSpPr>
          <p:cNvPr id="58371"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30AD576-FDCE-47AB-BE4B-3F115DEE2460}" type="slidenum">
              <a:rPr lang="es-ES"/>
              <a:pPr fontAlgn="base">
                <a:spcBef>
                  <a:spcPct val="0"/>
                </a:spcBef>
                <a:spcAft>
                  <a:spcPct val="0"/>
                </a:spcAft>
                <a:defRPr/>
              </a:pPr>
              <a:t>60</a:t>
            </a:fld>
            <a:endParaRPr lang="es-E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1 Marcador de imagen de diapositiva">
            <a:extLst>
              <a:ext uri="{FF2B5EF4-FFF2-40B4-BE49-F238E27FC236}">
                <a16:creationId xmlns:a16="http://schemas.microsoft.com/office/drawing/2014/main" id="{2150981A-2900-48A3-8DBA-1261043BB3F4}"/>
              </a:ext>
            </a:extLst>
          </p:cNvPr>
          <p:cNvSpPr>
            <a:spLocks noGrp="1" noRot="1" noChangeAspect="1" noTextEdit="1"/>
          </p:cNvSpPr>
          <p:nvPr>
            <p:ph type="sldImg"/>
          </p:nvPr>
        </p:nvSpPr>
        <p:spPr>
          <a:ln/>
        </p:spPr>
      </p:sp>
      <p:sp>
        <p:nvSpPr>
          <p:cNvPr id="215043" name="2 Marcador de notas">
            <a:extLst>
              <a:ext uri="{FF2B5EF4-FFF2-40B4-BE49-F238E27FC236}">
                <a16:creationId xmlns:a16="http://schemas.microsoft.com/office/drawing/2014/main" id="{93AAE9B5-30AB-4106-A752-D6F8244B64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s-ES" altLang="es-ES"/>
          </a:p>
        </p:txBody>
      </p:sp>
      <p:sp>
        <p:nvSpPr>
          <p:cNvPr id="215044" name="3 Marcador de número de diapositiva">
            <a:extLst>
              <a:ext uri="{FF2B5EF4-FFF2-40B4-BE49-F238E27FC236}">
                <a16:creationId xmlns:a16="http://schemas.microsoft.com/office/drawing/2014/main" id="{69A888A6-CEBF-4E5A-B51D-1801E954F9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301A970-609F-413F-99CD-D2789BDF9C97}" type="slidenum">
              <a:rPr lang="es-ES" altLang="es-ES">
                <a:latin typeface="Arial" panose="020B0604020202020204" pitchFamily="34" charset="0"/>
              </a:rPr>
              <a:pPr>
                <a:spcBef>
                  <a:spcPct val="0"/>
                </a:spcBef>
              </a:pPr>
              <a:t>61</a:t>
            </a:fld>
            <a:endParaRPr lang="es-ES" altLang="es-ES">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1 Marcador de imagen de diapositiva">
            <a:extLst>
              <a:ext uri="{FF2B5EF4-FFF2-40B4-BE49-F238E27FC236}">
                <a16:creationId xmlns:a16="http://schemas.microsoft.com/office/drawing/2014/main" id="{5EDAC865-53A0-4F9F-B2A5-5A5E03957474}"/>
              </a:ext>
            </a:extLst>
          </p:cNvPr>
          <p:cNvSpPr>
            <a:spLocks noGrp="1" noRot="1" noChangeAspect="1" noTextEdit="1"/>
          </p:cNvSpPr>
          <p:nvPr>
            <p:ph type="sldImg"/>
          </p:nvPr>
        </p:nvSpPr>
        <p:spPr>
          <a:ln/>
        </p:spPr>
      </p:sp>
      <p:sp>
        <p:nvSpPr>
          <p:cNvPr id="217091" name="2 Marcador de notas">
            <a:extLst>
              <a:ext uri="{FF2B5EF4-FFF2-40B4-BE49-F238E27FC236}">
                <a16:creationId xmlns:a16="http://schemas.microsoft.com/office/drawing/2014/main" id="{D1E0F19F-B88E-4970-923B-A78BE2F10C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s-ES" altLang="es-ES"/>
          </a:p>
        </p:txBody>
      </p:sp>
      <p:sp>
        <p:nvSpPr>
          <p:cNvPr id="217092" name="3 Marcador de número de diapositiva">
            <a:extLst>
              <a:ext uri="{FF2B5EF4-FFF2-40B4-BE49-F238E27FC236}">
                <a16:creationId xmlns:a16="http://schemas.microsoft.com/office/drawing/2014/main" id="{BAEF0045-F654-497B-80BD-069BA0622F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7767155-086B-4878-93A8-B5FFED9A5353}" type="slidenum">
              <a:rPr lang="es-ES" altLang="es-ES">
                <a:latin typeface="Arial" panose="020B0604020202020204" pitchFamily="34" charset="0"/>
              </a:rPr>
              <a:pPr>
                <a:spcBef>
                  <a:spcPct val="0"/>
                </a:spcBef>
              </a:pPr>
              <a:t>62</a:t>
            </a:fld>
            <a:endParaRPr lang="es-ES" altLang="es-E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ortada">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2130425"/>
            <a:ext cx="7772400" cy="1470025"/>
          </a:xfrm>
        </p:spPr>
        <p:txBody>
          <a:bodyPr/>
          <a:lstStyle>
            <a:lvl1pPr algn="ctr">
              <a:defRPr sz="3200">
                <a:latin typeface="Comic Sans MS" pitchFamily="66" charset="0"/>
              </a:defRPr>
            </a:lvl1pPr>
          </a:lstStyle>
          <a:p>
            <a:r>
              <a:rPr lang="es-ES"/>
              <a:t>Haga clic para modificar el estilo de título del patrón</a:t>
            </a:r>
            <a:endParaRPr lang="es-ES_tradnl" dirty="0"/>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atin typeface="Comic Sans MS" pitchFamily="66" charset="0"/>
              </a:defRPr>
            </a:lvl1pPr>
          </a:lstStyle>
          <a:p>
            <a:r>
              <a:rPr lang="es-ES"/>
              <a:t>Haga clic para modificar el estilo de subtítulo del patrón</a:t>
            </a:r>
            <a:endParaRPr lang="es-ES_tradnl" dirty="0"/>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2130425"/>
            <a:ext cx="7772400" cy="1470025"/>
          </a:xfrm>
        </p:spPr>
        <p:txBody>
          <a:bodyPr/>
          <a:lstStyle>
            <a:lvl1pPr algn="ctr">
              <a:defRPr sz="3200">
                <a:latin typeface="Comic Sans MS" pitchFamily="66" charset="0"/>
              </a:defRPr>
            </a:lvl1pPr>
          </a:lstStyle>
          <a:p>
            <a:r>
              <a:rPr lang="es-ES"/>
              <a:t>Haga clic para modificar el estilo de título del patrón</a:t>
            </a:r>
            <a:endParaRPr lang="es-ES_tradnl" dirty="0"/>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atin typeface="Comic Sans MS" pitchFamily="66" charset="0"/>
              </a:defRPr>
            </a:lvl1pPr>
          </a:lstStyle>
          <a:p>
            <a:r>
              <a:rPr lang="es-ES"/>
              <a:t>Haga clic para modificar el estilo de subtítulo del patrón</a:t>
            </a:r>
            <a:endParaRPr lang="es-ES_tradnl" dirty="0"/>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Portada Bloque Azul">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Line 65"/>
          <p:cNvSpPr>
            <a:spLocks noChangeShapeType="1"/>
          </p:cNvSpPr>
          <p:nvPr/>
        </p:nvSpPr>
        <p:spPr bwMode="ltGray">
          <a:xfrm>
            <a:off x="193675" y="228600"/>
            <a:ext cx="0" cy="2851150"/>
          </a:xfrm>
          <a:prstGeom prst="line">
            <a:avLst/>
          </a:prstGeom>
          <a:noFill/>
          <a:ln w="38100">
            <a:solidFill>
              <a:srgbClr val="5399DF"/>
            </a:solidFill>
            <a:round/>
            <a:headEnd/>
            <a:tailEnd/>
          </a:ln>
          <a:effectLst/>
        </p:spPr>
        <p:txBody>
          <a:bodyPr wrap="none" anchor="ctr"/>
          <a:lstStyle/>
          <a:p>
            <a:pPr>
              <a:defRPr/>
            </a:pPr>
            <a:endParaRPr lang="en-US">
              <a:latin typeface="Tahoma" pitchFamily="34" charset="0"/>
            </a:endParaRPr>
          </a:p>
        </p:txBody>
      </p:sp>
      <p:sp>
        <p:nvSpPr>
          <p:cNvPr id="6" name="Line 64"/>
          <p:cNvSpPr>
            <a:spLocks noChangeShapeType="1"/>
          </p:cNvSpPr>
          <p:nvPr/>
        </p:nvSpPr>
        <p:spPr bwMode="ltGray">
          <a:xfrm flipH="1" flipV="1">
            <a:off x="0" y="830263"/>
            <a:ext cx="6049963" cy="1588"/>
          </a:xfrm>
          <a:prstGeom prst="line">
            <a:avLst/>
          </a:prstGeom>
          <a:noFill/>
          <a:ln w="38100">
            <a:solidFill>
              <a:srgbClr val="5399DF"/>
            </a:solidFill>
            <a:round/>
            <a:headEnd/>
            <a:tailEnd/>
          </a:ln>
          <a:effectLst/>
        </p:spPr>
        <p:txBody>
          <a:bodyPr wrap="none" anchor="ctr"/>
          <a:lstStyle/>
          <a:p>
            <a:pPr>
              <a:defRPr/>
            </a:pPr>
            <a:endParaRPr lang="en-US">
              <a:latin typeface="Tahoma" pitchFamily="34" charset="0"/>
            </a:endParaRPr>
          </a:p>
        </p:txBody>
      </p:sp>
      <p:sp>
        <p:nvSpPr>
          <p:cNvPr id="7" name="Arc 66"/>
          <p:cNvSpPr>
            <a:spLocks/>
          </p:cNvSpPr>
          <p:nvPr/>
        </p:nvSpPr>
        <p:spPr bwMode="ltGray">
          <a:xfrm rot="16200000" flipH="1">
            <a:off x="66675" y="706437"/>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38100">
            <a:solidFill>
              <a:srgbClr val="5399DF"/>
            </a:solidFill>
            <a:round/>
            <a:headEnd/>
            <a:tailEnd/>
          </a:ln>
          <a:effectLst/>
        </p:spPr>
        <p:txBody>
          <a:bodyPr wrap="none" anchor="ctr"/>
          <a:lstStyle/>
          <a:p>
            <a:pPr>
              <a:defRPr/>
            </a:pPr>
            <a:endParaRPr lang="en-US">
              <a:latin typeface="Tahoma" pitchFamily="34" charset="0"/>
            </a:endParaRPr>
          </a:p>
        </p:txBody>
      </p:sp>
      <p:sp>
        <p:nvSpPr>
          <p:cNvPr id="8"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9" name="5 Marcador de número de diapositiva"/>
          <p:cNvSpPr>
            <a:spLocks noGrp="1"/>
          </p:cNvSpPr>
          <p:nvPr>
            <p:ph type="sldNum" sz="quarter" idx="4"/>
          </p:nvPr>
        </p:nvSpPr>
        <p:spPr>
          <a:xfrm>
            <a:off x="251520" y="6232227"/>
            <a:ext cx="720080" cy="365125"/>
          </a:xfrm>
          <a:prstGeom prst="rect">
            <a:avLst/>
          </a:prstGeom>
        </p:spPr>
        <p:txBody>
          <a:bodyPr vert="horz" lIns="91440" tIns="45720" rIns="91440" bIns="45720" rtlCol="0" anchor="ctr"/>
          <a:lstStyle>
            <a:lvl1pPr algn="l">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10" name="9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Bloque azul">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a:t>Haga clic para modificar el estilo de título del patrón</a:t>
            </a:r>
            <a:endParaRPr lang="es-ES" dirty="0"/>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5"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ítulo y 4 objetos">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07950" y="908050"/>
            <a:ext cx="438785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quarter" idx="2"/>
          </p:nvPr>
        </p:nvSpPr>
        <p:spPr>
          <a:xfrm>
            <a:off x="4648200" y="908050"/>
            <a:ext cx="438785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contenido"/>
          <p:cNvSpPr>
            <a:spLocks noGrp="1"/>
          </p:cNvSpPr>
          <p:nvPr>
            <p:ph sz="quarter" idx="3"/>
          </p:nvPr>
        </p:nvSpPr>
        <p:spPr>
          <a:xfrm>
            <a:off x="107950" y="3540125"/>
            <a:ext cx="4387850" cy="2481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contenido"/>
          <p:cNvSpPr>
            <a:spLocks noGrp="1"/>
          </p:cNvSpPr>
          <p:nvPr>
            <p:ph sz="quarter" idx="4"/>
          </p:nvPr>
        </p:nvSpPr>
        <p:spPr>
          <a:xfrm>
            <a:off x="4648200" y="3540125"/>
            <a:ext cx="4387850" cy="2481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8"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9" name="5 Marcador de número de diapositiva"/>
          <p:cNvSpPr>
            <a:spLocks noGrp="1"/>
          </p:cNvSpPr>
          <p:nvPr>
            <p:ph type="sldNum" sz="quarter" idx="11"/>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10" name="9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 Título"/>
          <p:cNvSpPr>
            <a:spLocks noGrp="1"/>
          </p:cNvSpPr>
          <p:nvPr>
            <p:ph type="title"/>
          </p:nvPr>
        </p:nvSpPr>
        <p:spPr>
          <a:xfrm>
            <a:off x="35496" y="115888"/>
            <a:ext cx="9108504" cy="720725"/>
          </a:xfrm>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a:t>Haga clic para modificar el estilo de título del patrón</a:t>
            </a:r>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Portada Bloque Ros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Line 65"/>
          <p:cNvSpPr>
            <a:spLocks noChangeShapeType="1"/>
          </p:cNvSpPr>
          <p:nvPr/>
        </p:nvSpPr>
        <p:spPr bwMode="ltGray">
          <a:xfrm>
            <a:off x="193675" y="228600"/>
            <a:ext cx="0" cy="2851150"/>
          </a:xfrm>
          <a:prstGeom prst="line">
            <a:avLst/>
          </a:prstGeom>
          <a:noFill/>
          <a:ln w="38100">
            <a:solidFill>
              <a:srgbClr val="FF5D5D"/>
            </a:solidFill>
            <a:round/>
            <a:headEnd/>
            <a:tailEnd/>
          </a:ln>
          <a:effectLst/>
        </p:spPr>
        <p:txBody>
          <a:bodyPr wrap="none" anchor="ctr"/>
          <a:lstStyle/>
          <a:p>
            <a:pPr>
              <a:defRPr/>
            </a:pPr>
            <a:endParaRPr lang="en-US">
              <a:latin typeface="Tahoma" pitchFamily="34" charset="0"/>
            </a:endParaRPr>
          </a:p>
        </p:txBody>
      </p:sp>
      <p:sp>
        <p:nvSpPr>
          <p:cNvPr id="6" name="Line 64"/>
          <p:cNvSpPr>
            <a:spLocks noChangeShapeType="1"/>
          </p:cNvSpPr>
          <p:nvPr/>
        </p:nvSpPr>
        <p:spPr bwMode="ltGray">
          <a:xfrm flipH="1" flipV="1">
            <a:off x="0" y="830263"/>
            <a:ext cx="6049963" cy="1588"/>
          </a:xfrm>
          <a:prstGeom prst="line">
            <a:avLst/>
          </a:prstGeom>
          <a:noFill/>
          <a:ln w="38100">
            <a:solidFill>
              <a:srgbClr val="FF5D5D"/>
            </a:solidFill>
            <a:round/>
            <a:headEnd/>
            <a:tailEnd/>
          </a:ln>
          <a:effectLst/>
        </p:spPr>
        <p:txBody>
          <a:bodyPr wrap="none" anchor="ctr"/>
          <a:lstStyle/>
          <a:p>
            <a:pPr>
              <a:defRPr/>
            </a:pPr>
            <a:endParaRPr lang="en-US">
              <a:latin typeface="Tahoma" pitchFamily="34" charset="0"/>
            </a:endParaRPr>
          </a:p>
        </p:txBody>
      </p:sp>
      <p:sp>
        <p:nvSpPr>
          <p:cNvPr id="7" name="Arc 66"/>
          <p:cNvSpPr>
            <a:spLocks/>
          </p:cNvSpPr>
          <p:nvPr/>
        </p:nvSpPr>
        <p:spPr bwMode="ltGray">
          <a:xfrm rot="16200000" flipH="1">
            <a:off x="66675" y="706437"/>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38100">
            <a:solidFill>
              <a:srgbClr val="FF5D5D"/>
            </a:solidFill>
            <a:round/>
            <a:headEnd/>
            <a:tailEnd/>
          </a:ln>
          <a:effectLst/>
        </p:spPr>
        <p:txBody>
          <a:bodyPr wrap="none" anchor="ctr"/>
          <a:lstStyle/>
          <a:p>
            <a:pPr>
              <a:defRPr/>
            </a:pPr>
            <a:endParaRPr lang="en-US">
              <a:latin typeface="Tahoma" pitchFamily="34" charset="0"/>
            </a:endParaRPr>
          </a:p>
        </p:txBody>
      </p:sp>
      <p:sp>
        <p:nvSpPr>
          <p:cNvPr id="8"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9" name="5 Marcador de número de diapositiva"/>
          <p:cNvSpPr>
            <a:spLocks noGrp="1"/>
          </p:cNvSpPr>
          <p:nvPr>
            <p:ph type="sldNum" sz="quarter" idx="4"/>
          </p:nvPr>
        </p:nvSpPr>
        <p:spPr>
          <a:xfrm>
            <a:off x="179512" y="6232227"/>
            <a:ext cx="720080" cy="365125"/>
          </a:xfrm>
          <a:prstGeom prst="rect">
            <a:avLst/>
          </a:prstGeom>
        </p:spPr>
        <p:txBody>
          <a:bodyPr vert="horz" lIns="91440" tIns="45720" rIns="91440" bIns="45720" rtlCol="0" anchor="ctr"/>
          <a:lstStyle>
            <a:lvl1pPr algn="l">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10" name="9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oque Ros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flip="none" rotWithShape="1">
            <a:gsLst>
              <a:gs pos="0">
                <a:srgbClr val="FF5D5D"/>
              </a:gs>
              <a:gs pos="50000">
                <a:srgbClr val="FF5D5D">
                  <a:shade val="67500"/>
                  <a:satMod val="115000"/>
                </a:srgbClr>
              </a:gs>
              <a:gs pos="100000">
                <a:srgbClr val="FF5D5D">
                  <a:shade val="100000"/>
                  <a:satMod val="115000"/>
                </a:srgbClr>
              </a:gs>
            </a:gsLst>
            <a:lin ang="8346000" scaled="0"/>
            <a:tileRect/>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a:t>Haga clic para modificar el estilo de título del patrón</a:t>
            </a:r>
            <a:endParaRPr lang="es-ES" dirty="0"/>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5"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Portada Bloque Ver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7 Grupo"/>
          <p:cNvGrpSpPr/>
          <p:nvPr/>
        </p:nvGrpSpPr>
        <p:grpSpPr>
          <a:xfrm>
            <a:off x="0" y="228600"/>
            <a:ext cx="6049963" cy="2851150"/>
            <a:chOff x="0" y="228600"/>
            <a:chExt cx="6049963" cy="2851150"/>
          </a:xfrm>
        </p:grpSpPr>
        <p:sp>
          <p:nvSpPr>
            <p:cNvPr id="5" name="Line 65"/>
            <p:cNvSpPr>
              <a:spLocks noChangeShapeType="1"/>
            </p:cNvSpPr>
            <p:nvPr/>
          </p:nvSpPr>
          <p:spPr bwMode="ltGray">
            <a:xfrm>
              <a:off x="193675" y="228600"/>
              <a:ext cx="0" cy="2851150"/>
            </a:xfrm>
            <a:prstGeom prst="line">
              <a:avLst/>
            </a:prstGeom>
            <a:noFill/>
            <a:ln w="38100">
              <a:solidFill>
                <a:srgbClr val="52B74D"/>
              </a:solidFill>
              <a:round/>
              <a:headEnd/>
              <a:tailEnd/>
            </a:ln>
            <a:effectLst/>
          </p:spPr>
          <p:txBody>
            <a:bodyPr wrap="none" anchor="ctr"/>
            <a:lstStyle/>
            <a:p>
              <a:pPr>
                <a:defRPr/>
              </a:pPr>
              <a:endParaRPr lang="en-US">
                <a:latin typeface="Tahoma" pitchFamily="34" charset="0"/>
              </a:endParaRPr>
            </a:p>
          </p:txBody>
        </p:sp>
        <p:sp>
          <p:nvSpPr>
            <p:cNvPr id="6" name="Line 64"/>
            <p:cNvSpPr>
              <a:spLocks noChangeShapeType="1"/>
            </p:cNvSpPr>
            <p:nvPr/>
          </p:nvSpPr>
          <p:spPr bwMode="ltGray">
            <a:xfrm flipH="1" flipV="1">
              <a:off x="0" y="830263"/>
              <a:ext cx="6049963" cy="1588"/>
            </a:xfrm>
            <a:prstGeom prst="line">
              <a:avLst/>
            </a:prstGeom>
            <a:noFill/>
            <a:ln w="38100">
              <a:solidFill>
                <a:srgbClr val="52B74D"/>
              </a:solidFill>
              <a:round/>
              <a:headEnd/>
              <a:tailEnd/>
            </a:ln>
            <a:effectLst/>
          </p:spPr>
          <p:txBody>
            <a:bodyPr wrap="none" anchor="ctr"/>
            <a:lstStyle/>
            <a:p>
              <a:pPr>
                <a:defRPr/>
              </a:pPr>
              <a:endParaRPr lang="en-US">
                <a:latin typeface="Tahoma" pitchFamily="34" charset="0"/>
              </a:endParaRPr>
            </a:p>
          </p:txBody>
        </p:sp>
        <p:sp>
          <p:nvSpPr>
            <p:cNvPr id="7" name="Arc 66"/>
            <p:cNvSpPr>
              <a:spLocks/>
            </p:cNvSpPr>
            <p:nvPr/>
          </p:nvSpPr>
          <p:spPr bwMode="ltGray">
            <a:xfrm rot="16200000" flipH="1">
              <a:off x="66675" y="706437"/>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38100">
              <a:solidFill>
                <a:srgbClr val="52B74D"/>
              </a:solidFill>
              <a:round/>
              <a:headEnd/>
              <a:tailEnd/>
            </a:ln>
            <a:effectLst/>
          </p:spPr>
          <p:txBody>
            <a:bodyPr wrap="none" anchor="ctr"/>
            <a:lstStyle/>
            <a:p>
              <a:pPr>
                <a:defRPr/>
              </a:pPr>
              <a:endParaRPr lang="en-US">
                <a:latin typeface="Tahoma" pitchFamily="34" charset="0"/>
              </a:endParaRPr>
            </a:p>
          </p:txBody>
        </p:sp>
      </p:grpSp>
      <p:sp>
        <p:nvSpPr>
          <p:cNvPr id="9" name="2 Marcador de pie de página"/>
          <p:cNvSpPr>
            <a:spLocks noGrp="1"/>
          </p:cNvSpPr>
          <p:nvPr>
            <p:ph type="ftr" sz="quarter" idx="10"/>
          </p:nvPr>
        </p:nvSpPr>
        <p:spPr>
          <a:xfrm>
            <a:off x="3419872" y="6185743"/>
            <a:ext cx="2807866" cy="555625"/>
          </a:xfrm>
        </p:spPr>
        <p:txBody>
          <a:bodyPr/>
          <a:lstStyle/>
          <a:p>
            <a:pPr>
              <a:defRPr/>
            </a:pPr>
            <a:endParaRPr lang="es-ES" dirty="0"/>
          </a:p>
        </p:txBody>
      </p:sp>
      <p:sp>
        <p:nvSpPr>
          <p:cNvPr id="10"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11" name="10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Bloque Ver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a:gsLst>
              <a:gs pos="0">
                <a:srgbClr val="52B74D">
                  <a:alpha val="58000"/>
                </a:srgbClr>
              </a:gs>
              <a:gs pos="50000">
                <a:srgbClr val="52B74D">
                  <a:shade val="67500"/>
                  <a:satMod val="115000"/>
                </a:srgbClr>
              </a:gs>
              <a:gs pos="100000">
                <a:srgbClr val="52B74D">
                  <a:shade val="100000"/>
                  <a:satMod val="115000"/>
                </a:srgbClr>
              </a:gs>
            </a:gsLst>
            <a:lin ang="8346000" scaled="0"/>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a:t>Haga clic para modificar el estilo de título del patrón</a:t>
            </a:r>
            <a:endParaRPr lang="es-ES" dirty="0"/>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5"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tada Bloque Naranj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7 Grupo"/>
          <p:cNvGrpSpPr/>
          <p:nvPr/>
        </p:nvGrpSpPr>
        <p:grpSpPr>
          <a:xfrm>
            <a:off x="0" y="228600"/>
            <a:ext cx="6049963" cy="2851150"/>
            <a:chOff x="0" y="228600"/>
            <a:chExt cx="6049963" cy="2851150"/>
          </a:xfrm>
        </p:grpSpPr>
        <p:sp>
          <p:nvSpPr>
            <p:cNvPr id="5" name="Line 65"/>
            <p:cNvSpPr>
              <a:spLocks noChangeShapeType="1"/>
            </p:cNvSpPr>
            <p:nvPr/>
          </p:nvSpPr>
          <p:spPr bwMode="ltGray">
            <a:xfrm>
              <a:off x="193675" y="228600"/>
              <a:ext cx="0" cy="2851150"/>
            </a:xfrm>
            <a:prstGeom prst="line">
              <a:avLst/>
            </a:prstGeom>
            <a:noFill/>
            <a:ln w="38100">
              <a:solidFill>
                <a:srgbClr val="E37D31"/>
              </a:solidFill>
              <a:round/>
              <a:headEnd/>
              <a:tailEnd/>
            </a:ln>
            <a:effectLst/>
          </p:spPr>
          <p:txBody>
            <a:bodyPr wrap="none" anchor="ctr"/>
            <a:lstStyle/>
            <a:p>
              <a:pPr>
                <a:defRPr/>
              </a:pPr>
              <a:endParaRPr lang="en-US">
                <a:latin typeface="Tahoma" pitchFamily="34" charset="0"/>
              </a:endParaRPr>
            </a:p>
          </p:txBody>
        </p:sp>
        <p:sp>
          <p:nvSpPr>
            <p:cNvPr id="6" name="Line 64"/>
            <p:cNvSpPr>
              <a:spLocks noChangeShapeType="1"/>
            </p:cNvSpPr>
            <p:nvPr/>
          </p:nvSpPr>
          <p:spPr bwMode="ltGray">
            <a:xfrm flipH="1" flipV="1">
              <a:off x="0" y="830263"/>
              <a:ext cx="6049963" cy="1588"/>
            </a:xfrm>
            <a:prstGeom prst="line">
              <a:avLst/>
            </a:prstGeom>
            <a:noFill/>
            <a:ln w="38100">
              <a:solidFill>
                <a:srgbClr val="E37D31"/>
              </a:solidFill>
              <a:round/>
              <a:headEnd/>
              <a:tailEnd/>
            </a:ln>
            <a:effectLst/>
          </p:spPr>
          <p:txBody>
            <a:bodyPr wrap="none" anchor="ctr"/>
            <a:lstStyle/>
            <a:p>
              <a:pPr>
                <a:defRPr/>
              </a:pPr>
              <a:endParaRPr lang="en-US">
                <a:latin typeface="Tahoma" pitchFamily="34" charset="0"/>
              </a:endParaRPr>
            </a:p>
          </p:txBody>
        </p:sp>
        <p:sp>
          <p:nvSpPr>
            <p:cNvPr id="7" name="Arc 66"/>
            <p:cNvSpPr>
              <a:spLocks/>
            </p:cNvSpPr>
            <p:nvPr/>
          </p:nvSpPr>
          <p:spPr bwMode="ltGray">
            <a:xfrm rot="16200000" flipH="1">
              <a:off x="66675" y="706437"/>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38100">
              <a:solidFill>
                <a:srgbClr val="E37D31"/>
              </a:solidFill>
              <a:round/>
              <a:headEnd/>
              <a:tailEnd/>
            </a:ln>
            <a:effectLst/>
          </p:spPr>
          <p:txBody>
            <a:bodyPr wrap="none" anchor="ctr"/>
            <a:lstStyle/>
            <a:p>
              <a:pPr>
                <a:defRPr/>
              </a:pPr>
              <a:endParaRPr lang="en-US">
                <a:latin typeface="Tahoma" pitchFamily="34" charset="0"/>
              </a:endParaRPr>
            </a:p>
          </p:txBody>
        </p:sp>
      </p:grpSp>
      <p:sp>
        <p:nvSpPr>
          <p:cNvPr id="8"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9"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10" name="9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loque Naranj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flip="none" rotWithShape="1">
            <a:gsLst>
              <a:gs pos="0">
                <a:srgbClr val="E37D31">
                  <a:shade val="30000"/>
                  <a:satMod val="115000"/>
                </a:srgbClr>
              </a:gs>
              <a:gs pos="50000">
                <a:srgbClr val="E37D31">
                  <a:shade val="67500"/>
                  <a:satMod val="115000"/>
                </a:srgbClr>
              </a:gs>
              <a:gs pos="100000">
                <a:srgbClr val="E37D31">
                  <a:shade val="100000"/>
                  <a:satMod val="115000"/>
                </a:srgbClr>
              </a:gs>
            </a:gsLst>
            <a:lin ang="8346000" scaled="0"/>
            <a:tileRect/>
          </a:gradFill>
        </p:spPr>
        <p:style>
          <a:lnRef idx="0">
            <a:schemeClr val="accent6"/>
          </a:lnRef>
          <a:fillRef idx="1002">
            <a:schemeClr val="dk2"/>
          </a:fillRef>
          <a:effectRef idx="3">
            <a:schemeClr val="accent6"/>
          </a:effectRef>
          <a:fontRef idx="none"/>
        </p:style>
        <p:txBody>
          <a:bodyPr/>
          <a:lstStyle>
            <a:lvl1pPr algn="ctr">
              <a:defRPr>
                <a:solidFill>
                  <a:schemeClr val="bg1"/>
                </a:solidFill>
              </a:defRPr>
            </a:lvl1pPr>
          </a:lstStyle>
          <a:p>
            <a:r>
              <a:rPr lang="es-ES"/>
              <a:t>Haga clic para modificar el estilo de título del patrón</a:t>
            </a:r>
            <a:endParaRPr lang="es-ES" dirty="0"/>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5"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6_Diseño personalizad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a:gsLst>
              <a:gs pos="0">
                <a:srgbClr val="E20000">
                  <a:shade val="30000"/>
                  <a:satMod val="115000"/>
                  <a:alpha val="27000"/>
                </a:srgbClr>
              </a:gs>
              <a:gs pos="50000">
                <a:srgbClr val="E20000">
                  <a:shade val="67500"/>
                  <a:satMod val="115000"/>
                </a:srgbClr>
              </a:gs>
              <a:gs pos="100000">
                <a:srgbClr val="E20000">
                  <a:shade val="100000"/>
                  <a:satMod val="115000"/>
                </a:srgbClr>
              </a:gs>
            </a:gsLst>
            <a:lin ang="8346000" scaled="0"/>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a:t>Haga clic para modificar el estilo de título del patrón</a:t>
            </a:r>
            <a:endParaRPr lang="es-ES" dirty="0"/>
          </a:p>
        </p:txBody>
      </p:sp>
      <p:sp>
        <p:nvSpPr>
          <p:cNvPr id="3"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4" name="5 Marcador de número de diapositiva"/>
          <p:cNvSpPr>
            <a:spLocks noGrp="1"/>
          </p:cNvSpPr>
          <p:nvPr>
            <p:ph type="sldNum" sz="quarter" idx="4"/>
          </p:nvPr>
        </p:nvSpPr>
        <p:spPr>
          <a:xfrm>
            <a:off x="35496" y="6237312"/>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5" name="4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Portada Bloque Naranj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grpSp>
        <p:nvGrpSpPr>
          <p:cNvPr id="2" name="7 Grupo"/>
          <p:cNvGrpSpPr/>
          <p:nvPr/>
        </p:nvGrpSpPr>
        <p:grpSpPr>
          <a:xfrm>
            <a:off x="0" y="228600"/>
            <a:ext cx="6049963" cy="2851150"/>
            <a:chOff x="0" y="228600"/>
            <a:chExt cx="6049963" cy="2851150"/>
          </a:xfrm>
        </p:grpSpPr>
        <p:sp>
          <p:nvSpPr>
            <p:cNvPr id="5" name="Line 65"/>
            <p:cNvSpPr>
              <a:spLocks noChangeShapeType="1"/>
            </p:cNvSpPr>
            <p:nvPr/>
          </p:nvSpPr>
          <p:spPr bwMode="ltGray">
            <a:xfrm>
              <a:off x="193675" y="228600"/>
              <a:ext cx="0" cy="2851150"/>
            </a:xfrm>
            <a:prstGeom prst="line">
              <a:avLst/>
            </a:prstGeom>
            <a:noFill/>
            <a:ln w="38100">
              <a:solidFill>
                <a:schemeClr val="tx2">
                  <a:lumMod val="65000"/>
                  <a:lumOff val="35000"/>
                </a:schemeClr>
              </a:solidFill>
              <a:round/>
              <a:headEnd/>
              <a:tailEnd/>
            </a:ln>
            <a:effectLst/>
          </p:spPr>
          <p:txBody>
            <a:bodyPr wrap="none" anchor="ctr"/>
            <a:lstStyle/>
            <a:p>
              <a:pPr>
                <a:defRPr/>
              </a:pPr>
              <a:endParaRPr lang="en-US">
                <a:latin typeface="Tahoma" pitchFamily="34" charset="0"/>
              </a:endParaRPr>
            </a:p>
          </p:txBody>
        </p:sp>
        <p:sp>
          <p:nvSpPr>
            <p:cNvPr id="6" name="Line 64"/>
            <p:cNvSpPr>
              <a:spLocks noChangeShapeType="1"/>
            </p:cNvSpPr>
            <p:nvPr/>
          </p:nvSpPr>
          <p:spPr bwMode="ltGray">
            <a:xfrm flipH="1" flipV="1">
              <a:off x="0" y="830263"/>
              <a:ext cx="6049963" cy="1588"/>
            </a:xfrm>
            <a:prstGeom prst="line">
              <a:avLst/>
            </a:prstGeom>
            <a:noFill/>
            <a:ln w="38100">
              <a:solidFill>
                <a:schemeClr val="tx2">
                  <a:lumMod val="65000"/>
                  <a:lumOff val="35000"/>
                </a:schemeClr>
              </a:solidFill>
              <a:round/>
              <a:headEnd/>
              <a:tailEnd/>
            </a:ln>
            <a:effectLst/>
          </p:spPr>
          <p:txBody>
            <a:bodyPr wrap="none" anchor="ctr"/>
            <a:lstStyle/>
            <a:p>
              <a:pPr>
                <a:defRPr/>
              </a:pPr>
              <a:endParaRPr lang="en-US">
                <a:latin typeface="Tahoma" pitchFamily="34" charset="0"/>
              </a:endParaRPr>
            </a:p>
          </p:txBody>
        </p:sp>
        <p:sp>
          <p:nvSpPr>
            <p:cNvPr id="7" name="Arc 66"/>
            <p:cNvSpPr>
              <a:spLocks/>
            </p:cNvSpPr>
            <p:nvPr/>
          </p:nvSpPr>
          <p:spPr bwMode="ltGray">
            <a:xfrm rot="16200000" flipH="1">
              <a:off x="66675" y="706437"/>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38100">
              <a:solidFill>
                <a:schemeClr val="tx2">
                  <a:lumMod val="65000"/>
                  <a:lumOff val="35000"/>
                </a:schemeClr>
              </a:solidFill>
              <a:round/>
              <a:headEnd/>
              <a:tailEnd/>
            </a:ln>
            <a:effectLst/>
          </p:spPr>
          <p:txBody>
            <a:bodyPr wrap="none" anchor="ctr"/>
            <a:lstStyle/>
            <a:p>
              <a:pPr>
                <a:defRPr/>
              </a:pPr>
              <a:endParaRPr lang="en-US">
                <a:latin typeface="Tahoma" pitchFamily="34" charset="0"/>
              </a:endParaRPr>
            </a:p>
          </p:txBody>
        </p:sp>
      </p:grpSp>
      <p:sp>
        <p:nvSpPr>
          <p:cNvPr id="8"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9"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10" name="9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1_Bloque Naranj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flip="none" rotWithShape="1">
            <a:gsLst>
              <a:gs pos="0">
                <a:srgbClr val="FFFFFF"/>
              </a:gs>
              <a:gs pos="7001">
                <a:srgbClr val="E6E6E6"/>
              </a:gs>
              <a:gs pos="32001">
                <a:srgbClr val="7D8496"/>
              </a:gs>
              <a:gs pos="47000">
                <a:srgbClr val="E6E6E6"/>
              </a:gs>
              <a:gs pos="85001">
                <a:srgbClr val="7D8496"/>
              </a:gs>
              <a:gs pos="100000">
                <a:srgbClr val="E6E6E6"/>
              </a:gs>
            </a:gsLst>
            <a:lin ang="8346000" scaled="0"/>
            <a:tileRect/>
          </a:gradFill>
        </p:spPr>
        <p:style>
          <a:lnRef idx="0">
            <a:schemeClr val="accent6"/>
          </a:lnRef>
          <a:fillRef idx="1002">
            <a:schemeClr val="dk2"/>
          </a:fillRef>
          <a:effectRef idx="3">
            <a:schemeClr val="accent6"/>
          </a:effectRef>
          <a:fontRef idx="none"/>
        </p:style>
        <p:txBody>
          <a:bodyPr/>
          <a:lstStyle>
            <a:lvl1pPr algn="ctr">
              <a:defRPr>
                <a:solidFill>
                  <a:schemeClr val="tx1"/>
                </a:solidFill>
              </a:defRPr>
            </a:lvl1pPr>
          </a:lstStyle>
          <a:p>
            <a:r>
              <a:rPr lang="es-ES" dirty="0"/>
              <a:t>Haga clic para modificar el estilo de título del patrón</a:t>
            </a:r>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a:p>
        </p:txBody>
      </p:sp>
      <p:sp>
        <p:nvSpPr>
          <p:cNvPr id="5"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Diseño personalizado">
    <p:spTree>
      <p:nvGrpSpPr>
        <p:cNvPr id="1" name=""/>
        <p:cNvGrpSpPr/>
        <p:nvPr/>
      </p:nvGrpSpPr>
      <p:grpSpPr>
        <a:xfrm>
          <a:off x="0" y="0"/>
          <a:ext cx="0" cy="0"/>
          <a:chOff x="0" y="0"/>
          <a:chExt cx="0" cy="0"/>
        </a:xfrm>
      </p:grpSpPr>
      <p:sp>
        <p:nvSpPr>
          <p:cNvPr id="3" name="2 Marcador de pie de página"/>
          <p:cNvSpPr>
            <a:spLocks noGrp="1"/>
          </p:cNvSpPr>
          <p:nvPr>
            <p:ph type="ftr" sz="quarter" idx="10"/>
          </p:nvPr>
        </p:nvSpPr>
        <p:spPr/>
        <p:txBody>
          <a:bodyPr/>
          <a:lstStyle/>
          <a:p>
            <a:pPr>
              <a:defRPr/>
            </a:pPr>
            <a:endParaRPr lang="es-E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539552" y="1052736"/>
            <a:ext cx="7772400" cy="1362075"/>
          </a:xfrm>
        </p:spPr>
        <p:txBody>
          <a:bodyPr anchor="t"/>
          <a:lstStyle>
            <a:lvl1pPr algn="l">
              <a:defRPr sz="4000" b="1" cap="all"/>
            </a:lvl1pPr>
          </a:lstStyle>
          <a:p>
            <a:r>
              <a:rPr lang="es-ES"/>
              <a:t>Haga clic para modificar el estilo de título del patrón</a:t>
            </a:r>
            <a:endParaRPr lang="es-ES_tradnl" dirty="0"/>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3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ctr">
              <a:defRPr>
                <a:latin typeface="Comic Sans MS" pitchFamily="66" charset="0"/>
              </a:defRPr>
            </a:lvl1pPr>
          </a:lstStyle>
          <a:p>
            <a:r>
              <a:rPr lang="es-ES"/>
              <a:t>Haga clic para modificar el estilo de título del patrón</a:t>
            </a:r>
            <a:endParaRPr lang="es-ES_tradnl" dirty="0"/>
          </a:p>
        </p:txBody>
      </p:sp>
      <p:sp>
        <p:nvSpPr>
          <p:cNvPr id="3" name="2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dirty="0"/>
          </a:p>
        </p:txBody>
      </p:sp>
      <p:sp>
        <p:nvSpPr>
          <p:cNvPr id="3" name="2 Marcador de contenido"/>
          <p:cNvSpPr>
            <a:spLocks noGrp="1"/>
          </p:cNvSpPr>
          <p:nvPr>
            <p:ph sz="half" idx="1"/>
          </p:nvPr>
        </p:nvSpPr>
        <p:spPr>
          <a:xfrm>
            <a:off x="107950" y="908050"/>
            <a:ext cx="4387850" cy="5113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908050"/>
            <a:ext cx="4387850" cy="5113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04025" y="115888"/>
            <a:ext cx="2232025" cy="5905500"/>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107950" y="115888"/>
            <a:ext cx="6543675" cy="590550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AndObj" preserve="1">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107950" y="115888"/>
            <a:ext cx="8928100" cy="720725"/>
          </a:xfrm>
        </p:spPr>
        <p:txBody>
          <a:bodyPr/>
          <a:lstStyle/>
          <a:p>
            <a:r>
              <a:rPr lang="es-ES"/>
              <a:t>Haga clic para modificar el estilo de título del patrón</a:t>
            </a:r>
            <a:endParaRPr lang="es-ES_tradnl"/>
          </a:p>
        </p:txBody>
      </p:sp>
      <p:sp>
        <p:nvSpPr>
          <p:cNvPr id="3" name="2 Marcador de texto"/>
          <p:cNvSpPr>
            <a:spLocks noGrp="1"/>
          </p:cNvSpPr>
          <p:nvPr>
            <p:ph type="body" sz="half" idx="1"/>
          </p:nvPr>
        </p:nvSpPr>
        <p:spPr>
          <a:xfrm>
            <a:off x="107950" y="908050"/>
            <a:ext cx="4387850" cy="5113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908050"/>
            <a:ext cx="4387850" cy="5113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AndTwoObj" preserve="1">
  <p:cSld name="Título, texto y 2 objetos">
    <p:spTree>
      <p:nvGrpSpPr>
        <p:cNvPr id="1" name=""/>
        <p:cNvGrpSpPr/>
        <p:nvPr/>
      </p:nvGrpSpPr>
      <p:grpSpPr>
        <a:xfrm>
          <a:off x="0" y="0"/>
          <a:ext cx="0" cy="0"/>
          <a:chOff x="0" y="0"/>
          <a:chExt cx="0" cy="0"/>
        </a:xfrm>
      </p:grpSpPr>
      <p:sp>
        <p:nvSpPr>
          <p:cNvPr id="2" name="1 Título"/>
          <p:cNvSpPr>
            <a:spLocks noGrp="1"/>
          </p:cNvSpPr>
          <p:nvPr>
            <p:ph type="title"/>
          </p:nvPr>
        </p:nvSpPr>
        <p:spPr>
          <a:xfrm>
            <a:off x="107950" y="115888"/>
            <a:ext cx="8928100" cy="720725"/>
          </a:xfrm>
        </p:spPr>
        <p:txBody>
          <a:bodyPr/>
          <a:lstStyle/>
          <a:p>
            <a:r>
              <a:rPr lang="es-ES"/>
              <a:t>Haga clic para modificar el estilo de título del patrón</a:t>
            </a:r>
            <a:endParaRPr lang="es-ES_tradnl"/>
          </a:p>
        </p:txBody>
      </p:sp>
      <p:sp>
        <p:nvSpPr>
          <p:cNvPr id="3" name="2 Marcador de texto"/>
          <p:cNvSpPr>
            <a:spLocks noGrp="1"/>
          </p:cNvSpPr>
          <p:nvPr>
            <p:ph type="body" sz="half" idx="1"/>
          </p:nvPr>
        </p:nvSpPr>
        <p:spPr>
          <a:xfrm>
            <a:off x="107950" y="908050"/>
            <a:ext cx="4387850" cy="5113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quarter" idx="2"/>
          </p:nvPr>
        </p:nvSpPr>
        <p:spPr>
          <a:xfrm>
            <a:off x="4648200" y="908050"/>
            <a:ext cx="438785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contenido"/>
          <p:cNvSpPr>
            <a:spLocks noGrp="1"/>
          </p:cNvSpPr>
          <p:nvPr>
            <p:ph sz="quarter" idx="3"/>
          </p:nvPr>
        </p:nvSpPr>
        <p:spPr>
          <a:xfrm>
            <a:off x="4648200" y="3540125"/>
            <a:ext cx="4387850" cy="2481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woObjAndObj" preserve="1">
  <p:cSld name="Título, 2 objetos y 1 objeto">
    <p:spTree>
      <p:nvGrpSpPr>
        <p:cNvPr id="1" name=""/>
        <p:cNvGrpSpPr/>
        <p:nvPr/>
      </p:nvGrpSpPr>
      <p:grpSpPr>
        <a:xfrm>
          <a:off x="0" y="0"/>
          <a:ext cx="0" cy="0"/>
          <a:chOff x="0" y="0"/>
          <a:chExt cx="0" cy="0"/>
        </a:xfrm>
      </p:grpSpPr>
      <p:sp>
        <p:nvSpPr>
          <p:cNvPr id="2" name="1 Título"/>
          <p:cNvSpPr>
            <a:spLocks noGrp="1"/>
          </p:cNvSpPr>
          <p:nvPr>
            <p:ph type="title"/>
          </p:nvPr>
        </p:nvSpPr>
        <p:spPr>
          <a:xfrm>
            <a:off x="107950" y="115888"/>
            <a:ext cx="8928100" cy="720725"/>
          </a:xfrm>
        </p:spPr>
        <p:txBody>
          <a:bodyPr/>
          <a:lstStyle/>
          <a:p>
            <a:r>
              <a:rPr lang="es-ES"/>
              <a:t>Haga clic para modificar el estilo de título del patrón</a:t>
            </a:r>
            <a:endParaRPr lang="es-ES_tradnl"/>
          </a:p>
        </p:txBody>
      </p:sp>
      <p:sp>
        <p:nvSpPr>
          <p:cNvPr id="3" name="2 Marcador de contenido"/>
          <p:cNvSpPr>
            <a:spLocks noGrp="1"/>
          </p:cNvSpPr>
          <p:nvPr>
            <p:ph sz="quarter" idx="1"/>
          </p:nvPr>
        </p:nvSpPr>
        <p:spPr>
          <a:xfrm>
            <a:off x="107950" y="908050"/>
            <a:ext cx="438785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quarter" idx="2"/>
          </p:nvPr>
        </p:nvSpPr>
        <p:spPr>
          <a:xfrm>
            <a:off x="107950" y="3540125"/>
            <a:ext cx="4387850" cy="2481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contenido"/>
          <p:cNvSpPr>
            <a:spLocks noGrp="1"/>
          </p:cNvSpPr>
          <p:nvPr>
            <p:ph sz="half" idx="3"/>
          </p:nvPr>
        </p:nvSpPr>
        <p:spPr>
          <a:xfrm>
            <a:off x="4648200" y="908050"/>
            <a:ext cx="4387850" cy="5113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OverObj" preserve="1">
  <p:cSld name="Título y texto encima de l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107950" y="115888"/>
            <a:ext cx="8928100" cy="720725"/>
          </a:xfrm>
        </p:spPr>
        <p:txBody>
          <a:bodyPr/>
          <a:lstStyle/>
          <a:p>
            <a:r>
              <a:rPr lang="es-ES"/>
              <a:t>Haga clic para modificar el estilo de título del patrón</a:t>
            </a:r>
            <a:endParaRPr lang="es-ES_tradnl"/>
          </a:p>
        </p:txBody>
      </p:sp>
      <p:sp>
        <p:nvSpPr>
          <p:cNvPr id="3" name="2 Marcador de texto"/>
          <p:cNvSpPr>
            <a:spLocks noGrp="1"/>
          </p:cNvSpPr>
          <p:nvPr>
            <p:ph type="body" sz="half" idx="1"/>
          </p:nvPr>
        </p:nvSpPr>
        <p:spPr>
          <a:xfrm>
            <a:off x="107950" y="908050"/>
            <a:ext cx="892810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107950" y="3540125"/>
            <a:ext cx="8928100" cy="2481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107950" y="115888"/>
            <a:ext cx="8928100" cy="59055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3" name="2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OverTx" preserve="1">
  <p:cSld name="Título y 2 objetos encima del texto">
    <p:spTree>
      <p:nvGrpSpPr>
        <p:cNvPr id="1" name=""/>
        <p:cNvGrpSpPr/>
        <p:nvPr/>
      </p:nvGrpSpPr>
      <p:grpSpPr>
        <a:xfrm>
          <a:off x="0" y="0"/>
          <a:ext cx="0" cy="0"/>
          <a:chOff x="0" y="0"/>
          <a:chExt cx="0" cy="0"/>
        </a:xfrm>
      </p:grpSpPr>
      <p:sp>
        <p:nvSpPr>
          <p:cNvPr id="2" name="1 Título"/>
          <p:cNvSpPr>
            <a:spLocks noGrp="1"/>
          </p:cNvSpPr>
          <p:nvPr>
            <p:ph type="title"/>
          </p:nvPr>
        </p:nvSpPr>
        <p:spPr>
          <a:xfrm>
            <a:off x="107950" y="115888"/>
            <a:ext cx="8928100" cy="720725"/>
          </a:xfrm>
        </p:spPr>
        <p:txBody>
          <a:bodyPr/>
          <a:lstStyle/>
          <a:p>
            <a:r>
              <a:rPr lang="es-ES"/>
              <a:t>Haga clic para modificar el estilo de título del patrón</a:t>
            </a:r>
            <a:endParaRPr lang="es-ES_tradnl"/>
          </a:p>
        </p:txBody>
      </p:sp>
      <p:sp>
        <p:nvSpPr>
          <p:cNvPr id="3" name="2 Marcador de contenido"/>
          <p:cNvSpPr>
            <a:spLocks noGrp="1"/>
          </p:cNvSpPr>
          <p:nvPr>
            <p:ph sz="quarter" idx="1"/>
          </p:nvPr>
        </p:nvSpPr>
        <p:spPr>
          <a:xfrm>
            <a:off x="107950" y="908050"/>
            <a:ext cx="438785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quarter" idx="2"/>
          </p:nvPr>
        </p:nvSpPr>
        <p:spPr>
          <a:xfrm>
            <a:off x="4648200" y="908050"/>
            <a:ext cx="4387850" cy="247967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half" idx="3"/>
          </p:nvPr>
        </p:nvSpPr>
        <p:spPr>
          <a:xfrm>
            <a:off x="107950" y="3540125"/>
            <a:ext cx="8928100" cy="24812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pie de página"/>
          <p:cNvSpPr>
            <a:spLocks noGrp="1"/>
          </p:cNvSpPr>
          <p:nvPr>
            <p:ph type="ftr" sz="quarter" idx="10"/>
          </p:nvPr>
        </p:nvSpPr>
        <p:spPr/>
        <p:txBody>
          <a:bodyPr/>
          <a:lstStyle>
            <a:lvl1pPr>
              <a:defRPr sz="1800" b="0">
                <a:solidFill>
                  <a:schemeClr val="tx1"/>
                </a:solidFill>
              </a:defRPr>
            </a:lvl1pPr>
          </a:lstStyle>
          <a:p>
            <a:pPr>
              <a:defRPr/>
            </a:pPr>
            <a:endParaRPr lang="es-E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pie de página"/>
          <p:cNvSpPr>
            <a:spLocks noGrp="1"/>
          </p:cNvSpPr>
          <p:nvPr>
            <p:ph type="ftr" sz="quarter" idx="10"/>
          </p:nvPr>
        </p:nvSpPr>
        <p:spPr/>
        <p:txBody>
          <a:bodyPr/>
          <a:lstStyle/>
          <a:p>
            <a:pPr>
              <a:defRPr/>
            </a:pPr>
            <a:endParaRPr lang="es-E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s-ES"/>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7796C93-1FA1-4A10-A081-817CD50A2F35}" type="slidenum">
              <a:rPr lang="es-ES"/>
              <a:pPr>
                <a:defRPr/>
              </a:pPr>
              <a:t>‹Nº›</a:t>
            </a:fld>
            <a:endParaRPr lang="es-E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p>
            <a:r>
              <a:rPr lang="es-ES"/>
              <a:t>Haga clic para modificar el estilo de título del patrón</a:t>
            </a:r>
          </a:p>
        </p:txBody>
      </p:sp>
      <p:sp>
        <p:nvSpPr>
          <p:cNvPr id="3" name="2 Marcador de tabla"/>
          <p:cNvSpPr>
            <a:spLocks noGrp="1"/>
          </p:cNvSpPr>
          <p:nvPr>
            <p:ph type="tbl" idx="1"/>
          </p:nvPr>
        </p:nvSpPr>
        <p:spPr>
          <a:xfrm>
            <a:off x="457200" y="1600200"/>
            <a:ext cx="8229600" cy="4525963"/>
          </a:xfrm>
        </p:spPr>
        <p:txBody>
          <a:bodyPr/>
          <a:lstStyle/>
          <a:p>
            <a:endParaRPr lang="es-ES"/>
          </a:p>
        </p:txBody>
      </p:sp>
      <p:sp>
        <p:nvSpPr>
          <p:cNvPr id="4" name="3 Marcador de fecha"/>
          <p:cNvSpPr>
            <a:spLocks noGrp="1"/>
          </p:cNvSpPr>
          <p:nvPr>
            <p:ph type="dt" sz="half" idx="10"/>
          </p:nvPr>
        </p:nvSpPr>
        <p:spPr>
          <a:xfrm>
            <a:off x="457200" y="6245225"/>
            <a:ext cx="2133600" cy="476250"/>
          </a:xfrm>
          <a:prstGeom prst="rect">
            <a:avLst/>
          </a:prstGeom>
        </p:spPr>
        <p:txBody>
          <a:bodyPr/>
          <a:lstStyle>
            <a:lvl1pPr>
              <a:defRPr/>
            </a:lvl1pPr>
          </a:lstStyle>
          <a:p>
            <a:endParaRPr lang="es-ES"/>
          </a:p>
        </p:txBody>
      </p:sp>
      <p:sp>
        <p:nvSpPr>
          <p:cNvPr id="5" name="4 Marcador de pie de página"/>
          <p:cNvSpPr>
            <a:spLocks noGrp="1"/>
          </p:cNvSpPr>
          <p:nvPr>
            <p:ph type="ftr" sz="quarter" idx="11"/>
          </p:nvPr>
        </p:nvSpPr>
        <p:spPr>
          <a:xfrm>
            <a:off x="3124200" y="6245225"/>
            <a:ext cx="2895600" cy="476250"/>
          </a:xfrm>
        </p:spPr>
        <p:txBody>
          <a:bodyPr/>
          <a:lstStyle>
            <a:lvl1pPr>
              <a:defRPr/>
            </a:lvl1pPr>
          </a:lstStyle>
          <a:p>
            <a:endParaRPr lang="es-ES"/>
          </a:p>
        </p:txBody>
      </p:sp>
      <p:sp>
        <p:nvSpPr>
          <p:cNvPr id="6" name="5 Marcador de número de diapositiva"/>
          <p:cNvSpPr>
            <a:spLocks noGrp="1"/>
          </p:cNvSpPr>
          <p:nvPr>
            <p:ph type="sldNum" sz="quarter" idx="12"/>
          </p:nvPr>
        </p:nvSpPr>
        <p:spPr>
          <a:xfrm>
            <a:off x="6553200" y="6245225"/>
            <a:ext cx="2133600" cy="476250"/>
          </a:xfrm>
          <a:prstGeom prst="rect">
            <a:avLst/>
          </a:prstGeom>
        </p:spPr>
        <p:txBody>
          <a:bodyPr/>
          <a:lstStyle>
            <a:lvl1pPr>
              <a:defRPr/>
            </a:lvl1pPr>
          </a:lstStyle>
          <a:p>
            <a:fld id="{FC759A14-7F51-483C-A089-CBEC7D85FE7A}" type="slidenum">
              <a:rPr lang="es-ES"/>
              <a:pPr/>
              <a:t>‹Nº›</a:t>
            </a:fld>
            <a:endParaRPr lang="es-E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126392-3438-403E-99FA-1C97A29E7DC4}" type="datetime1">
              <a:rPr lang="en-US" smtClean="0"/>
              <a:t>10/31/2023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451495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4" cstate="print"/>
          <a:srcRect/>
          <a:stretch>
            <a:fillRect/>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107950" y="115888"/>
            <a:ext cx="8928100" cy="7207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_tradnl" dirty="0"/>
              <a:t>Haga clic para cambiar el estilo de título	</a:t>
            </a:r>
          </a:p>
        </p:txBody>
      </p:sp>
      <p:sp>
        <p:nvSpPr>
          <p:cNvPr id="7171" name="Rectangle 3"/>
          <p:cNvSpPr>
            <a:spLocks noGrp="1" noChangeArrowheads="1"/>
          </p:cNvSpPr>
          <p:nvPr>
            <p:ph type="body" idx="1"/>
          </p:nvPr>
        </p:nvSpPr>
        <p:spPr bwMode="auto">
          <a:xfrm>
            <a:off x="107950" y="908050"/>
            <a:ext cx="8928100" cy="5113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1029" name="Rectangle 5"/>
          <p:cNvSpPr>
            <a:spLocks noGrp="1" noChangeArrowheads="1"/>
          </p:cNvSpPr>
          <p:nvPr>
            <p:ph type="ftr" sz="quarter" idx="3"/>
          </p:nvPr>
        </p:nvSpPr>
        <p:spPr bwMode="auto">
          <a:xfrm>
            <a:off x="107950" y="6165850"/>
            <a:ext cx="4896098" cy="555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300" b="1" u="none">
                <a:solidFill>
                  <a:srgbClr val="CC0000"/>
                </a:solidFill>
                <a:effectLst/>
              </a:defRPr>
            </a:lvl1pPr>
          </a:lstStyle>
          <a:p>
            <a:pPr>
              <a:defRPr/>
            </a:pPr>
            <a:endParaRPr lang="es-ES" dirty="0"/>
          </a:p>
        </p:txBody>
      </p:sp>
      <p:sp>
        <p:nvSpPr>
          <p:cNvPr id="5" name="5 Marcador de pie de página"/>
          <p:cNvSpPr txBox="1">
            <a:spLocks/>
          </p:cNvSpPr>
          <p:nvPr userDrawn="1"/>
        </p:nvSpPr>
        <p:spPr>
          <a:xfrm>
            <a:off x="5580112" y="6329759"/>
            <a:ext cx="2304256" cy="339601"/>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1000" b="0" i="0" u="none" strike="noStrike" kern="1200" cap="none" spc="0" normalizeH="0" baseline="0" noProof="0" dirty="0">
                <a:ln>
                  <a:noFill/>
                </a:ln>
                <a:solidFill>
                  <a:srgbClr val="C00000"/>
                </a:solidFill>
                <a:effectLst/>
                <a:uLnTx/>
                <a:uFillTx/>
                <a:latin typeface="+mn-lt"/>
                <a:ea typeface="+mn-ea"/>
                <a:cs typeface="+mn-cs"/>
              </a:rPr>
              <a:t>Profesora Sara Bermejo Olivas</a:t>
            </a: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22" r:id="rId13"/>
    <p:sldLayoutId id="2147483723" r:id="rId14"/>
    <p:sldLayoutId id="2147483721"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9" r:id="rId30"/>
    <p:sldLayoutId id="2147483720" r:id="rId31"/>
    <p:sldLayoutId id="2147483724" r:id="rId32"/>
  </p:sldLayoutIdLst>
  <p:hf hdr="0" ftr="0" dt="0"/>
  <p:txStyles>
    <p:title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charset="0"/>
        </a:defRPr>
      </a:lvl2pPr>
      <a:lvl3pPr algn="l" rtl="0" eaLnBrk="1" fontAlgn="base" hangingPunct="1">
        <a:spcBef>
          <a:spcPct val="0"/>
        </a:spcBef>
        <a:spcAft>
          <a:spcPct val="0"/>
        </a:spcAft>
        <a:defRPr sz="2800" b="1">
          <a:solidFill>
            <a:schemeClr val="tx1"/>
          </a:solidFill>
          <a:latin typeface="Arial" charset="0"/>
        </a:defRPr>
      </a:lvl3pPr>
      <a:lvl4pPr algn="l" rtl="0" eaLnBrk="1" fontAlgn="base" hangingPunct="1">
        <a:spcBef>
          <a:spcPct val="0"/>
        </a:spcBef>
        <a:spcAft>
          <a:spcPct val="0"/>
        </a:spcAft>
        <a:defRPr sz="2800" b="1">
          <a:solidFill>
            <a:schemeClr val="tx1"/>
          </a:solidFill>
          <a:latin typeface="Arial" charset="0"/>
        </a:defRPr>
      </a:lvl4pPr>
      <a:lvl5pPr algn="l" rtl="0" eaLnBrk="1" fontAlgn="base" hangingPunct="1">
        <a:spcBef>
          <a:spcPct val="0"/>
        </a:spcBef>
        <a:spcAft>
          <a:spcPct val="0"/>
        </a:spcAft>
        <a:defRPr sz="2800" b="1">
          <a:solidFill>
            <a:schemeClr val="tx1"/>
          </a:solidFill>
          <a:latin typeface="Arial" charset="0"/>
        </a:defRPr>
      </a:lvl5pPr>
      <a:lvl6pPr marL="457200" algn="l" rtl="0" eaLnBrk="1" fontAlgn="base" hangingPunct="1">
        <a:spcBef>
          <a:spcPct val="0"/>
        </a:spcBef>
        <a:spcAft>
          <a:spcPct val="0"/>
        </a:spcAft>
        <a:defRPr sz="2800" b="1">
          <a:solidFill>
            <a:schemeClr val="tx2"/>
          </a:solidFill>
          <a:latin typeface="Arial" charset="0"/>
        </a:defRPr>
      </a:lvl6pPr>
      <a:lvl7pPr marL="914400" algn="l" rtl="0" eaLnBrk="1" fontAlgn="base" hangingPunct="1">
        <a:spcBef>
          <a:spcPct val="0"/>
        </a:spcBef>
        <a:spcAft>
          <a:spcPct val="0"/>
        </a:spcAft>
        <a:defRPr sz="2800" b="1">
          <a:solidFill>
            <a:schemeClr val="tx2"/>
          </a:solidFill>
          <a:latin typeface="Arial" charset="0"/>
        </a:defRPr>
      </a:lvl7pPr>
      <a:lvl8pPr marL="1371600" algn="l" rtl="0" eaLnBrk="1" fontAlgn="base" hangingPunct="1">
        <a:spcBef>
          <a:spcPct val="0"/>
        </a:spcBef>
        <a:spcAft>
          <a:spcPct val="0"/>
        </a:spcAft>
        <a:defRPr sz="2800" b="1">
          <a:solidFill>
            <a:schemeClr val="tx2"/>
          </a:solidFill>
          <a:latin typeface="Arial" charset="0"/>
        </a:defRPr>
      </a:lvl8pPr>
      <a:lvl9pPr marL="1828800" algn="l" rtl="0" eaLnBrk="1" fontAlgn="base" hangingPunct="1">
        <a:spcBef>
          <a:spcPct val="0"/>
        </a:spcBef>
        <a:spcAft>
          <a:spcPct val="0"/>
        </a:spcAft>
        <a:defRPr sz="2800" b="1">
          <a:solidFill>
            <a:schemeClr val="tx2"/>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400">
          <a:solidFill>
            <a:schemeClr val="tx1"/>
          </a:solidFill>
          <a:latin typeface="+mn-lt"/>
        </a:defRPr>
      </a:lvl5pPr>
      <a:lvl6pPr marL="2514600" indent="-228600" algn="l" rtl="0" eaLnBrk="1" fontAlgn="base" hangingPunct="1">
        <a:spcBef>
          <a:spcPct val="20000"/>
        </a:spcBef>
        <a:spcAft>
          <a:spcPct val="0"/>
        </a:spcAft>
        <a:buChar char="»"/>
        <a:defRPr sz="1400">
          <a:solidFill>
            <a:schemeClr val="tx1"/>
          </a:solidFill>
          <a:latin typeface="+mn-lt"/>
        </a:defRPr>
      </a:lvl6pPr>
      <a:lvl7pPr marL="2971800" indent="-228600" algn="l" rtl="0" eaLnBrk="1" fontAlgn="base" hangingPunct="1">
        <a:spcBef>
          <a:spcPct val="20000"/>
        </a:spcBef>
        <a:spcAft>
          <a:spcPct val="0"/>
        </a:spcAft>
        <a:buChar char="»"/>
        <a:defRPr sz="1400">
          <a:solidFill>
            <a:schemeClr val="tx1"/>
          </a:solidFill>
          <a:latin typeface="+mn-lt"/>
        </a:defRPr>
      </a:lvl7pPr>
      <a:lvl8pPr marL="3429000" indent="-228600" algn="l" rtl="0" eaLnBrk="1" fontAlgn="base" hangingPunct="1">
        <a:spcBef>
          <a:spcPct val="20000"/>
        </a:spcBef>
        <a:spcAft>
          <a:spcPct val="0"/>
        </a:spcAft>
        <a:buChar char="»"/>
        <a:defRPr sz="1400">
          <a:solidFill>
            <a:schemeClr val="tx1"/>
          </a:solidFill>
          <a:latin typeface="+mn-lt"/>
        </a:defRPr>
      </a:lvl8pPr>
      <a:lvl9pPr marL="3886200" indent="-228600" algn="l" rtl="0" eaLnBrk="1" fontAlgn="base" hangingPunct="1">
        <a:spcBef>
          <a:spcPct val="20000"/>
        </a:spcBef>
        <a:spcAft>
          <a:spcPct val="0"/>
        </a:spcAft>
        <a:buChar char="»"/>
        <a:defRPr sz="1400">
          <a:solidFill>
            <a:schemeClr val="tx1"/>
          </a:solidFill>
          <a:latin typeface="+mn-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www.google.es/url?q=http://www.12manage.com/methods_taylor_scientific_management_es.html&amp;sa=U&amp;ei=b4b6UrLOJIjt0gWHy4CQCA&amp;ved=0CC8Q9QEwAQ&amp;usg=AFQjCNGvlX-G8jc6mzVzxx1PpfVr26gYJQ"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hyperlink" Target="http://www.google.es/url?q=http://www.monografias.com/trabajos78/administracion-seguridad-integral/administracion-seguridad-integral2.shtml&amp;sa=U&amp;ei=-ob6UozaIIea1AXLqoCgCQ&amp;ved=0CC0Q9QEwAA&amp;usg=AFQjCNG3TtNtCcx1fdcHVEB5W4K2nIN3BQ"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hyperlink" Target="http://www.google.es/url?q=http://www.biografiasyvidas.com/biografia/w/weber_max.htm&amp;sa=U&amp;ei=L4f6UqLjO46a0QWP74CgCQ&amp;ved=0CDEQ9QEwAg&amp;usg=AFQjCNEF0uU_p2MtiFEGGSQn0r1UOclFbA"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www.google.es/url?q=http://wiki.commres.org/EltonMayo&amp;sa=U&amp;ei=BIj6Up2sN8mi0QWd0oCwCA&amp;ved=0CDUQ9QEwBQ&amp;usg=AFQjCNEn6hvGLQtUW3egiKuP3U0hkEPQGg"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hyperlink" Target="http://www.google.es/url?q=http://joe-perez.com/blog/2012/01/article-abraham-maslow-and-the-all-american-self/&amp;sa=U&amp;ei=J4j6UonBJIe00QWu4oHgCw&amp;ved=0CCQQ9QEwAQ&amp;usg=AFQjCNFAaTJeyBKrVX2exPzK6jJ7a4SJ8g"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hyperlink" Target="http://www.google.es/url?q=http://l0nix.blogspot.com/2013/05/teoria-de-las-necesidades.html&amp;sa=U&amp;ei=RIj6UuGgC8Pv0gWH64DADg&amp;ved=0CCwQ9QEwAw&amp;usg=AFQjCNHox9deVgkJHYabgEZQeRDAVnegdA"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hyperlink" Target="http://images.google.com.ar/imgres?imgurl=http://www.citrusheights.net/images/j0387733.jpg&amp;imgrefurl=http://www.citrusheights.net/home/index.asp%3Fpage%3D10%26recordid%3D1326&amp;usg=__aSFcYmRD3Rw66ZqORXjO7d8Zt_U=&amp;h=428&amp;w=600&amp;sz=19&amp;hl=es&amp;start=110&amp;um=1&amp;tbnid=cJNvhHBjt1rZLM:&amp;tbnh=96&amp;tbnw=135&amp;prev=/images%3Fq%3Dleadership%26ndsp%3D18%26hl%3Des%26rlz%3D1R2GGLL_es%26sa%3DN%26start%3D108%26um%3D1" TargetMode="External"/><Relationship Id="rId2" Type="http://schemas.openxmlformats.org/officeDocument/2006/relationships/notesSlide" Target="../notesSlides/notesSlide43.xml"/><Relationship Id="rId1" Type="http://schemas.openxmlformats.org/officeDocument/2006/relationships/slideLayout" Target="../slideLayouts/slideLayout14.xml"/><Relationship Id="rId4" Type="http://schemas.openxmlformats.org/officeDocument/2006/relationships/image" Target="../media/image29.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908720"/>
            <a:ext cx="7772400" cy="1470025"/>
          </a:xfrm>
          <a:prstGeom prst="roundRect">
            <a:avLst/>
          </a:prstGeom>
          <a:solidFill>
            <a:srgbClr val="990000"/>
          </a:solidFill>
          <a:effectLst>
            <a:outerShdw blurRad="76200" dir="18900000" sy="23000" kx="-1200000" algn="bl" rotWithShape="0">
              <a:prstClr val="black">
                <a:alpha val="20000"/>
              </a:prstClr>
            </a:outerShdw>
          </a:effectLst>
        </p:spPr>
        <p:txBody>
          <a:bodyPr/>
          <a:lstStyle/>
          <a:p>
            <a:pPr eaLnBrk="1" hangingPunct="1">
              <a:defRPr/>
            </a:pPr>
            <a:r>
              <a:rPr lang="es-ES_tradnl" dirty="0">
                <a:solidFill>
                  <a:schemeClr val="bg1"/>
                </a:solidFill>
                <a:latin typeface="+mj-lt"/>
              </a:rPr>
              <a:t>INTRODUCCIÓN A LA EMPRESA I</a:t>
            </a:r>
            <a:br>
              <a:rPr lang="es-ES_tradnl" dirty="0">
                <a:solidFill>
                  <a:schemeClr val="bg1"/>
                </a:solidFill>
                <a:latin typeface="+mj-lt"/>
              </a:rPr>
            </a:br>
            <a:r>
              <a:rPr lang="es-ES_tradnl" dirty="0">
                <a:solidFill>
                  <a:schemeClr val="bg1"/>
                </a:solidFill>
                <a:latin typeface="+mj-lt"/>
              </a:rPr>
              <a:t>Curso 2023-2024</a:t>
            </a:r>
          </a:p>
        </p:txBody>
      </p:sp>
      <p:sp>
        <p:nvSpPr>
          <p:cNvPr id="3" name="2 Subtítulo"/>
          <p:cNvSpPr>
            <a:spLocks noGrp="1"/>
          </p:cNvSpPr>
          <p:nvPr>
            <p:ph type="subTitle" idx="1"/>
          </p:nvPr>
        </p:nvSpPr>
        <p:spPr>
          <a:xfrm>
            <a:off x="1371600" y="2780928"/>
            <a:ext cx="6400800" cy="1752600"/>
          </a:xfrm>
          <a:prstGeom prst="roundRect">
            <a:avLst/>
          </a:prstGeom>
          <a:noFill/>
          <a:ln>
            <a:solidFill>
              <a:srgbClr val="990000"/>
            </a:solidFill>
          </a:ln>
          <a:effectLst>
            <a:outerShdw blurRad="76200" dir="18900000" sy="23000" kx="-1200000" algn="bl" rotWithShape="0">
              <a:prstClr val="black">
                <a:alpha val="20000"/>
              </a:prstClr>
            </a:outerShdw>
          </a:effectLst>
        </p:spPr>
        <p:style>
          <a:lnRef idx="2">
            <a:schemeClr val="accent2"/>
          </a:lnRef>
          <a:fillRef idx="1">
            <a:schemeClr val="lt1"/>
          </a:fillRef>
          <a:effectRef idx="0">
            <a:schemeClr val="accent2"/>
          </a:effectRef>
          <a:fontRef idx="minor">
            <a:schemeClr val="dk1"/>
          </a:fontRef>
        </p:style>
        <p:txBody>
          <a:bodyPr anchor="ctr"/>
          <a:lstStyle/>
          <a:p>
            <a:pPr eaLnBrk="1" hangingPunct="1">
              <a:defRPr/>
            </a:pPr>
            <a:r>
              <a:rPr lang="es-ES_tradnl" sz="2800" dirty="0">
                <a:solidFill>
                  <a:srgbClr val="000000"/>
                </a:solidFill>
              </a:rPr>
              <a:t>TEMA 3</a:t>
            </a:r>
          </a:p>
          <a:p>
            <a:pPr eaLnBrk="1" hangingPunct="1">
              <a:defRPr/>
            </a:pPr>
            <a:r>
              <a:rPr lang="es-ES_tradnl" sz="2800" dirty="0">
                <a:solidFill>
                  <a:srgbClr val="000000"/>
                </a:solidFill>
              </a:rPr>
              <a:t>FUNCIONES DE LA DIRECCIÓN</a:t>
            </a:r>
          </a:p>
        </p:txBody>
      </p:sp>
      <p:sp>
        <p:nvSpPr>
          <p:cNvPr id="5" name="2 Subtítulo"/>
          <p:cNvSpPr txBox="1">
            <a:spLocks/>
          </p:cNvSpPr>
          <p:nvPr/>
        </p:nvSpPr>
        <p:spPr bwMode="auto">
          <a:xfrm>
            <a:off x="1258838" y="5012655"/>
            <a:ext cx="6913562" cy="936625"/>
          </a:xfrm>
          <a:prstGeom prst="roundRect">
            <a:avLst/>
          </a:prstGeom>
          <a:noFill/>
          <a:ln w="25400" cap="flat" cmpd="sng" algn="ctr">
            <a:solidFill>
              <a:srgbClr val="C00000"/>
            </a:solidFill>
            <a:prstDash val="solid"/>
            <a:miter lim="800000"/>
            <a:headEnd/>
            <a:tailEnd/>
          </a:ln>
          <a:effectLst>
            <a:outerShdw blurRad="76200" dir="18900000" sy="23000" kx="-1200000" algn="bl" rotWithShape="0">
              <a:prstClr val="black">
                <a:alpha val="20000"/>
              </a:prstClr>
            </a:outerShdw>
          </a:effec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s-ES_tradnl" sz="2000" b="0" i="0" u="none" strike="noStrike" kern="0" cap="none" spc="0" normalizeH="0" baseline="0" noProof="0">
                <a:ln>
                  <a:noFill/>
                </a:ln>
                <a:solidFill>
                  <a:srgbClr val="000000"/>
                </a:solidFill>
                <a:effectLst/>
                <a:uLnTx/>
                <a:uFillTx/>
                <a:latin typeface="+mn-lt"/>
                <a:ea typeface="+mn-ea"/>
                <a:cs typeface="+mn-cs"/>
              </a:rPr>
              <a:t>GADO EN ADMINISTRACIÓN Y DIRECCIÓN DE EMPRESAS</a:t>
            </a:r>
            <a:endParaRPr kumimoji="0" lang="es-ES_tradnl" sz="2000" b="0" i="0" u="none" strike="noStrike" kern="0" cap="none" spc="0" normalizeH="0" baseline="0" noProof="0" dirty="0">
              <a:ln>
                <a:noFill/>
              </a:ln>
              <a:solidFill>
                <a:srgbClr val="000000"/>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ES" dirty="0"/>
              <a:t>TEMA 3: OBJETIVOS DOCENTES</a:t>
            </a:r>
          </a:p>
        </p:txBody>
      </p:sp>
      <p:sp>
        <p:nvSpPr>
          <p:cNvPr id="8" name="7 Rectángulo"/>
          <p:cNvSpPr/>
          <p:nvPr/>
        </p:nvSpPr>
        <p:spPr>
          <a:xfrm>
            <a:off x="683568" y="1142449"/>
            <a:ext cx="7992888" cy="805349"/>
          </a:xfrm>
          <a:prstGeom prst="rect">
            <a:avLst/>
          </a:prstGeom>
        </p:spPr>
        <p:txBody>
          <a:bodyPr wrap="square">
            <a:spAutoFit/>
          </a:bodyPr>
          <a:lstStyle/>
          <a:p>
            <a:pPr marL="355600" lvl="0" indent="-355600" algn="just">
              <a:spcBef>
                <a:spcPts val="1000"/>
              </a:spcBef>
              <a:defRPr/>
            </a:pPr>
            <a:r>
              <a:rPr lang="en-US" sz="1900" dirty="0">
                <a:solidFill>
                  <a:srgbClr val="000000"/>
                </a:solidFill>
                <a:latin typeface="Comic Sans MS"/>
                <a:cs typeface="+mn-cs"/>
              </a:rPr>
              <a:t> </a:t>
            </a:r>
          </a:p>
          <a:p>
            <a:pPr marL="355600" lvl="0" indent="-355600" algn="just">
              <a:spcBef>
                <a:spcPts val="1000"/>
              </a:spcBef>
              <a:buFontTx/>
              <a:buAutoNum type="arabicPeriod"/>
              <a:defRPr/>
            </a:pPr>
            <a:endParaRPr lang="en-US" sz="1900" dirty="0">
              <a:solidFill>
                <a:srgbClr val="000000"/>
              </a:solidFill>
              <a:latin typeface="Comic Sans MS"/>
              <a:cs typeface="+mn-cs"/>
            </a:endParaRPr>
          </a:p>
        </p:txBody>
      </p:sp>
      <p:sp>
        <p:nvSpPr>
          <p:cNvPr id="5" name="4 Marcador de número de diapositiva"/>
          <p:cNvSpPr>
            <a:spLocks noGrp="1"/>
          </p:cNvSpPr>
          <p:nvPr>
            <p:ph type="sldNum" sz="quarter" idx="4"/>
          </p:nvPr>
        </p:nvSpPr>
        <p:spPr/>
        <p:txBody>
          <a:bodyPr/>
          <a:lstStyle/>
          <a:p>
            <a:fld id="{3A50B82F-E44A-4FE6-8B99-53CD253DED7E}" type="slidenum">
              <a:rPr lang="es-ES" smtClean="0"/>
              <a:pPr/>
              <a:t>2</a:t>
            </a:fld>
            <a:endParaRPr lang="es-ES" dirty="0"/>
          </a:p>
        </p:txBody>
      </p:sp>
      <p:sp>
        <p:nvSpPr>
          <p:cNvPr id="6" name="5 Rectángulo"/>
          <p:cNvSpPr/>
          <p:nvPr/>
        </p:nvSpPr>
        <p:spPr>
          <a:xfrm>
            <a:off x="683568" y="1484784"/>
            <a:ext cx="7632848" cy="3657411"/>
          </a:xfrm>
          <a:prstGeom prst="rect">
            <a:avLst/>
          </a:prstGeom>
        </p:spPr>
        <p:txBody>
          <a:bodyPr wrap="square">
            <a:spAutoFit/>
          </a:bodyPr>
          <a:lstStyle/>
          <a:p>
            <a:pPr marL="355600" indent="-355600" algn="just">
              <a:spcBef>
                <a:spcPts val="1000"/>
              </a:spcBef>
              <a:buSzPct val="100000"/>
              <a:buFontTx/>
              <a:buAutoNum type="arabicPeriod"/>
              <a:defRPr/>
            </a:pPr>
            <a:r>
              <a:rPr lang="es-ES" sz="1900" dirty="0">
                <a:latin typeface="Comic Sans MS"/>
              </a:rPr>
              <a:t>Conocer las principales aportaciones en la evolución del pensamiento administrativo.</a:t>
            </a:r>
          </a:p>
          <a:p>
            <a:pPr marL="355600" indent="-355600" algn="just">
              <a:spcBef>
                <a:spcPts val="1000"/>
              </a:spcBef>
              <a:buSzPct val="100000"/>
              <a:buFontTx/>
              <a:buAutoNum type="arabicPeriod"/>
              <a:defRPr/>
            </a:pPr>
            <a:r>
              <a:rPr lang="es-ES" sz="1900" dirty="0">
                <a:latin typeface="Comic Sans MS"/>
              </a:rPr>
              <a:t>Conocer en mayor profundidad las principales funciones de la administración empresarial.</a:t>
            </a:r>
          </a:p>
          <a:p>
            <a:pPr marL="355600" indent="-355600" algn="just">
              <a:spcBef>
                <a:spcPts val="1000"/>
              </a:spcBef>
              <a:buSzPct val="100000"/>
              <a:buFontTx/>
              <a:buAutoNum type="arabicPeriod"/>
              <a:defRPr/>
            </a:pPr>
            <a:r>
              <a:rPr lang="es-ES_tradnl" sz="1900" dirty="0">
                <a:latin typeface="Comic Sans MS"/>
              </a:rPr>
              <a:t>Conocer la importancia de cada una de las funciones administrativas.</a:t>
            </a:r>
            <a:endParaRPr lang="es-ES" sz="1900" dirty="0">
              <a:latin typeface="Comic Sans MS"/>
            </a:endParaRPr>
          </a:p>
          <a:p>
            <a:pPr marL="355600" indent="-355600" algn="just">
              <a:spcBef>
                <a:spcPts val="1000"/>
              </a:spcBef>
              <a:buSzPct val="100000"/>
              <a:buFontTx/>
              <a:buAutoNum type="arabicPeriod"/>
              <a:defRPr/>
            </a:pPr>
            <a:r>
              <a:rPr lang="es-ES" sz="1900" dirty="0">
                <a:latin typeface="Comic Sans MS"/>
              </a:rPr>
              <a:t>Identificar los diferentes tipos y procesos de planificación.</a:t>
            </a:r>
          </a:p>
          <a:p>
            <a:pPr marL="355600" indent="-355600" algn="just">
              <a:spcBef>
                <a:spcPts val="1000"/>
              </a:spcBef>
              <a:buSzPct val="100000"/>
              <a:buFontTx/>
              <a:buAutoNum type="arabicPeriod"/>
              <a:defRPr/>
            </a:pPr>
            <a:r>
              <a:rPr lang="es-ES" sz="1900" dirty="0">
                <a:latin typeface="Comic Sans MS"/>
              </a:rPr>
              <a:t>Conocer las actividades básicas de la Dirección de Recursos Humanos.</a:t>
            </a:r>
          </a:p>
          <a:p>
            <a:pPr marL="355600" indent="-355600" algn="just">
              <a:spcBef>
                <a:spcPts val="1000"/>
              </a:spcBef>
              <a:buSzPct val="100000"/>
              <a:buFontTx/>
              <a:buAutoNum type="arabicPeriod"/>
              <a:defRPr/>
            </a:pPr>
            <a:r>
              <a:rPr lang="es-ES" sz="1900" dirty="0">
                <a:latin typeface="Comic Sans MS"/>
              </a:rPr>
              <a:t>Conocer las características del control y sus tipos.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Título"/>
          <p:cNvSpPr>
            <a:spLocks noGrp="1"/>
          </p:cNvSpPr>
          <p:nvPr>
            <p:ph type="title"/>
          </p:nvPr>
        </p:nvSpPr>
        <p:spPr/>
        <p:txBody>
          <a:bodyPr/>
          <a:lstStyle/>
          <a:p>
            <a:r>
              <a:rPr lang="es-ES" sz="2600" dirty="0"/>
              <a:t>TEMA 3: FUNCIONES DE LA DIRECCIÓN</a:t>
            </a:r>
          </a:p>
        </p:txBody>
      </p:sp>
      <p:sp>
        <p:nvSpPr>
          <p:cNvPr id="9" name="8 Rectángulo"/>
          <p:cNvSpPr/>
          <p:nvPr/>
        </p:nvSpPr>
        <p:spPr>
          <a:xfrm>
            <a:off x="611560" y="1268760"/>
            <a:ext cx="8208912" cy="3944670"/>
          </a:xfrm>
          <a:prstGeom prst="rect">
            <a:avLst/>
          </a:prstGeom>
        </p:spPr>
        <p:txBody>
          <a:bodyPr wrap="square">
            <a:spAutoFit/>
          </a:bodyPr>
          <a:lstStyle/>
          <a:p>
            <a:pPr marL="457200" lvl="0" indent="-457200">
              <a:spcBef>
                <a:spcPts val="1000"/>
              </a:spcBef>
            </a:pPr>
            <a:r>
              <a:rPr lang="es-ES_tradnl" sz="2400" dirty="0">
                <a:solidFill>
                  <a:srgbClr val="000000"/>
                </a:solidFill>
                <a:latin typeface="Comic Sans MS"/>
              </a:rPr>
              <a:t>3.1. Escuelas de pensamiento:</a:t>
            </a:r>
          </a:p>
          <a:p>
            <a:pPr marL="457200" lvl="0" indent="-457200">
              <a:spcBef>
                <a:spcPts val="1000"/>
              </a:spcBef>
            </a:pPr>
            <a:r>
              <a:rPr lang="es-ES_tradnl" sz="2400" dirty="0">
                <a:solidFill>
                  <a:srgbClr val="000000"/>
                </a:solidFill>
                <a:latin typeface="Comic Sans MS"/>
              </a:rPr>
              <a:t>	3.1.1. Perspectiva clásica.</a:t>
            </a:r>
          </a:p>
          <a:p>
            <a:pPr marL="457200" lvl="0" indent="-457200">
              <a:spcBef>
                <a:spcPts val="1000"/>
              </a:spcBef>
            </a:pPr>
            <a:r>
              <a:rPr lang="es-ES_tradnl" sz="2400" dirty="0">
                <a:solidFill>
                  <a:srgbClr val="000000"/>
                </a:solidFill>
                <a:latin typeface="Comic Sans MS"/>
              </a:rPr>
              <a:t>	3.1.2. Perspectiva del comportamiento.</a:t>
            </a:r>
          </a:p>
          <a:p>
            <a:pPr marL="457200" lvl="0" indent="-457200">
              <a:spcBef>
                <a:spcPts val="1000"/>
              </a:spcBef>
            </a:pPr>
            <a:r>
              <a:rPr lang="es-ES_tradnl" sz="2400" dirty="0">
                <a:solidFill>
                  <a:srgbClr val="000000"/>
                </a:solidFill>
                <a:latin typeface="Comic Sans MS"/>
              </a:rPr>
              <a:t>	3.1.3. Perspectivas actuales de la dirección.</a:t>
            </a:r>
          </a:p>
          <a:p>
            <a:pPr marL="457200" lvl="0" indent="-457200" algn="just">
              <a:spcBef>
                <a:spcPts val="1000"/>
              </a:spcBef>
            </a:pPr>
            <a:r>
              <a:rPr lang="es-ES_tradnl" sz="2400" dirty="0">
                <a:solidFill>
                  <a:srgbClr val="000000"/>
                </a:solidFill>
                <a:latin typeface="Comic Sans MS"/>
              </a:rPr>
              <a:t>3.2. Planificación.</a:t>
            </a:r>
          </a:p>
          <a:p>
            <a:pPr marL="457200" lvl="0" indent="-457200" algn="just">
              <a:spcBef>
                <a:spcPts val="1000"/>
              </a:spcBef>
            </a:pPr>
            <a:r>
              <a:rPr lang="es-ES_tradnl" sz="2400" dirty="0">
                <a:solidFill>
                  <a:srgbClr val="000000"/>
                </a:solidFill>
                <a:latin typeface="Comic Sans MS"/>
              </a:rPr>
              <a:t>3.3. Organización.</a:t>
            </a:r>
          </a:p>
          <a:p>
            <a:pPr marL="457200" lvl="0" indent="-457200" algn="just">
              <a:spcBef>
                <a:spcPts val="1000"/>
              </a:spcBef>
            </a:pPr>
            <a:r>
              <a:rPr lang="es-ES_tradnl" sz="2400" dirty="0">
                <a:solidFill>
                  <a:srgbClr val="000000"/>
                </a:solidFill>
                <a:latin typeface="Comic Sans MS"/>
              </a:rPr>
              <a:t>3.4. Dirección de Recursos Humanos.</a:t>
            </a:r>
          </a:p>
          <a:p>
            <a:pPr marL="457200" lvl="0" indent="-457200" algn="just">
              <a:spcBef>
                <a:spcPts val="1000"/>
              </a:spcBef>
            </a:pPr>
            <a:r>
              <a:rPr lang="es-ES_tradnl" sz="2400" dirty="0">
                <a:solidFill>
                  <a:srgbClr val="000000"/>
                </a:solidFill>
                <a:latin typeface="Comic Sans MS"/>
              </a:rPr>
              <a:t>3.5. Control.</a:t>
            </a:r>
          </a:p>
        </p:txBody>
      </p:sp>
      <p:sp>
        <p:nvSpPr>
          <p:cNvPr id="4" name="3 Marcador de número de diapositiva"/>
          <p:cNvSpPr>
            <a:spLocks noGrp="1"/>
          </p:cNvSpPr>
          <p:nvPr>
            <p:ph type="sldNum" sz="quarter" idx="4"/>
          </p:nvPr>
        </p:nvSpPr>
        <p:spPr/>
        <p:txBody>
          <a:bodyPr/>
          <a:lstStyle/>
          <a:p>
            <a:fld id="{3A50B82F-E44A-4FE6-8B99-53CD253DED7E}" type="slidenum">
              <a:rPr lang="es-ES" smtClean="0"/>
              <a:pPr/>
              <a:t>3</a:t>
            </a:fld>
            <a:endParaRPr lang="es-ES"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fld id="{3A50B82F-E44A-4FE6-8B99-53CD253DED7E}" type="slidenum">
              <a:rPr lang="es-ES" smtClean="0"/>
              <a:pPr/>
              <a:t>4</a:t>
            </a:fld>
            <a:endParaRPr lang="es-ES" dirty="0"/>
          </a:p>
        </p:txBody>
      </p:sp>
      <p:sp>
        <p:nvSpPr>
          <p:cNvPr id="4" name="3 Rectángulo"/>
          <p:cNvSpPr/>
          <p:nvPr/>
        </p:nvSpPr>
        <p:spPr>
          <a:xfrm>
            <a:off x="755576" y="3188700"/>
            <a:ext cx="7848872" cy="1680460"/>
          </a:xfrm>
          <a:prstGeom prst="rect">
            <a:avLst/>
          </a:prstGeom>
        </p:spPr>
        <p:txBody>
          <a:bodyPr wrap="square">
            <a:spAutoFit/>
          </a:bodyPr>
          <a:lstStyle/>
          <a:p>
            <a:pPr marL="285750" indent="-285750">
              <a:lnSpc>
                <a:spcPct val="130000"/>
              </a:lnSpc>
              <a:spcBef>
                <a:spcPct val="20000"/>
              </a:spcBef>
            </a:pPr>
            <a:r>
              <a:rPr lang="es-ES_tradnl" sz="2400" u="none" kern="0" dirty="0">
                <a:solidFill>
                  <a:srgbClr val="000000"/>
                </a:solidFill>
                <a:latin typeface="Comic Sans MS"/>
              </a:rPr>
              <a:t>3.1.1. </a:t>
            </a:r>
            <a:r>
              <a:rPr lang="es-ES_tradnl" sz="2400" kern="0" dirty="0">
                <a:solidFill>
                  <a:srgbClr val="000000"/>
                </a:solidFill>
                <a:latin typeface="Comic Sans MS"/>
              </a:rPr>
              <a:t>Perspectiva clásica.</a:t>
            </a:r>
          </a:p>
          <a:p>
            <a:pPr marL="285750" indent="-285750">
              <a:lnSpc>
                <a:spcPct val="130000"/>
              </a:lnSpc>
              <a:spcBef>
                <a:spcPct val="20000"/>
              </a:spcBef>
            </a:pPr>
            <a:r>
              <a:rPr lang="es-ES_tradnl" sz="2400" u="none" kern="0" dirty="0">
                <a:solidFill>
                  <a:srgbClr val="000000"/>
                </a:solidFill>
                <a:latin typeface="Comic Sans MS"/>
              </a:rPr>
              <a:t>3.1.2. Perspectiva del comportamiento.</a:t>
            </a:r>
          </a:p>
          <a:p>
            <a:pPr marL="285750" indent="-285750">
              <a:lnSpc>
                <a:spcPct val="130000"/>
              </a:lnSpc>
              <a:spcBef>
                <a:spcPct val="20000"/>
              </a:spcBef>
            </a:pPr>
            <a:r>
              <a:rPr lang="es-ES_tradnl" sz="2400" u="none" kern="0" dirty="0">
                <a:solidFill>
                  <a:srgbClr val="000000"/>
                </a:solidFill>
                <a:latin typeface="Comic Sans MS"/>
              </a:rPr>
              <a:t>3.1.3. Perspectivas actuales.</a:t>
            </a:r>
          </a:p>
        </p:txBody>
      </p:sp>
      <p:sp>
        <p:nvSpPr>
          <p:cNvPr id="5" name="4 Rectángulo"/>
          <p:cNvSpPr/>
          <p:nvPr/>
        </p:nvSpPr>
        <p:spPr>
          <a:xfrm>
            <a:off x="518111" y="1484784"/>
            <a:ext cx="8374369" cy="1384995"/>
          </a:xfrm>
          <a:prstGeom prst="rect">
            <a:avLst/>
          </a:prstGeom>
        </p:spPr>
        <p:txBody>
          <a:bodyPr wrap="square">
            <a:spAutoFit/>
          </a:bodyPr>
          <a:lstStyle/>
          <a:p>
            <a:pPr algn="ctr"/>
            <a:r>
              <a:rPr lang="es-ES" sz="2800" b="1" dirty="0">
                <a:solidFill>
                  <a:srgbClr val="C00000"/>
                </a:solidFill>
                <a:latin typeface="+mn-lt"/>
              </a:rPr>
              <a:t>3</a:t>
            </a:r>
            <a:r>
              <a:rPr lang="es-ES" sz="2800" b="1" u="none" dirty="0">
                <a:solidFill>
                  <a:srgbClr val="C00000"/>
                </a:solidFill>
                <a:latin typeface="+mn-lt"/>
              </a:rPr>
              <a:t>.1. </a:t>
            </a:r>
            <a:r>
              <a:rPr lang="es-ES" sz="2800" b="1" dirty="0">
                <a:solidFill>
                  <a:srgbClr val="C00000"/>
                </a:solidFill>
                <a:latin typeface="+mn-lt"/>
              </a:rPr>
              <a:t>ESCUELAS DE PENSAMIENTO: EVOLUCIÓN DEL PENSA</a:t>
            </a:r>
            <a:r>
              <a:rPr lang="es-ES" sz="2800" b="1" u="none" dirty="0">
                <a:solidFill>
                  <a:srgbClr val="C00000"/>
                </a:solidFill>
                <a:latin typeface="+mn-lt"/>
              </a:rPr>
              <a:t>MIENTO ADMINISTRATIVO</a:t>
            </a:r>
            <a:endParaRPr lang="es-ES" sz="2800" b="1" u="none" dirty="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r>
              <a:rPr lang="es-ES" dirty="0">
                <a:solidFill>
                  <a:schemeClr val="tx1"/>
                </a:solidFill>
              </a:rPr>
              <a:t>3.1. Escuelas de pensamiento administrativo</a:t>
            </a:r>
          </a:p>
        </p:txBody>
      </p:sp>
      <p:sp>
        <p:nvSpPr>
          <p:cNvPr id="3" name="2 Marcador de número de diapositiva"/>
          <p:cNvSpPr>
            <a:spLocks noGrp="1"/>
          </p:cNvSpPr>
          <p:nvPr>
            <p:ph type="sldNum" sz="quarter" idx="4"/>
          </p:nvPr>
        </p:nvSpPr>
        <p:spPr/>
        <p:txBody>
          <a:bodyPr/>
          <a:lstStyle/>
          <a:p>
            <a:fld id="{3A50B82F-E44A-4FE6-8B99-53CD253DED7E}" type="slidenum">
              <a:rPr lang="es-ES" smtClean="0"/>
              <a:pPr/>
              <a:t>5</a:t>
            </a:fld>
            <a:endParaRPr lang="es-ES" dirty="0"/>
          </a:p>
        </p:txBody>
      </p:sp>
      <p:sp>
        <p:nvSpPr>
          <p:cNvPr id="33" name="32 Rectángulo"/>
          <p:cNvSpPr/>
          <p:nvPr/>
        </p:nvSpPr>
        <p:spPr>
          <a:xfrm>
            <a:off x="107504" y="980728"/>
            <a:ext cx="3168352" cy="5486400"/>
          </a:xfrm>
          <a:prstGeom prst="rect">
            <a:avLst/>
          </a:prstGeom>
          <a:ln>
            <a:solidFill>
              <a:srgbClr val="0070C0"/>
            </a:solidFill>
          </a:ln>
        </p:spPr>
        <p:txBody>
          <a:bodyPr wrap="square">
            <a:noAutofit/>
          </a:bodyPr>
          <a:lstStyle/>
          <a:p>
            <a:pPr marL="0" lvl="1" algn="ctr">
              <a:lnSpc>
                <a:spcPct val="90000"/>
              </a:lnSpc>
              <a:spcBef>
                <a:spcPct val="30000"/>
              </a:spcBef>
              <a:spcAft>
                <a:spcPct val="30000"/>
              </a:spcAft>
            </a:pPr>
            <a:r>
              <a:rPr lang="es-ES" sz="1600" b="1" u="none" kern="0" dirty="0">
                <a:solidFill>
                  <a:srgbClr val="0070C0"/>
                </a:solidFill>
                <a:latin typeface="Comic Sans MS"/>
              </a:rPr>
              <a:t>PERSPECTIVA CLÁSICA</a:t>
            </a:r>
          </a:p>
          <a:p>
            <a:pPr marL="176213" lvl="1" indent="-176213" algn="just">
              <a:lnSpc>
                <a:spcPct val="90000"/>
              </a:lnSpc>
              <a:spcBef>
                <a:spcPct val="30000"/>
              </a:spcBef>
              <a:spcAft>
                <a:spcPct val="30000"/>
              </a:spcAft>
              <a:buFont typeface="Arial" pitchFamily="34" charset="0"/>
              <a:buChar char="•"/>
            </a:pPr>
            <a:r>
              <a:rPr lang="es-ES" sz="1600" u="none" kern="0" dirty="0">
                <a:solidFill>
                  <a:srgbClr val="000000"/>
                </a:solidFill>
                <a:latin typeface="Comic Sans MS"/>
              </a:rPr>
              <a:t>Organizaciones: concebidas como </a:t>
            </a:r>
            <a:r>
              <a:rPr lang="es-ES" sz="1600" b="1" u="none" kern="0" dirty="0">
                <a:solidFill>
                  <a:srgbClr val="0070C0"/>
                </a:solidFill>
                <a:latin typeface="Comic Sans MS"/>
              </a:rPr>
              <a:t>sistemas cerrados </a:t>
            </a:r>
            <a:r>
              <a:rPr lang="es-ES" sz="1600" b="1" u="none" kern="0" dirty="0">
                <a:latin typeface="Comic Sans MS"/>
                <a:sym typeface="Wingdings" pitchFamily="2" charset="2"/>
              </a:rPr>
              <a:t> no tienen en cuenta la influencia del entorno.</a:t>
            </a:r>
            <a:endParaRPr lang="es-ES" sz="1600" u="none" kern="0" dirty="0">
              <a:latin typeface="Comic Sans MS"/>
              <a:sym typeface="Wingdings" pitchFamily="2" charset="2"/>
            </a:endParaRPr>
          </a:p>
          <a:p>
            <a:pPr marL="176213" lvl="1" indent="-176213">
              <a:lnSpc>
                <a:spcPct val="90000"/>
              </a:lnSpc>
              <a:spcBef>
                <a:spcPct val="30000"/>
              </a:spcBef>
              <a:spcAft>
                <a:spcPct val="30000"/>
              </a:spcAft>
              <a:buFont typeface="Arial" pitchFamily="34" charset="0"/>
              <a:buChar char="•"/>
            </a:pPr>
            <a:r>
              <a:rPr lang="es-ES" sz="1600" u="none" kern="0" dirty="0">
                <a:latin typeface="Comic Sans MS"/>
                <a:sym typeface="Wingdings" pitchFamily="2" charset="2"/>
              </a:rPr>
              <a:t>Principal preocupación: aumentar la </a:t>
            </a:r>
            <a:r>
              <a:rPr lang="es-ES" sz="1600" b="1" u="none" kern="0" dirty="0">
                <a:solidFill>
                  <a:srgbClr val="0070C0"/>
                </a:solidFill>
                <a:latin typeface="Comic Sans MS"/>
                <a:sym typeface="Wingdings" pitchFamily="2" charset="2"/>
              </a:rPr>
              <a:t>productividad.</a:t>
            </a:r>
            <a:endParaRPr lang="es-ES" sz="1600" b="1" u="none" kern="0" dirty="0">
              <a:solidFill>
                <a:srgbClr val="0070C0"/>
              </a:solidFill>
              <a:latin typeface="Comic Sans MS"/>
            </a:endParaRPr>
          </a:p>
          <a:p>
            <a:pPr marL="0" lvl="1" algn="just">
              <a:lnSpc>
                <a:spcPct val="90000"/>
              </a:lnSpc>
              <a:spcBef>
                <a:spcPct val="30000"/>
              </a:spcBef>
              <a:spcAft>
                <a:spcPct val="30000"/>
              </a:spcAft>
            </a:pPr>
            <a:r>
              <a:rPr lang="es-ES" sz="1600" b="1" u="none" kern="0" dirty="0">
                <a:solidFill>
                  <a:srgbClr val="0070C0"/>
                </a:solidFill>
                <a:latin typeface="Comic Sans MS"/>
              </a:rPr>
              <a:t>Aportaciones:</a:t>
            </a:r>
          </a:p>
          <a:p>
            <a:pPr marL="342900" lvl="1" indent="-342900" algn="just">
              <a:lnSpc>
                <a:spcPct val="90000"/>
              </a:lnSpc>
              <a:spcBef>
                <a:spcPct val="30000"/>
              </a:spcBef>
              <a:spcAft>
                <a:spcPct val="30000"/>
              </a:spcAft>
              <a:buAutoNum type="arabicPeriod"/>
            </a:pPr>
            <a:r>
              <a:rPr lang="es-ES" sz="1600" u="none" kern="0" dirty="0">
                <a:solidFill>
                  <a:srgbClr val="000000"/>
                </a:solidFill>
                <a:latin typeface="Comic Sans MS"/>
              </a:rPr>
              <a:t>ADMINISTRACIÓN CIENTÍFICA </a:t>
            </a:r>
            <a:r>
              <a:rPr lang="es-ES" sz="1600" u="none" kern="0" dirty="0">
                <a:solidFill>
                  <a:srgbClr val="000000"/>
                </a:solidFill>
                <a:latin typeface="Comic Sans MS"/>
                <a:sym typeface="Wingdings" pitchFamily="2" charset="2"/>
              </a:rPr>
              <a:t> F.W. TAYLOR (1911)</a:t>
            </a:r>
          </a:p>
          <a:p>
            <a:pPr marL="342900" lvl="1" indent="-342900" algn="just">
              <a:lnSpc>
                <a:spcPct val="90000"/>
              </a:lnSpc>
              <a:spcBef>
                <a:spcPct val="30000"/>
              </a:spcBef>
              <a:spcAft>
                <a:spcPct val="30000"/>
              </a:spcAft>
              <a:buAutoNum type="arabicPeriod"/>
            </a:pPr>
            <a:r>
              <a:rPr lang="es-ES" sz="1600" u="none" kern="0" dirty="0">
                <a:solidFill>
                  <a:srgbClr val="000000"/>
                </a:solidFill>
                <a:latin typeface="Comic Sans MS"/>
                <a:sym typeface="Wingdings" pitchFamily="2" charset="2"/>
              </a:rPr>
              <a:t>TEORÍA CLÁSICA  H. FAYOL (1916)</a:t>
            </a:r>
          </a:p>
          <a:p>
            <a:pPr marL="342900" lvl="1" indent="-342900" algn="just">
              <a:lnSpc>
                <a:spcPct val="90000"/>
              </a:lnSpc>
              <a:spcBef>
                <a:spcPct val="30000"/>
              </a:spcBef>
              <a:spcAft>
                <a:spcPct val="30000"/>
              </a:spcAft>
              <a:buAutoNum type="arabicPeriod"/>
            </a:pPr>
            <a:r>
              <a:rPr lang="es-ES" sz="1600" u="none" kern="0" dirty="0">
                <a:solidFill>
                  <a:srgbClr val="000000"/>
                </a:solidFill>
                <a:latin typeface="Comic Sans MS"/>
                <a:sym typeface="Wingdings" pitchFamily="2" charset="2"/>
              </a:rPr>
              <a:t>MODELO BUROCRÁTICO  M. WEBER (1922)</a:t>
            </a:r>
            <a:endParaRPr lang="es-ES" sz="1600" u="none" kern="0" dirty="0">
              <a:solidFill>
                <a:srgbClr val="000000"/>
              </a:solidFill>
              <a:latin typeface="Comic Sans MS"/>
            </a:endParaRPr>
          </a:p>
          <a:p>
            <a:pPr marL="0" lvl="1" algn="just">
              <a:lnSpc>
                <a:spcPct val="90000"/>
              </a:lnSpc>
              <a:spcBef>
                <a:spcPct val="30000"/>
              </a:spcBef>
              <a:spcAft>
                <a:spcPct val="30000"/>
              </a:spcAft>
            </a:pPr>
            <a:endParaRPr lang="es-ES" sz="1600" u="none" kern="0" dirty="0">
              <a:solidFill>
                <a:srgbClr val="000000"/>
              </a:solidFill>
              <a:latin typeface="Comic Sans MS"/>
            </a:endParaRPr>
          </a:p>
        </p:txBody>
      </p:sp>
      <p:sp>
        <p:nvSpPr>
          <p:cNvPr id="34" name="33 Rectángulo"/>
          <p:cNvSpPr/>
          <p:nvPr/>
        </p:nvSpPr>
        <p:spPr>
          <a:xfrm>
            <a:off x="3347864" y="980728"/>
            <a:ext cx="3168352" cy="5484578"/>
          </a:xfrm>
          <a:prstGeom prst="rect">
            <a:avLst/>
          </a:prstGeom>
          <a:ln>
            <a:solidFill>
              <a:srgbClr val="FF0000"/>
            </a:solidFill>
          </a:ln>
        </p:spPr>
        <p:txBody>
          <a:bodyPr wrap="square">
            <a:spAutoFit/>
          </a:bodyPr>
          <a:lstStyle/>
          <a:p>
            <a:pPr lvl="0" algn="ctr">
              <a:spcBef>
                <a:spcPct val="30000"/>
              </a:spcBef>
              <a:spcAft>
                <a:spcPct val="30000"/>
              </a:spcAft>
              <a:tabLst>
                <a:tab pos="179388" algn="l"/>
              </a:tabLst>
            </a:pPr>
            <a:r>
              <a:rPr lang="es-ES" sz="1600" b="1" u="none" kern="0" dirty="0">
                <a:solidFill>
                  <a:srgbClr val="C00000"/>
                </a:solidFill>
                <a:latin typeface="Comic Sans MS"/>
              </a:rPr>
              <a:t>PERSPECTIVA DEL COMPORTAMIENTO</a:t>
            </a:r>
          </a:p>
          <a:p>
            <a:pPr lvl="0" algn="just">
              <a:spcBef>
                <a:spcPct val="30000"/>
              </a:spcBef>
              <a:spcAft>
                <a:spcPct val="30000"/>
              </a:spcAft>
              <a:tabLst>
                <a:tab pos="179388" algn="l"/>
              </a:tabLst>
            </a:pPr>
            <a:r>
              <a:rPr lang="es-ES" sz="1600" u="none" kern="0" dirty="0">
                <a:latin typeface="Comic Sans MS"/>
              </a:rPr>
              <a:t>El conocimiento de los procesos psicológicos y sociales del comportamiento humano es esencial para mejorar la productividad y satisfacción en el trabajo.</a:t>
            </a:r>
          </a:p>
          <a:p>
            <a:pPr marL="0" lvl="1" algn="just">
              <a:lnSpc>
                <a:spcPct val="90000"/>
              </a:lnSpc>
              <a:spcBef>
                <a:spcPct val="30000"/>
              </a:spcBef>
              <a:spcAft>
                <a:spcPct val="30000"/>
              </a:spcAft>
              <a:tabLst>
                <a:tab pos="179388" algn="l"/>
              </a:tabLst>
            </a:pPr>
            <a:r>
              <a:rPr lang="es-ES" sz="1600" b="1" u="none" kern="0" dirty="0">
                <a:solidFill>
                  <a:srgbClr val="C00000"/>
                </a:solidFill>
                <a:latin typeface="Comic Sans MS"/>
              </a:rPr>
              <a:t>Aportaciones:</a:t>
            </a:r>
          </a:p>
          <a:p>
            <a:pPr marL="342900" lvl="0" indent="-342900">
              <a:spcBef>
                <a:spcPct val="30000"/>
              </a:spcBef>
              <a:spcAft>
                <a:spcPct val="30000"/>
              </a:spcAft>
              <a:buAutoNum type="arabicPeriod"/>
              <a:tabLst>
                <a:tab pos="179388" algn="l"/>
              </a:tabLst>
            </a:pPr>
            <a:r>
              <a:rPr lang="es-ES" sz="1600" u="none" kern="0" dirty="0">
                <a:solidFill>
                  <a:srgbClr val="000000"/>
                </a:solidFill>
                <a:latin typeface="Comic Sans MS"/>
              </a:rPr>
              <a:t>ESTUDIOS DE HAWTHORNE </a:t>
            </a:r>
            <a:r>
              <a:rPr lang="es-ES" sz="1600" u="none" kern="0" dirty="0">
                <a:solidFill>
                  <a:srgbClr val="000000"/>
                </a:solidFill>
                <a:latin typeface="Comic Sans MS"/>
                <a:sym typeface="Wingdings" pitchFamily="2" charset="2"/>
              </a:rPr>
              <a:t> ELTON MAYO (1945)</a:t>
            </a:r>
          </a:p>
          <a:p>
            <a:pPr marL="342900" lvl="0" indent="-342900">
              <a:spcBef>
                <a:spcPct val="30000"/>
              </a:spcBef>
              <a:spcAft>
                <a:spcPct val="30000"/>
              </a:spcAft>
              <a:buAutoNum type="arabicPeriod"/>
              <a:tabLst>
                <a:tab pos="179388" algn="l"/>
              </a:tabLst>
            </a:pPr>
            <a:r>
              <a:rPr lang="es-ES" sz="1600" u="none" kern="0" dirty="0">
                <a:solidFill>
                  <a:srgbClr val="000000"/>
                </a:solidFill>
                <a:latin typeface="Comic Sans MS"/>
                <a:sym typeface="Wingdings" pitchFamily="2" charset="2"/>
              </a:rPr>
              <a:t>PIRÁMIDE DE LAS NECESIDADES  ABRAHAM MASLOW (1954)</a:t>
            </a:r>
          </a:p>
          <a:p>
            <a:pPr marL="342900" lvl="0" indent="-342900">
              <a:spcBef>
                <a:spcPct val="30000"/>
              </a:spcBef>
              <a:spcAft>
                <a:spcPct val="30000"/>
              </a:spcAft>
              <a:buAutoNum type="arabicPeriod"/>
              <a:tabLst>
                <a:tab pos="179388" algn="l"/>
              </a:tabLst>
            </a:pPr>
            <a:r>
              <a:rPr lang="es-ES" sz="1600" u="none" kern="0" dirty="0">
                <a:solidFill>
                  <a:srgbClr val="000000"/>
                </a:solidFill>
                <a:latin typeface="Comic Sans MS"/>
                <a:sym typeface="Wingdings" pitchFamily="2" charset="2"/>
              </a:rPr>
              <a:t>TEORÍA X Y TEORÍA Y  DOUGLAS MCGREGOR (1960)</a:t>
            </a:r>
            <a:endParaRPr lang="es-ES" sz="1600" u="none" kern="0" dirty="0">
              <a:solidFill>
                <a:srgbClr val="000000"/>
              </a:solidFill>
              <a:latin typeface="Comic Sans MS"/>
            </a:endParaRPr>
          </a:p>
        </p:txBody>
      </p:sp>
      <p:sp>
        <p:nvSpPr>
          <p:cNvPr id="35" name="34 Rectángulo"/>
          <p:cNvSpPr/>
          <p:nvPr/>
        </p:nvSpPr>
        <p:spPr>
          <a:xfrm>
            <a:off x="6659662" y="980728"/>
            <a:ext cx="2484338" cy="5486400"/>
          </a:xfrm>
          <a:prstGeom prst="rect">
            <a:avLst/>
          </a:prstGeom>
          <a:ln>
            <a:solidFill>
              <a:srgbClr val="00B050"/>
            </a:solidFill>
          </a:ln>
        </p:spPr>
        <p:txBody>
          <a:bodyPr wrap="square">
            <a:noAutofit/>
          </a:bodyPr>
          <a:lstStyle/>
          <a:p>
            <a:pPr marL="0" lvl="1" algn="ctr">
              <a:spcBef>
                <a:spcPct val="30000"/>
              </a:spcBef>
              <a:spcAft>
                <a:spcPct val="30000"/>
              </a:spcAft>
            </a:pPr>
            <a:r>
              <a:rPr lang="es-ES_tradnl" sz="1600" b="1" u="none" kern="0" dirty="0">
                <a:solidFill>
                  <a:srgbClr val="007A37"/>
                </a:solidFill>
                <a:latin typeface="Comic Sans MS"/>
              </a:rPr>
              <a:t>PERSPECTIVAS ACTUALES</a:t>
            </a:r>
          </a:p>
          <a:p>
            <a:pPr marL="342900" lvl="1" indent="-342900">
              <a:spcBef>
                <a:spcPct val="30000"/>
              </a:spcBef>
              <a:spcAft>
                <a:spcPct val="30000"/>
              </a:spcAft>
              <a:buAutoNum type="arabicPeriod"/>
            </a:pPr>
            <a:r>
              <a:rPr lang="es-ES" sz="1600" u="none" kern="0" dirty="0">
                <a:solidFill>
                  <a:srgbClr val="000000"/>
                </a:solidFill>
                <a:latin typeface="Comic Sans MS"/>
              </a:rPr>
              <a:t>TEORÍA DE SISTEMAS</a:t>
            </a:r>
          </a:p>
          <a:p>
            <a:pPr marL="342900" lvl="1" indent="-342900" algn="just">
              <a:spcBef>
                <a:spcPct val="30000"/>
              </a:spcBef>
              <a:spcAft>
                <a:spcPct val="30000"/>
              </a:spcAft>
              <a:buAutoNum type="arabicPeriod"/>
            </a:pPr>
            <a:r>
              <a:rPr lang="es-ES" sz="1600" u="none" kern="0" dirty="0">
                <a:solidFill>
                  <a:srgbClr val="000000"/>
                </a:solidFill>
                <a:latin typeface="Comic Sans MS"/>
              </a:rPr>
              <a:t>TEORÍA CONTINGENTE</a:t>
            </a:r>
          </a:p>
          <a:p>
            <a:pPr marL="342900" lvl="1" indent="-342900">
              <a:spcBef>
                <a:spcPct val="30000"/>
              </a:spcBef>
              <a:spcAft>
                <a:spcPct val="30000"/>
              </a:spcAft>
              <a:buAutoNum type="arabicPeriod"/>
            </a:pPr>
            <a:r>
              <a:rPr lang="es-ES" sz="1600" u="none" kern="0" dirty="0">
                <a:solidFill>
                  <a:srgbClr val="000000"/>
                </a:solidFill>
                <a:latin typeface="Comic Sans MS"/>
              </a:rPr>
              <a:t>GESTIÓN DE LA CALIDAD TOTAL</a:t>
            </a:r>
            <a:endParaRPr lang="es-ES" sz="1600" u="non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1601671" y="1808820"/>
            <a:ext cx="3155101" cy="3097518"/>
          </a:xfrm>
          <a:prstGeom prst="rect">
            <a:avLst/>
          </a:prstGeom>
        </p:spPr>
      </p:pic>
      <p:sp>
        <p:nvSpPr>
          <p:cNvPr id="3" name="CuadroTexto 2"/>
          <p:cNvSpPr txBox="1"/>
          <p:nvPr/>
        </p:nvSpPr>
        <p:spPr>
          <a:xfrm>
            <a:off x="5457890" y="2101714"/>
            <a:ext cx="2592288" cy="2677656"/>
          </a:xfrm>
          <a:prstGeom prst="rect">
            <a:avLst/>
          </a:prstGeom>
          <a:solidFill>
            <a:schemeClr val="accent2">
              <a:lumMod val="20000"/>
              <a:lumOff val="80000"/>
            </a:schemeClr>
          </a:solidFill>
        </p:spPr>
        <p:txBody>
          <a:bodyPr wrap="square" rtlCol="0">
            <a:spAutoFit/>
          </a:bodyPr>
          <a:lstStyle/>
          <a:p>
            <a:pPr algn="ctr"/>
            <a:r>
              <a:rPr lang="es-AR" sz="2100" dirty="0">
                <a:latin typeface="Calibri" panose="020F0502020204030204" pitchFamily="34" charset="0"/>
                <a:cs typeface="Calibri" panose="020F0502020204030204" pitchFamily="34" charset="0"/>
              </a:rPr>
              <a:t>En 1914, cuando Ford aplicó los conceptos de Taylor para armar su Modelo T, redujo el tiempo para ensamblarlo de 13 horas a menos de 90 minutos.</a:t>
            </a:r>
            <a:endParaRPr lang="en-US" sz="2100" dirty="0">
              <a:latin typeface="Calibri" panose="020F0502020204030204" pitchFamily="34" charset="0"/>
              <a:cs typeface="Calibri" panose="020F0502020204030204" pitchFamily="34" charset="0"/>
            </a:endParaRPr>
          </a:p>
        </p:txBody>
      </p:sp>
      <p:sp>
        <p:nvSpPr>
          <p:cNvPr id="4" name="Título 3">
            <a:extLst>
              <a:ext uri="{FF2B5EF4-FFF2-40B4-BE49-F238E27FC236}">
                <a16:creationId xmlns:a16="http://schemas.microsoft.com/office/drawing/2014/main" id="{6B15D0D8-C291-1BF8-2FD3-178760DB189C}"/>
              </a:ext>
            </a:extLst>
          </p:cNvPr>
          <p:cNvSpPr>
            <a:spLocks noGrp="1"/>
          </p:cNvSpPr>
          <p:nvPr>
            <p:ph type="title"/>
          </p:nvPr>
        </p:nvSpPr>
        <p:spPr/>
        <p:txBody>
          <a:bodyPr/>
          <a:lstStyle/>
          <a:p>
            <a:r>
              <a:rPr lang="es-ES" dirty="0">
                <a:solidFill>
                  <a:schemeClr val="tx1"/>
                </a:solidFill>
              </a:rPr>
              <a:t>3.1. Escuelas de pensamiento administrativo</a:t>
            </a:r>
            <a:endParaRPr lang="es-ES" dirty="0"/>
          </a:p>
        </p:txBody>
      </p:sp>
    </p:spTree>
    <p:extLst>
      <p:ext uri="{BB962C8B-B14F-4D97-AF65-F5344CB8AC3E}">
        <p14:creationId xmlns:p14="http://schemas.microsoft.com/office/powerpoint/2010/main" val="1410122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39552" y="1268760"/>
            <a:ext cx="7776087" cy="2585323"/>
          </a:xfrm>
          <a:prstGeom prst="rect">
            <a:avLst/>
          </a:prstGeom>
          <a:noFill/>
        </p:spPr>
        <p:txBody>
          <a:bodyPr wrap="square" rtlCol="0">
            <a:spAutoFit/>
          </a:bodyPr>
          <a:lstStyle/>
          <a:p>
            <a:pPr algn="just"/>
            <a:r>
              <a:rPr lang="es-AR" b="1" dirty="0">
                <a:latin typeface="Calibri" panose="020F0502020204030204" pitchFamily="34" charset="0"/>
                <a:cs typeface="Calibri" panose="020F0502020204030204" pitchFamily="34" charset="0"/>
              </a:rPr>
              <a:t>¿QUÉ MOTIVA A LOS EMPLEADOS PARA QUE TRABAJEN A TODA SU CAPACIDAD? </a:t>
            </a:r>
          </a:p>
          <a:p>
            <a:pPr algn="just"/>
            <a:endParaRPr lang="es-AR" dirty="0">
              <a:latin typeface="Calibri" panose="020F0502020204030204" pitchFamily="34" charset="0"/>
              <a:cs typeface="Calibri" panose="020F0502020204030204" pitchFamily="34" charset="0"/>
            </a:endParaRPr>
          </a:p>
          <a:p>
            <a:pPr algn="just"/>
            <a:r>
              <a:rPr lang="es-AR" dirty="0">
                <a:latin typeface="Calibri" panose="020F0502020204030204" pitchFamily="34" charset="0"/>
                <a:cs typeface="Calibri" panose="020F0502020204030204" pitchFamily="34" charset="0"/>
              </a:rPr>
              <a:t>Taylor pensaba que el dinero era la respuesta, pues era partidario del sistema individual a destajo como base de la remuneración.</a:t>
            </a:r>
          </a:p>
          <a:p>
            <a:pPr algn="just"/>
            <a:r>
              <a:rPr lang="es-AR" dirty="0">
                <a:latin typeface="Calibri" panose="020F0502020204030204" pitchFamily="34" charset="0"/>
                <a:cs typeface="Calibri" panose="020F0502020204030204" pitchFamily="34" charset="0"/>
              </a:rPr>
              <a:t> </a:t>
            </a:r>
          </a:p>
          <a:p>
            <a:pPr algn="just"/>
            <a:r>
              <a:rPr lang="es-AR" dirty="0">
                <a:latin typeface="Calibri" panose="020F0502020204030204" pitchFamily="34" charset="0"/>
                <a:cs typeface="Calibri" panose="020F0502020204030204" pitchFamily="34" charset="0"/>
              </a:rPr>
              <a:t>Taylor </a:t>
            </a:r>
            <a:r>
              <a:rPr lang="es-AR" b="1" dirty="0">
                <a:latin typeface="Calibri" panose="020F0502020204030204" pitchFamily="34" charset="0"/>
                <a:cs typeface="Calibri" panose="020F0502020204030204" pitchFamily="34" charset="0"/>
              </a:rPr>
              <a:t>suponía que los trabajadores serían racionales </a:t>
            </a:r>
            <a:r>
              <a:rPr lang="es-AR" dirty="0">
                <a:latin typeface="Calibri" panose="020F0502020204030204" pitchFamily="34" charset="0"/>
                <a:cs typeface="Calibri" panose="020F0502020204030204" pitchFamily="34" charset="0"/>
              </a:rPr>
              <a:t>en </a:t>
            </a:r>
            <a:r>
              <a:rPr lang="es-AR" b="1" dirty="0">
                <a:latin typeface="Calibri" panose="020F0502020204030204" pitchFamily="34" charset="0"/>
                <a:cs typeface="Calibri" panose="020F0502020204030204" pitchFamily="34" charset="0"/>
              </a:rPr>
              <a:t>términos económicos</a:t>
            </a:r>
            <a:r>
              <a:rPr lang="es-AR" dirty="0">
                <a:latin typeface="Calibri" panose="020F0502020204030204" pitchFamily="34" charset="0"/>
                <a:cs typeface="Calibri" panose="020F0502020204030204" pitchFamily="34" charset="0"/>
              </a:rPr>
              <a:t>; es decir, acatarían las órdenes de la gerencia para producir más, en respuesta a los incentivos económicos que les permitirían ganar más dinero</a:t>
            </a:r>
            <a:endParaRPr lang="en-US" dirty="0">
              <a:latin typeface="Calibri" panose="020F0502020204030204" pitchFamily="34" charset="0"/>
              <a:cs typeface="Calibri" panose="020F0502020204030204" pitchFamily="34" charset="0"/>
            </a:endParaRPr>
          </a:p>
        </p:txBody>
      </p:sp>
      <p:pic>
        <p:nvPicPr>
          <p:cNvPr id="3" name="Imagen 2"/>
          <p:cNvPicPr>
            <a:picLocks noChangeAspect="1"/>
          </p:cNvPicPr>
          <p:nvPr/>
        </p:nvPicPr>
        <p:blipFill>
          <a:blip r:embed="rId3"/>
          <a:stretch>
            <a:fillRect/>
          </a:stretch>
        </p:blipFill>
        <p:spPr>
          <a:xfrm>
            <a:off x="5382075" y="4004532"/>
            <a:ext cx="2128838" cy="1207294"/>
          </a:xfrm>
          <a:prstGeom prst="rect">
            <a:avLst/>
          </a:prstGeom>
        </p:spPr>
      </p:pic>
      <p:sp>
        <p:nvSpPr>
          <p:cNvPr id="4" name="Título 3">
            <a:extLst>
              <a:ext uri="{FF2B5EF4-FFF2-40B4-BE49-F238E27FC236}">
                <a16:creationId xmlns:a16="http://schemas.microsoft.com/office/drawing/2014/main" id="{EBFC58B7-5C93-E56B-A9CC-836CEE9D81D3}"/>
              </a:ext>
            </a:extLst>
          </p:cNvPr>
          <p:cNvSpPr>
            <a:spLocks noGrp="1"/>
          </p:cNvSpPr>
          <p:nvPr>
            <p:ph type="title"/>
          </p:nvPr>
        </p:nvSpPr>
        <p:spPr/>
        <p:txBody>
          <a:bodyPr/>
          <a:lstStyle/>
          <a:p>
            <a:r>
              <a:rPr lang="es-ES" dirty="0">
                <a:solidFill>
                  <a:schemeClr val="tx1"/>
                </a:solidFill>
              </a:rPr>
              <a:t>3.1. Escuelas de pensamiento administrativo</a:t>
            </a:r>
            <a:endParaRPr lang="es-ES" dirty="0"/>
          </a:p>
        </p:txBody>
      </p:sp>
    </p:spTree>
    <p:extLst>
      <p:ext uri="{BB962C8B-B14F-4D97-AF65-F5344CB8AC3E}">
        <p14:creationId xmlns:p14="http://schemas.microsoft.com/office/powerpoint/2010/main" val="110739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txBox="1">
            <a:spLocks/>
          </p:cNvSpPr>
          <p:nvPr/>
        </p:nvSpPr>
        <p:spPr>
          <a:xfrm>
            <a:off x="1143000" y="1196752"/>
            <a:ext cx="7772400" cy="1928812"/>
          </a:xfrm>
          <a:prstGeom prst="rect">
            <a:avLst/>
          </a:prstGeom>
        </p:spPr>
        <p:txBody>
          <a:bodyPr/>
          <a:lstStyle/>
          <a:p>
            <a:pPr marL="342900" marR="0" lvl="0" indent="-342900" algn="just" defTabSz="914400" rtl="0" eaLnBrk="1" fontAlgn="base" latinLnBrk="0" hangingPunct="1">
              <a:lnSpc>
                <a:spcPct val="80000"/>
              </a:lnSpc>
              <a:spcBef>
                <a:spcPct val="20000"/>
              </a:spcBef>
              <a:spcAft>
                <a:spcPct val="0"/>
              </a:spcAft>
              <a:buClrTx/>
              <a:buSzTx/>
              <a:tabLst/>
              <a:defRPr/>
            </a:pPr>
            <a:r>
              <a:rPr kumimoji="0" lang="es-ES" sz="2000" b="1" i="0" u="none" strike="noStrike" kern="0" cap="none" spc="0" normalizeH="0" baseline="0" noProof="0" dirty="0">
                <a:ln>
                  <a:noFill/>
                </a:ln>
                <a:solidFill>
                  <a:srgbClr val="0070C0"/>
                </a:solidFill>
                <a:effectLst/>
                <a:uLnTx/>
                <a:uFillTx/>
                <a:latin typeface="+mn-lt"/>
                <a:ea typeface="+mn-ea"/>
                <a:cs typeface="+mn-cs"/>
              </a:rPr>
              <a:t>Frederick </a:t>
            </a:r>
            <a:r>
              <a:rPr kumimoji="0" lang="es-ES" sz="2000" b="1" i="0" u="none" strike="noStrike" kern="0" cap="none" spc="0" normalizeH="0" baseline="0" noProof="0" dirty="0" err="1">
                <a:ln>
                  <a:noFill/>
                </a:ln>
                <a:solidFill>
                  <a:srgbClr val="0070C0"/>
                </a:solidFill>
                <a:effectLst/>
                <a:uLnTx/>
                <a:uFillTx/>
                <a:latin typeface="+mn-lt"/>
                <a:ea typeface="+mn-ea"/>
                <a:cs typeface="+mn-cs"/>
              </a:rPr>
              <a:t>Winslow</a:t>
            </a:r>
            <a:r>
              <a:rPr kumimoji="0" lang="es-ES" sz="2000" b="1" i="0" u="none" strike="noStrike" kern="0" cap="none" spc="0" normalizeH="0" baseline="0" noProof="0" dirty="0">
                <a:ln>
                  <a:noFill/>
                </a:ln>
                <a:solidFill>
                  <a:srgbClr val="0070C0"/>
                </a:solidFill>
                <a:effectLst/>
                <a:uLnTx/>
                <a:uFillTx/>
                <a:latin typeface="+mn-lt"/>
                <a:ea typeface="+mn-ea"/>
                <a:cs typeface="+mn-cs"/>
              </a:rPr>
              <a:t> Taylor</a:t>
            </a:r>
            <a:r>
              <a:rPr kumimoji="0" lang="es-ES" sz="2000" b="1" i="0" u="none" strike="noStrike" kern="0" cap="none" spc="0" normalizeH="0" baseline="0" noProof="0" dirty="0">
                <a:ln>
                  <a:noFill/>
                </a:ln>
                <a:solidFill>
                  <a:srgbClr val="C00000"/>
                </a:solidFill>
                <a:effectLst/>
                <a:uLnTx/>
                <a:uFillTx/>
                <a:latin typeface="+mn-lt"/>
                <a:ea typeface="+mn-ea"/>
                <a:cs typeface="+mn-cs"/>
              </a:rPr>
              <a:t> </a:t>
            </a:r>
            <a:r>
              <a:rPr kumimoji="0" lang="es-ES" sz="2000" b="0" i="0" u="none" strike="noStrike" kern="0" cap="none" spc="0" normalizeH="0" baseline="0" noProof="0" dirty="0">
                <a:ln>
                  <a:noFill/>
                </a:ln>
                <a:solidFill>
                  <a:schemeClr val="tx1"/>
                </a:solidFill>
                <a:effectLst/>
                <a:uLnTx/>
                <a:uFillTx/>
                <a:latin typeface="+mn-lt"/>
                <a:ea typeface="+mn-ea"/>
                <a:cs typeface="+mn-cs"/>
              </a:rPr>
              <a:t>(1911)</a:t>
            </a:r>
          </a:p>
          <a:p>
            <a:pPr marL="342900" marR="0" lvl="0" indent="-342900" algn="just" defTabSz="914400" rtl="0" eaLnBrk="1" fontAlgn="base" latinLnBrk="0" hangingPunct="1">
              <a:lnSpc>
                <a:spcPct val="80000"/>
              </a:lnSpc>
              <a:spcBef>
                <a:spcPct val="20000"/>
              </a:spcBef>
              <a:spcAft>
                <a:spcPct val="0"/>
              </a:spcAft>
              <a:buClrTx/>
              <a:buSzTx/>
              <a:buFont typeface="Wingdings 2" pitchFamily="18" charset="2"/>
              <a:buNone/>
              <a:tabLst/>
              <a:defRPr/>
            </a:pPr>
            <a:r>
              <a:rPr kumimoji="0" lang="es-ES" sz="2000" b="0" i="0" u="none" strike="noStrike" kern="0" cap="none" spc="0" normalizeH="0" baseline="0" noProof="0" dirty="0">
                <a:ln>
                  <a:noFill/>
                </a:ln>
                <a:solidFill>
                  <a:schemeClr val="tx1"/>
                </a:solidFill>
                <a:effectLst/>
                <a:uLnTx/>
                <a:uFillTx/>
                <a:latin typeface="+mn-lt"/>
                <a:ea typeface="+mn-ea"/>
                <a:cs typeface="+mn-cs"/>
              </a:rPr>
              <a:t>	Su interés por incrementar la productividad le llevó a desarrollar la “</a:t>
            </a:r>
            <a:r>
              <a:rPr kumimoji="0" lang="es-ES" sz="2000" b="1" i="0" u="none" strike="noStrike" kern="0" cap="none" spc="0" normalizeH="0" baseline="0" noProof="0" dirty="0">
                <a:ln>
                  <a:noFill/>
                </a:ln>
                <a:solidFill>
                  <a:srgbClr val="C00000"/>
                </a:solidFill>
                <a:effectLst/>
                <a:uLnTx/>
                <a:uFillTx/>
                <a:latin typeface="+mn-lt"/>
                <a:ea typeface="+mn-ea"/>
                <a:cs typeface="+mn-cs"/>
              </a:rPr>
              <a:t>administración científica</a:t>
            </a:r>
            <a:r>
              <a:rPr kumimoji="0" lang="es-ES" sz="2000" b="0" i="0" u="none" strike="noStrike" kern="0" cap="none" spc="0" normalizeH="0" baseline="0" noProof="0" dirty="0">
                <a:ln>
                  <a:noFill/>
                </a:ln>
                <a:solidFill>
                  <a:schemeClr val="tx1"/>
                </a:solidFill>
                <a:effectLst/>
                <a:uLnTx/>
                <a:uFillTx/>
                <a:latin typeface="+mn-lt"/>
                <a:ea typeface="+mn-ea"/>
                <a:cs typeface="+mn-cs"/>
              </a:rPr>
              <a:t>”: método de dirección que aplica los principios del método científico al proceso directivo, determinando el mejor modo de realizar un trabajo y repartiendo las ganancias con los trabajadores.</a:t>
            </a:r>
          </a:p>
          <a:p>
            <a:pPr marL="342900" marR="0" lvl="0" indent="-342900" algn="just" defTabSz="914400" rtl="0" eaLnBrk="1" fontAlgn="base" latinLnBrk="0" hangingPunct="1">
              <a:lnSpc>
                <a:spcPct val="80000"/>
              </a:lnSpc>
              <a:spcBef>
                <a:spcPct val="20000"/>
              </a:spcBef>
              <a:spcAft>
                <a:spcPct val="0"/>
              </a:spcAft>
              <a:buClrTx/>
              <a:buSzTx/>
              <a:buFont typeface="Wingdings 2" pitchFamily="18" charset="2"/>
              <a:buNone/>
              <a:tabLst/>
              <a:defRPr/>
            </a:pPr>
            <a:endParaRPr kumimoji="0" lang="es-ES" sz="2000" b="0" i="0" u="none" strike="noStrike" kern="0" cap="none" spc="0" normalizeH="0" baseline="0" noProof="0" dirty="0">
              <a:ln>
                <a:noFill/>
              </a:ln>
              <a:solidFill>
                <a:schemeClr val="tx1"/>
              </a:solidFill>
              <a:effectLst/>
              <a:uLnTx/>
              <a:uFillTx/>
              <a:latin typeface="+mn-lt"/>
              <a:ea typeface="+mn-ea"/>
              <a:cs typeface="+mn-cs"/>
            </a:endParaRPr>
          </a:p>
        </p:txBody>
      </p:sp>
      <p:pic>
        <p:nvPicPr>
          <p:cNvPr id="4" name="Picture 2" descr="http://t3.gstatic.com/images?q=tbn:ANd9GcRL-IL7Hcd9nedtPiVl2L3J3m9Jyl-I5fmEkYBWl8c6DGiI-h2FLP-09w4t">
            <a:hlinkClick r:id="rId3"/>
          </p:cNvPr>
          <p:cNvPicPr>
            <a:picLocks noChangeAspect="1" noChangeArrowheads="1"/>
          </p:cNvPicPr>
          <p:nvPr/>
        </p:nvPicPr>
        <p:blipFill>
          <a:blip r:embed="rId4" cstate="print"/>
          <a:srcRect/>
          <a:stretch>
            <a:fillRect/>
          </a:stretch>
        </p:blipFill>
        <p:spPr bwMode="auto">
          <a:xfrm>
            <a:off x="214313" y="1196752"/>
            <a:ext cx="904875" cy="1285875"/>
          </a:xfrm>
          <a:prstGeom prst="rect">
            <a:avLst/>
          </a:prstGeom>
          <a:noFill/>
          <a:ln w="9525">
            <a:noFill/>
            <a:miter lim="800000"/>
            <a:headEnd/>
            <a:tailEnd/>
          </a:ln>
        </p:spPr>
      </p:pic>
      <p:graphicFrame>
        <p:nvGraphicFramePr>
          <p:cNvPr id="5" name="Group 26"/>
          <p:cNvGraphicFramePr>
            <a:graphicFrameLocks noGrp="1"/>
          </p:cNvGraphicFramePr>
          <p:nvPr>
            <p:extLst>
              <p:ext uri="{D42A27DB-BD31-4B8C-83A1-F6EECF244321}">
                <p14:modId xmlns:p14="http://schemas.microsoft.com/office/powerpoint/2010/main" val="3163878313"/>
              </p:ext>
            </p:extLst>
          </p:nvPr>
        </p:nvGraphicFramePr>
        <p:xfrm>
          <a:off x="323850" y="2996952"/>
          <a:ext cx="8569325" cy="3154680"/>
        </p:xfrm>
        <a:graphic>
          <a:graphicData uri="http://schemas.openxmlformats.org/drawingml/2006/table">
            <a:tbl>
              <a:tblPr>
                <a:tableStyleId>{284E427A-3D55-4303-BF80-6455036E1DE7}</a:tableStyleId>
              </a:tblPr>
              <a:tblGrid>
                <a:gridCol w="8569325">
                  <a:extLst>
                    <a:ext uri="{9D8B030D-6E8A-4147-A177-3AD203B41FA5}">
                      <a16:colId xmlns:a16="http://schemas.microsoft.com/office/drawing/2014/main" val="20000"/>
                    </a:ext>
                  </a:extLst>
                </a:gridCol>
              </a:tblGrid>
              <a:tr h="358775">
                <a:tc>
                  <a:txBody>
                    <a:bodyPr/>
                    <a:lstStyle/>
                    <a:p>
                      <a:pPr marL="0" marR="0" lvl="0" indent="0" algn="ctr" defTabSz="914400" rtl="0" eaLnBrk="1" fontAlgn="base" latinLnBrk="0" hangingPunct="1">
                        <a:lnSpc>
                          <a:spcPct val="100000"/>
                        </a:lnSpc>
                        <a:spcBef>
                          <a:spcPts val="575"/>
                        </a:spcBef>
                        <a:spcAft>
                          <a:spcPct val="0"/>
                        </a:spcAft>
                        <a:buClr>
                          <a:schemeClr val="accent1"/>
                        </a:buClr>
                        <a:buSzPct val="85000"/>
                        <a:buFont typeface="Wingdings 2" pitchFamily="18" charset="2"/>
                        <a:buNone/>
                        <a:tabLst/>
                      </a:pPr>
                      <a:r>
                        <a:rPr kumimoji="0" lang="es-ES_tradnl" sz="2000" b="1" u="none" strike="noStrike" cap="none" normalizeH="0" baseline="0" dirty="0">
                          <a:ln>
                            <a:noFill/>
                          </a:ln>
                          <a:effectLst/>
                        </a:rPr>
                        <a:t>Principios de Taylor sobre la administración científica</a:t>
                      </a:r>
                      <a:endParaRPr kumimoji="0" lang="es-ES" sz="2000" b="1"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0"/>
                  </a:ext>
                </a:extLst>
              </a:tr>
              <a:tr h="1476375">
                <a:tc>
                  <a:txBody>
                    <a:bodyPr/>
                    <a:lstStyle/>
                    <a:p>
                      <a:pPr marL="274638" marR="0" lvl="0" indent="-274638" algn="just"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Estudiar científicamente cada parte de cada tarea y desarrollar el mejor método.</a:t>
                      </a:r>
                    </a:p>
                    <a:p>
                      <a:pPr marL="274638" marR="0" lvl="0" indent="-274638" algn="just"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Seleccionar cuidadosamente al trabajador y formarlo para alcanzar las metas propuestas.</a:t>
                      </a:r>
                    </a:p>
                    <a:p>
                      <a:pPr marL="274638" marR="0" lvl="0" indent="-274638" algn="just"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Cooperación total con los trabajadores.</a:t>
                      </a:r>
                    </a:p>
                    <a:p>
                      <a:pPr marL="274638" marR="0" lvl="0" indent="-274638" algn="just"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Dividir el trabajo y la responsabilidad de tal manera que la dirección sea responsable de planificar los métodos de trabajo y los trabajadores sean responsables de ejecutar el trabajo.</a:t>
                      </a:r>
                      <a:endParaRPr kumimoji="0" lang="es-ES" sz="2000" b="0"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1"/>
                  </a:ext>
                </a:extLst>
              </a:tr>
            </a:tbl>
          </a:graphicData>
        </a:graphic>
      </p:graphicFrame>
      <p:sp>
        <p:nvSpPr>
          <p:cNvPr id="7"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3.1.1. Perspectiva clásica</a:t>
            </a:r>
          </a:p>
        </p:txBody>
      </p:sp>
      <p:sp>
        <p:nvSpPr>
          <p:cNvPr id="8" name="7 CuadroTexto"/>
          <p:cNvSpPr txBox="1"/>
          <p:nvPr/>
        </p:nvSpPr>
        <p:spPr>
          <a:xfrm>
            <a:off x="796081" y="6259215"/>
            <a:ext cx="5072063" cy="338137"/>
          </a:xfrm>
          <a:prstGeom prst="rect">
            <a:avLst/>
          </a:prstGeom>
          <a:noFill/>
        </p:spPr>
        <p:txBody>
          <a:bodyPr>
            <a:spAutoFit/>
          </a:bodyPr>
          <a:lstStyle/>
          <a:p>
            <a:pPr>
              <a:defRPr/>
            </a:pPr>
            <a:r>
              <a:rPr lang="es-ES" sz="1600" dirty="0">
                <a:latin typeface="+mn-lt"/>
              </a:rPr>
              <a:t>Fuente: Gómez-Mejía y </a:t>
            </a:r>
            <a:r>
              <a:rPr lang="es-ES" sz="1600" dirty="0" err="1">
                <a:latin typeface="+mn-lt"/>
              </a:rPr>
              <a:t>Balkin</a:t>
            </a:r>
            <a:r>
              <a:rPr lang="es-ES" sz="1600" dirty="0">
                <a:latin typeface="+mn-lt"/>
              </a:rPr>
              <a:t> (2003) </a:t>
            </a:r>
          </a:p>
        </p:txBody>
      </p:sp>
      <p:sp>
        <p:nvSpPr>
          <p:cNvPr id="9" name="8 Marcador de número de diapositiva"/>
          <p:cNvSpPr>
            <a:spLocks noGrp="1"/>
          </p:cNvSpPr>
          <p:nvPr>
            <p:ph type="sldNum" sz="quarter" idx="4"/>
          </p:nvPr>
        </p:nvSpPr>
        <p:spPr/>
        <p:txBody>
          <a:bodyPr/>
          <a:lstStyle/>
          <a:p>
            <a:pPr>
              <a:defRPr/>
            </a:pPr>
            <a:fld id="{031E6992-B48E-4E13-A9CD-F20B6AAC6FC2}" type="slidenum">
              <a:rPr lang="es-ES" smtClean="0"/>
              <a:pPr>
                <a:defRPr/>
              </a:pPr>
              <a:t>8</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3"/>
          <p:cNvSpPr>
            <a:spLocks noGrp="1"/>
          </p:cNvSpPr>
          <p:nvPr>
            <p:ph type="body" sz="half" idx="4294967295"/>
          </p:nvPr>
        </p:nvSpPr>
        <p:spPr>
          <a:xfrm>
            <a:off x="1187625" y="1196752"/>
            <a:ext cx="7560839" cy="1260475"/>
          </a:xfrm>
        </p:spPr>
        <p:txBody>
          <a:bodyPr/>
          <a:lstStyle/>
          <a:p>
            <a:pPr algn="just" eaLnBrk="1" hangingPunct="1">
              <a:lnSpc>
                <a:spcPct val="80000"/>
              </a:lnSpc>
              <a:buNone/>
            </a:pPr>
            <a:r>
              <a:rPr lang="es-ES" sz="2000" b="1" dirty="0">
                <a:solidFill>
                  <a:srgbClr val="0070C0"/>
                </a:solidFill>
              </a:rPr>
              <a:t>Henry </a:t>
            </a:r>
            <a:r>
              <a:rPr lang="es-ES" sz="2000" b="1" dirty="0" err="1">
                <a:solidFill>
                  <a:srgbClr val="0070C0"/>
                </a:solidFill>
              </a:rPr>
              <a:t>Fayol</a:t>
            </a:r>
            <a:r>
              <a:rPr lang="es-ES" sz="2000" b="1" dirty="0">
                <a:solidFill>
                  <a:srgbClr val="0070C0"/>
                </a:solidFill>
              </a:rPr>
              <a:t> </a:t>
            </a:r>
            <a:r>
              <a:rPr lang="es-ES" sz="2000" dirty="0"/>
              <a:t>(1916)</a:t>
            </a:r>
          </a:p>
          <a:p>
            <a:pPr algn="just" eaLnBrk="1" hangingPunct="1">
              <a:lnSpc>
                <a:spcPct val="80000"/>
              </a:lnSpc>
              <a:buFont typeface="Wingdings 2" pitchFamily="18" charset="2"/>
              <a:buNone/>
            </a:pPr>
            <a:r>
              <a:rPr lang="es-ES" sz="2000" dirty="0"/>
              <a:t>	Desarrolló la </a:t>
            </a:r>
            <a:r>
              <a:rPr lang="es-ES" sz="2000" b="1" dirty="0">
                <a:solidFill>
                  <a:srgbClr val="C00000"/>
                </a:solidFill>
              </a:rPr>
              <a:t>Teoría clásica</a:t>
            </a:r>
            <a:r>
              <a:rPr lang="es-ES" sz="2000" dirty="0"/>
              <a:t>: identifica las funciones principales de las organizaciones y pone de manifiesto 14 principios de la dirección.</a:t>
            </a:r>
          </a:p>
          <a:p>
            <a:pPr algn="just" eaLnBrk="1" hangingPunct="1">
              <a:lnSpc>
                <a:spcPct val="80000"/>
              </a:lnSpc>
              <a:buFont typeface="Wingdings 2" pitchFamily="18" charset="2"/>
              <a:buNone/>
            </a:pPr>
            <a:endParaRPr lang="es-ES" sz="2000" dirty="0"/>
          </a:p>
          <a:p>
            <a:pPr eaLnBrk="1" hangingPunct="1"/>
            <a:endParaRPr lang="es-ES" sz="2000" dirty="0"/>
          </a:p>
        </p:txBody>
      </p:sp>
      <p:graphicFrame>
        <p:nvGraphicFramePr>
          <p:cNvPr id="32856" name="Group 88"/>
          <p:cNvGraphicFramePr>
            <a:graphicFrameLocks noGrp="1"/>
          </p:cNvGraphicFramePr>
          <p:nvPr>
            <p:ph sz="half" idx="4294967295"/>
            <p:extLst>
              <p:ext uri="{D42A27DB-BD31-4B8C-83A1-F6EECF244321}">
                <p14:modId xmlns:p14="http://schemas.microsoft.com/office/powerpoint/2010/main" val="299435765"/>
              </p:ext>
            </p:extLst>
          </p:nvPr>
        </p:nvGraphicFramePr>
        <p:xfrm>
          <a:off x="539552" y="2672288"/>
          <a:ext cx="8208640" cy="3531992"/>
        </p:xfrm>
        <a:graphic>
          <a:graphicData uri="http://schemas.openxmlformats.org/drawingml/2006/table">
            <a:tbl>
              <a:tblPr>
                <a:tableStyleId>{284E427A-3D55-4303-BF80-6455036E1DE7}</a:tableStyleId>
              </a:tblPr>
              <a:tblGrid>
                <a:gridCol w="4104320">
                  <a:extLst>
                    <a:ext uri="{9D8B030D-6E8A-4147-A177-3AD203B41FA5}">
                      <a16:colId xmlns:a16="http://schemas.microsoft.com/office/drawing/2014/main" val="20000"/>
                    </a:ext>
                  </a:extLst>
                </a:gridCol>
                <a:gridCol w="4104320">
                  <a:extLst>
                    <a:ext uri="{9D8B030D-6E8A-4147-A177-3AD203B41FA5}">
                      <a16:colId xmlns:a16="http://schemas.microsoft.com/office/drawing/2014/main" val="20001"/>
                    </a:ext>
                  </a:extLst>
                </a:gridCol>
              </a:tblGrid>
              <a:tr h="357264">
                <a:tc gridSpan="2">
                  <a:txBody>
                    <a:bodyPr/>
                    <a:lstStyle/>
                    <a:p>
                      <a:pPr marL="0" marR="0" lvl="0" indent="0" algn="ctr" defTabSz="914400" rtl="0" eaLnBrk="1" fontAlgn="base" latinLnBrk="0" hangingPunct="1">
                        <a:lnSpc>
                          <a:spcPct val="100000"/>
                        </a:lnSpc>
                        <a:spcBef>
                          <a:spcPts val="575"/>
                        </a:spcBef>
                        <a:spcAft>
                          <a:spcPct val="0"/>
                        </a:spcAft>
                        <a:buClr>
                          <a:schemeClr val="accent1"/>
                        </a:buClr>
                        <a:buSzPct val="85000"/>
                        <a:buFont typeface="Wingdings 2" pitchFamily="18" charset="2"/>
                        <a:buNone/>
                        <a:tabLst/>
                      </a:pPr>
                      <a:r>
                        <a:rPr kumimoji="0" lang="es-ES_tradnl" sz="2000" b="1" u="none" strike="noStrike" cap="none" normalizeH="0" baseline="0" dirty="0">
                          <a:ln>
                            <a:noFill/>
                          </a:ln>
                          <a:effectLst/>
                        </a:rPr>
                        <a:t>Principios de la dirección de </a:t>
                      </a:r>
                      <a:r>
                        <a:rPr kumimoji="0" lang="es-ES_tradnl" sz="2000" b="1" u="none" strike="noStrike" cap="none" normalizeH="0" baseline="0" dirty="0" err="1">
                          <a:ln>
                            <a:noFill/>
                          </a:ln>
                          <a:effectLst/>
                        </a:rPr>
                        <a:t>Fayol</a:t>
                      </a:r>
                      <a:endParaRPr kumimoji="0" lang="es-ES" sz="2000" b="1" i="0" u="none" strike="noStrike" cap="none" normalizeH="0" baseline="0" dirty="0">
                        <a:ln>
                          <a:noFill/>
                        </a:ln>
                        <a:solidFill>
                          <a:schemeClr val="tx1"/>
                        </a:solidFill>
                        <a:effectLst/>
                        <a:latin typeface="Perpetua" pitchFamily="18" charset="0"/>
                      </a:endParaRPr>
                    </a:p>
                  </a:txBody>
                  <a:tcPr horzOverflow="overflow"/>
                </a:tc>
                <a:tc hMerge="1">
                  <a:txBody>
                    <a:bodyPr/>
                    <a:lstStyle/>
                    <a:p>
                      <a:endParaRPr lang="es-ES"/>
                    </a:p>
                  </a:txBody>
                  <a:tcPr/>
                </a:tc>
                <a:extLst>
                  <a:ext uri="{0D108BD9-81ED-4DB2-BD59-A6C34878D82A}">
                    <a16:rowId xmlns:a16="http://schemas.microsoft.com/office/drawing/2014/main" val="10000"/>
                  </a:ext>
                </a:extLst>
              </a:tr>
              <a:tr h="3135752">
                <a:tc>
                  <a:txBody>
                    <a:bodyPr/>
                    <a:lstStyle/>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División del trabajo.</a:t>
                      </a:r>
                    </a:p>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Autoridad.</a:t>
                      </a:r>
                    </a:p>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Disciplina.</a:t>
                      </a:r>
                    </a:p>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Unidad de mando.</a:t>
                      </a:r>
                    </a:p>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Unidad de dirección.</a:t>
                      </a:r>
                    </a:p>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Subordinación de los intereses individuales a los generales.</a:t>
                      </a:r>
                    </a:p>
                    <a:p>
                      <a:pPr marL="274638" marR="0" lvl="0" indent="-274638" algn="l" defTabSz="914400" rtl="0" eaLnBrk="1" fontAlgn="base" latinLnBrk="0" hangingPunct="1">
                        <a:lnSpc>
                          <a:spcPct val="100000"/>
                        </a:lnSpc>
                        <a:spcBef>
                          <a:spcPts val="575"/>
                        </a:spcBef>
                        <a:spcAft>
                          <a:spcPct val="0"/>
                        </a:spcAft>
                        <a:buClrTx/>
                        <a:buSzPct val="85000"/>
                        <a:buFont typeface="+mj-lt"/>
                        <a:buAutoNum type="arabicPeriod"/>
                        <a:tabLst/>
                      </a:pPr>
                      <a:r>
                        <a:rPr kumimoji="0" lang="es-ES_tradnl" sz="2000" u="none" strike="noStrike" cap="none" normalizeH="0" baseline="0" dirty="0">
                          <a:ln>
                            <a:noFill/>
                          </a:ln>
                          <a:effectLst/>
                        </a:rPr>
                        <a:t>Remuneración.</a:t>
                      </a:r>
                      <a:endParaRPr kumimoji="0" lang="es-ES" sz="2000" b="0" i="0" u="none" strike="noStrike" cap="none" normalizeH="0" baseline="0" dirty="0">
                        <a:ln>
                          <a:noFill/>
                        </a:ln>
                        <a:solidFill>
                          <a:schemeClr val="tx1"/>
                        </a:solidFill>
                        <a:effectLst/>
                        <a:latin typeface="Perpetua" pitchFamily="18" charset="0"/>
                      </a:endParaRPr>
                    </a:p>
                  </a:txBody>
                  <a:tcPr horzOverflow="overflow"/>
                </a:tc>
                <a:tc>
                  <a:txBody>
                    <a:bodyPr/>
                    <a:lstStyle/>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Centralización.</a:t>
                      </a:r>
                    </a:p>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Cadena escalar.</a:t>
                      </a:r>
                    </a:p>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Orden.</a:t>
                      </a:r>
                    </a:p>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Equidad.</a:t>
                      </a:r>
                    </a:p>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Estabilidad y permanencia.</a:t>
                      </a:r>
                    </a:p>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Iniciativa.</a:t>
                      </a:r>
                    </a:p>
                    <a:p>
                      <a:pPr marL="365125" marR="0" lvl="0" indent="-365125" algn="l" defTabSz="914400" rtl="0" eaLnBrk="1" fontAlgn="base" latinLnBrk="0" hangingPunct="1">
                        <a:lnSpc>
                          <a:spcPct val="100000"/>
                        </a:lnSpc>
                        <a:spcBef>
                          <a:spcPts val="575"/>
                        </a:spcBef>
                        <a:spcAft>
                          <a:spcPct val="0"/>
                        </a:spcAft>
                        <a:buClrTx/>
                        <a:buSzPct val="85000"/>
                        <a:buFont typeface="+mj-lt"/>
                        <a:buAutoNum type="arabicPeriod" startAt="8"/>
                        <a:tabLst/>
                      </a:pPr>
                      <a:r>
                        <a:rPr kumimoji="0" lang="es-ES_tradnl" sz="2000" u="none" strike="noStrike" cap="none" normalizeH="0" baseline="0" dirty="0">
                          <a:ln>
                            <a:noFill/>
                          </a:ln>
                          <a:effectLst/>
                        </a:rPr>
                        <a:t>Espíritu corporativo.</a:t>
                      </a:r>
                      <a:endParaRPr kumimoji="0" lang="es-ES" sz="2000" u="none" strike="noStrike" cap="none" normalizeH="0" baseline="0" dirty="0">
                        <a:ln>
                          <a:noFill/>
                        </a:ln>
                        <a:effectLst/>
                      </a:endParaRPr>
                    </a:p>
                    <a:p>
                      <a:pPr marL="419100" marR="0" lvl="0" indent="-419100" algn="ctr" defTabSz="914400" rtl="0" eaLnBrk="1" fontAlgn="base" latinLnBrk="0" hangingPunct="1">
                        <a:lnSpc>
                          <a:spcPct val="100000"/>
                        </a:lnSpc>
                        <a:spcBef>
                          <a:spcPts val="575"/>
                        </a:spcBef>
                        <a:spcAft>
                          <a:spcPct val="0"/>
                        </a:spcAft>
                        <a:buClr>
                          <a:schemeClr val="accent1"/>
                        </a:buClr>
                        <a:buSzPct val="85000"/>
                        <a:buFont typeface="Wingdings 2" pitchFamily="18" charset="2"/>
                        <a:buNone/>
                        <a:tabLst/>
                      </a:pPr>
                      <a:endParaRPr kumimoji="0" lang="es-ES" sz="2000" b="0"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1"/>
                  </a:ext>
                </a:extLst>
              </a:tr>
            </a:tbl>
          </a:graphicData>
        </a:graphic>
      </p:graphicFrame>
      <p:pic>
        <p:nvPicPr>
          <p:cNvPr id="19458" name="Picture 4" descr="http://t0.gstatic.com/images?q=tbn:ANd9GcQd3S9vRRDkHyCQ3NbN1BK0JCMYytRsl5Ha6wvAVnKMlUcwmsA7nFUgiA">
            <a:hlinkClick r:id="rId3"/>
          </p:cNvPr>
          <p:cNvPicPr>
            <a:picLocks noChangeAspect="1" noChangeArrowheads="1"/>
          </p:cNvPicPr>
          <p:nvPr/>
        </p:nvPicPr>
        <p:blipFill>
          <a:blip r:embed="rId4" cstate="print"/>
          <a:srcRect/>
          <a:stretch>
            <a:fillRect/>
          </a:stretch>
        </p:blipFill>
        <p:spPr bwMode="auto">
          <a:xfrm>
            <a:off x="250825" y="1124744"/>
            <a:ext cx="952500" cy="1076325"/>
          </a:xfrm>
          <a:prstGeom prst="rect">
            <a:avLst/>
          </a:prstGeom>
          <a:noFill/>
          <a:ln w="9525">
            <a:noFill/>
            <a:miter lim="800000"/>
            <a:headEnd/>
            <a:tailEnd/>
          </a:ln>
        </p:spPr>
      </p:pic>
      <p:sp>
        <p:nvSpPr>
          <p:cNvPr id="6" name="5 CuadroTexto"/>
          <p:cNvSpPr txBox="1"/>
          <p:nvPr/>
        </p:nvSpPr>
        <p:spPr>
          <a:xfrm>
            <a:off x="868089" y="6331223"/>
            <a:ext cx="5072063" cy="338137"/>
          </a:xfrm>
          <a:prstGeom prst="rect">
            <a:avLst/>
          </a:prstGeom>
          <a:noFill/>
        </p:spPr>
        <p:txBody>
          <a:bodyPr>
            <a:spAutoFit/>
          </a:bodyPr>
          <a:lstStyle/>
          <a:p>
            <a:pPr>
              <a:defRPr/>
            </a:pPr>
            <a:r>
              <a:rPr lang="es-ES" sz="1600" dirty="0">
                <a:latin typeface="+mn-lt"/>
              </a:rPr>
              <a:t>Fuente: Gómez-Mejía y </a:t>
            </a:r>
            <a:r>
              <a:rPr lang="es-ES" sz="1600" dirty="0" err="1">
                <a:latin typeface="+mn-lt"/>
              </a:rPr>
              <a:t>Balkin</a:t>
            </a:r>
            <a:r>
              <a:rPr lang="es-ES" sz="1600" dirty="0">
                <a:latin typeface="+mn-lt"/>
              </a:rPr>
              <a:t> (2003) </a:t>
            </a:r>
          </a:p>
        </p:txBody>
      </p:sp>
      <p:sp>
        <p:nvSpPr>
          <p:cNvPr id="8"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3.1.1. Perspectiva clásica</a:t>
            </a:r>
          </a:p>
        </p:txBody>
      </p:sp>
      <p:sp>
        <p:nvSpPr>
          <p:cNvPr id="9" name="8 Marcador de número de diapositiva"/>
          <p:cNvSpPr>
            <a:spLocks noGrp="1"/>
          </p:cNvSpPr>
          <p:nvPr>
            <p:ph type="sldNum" sz="quarter" idx="4"/>
          </p:nvPr>
        </p:nvSpPr>
        <p:spPr/>
        <p:txBody>
          <a:bodyPr/>
          <a:lstStyle/>
          <a:p>
            <a:pPr>
              <a:defRPr/>
            </a:pPr>
            <a:fld id="{031E6992-B48E-4E13-A9CD-F20B6AAC6FC2}" type="slidenum">
              <a:rPr lang="es-ES" smtClean="0"/>
              <a:pPr>
                <a:defRPr/>
              </a:pPr>
              <a:t>9</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a:spLocks noGrp="1"/>
          </p:cNvSpPr>
          <p:nvPr>
            <p:ph type="body" sz="half" idx="4294967295"/>
          </p:nvPr>
        </p:nvSpPr>
        <p:spPr>
          <a:xfrm>
            <a:off x="1238250" y="1196753"/>
            <a:ext cx="7438206" cy="1656184"/>
          </a:xfrm>
        </p:spPr>
        <p:txBody>
          <a:bodyPr/>
          <a:lstStyle/>
          <a:p>
            <a:pPr algn="just" eaLnBrk="1" hangingPunct="1">
              <a:lnSpc>
                <a:spcPct val="80000"/>
              </a:lnSpc>
              <a:buNone/>
            </a:pPr>
            <a:r>
              <a:rPr lang="es-ES" sz="2000" b="1" dirty="0">
                <a:solidFill>
                  <a:srgbClr val="0070C0"/>
                </a:solidFill>
              </a:rPr>
              <a:t>Max Weber </a:t>
            </a:r>
            <a:r>
              <a:rPr lang="es-ES" sz="2000" dirty="0"/>
              <a:t>(1922)</a:t>
            </a:r>
          </a:p>
          <a:p>
            <a:pPr algn="just" eaLnBrk="1" hangingPunct="1">
              <a:lnSpc>
                <a:spcPct val="80000"/>
              </a:lnSpc>
              <a:buFont typeface="Wingdings 2" pitchFamily="18" charset="2"/>
              <a:buNone/>
            </a:pPr>
            <a:r>
              <a:rPr lang="es-ES" sz="2000" dirty="0"/>
              <a:t>	Estudió la organización ideal a través del </a:t>
            </a:r>
            <a:r>
              <a:rPr lang="es-ES" sz="2000" b="1" dirty="0">
                <a:solidFill>
                  <a:srgbClr val="C00000"/>
                </a:solidFill>
              </a:rPr>
              <a:t>Modelo burocrático</a:t>
            </a:r>
            <a:r>
              <a:rPr lang="es-ES" sz="2000" dirty="0"/>
              <a:t>: sistema basado en las relaciones de autoridad y en las reglas y procedimientos que regulan el trabajo que desempeñan las personas.</a:t>
            </a:r>
          </a:p>
        </p:txBody>
      </p:sp>
      <p:graphicFrame>
        <p:nvGraphicFramePr>
          <p:cNvPr id="33815" name="Group 23"/>
          <p:cNvGraphicFramePr>
            <a:graphicFrameLocks noGrp="1"/>
          </p:cNvGraphicFramePr>
          <p:nvPr>
            <p:ph sz="half" idx="4294967295"/>
            <p:extLst>
              <p:ext uri="{D42A27DB-BD31-4B8C-83A1-F6EECF244321}">
                <p14:modId xmlns:p14="http://schemas.microsoft.com/office/powerpoint/2010/main" val="4138514879"/>
              </p:ext>
            </p:extLst>
          </p:nvPr>
        </p:nvGraphicFramePr>
        <p:xfrm>
          <a:off x="1043781" y="2963591"/>
          <a:ext cx="7056438" cy="2544784"/>
        </p:xfrm>
        <a:graphic>
          <a:graphicData uri="http://schemas.openxmlformats.org/drawingml/2006/table">
            <a:tbl>
              <a:tblPr>
                <a:tableStyleId>{284E427A-3D55-4303-BF80-6455036E1DE7}</a:tableStyleId>
              </a:tblPr>
              <a:tblGrid>
                <a:gridCol w="7056438">
                  <a:extLst>
                    <a:ext uri="{9D8B030D-6E8A-4147-A177-3AD203B41FA5}">
                      <a16:colId xmlns:a16="http://schemas.microsoft.com/office/drawing/2014/main" val="20000"/>
                    </a:ext>
                  </a:extLst>
                </a:gridCol>
              </a:tblGrid>
              <a:tr h="428628">
                <a:tc>
                  <a:txBody>
                    <a:bodyPr/>
                    <a:lstStyle/>
                    <a:p>
                      <a:pPr marL="0" marR="0" lvl="0" indent="0" algn="ctr" defTabSz="914400" rtl="0" eaLnBrk="1" fontAlgn="base" latinLnBrk="0" hangingPunct="1">
                        <a:lnSpc>
                          <a:spcPct val="100000"/>
                        </a:lnSpc>
                        <a:spcBef>
                          <a:spcPts val="575"/>
                        </a:spcBef>
                        <a:spcAft>
                          <a:spcPct val="0"/>
                        </a:spcAft>
                        <a:buClr>
                          <a:schemeClr val="accent1"/>
                        </a:buClr>
                        <a:buSzPct val="85000"/>
                        <a:buFont typeface="Wingdings 2" pitchFamily="18" charset="2"/>
                        <a:buNone/>
                        <a:tabLst/>
                      </a:pPr>
                      <a:r>
                        <a:rPr kumimoji="0" lang="es-ES_tradnl" sz="2000" b="1" u="none" strike="noStrike" cap="none" normalizeH="0" baseline="0" dirty="0">
                          <a:ln>
                            <a:noFill/>
                          </a:ln>
                          <a:solidFill>
                            <a:schemeClr val="tx1"/>
                          </a:solidFill>
                          <a:effectLst/>
                        </a:rPr>
                        <a:t>Características claves de la burocracia ideal de Weber</a:t>
                      </a:r>
                      <a:endParaRPr kumimoji="0" lang="es-ES" sz="2000" b="1"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0"/>
                  </a:ext>
                </a:extLst>
              </a:tr>
              <a:tr h="2116156">
                <a:tc>
                  <a:txBody>
                    <a:bodyPr/>
                    <a:lstStyle/>
                    <a:p>
                      <a:pPr marL="274638" marR="0" lvl="0" indent="-274638" algn="l" defTabSz="914400" rtl="0" eaLnBrk="1" fontAlgn="base" latinLnBrk="0" hangingPunct="1">
                        <a:lnSpc>
                          <a:spcPct val="100000"/>
                        </a:lnSpc>
                        <a:spcBef>
                          <a:spcPts val="575"/>
                        </a:spcBef>
                        <a:spcAft>
                          <a:spcPct val="0"/>
                        </a:spcAft>
                        <a:buClr>
                          <a:schemeClr val="tx1"/>
                        </a:buClr>
                        <a:buSzPct val="85000"/>
                        <a:buFont typeface="Wingdings 2" pitchFamily="18" charset="2"/>
                        <a:buAutoNum type="arabicPeriod"/>
                        <a:tabLst/>
                      </a:pPr>
                      <a:r>
                        <a:rPr kumimoji="0" lang="es-ES_tradnl" sz="2000" u="none" strike="noStrike" cap="none" normalizeH="0" baseline="0" dirty="0">
                          <a:ln>
                            <a:noFill/>
                          </a:ln>
                          <a:solidFill>
                            <a:schemeClr val="tx1"/>
                          </a:solidFill>
                          <a:effectLst/>
                        </a:rPr>
                        <a:t>Especialización de tareas.</a:t>
                      </a:r>
                    </a:p>
                    <a:p>
                      <a:pPr marL="274638" marR="0" lvl="0" indent="-274638" algn="l" defTabSz="914400" rtl="0" eaLnBrk="1" fontAlgn="base" latinLnBrk="0" hangingPunct="1">
                        <a:lnSpc>
                          <a:spcPct val="100000"/>
                        </a:lnSpc>
                        <a:spcBef>
                          <a:spcPts val="575"/>
                        </a:spcBef>
                        <a:spcAft>
                          <a:spcPct val="0"/>
                        </a:spcAft>
                        <a:buClrTx/>
                        <a:buSzPct val="85000"/>
                        <a:buFont typeface="Wingdings 2" pitchFamily="18" charset="2"/>
                        <a:buAutoNum type="arabicPeriod"/>
                        <a:tabLst/>
                      </a:pPr>
                      <a:r>
                        <a:rPr kumimoji="0" lang="es-ES_tradnl" sz="2000" u="none" strike="noStrike" cap="none" normalizeH="0" baseline="0" dirty="0">
                          <a:ln>
                            <a:noFill/>
                          </a:ln>
                          <a:solidFill>
                            <a:schemeClr val="tx1"/>
                          </a:solidFill>
                          <a:effectLst/>
                        </a:rPr>
                        <a:t>Reglas y procedimientos formales.</a:t>
                      </a:r>
                    </a:p>
                    <a:p>
                      <a:pPr marL="274638" marR="0" lvl="0" indent="-274638" algn="l" defTabSz="914400" rtl="0" eaLnBrk="1" fontAlgn="base" latinLnBrk="0" hangingPunct="1">
                        <a:lnSpc>
                          <a:spcPct val="100000"/>
                        </a:lnSpc>
                        <a:spcBef>
                          <a:spcPts val="575"/>
                        </a:spcBef>
                        <a:spcAft>
                          <a:spcPct val="0"/>
                        </a:spcAft>
                        <a:buClrTx/>
                        <a:buSzPct val="85000"/>
                        <a:buFont typeface="Wingdings 2" pitchFamily="18" charset="2"/>
                        <a:buAutoNum type="arabicPeriod"/>
                        <a:tabLst/>
                      </a:pPr>
                      <a:r>
                        <a:rPr kumimoji="0" lang="es-ES_tradnl" sz="2000" u="none" strike="noStrike" cap="none" normalizeH="0" baseline="0" dirty="0">
                          <a:ln>
                            <a:noFill/>
                          </a:ln>
                          <a:solidFill>
                            <a:schemeClr val="tx1"/>
                          </a:solidFill>
                          <a:effectLst/>
                        </a:rPr>
                        <a:t>Impersonalidad.</a:t>
                      </a:r>
                    </a:p>
                    <a:p>
                      <a:pPr marL="274638" marR="0" lvl="0" indent="-274638" algn="l" defTabSz="914400" rtl="0" eaLnBrk="1" fontAlgn="base" latinLnBrk="0" hangingPunct="1">
                        <a:lnSpc>
                          <a:spcPct val="100000"/>
                        </a:lnSpc>
                        <a:spcBef>
                          <a:spcPts val="575"/>
                        </a:spcBef>
                        <a:spcAft>
                          <a:spcPct val="0"/>
                        </a:spcAft>
                        <a:buClrTx/>
                        <a:buSzPct val="85000"/>
                        <a:buFont typeface="Wingdings 2" pitchFamily="18" charset="2"/>
                        <a:buAutoNum type="arabicPeriod"/>
                        <a:tabLst/>
                      </a:pPr>
                      <a:r>
                        <a:rPr kumimoji="0" lang="es-ES_tradnl" sz="2000" u="none" strike="noStrike" cap="none" normalizeH="0" baseline="0" dirty="0">
                          <a:ln>
                            <a:noFill/>
                          </a:ln>
                          <a:solidFill>
                            <a:schemeClr val="tx1"/>
                          </a:solidFill>
                          <a:effectLst/>
                        </a:rPr>
                        <a:t>Jerarquía bien definida.</a:t>
                      </a:r>
                    </a:p>
                    <a:p>
                      <a:pPr marL="274638" marR="0" lvl="0" indent="-274638" algn="l" defTabSz="914400" rtl="0" eaLnBrk="1" fontAlgn="base" latinLnBrk="0" hangingPunct="1">
                        <a:lnSpc>
                          <a:spcPct val="100000"/>
                        </a:lnSpc>
                        <a:spcBef>
                          <a:spcPts val="575"/>
                        </a:spcBef>
                        <a:spcAft>
                          <a:spcPct val="0"/>
                        </a:spcAft>
                        <a:buClrTx/>
                        <a:buSzPct val="85000"/>
                        <a:buFont typeface="Wingdings 2" pitchFamily="18" charset="2"/>
                        <a:buAutoNum type="arabicPeriod"/>
                        <a:tabLst/>
                      </a:pPr>
                      <a:r>
                        <a:rPr kumimoji="0" lang="es-ES_tradnl" sz="2000" u="none" strike="noStrike" cap="none" normalizeH="0" baseline="0" dirty="0">
                          <a:ln>
                            <a:noFill/>
                          </a:ln>
                          <a:solidFill>
                            <a:schemeClr val="tx1"/>
                          </a:solidFill>
                          <a:effectLst/>
                        </a:rPr>
                        <a:t>Desarrollo de las carreras fundamentado en el mérito.</a:t>
                      </a:r>
                      <a:endParaRPr kumimoji="0" lang="es-ES" sz="2000" b="0"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1"/>
                  </a:ext>
                </a:extLst>
              </a:tr>
            </a:tbl>
          </a:graphicData>
        </a:graphic>
      </p:graphicFrame>
      <p:pic>
        <p:nvPicPr>
          <p:cNvPr id="20482" name="Picture 6" descr="http://t0.gstatic.com/images?q=tbn:ANd9GcQ8zD5-6o5m-FjGOUXA1UJkL1plNGQ3TyOaV0DdhQI8Vfa2HYyzHsi-LQ">
            <a:hlinkClick r:id="rId3"/>
          </p:cNvPr>
          <p:cNvPicPr>
            <a:picLocks noChangeAspect="1" noChangeArrowheads="1"/>
          </p:cNvPicPr>
          <p:nvPr/>
        </p:nvPicPr>
        <p:blipFill>
          <a:blip r:embed="rId4" cstate="print"/>
          <a:srcRect/>
          <a:stretch>
            <a:fillRect/>
          </a:stretch>
        </p:blipFill>
        <p:spPr bwMode="auto">
          <a:xfrm>
            <a:off x="250825" y="1196752"/>
            <a:ext cx="936625" cy="1042988"/>
          </a:xfrm>
          <a:prstGeom prst="rect">
            <a:avLst/>
          </a:prstGeom>
          <a:noFill/>
          <a:ln w="9525">
            <a:noFill/>
            <a:miter lim="800000"/>
            <a:headEnd/>
            <a:tailEnd/>
          </a:ln>
        </p:spPr>
      </p:pic>
      <p:sp>
        <p:nvSpPr>
          <p:cNvPr id="6" name="5 CuadroTexto"/>
          <p:cNvSpPr txBox="1"/>
          <p:nvPr/>
        </p:nvSpPr>
        <p:spPr>
          <a:xfrm>
            <a:off x="1143000" y="5949280"/>
            <a:ext cx="5072063" cy="338138"/>
          </a:xfrm>
          <a:prstGeom prst="rect">
            <a:avLst/>
          </a:prstGeom>
          <a:noFill/>
        </p:spPr>
        <p:txBody>
          <a:bodyPr>
            <a:spAutoFit/>
          </a:bodyPr>
          <a:lstStyle/>
          <a:p>
            <a:pPr>
              <a:defRPr/>
            </a:pPr>
            <a:r>
              <a:rPr lang="es-ES" sz="1600" dirty="0">
                <a:latin typeface="+mn-lt"/>
              </a:rPr>
              <a:t>Fuente: Gómez-Mejía y </a:t>
            </a:r>
            <a:r>
              <a:rPr lang="es-ES" sz="1600" dirty="0" err="1">
                <a:latin typeface="+mn-lt"/>
              </a:rPr>
              <a:t>Balkin</a:t>
            </a:r>
            <a:r>
              <a:rPr lang="es-ES" sz="1600" dirty="0">
                <a:latin typeface="+mn-lt"/>
              </a:rPr>
              <a:t>, D.B (2003) </a:t>
            </a:r>
          </a:p>
        </p:txBody>
      </p:sp>
      <p:sp>
        <p:nvSpPr>
          <p:cNvPr id="8"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3.1.1. Perspectiva clásica</a:t>
            </a:r>
          </a:p>
        </p:txBody>
      </p:sp>
      <p:sp>
        <p:nvSpPr>
          <p:cNvPr id="9" name="8 Marcador de número de diapositiva"/>
          <p:cNvSpPr>
            <a:spLocks noGrp="1"/>
          </p:cNvSpPr>
          <p:nvPr>
            <p:ph type="sldNum" sz="quarter" idx="4"/>
          </p:nvPr>
        </p:nvSpPr>
        <p:spPr/>
        <p:txBody>
          <a:bodyPr/>
          <a:lstStyle/>
          <a:p>
            <a:pPr>
              <a:defRPr/>
            </a:pPr>
            <a:fld id="{031E6992-B48E-4E13-A9CD-F20B6AAC6FC2}" type="slidenum">
              <a:rPr lang="es-ES" smtClean="0"/>
              <a:pPr>
                <a:defRPr/>
              </a:pPr>
              <a:t>10</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8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fld id="{3A50B82F-E44A-4FE6-8B99-53CD253DED7E}" type="slidenum">
              <a:rPr lang="es-ES" smtClean="0"/>
              <a:pPr/>
              <a:t>11</a:t>
            </a:fld>
            <a:endParaRPr lang="es-ES" dirty="0"/>
          </a:p>
        </p:txBody>
      </p:sp>
      <p:sp>
        <p:nvSpPr>
          <p:cNvPr id="4" name="3 Rectángulo"/>
          <p:cNvSpPr/>
          <p:nvPr/>
        </p:nvSpPr>
        <p:spPr>
          <a:xfrm>
            <a:off x="179512" y="994582"/>
            <a:ext cx="4248472" cy="5036763"/>
          </a:xfrm>
          <a:prstGeom prst="rect">
            <a:avLst/>
          </a:prstGeom>
          <a:ln w="28575">
            <a:solidFill>
              <a:srgbClr val="0070C0"/>
            </a:solidFill>
            <a:prstDash val="sysDash"/>
          </a:ln>
        </p:spPr>
        <p:txBody>
          <a:bodyPr wrap="square">
            <a:spAutoFit/>
          </a:bodyPr>
          <a:lstStyle/>
          <a:p>
            <a:pPr marL="177800" lvl="1" indent="-177800" algn="just">
              <a:lnSpc>
                <a:spcPct val="90000"/>
              </a:lnSpc>
              <a:spcBef>
                <a:spcPct val="30000"/>
              </a:spcBef>
              <a:spcAft>
                <a:spcPct val="30000"/>
              </a:spcAft>
              <a:buAutoNum type="arabicPeriod"/>
            </a:pPr>
            <a:r>
              <a:rPr lang="es-ES" sz="1700" b="1" u="none" kern="0" dirty="0">
                <a:solidFill>
                  <a:srgbClr val="0070C0"/>
                </a:solidFill>
                <a:latin typeface="Comic Sans MS"/>
              </a:rPr>
              <a:t>ADMINISTRACIÓN CIENTÍFICA </a:t>
            </a:r>
            <a:r>
              <a:rPr lang="es-ES" sz="1700" b="1" u="none" kern="0" dirty="0">
                <a:solidFill>
                  <a:srgbClr val="0070C0"/>
                </a:solidFill>
                <a:latin typeface="Comic Sans MS"/>
                <a:sym typeface="Wingdings" pitchFamily="2" charset="2"/>
              </a:rPr>
              <a:t> F.W. TAYLOR (1911)</a:t>
            </a:r>
          </a:p>
          <a:p>
            <a:pPr marL="177800" lvl="1" indent="-177800" algn="just">
              <a:lnSpc>
                <a:spcPct val="90000"/>
              </a:lnSpc>
              <a:spcBef>
                <a:spcPct val="30000"/>
              </a:spcBef>
              <a:spcAft>
                <a:spcPct val="30000"/>
              </a:spcAft>
              <a:buFont typeface="Arial" pitchFamily="34" charset="0"/>
              <a:buChar char="•"/>
            </a:pPr>
            <a:r>
              <a:rPr lang="es-ES" sz="1700" u="none" kern="0" dirty="0">
                <a:solidFill>
                  <a:srgbClr val="000000"/>
                </a:solidFill>
                <a:latin typeface="Comic Sans MS"/>
                <a:sym typeface="Wingdings" pitchFamily="2" charset="2"/>
              </a:rPr>
              <a:t>Empresa industrial   desmotivación de los trabajadores debido principalmente a la no compensación económica de su trabajo.</a:t>
            </a:r>
          </a:p>
          <a:p>
            <a:pPr marL="177800" lvl="1" indent="-177800" algn="just">
              <a:lnSpc>
                <a:spcPct val="90000"/>
              </a:lnSpc>
              <a:spcBef>
                <a:spcPct val="30000"/>
              </a:spcBef>
              <a:spcAft>
                <a:spcPct val="30000"/>
              </a:spcAft>
              <a:buFont typeface="Arial" pitchFamily="34" charset="0"/>
              <a:buChar char="•"/>
            </a:pPr>
            <a:r>
              <a:rPr lang="es-ES" sz="1700" u="none" kern="0" dirty="0">
                <a:solidFill>
                  <a:srgbClr val="000000"/>
                </a:solidFill>
                <a:latin typeface="Comic Sans MS"/>
                <a:sym typeface="Wingdings" pitchFamily="2" charset="2"/>
              </a:rPr>
              <a:t>Interpretó que existían ineficiencias en su mano de obra  decide implantar el </a:t>
            </a:r>
            <a:r>
              <a:rPr lang="es-ES" sz="1700" b="1" u="none" kern="0" dirty="0">
                <a:solidFill>
                  <a:srgbClr val="000000"/>
                </a:solidFill>
                <a:latin typeface="Comic Sans MS"/>
                <a:sym typeface="Wingdings" pitchFamily="2" charset="2"/>
              </a:rPr>
              <a:t>MÉTODO CIENTÍFICO </a:t>
            </a:r>
            <a:r>
              <a:rPr lang="es-ES" sz="1700" u="none" kern="0" dirty="0">
                <a:solidFill>
                  <a:srgbClr val="000000"/>
                </a:solidFill>
                <a:latin typeface="Comic Sans MS"/>
                <a:sym typeface="Wingdings" pitchFamily="2" charset="2"/>
              </a:rPr>
              <a:t>en la Administración de su empresa.</a:t>
            </a:r>
          </a:p>
          <a:p>
            <a:pPr marL="177800" lvl="2" indent="-177800" algn="just">
              <a:lnSpc>
                <a:spcPct val="90000"/>
              </a:lnSpc>
              <a:spcBef>
                <a:spcPct val="30000"/>
              </a:spcBef>
              <a:spcAft>
                <a:spcPct val="30000"/>
              </a:spcAft>
              <a:buFont typeface="Arial" pitchFamily="34" charset="0"/>
              <a:buChar char="•"/>
            </a:pPr>
            <a:r>
              <a:rPr lang="es-ES" sz="1700" u="none" kern="0" dirty="0">
                <a:solidFill>
                  <a:srgbClr val="000000"/>
                </a:solidFill>
                <a:latin typeface="Comic Sans MS"/>
                <a:sym typeface="Wingdings" pitchFamily="2" charset="2"/>
              </a:rPr>
              <a:t>Estudio de tiempos y movimientos.</a:t>
            </a:r>
          </a:p>
          <a:p>
            <a:pPr marL="177800" lvl="2" indent="-177800" algn="just">
              <a:lnSpc>
                <a:spcPct val="90000"/>
              </a:lnSpc>
              <a:spcBef>
                <a:spcPct val="30000"/>
              </a:spcBef>
              <a:spcAft>
                <a:spcPct val="30000"/>
              </a:spcAft>
              <a:buFont typeface="Arial" pitchFamily="34" charset="0"/>
              <a:buChar char="•"/>
            </a:pPr>
            <a:r>
              <a:rPr lang="es-ES" sz="1700" u="none" kern="0" dirty="0">
                <a:solidFill>
                  <a:srgbClr val="000000"/>
                </a:solidFill>
                <a:latin typeface="Comic Sans MS"/>
                <a:sym typeface="Wingdings" pitchFamily="2" charset="2"/>
              </a:rPr>
              <a:t>Especialización de tareas.</a:t>
            </a:r>
          </a:p>
          <a:p>
            <a:pPr marL="177800" lvl="1" indent="-177800" algn="just">
              <a:lnSpc>
                <a:spcPct val="90000"/>
              </a:lnSpc>
              <a:spcBef>
                <a:spcPct val="30000"/>
              </a:spcBef>
              <a:spcAft>
                <a:spcPct val="30000"/>
              </a:spcAft>
              <a:buFont typeface="Arial" pitchFamily="34" charset="0"/>
              <a:buChar char="•"/>
            </a:pPr>
            <a:r>
              <a:rPr lang="es-ES" sz="1700" b="1" u="none" kern="0" dirty="0">
                <a:solidFill>
                  <a:srgbClr val="000000"/>
                </a:solidFill>
                <a:latin typeface="Comic Sans MS"/>
                <a:sym typeface="Wingdings" pitchFamily="2" charset="2"/>
              </a:rPr>
              <a:t>Énfasis en las TAREAS</a:t>
            </a:r>
            <a:r>
              <a:rPr lang="es-ES" sz="1700" u="none" kern="0" dirty="0">
                <a:solidFill>
                  <a:srgbClr val="000000"/>
                </a:solidFill>
                <a:latin typeface="Comic Sans MS"/>
                <a:sym typeface="Wingdings" pitchFamily="2" charset="2"/>
              </a:rPr>
              <a:t>  responsabilidad del aumento de la productividad en la mano de obra, no se plantea cambios en la dirección.</a:t>
            </a:r>
          </a:p>
          <a:p>
            <a:pPr marL="0" lvl="1" algn="just">
              <a:lnSpc>
                <a:spcPct val="90000"/>
              </a:lnSpc>
              <a:spcBef>
                <a:spcPct val="30000"/>
              </a:spcBef>
              <a:spcAft>
                <a:spcPct val="30000"/>
              </a:spcAft>
            </a:pPr>
            <a:endParaRPr lang="es-ES" sz="1700" u="none" kern="0" dirty="0">
              <a:solidFill>
                <a:srgbClr val="000000"/>
              </a:solidFill>
              <a:latin typeface="Comic Sans MS"/>
            </a:endParaRPr>
          </a:p>
        </p:txBody>
      </p:sp>
      <p:sp>
        <p:nvSpPr>
          <p:cNvPr id="5" name="4 Rectángulo"/>
          <p:cNvSpPr/>
          <p:nvPr/>
        </p:nvSpPr>
        <p:spPr>
          <a:xfrm>
            <a:off x="4572000" y="980728"/>
            <a:ext cx="4427984" cy="2211375"/>
          </a:xfrm>
          <a:prstGeom prst="rect">
            <a:avLst/>
          </a:prstGeom>
          <a:ln w="28575">
            <a:solidFill>
              <a:srgbClr val="0070C0"/>
            </a:solidFill>
            <a:prstDash val="sysDash"/>
          </a:ln>
        </p:spPr>
        <p:txBody>
          <a:bodyPr wrap="square">
            <a:spAutoFit/>
          </a:bodyPr>
          <a:lstStyle/>
          <a:p>
            <a:pPr marL="177800" lvl="1" indent="-177800" algn="just">
              <a:lnSpc>
                <a:spcPct val="90000"/>
              </a:lnSpc>
              <a:spcBef>
                <a:spcPct val="30000"/>
              </a:spcBef>
              <a:spcAft>
                <a:spcPct val="30000"/>
              </a:spcAft>
              <a:buFont typeface="+mj-lt"/>
              <a:buAutoNum type="arabicPeriod" startAt="2"/>
            </a:pPr>
            <a:r>
              <a:rPr lang="es-ES" sz="1700" b="1" u="none" kern="0" dirty="0">
                <a:solidFill>
                  <a:srgbClr val="0070C0"/>
                </a:solidFill>
                <a:latin typeface="Comic Sans MS"/>
                <a:sym typeface="Wingdings" pitchFamily="2" charset="2"/>
              </a:rPr>
              <a:t>TEORÍA CLÁSICA  H. FAYOL (1916)</a:t>
            </a:r>
          </a:p>
          <a:p>
            <a:pPr marL="0" lvl="1" algn="just">
              <a:lnSpc>
                <a:spcPct val="90000"/>
              </a:lnSpc>
              <a:spcBef>
                <a:spcPct val="30000"/>
              </a:spcBef>
              <a:spcAft>
                <a:spcPct val="30000"/>
              </a:spcAft>
            </a:pPr>
            <a:r>
              <a:rPr lang="es-ES" sz="1700" b="1" u="none" kern="0" dirty="0">
                <a:solidFill>
                  <a:srgbClr val="000000"/>
                </a:solidFill>
                <a:latin typeface="Comic Sans MS"/>
                <a:sym typeface="Wingdings" pitchFamily="2" charset="2"/>
              </a:rPr>
              <a:t>Énfasis en la ESTRUCTURA</a:t>
            </a:r>
            <a:r>
              <a:rPr lang="es-ES" sz="1700" u="none" kern="0" dirty="0">
                <a:solidFill>
                  <a:srgbClr val="000000"/>
                </a:solidFill>
                <a:latin typeface="Comic Sans MS"/>
                <a:sym typeface="Wingdings" pitchFamily="2" charset="2"/>
              </a:rPr>
              <a:t>:</a:t>
            </a:r>
          </a:p>
          <a:p>
            <a:pPr marL="552450" lvl="2" indent="-285750" algn="just">
              <a:lnSpc>
                <a:spcPct val="90000"/>
              </a:lnSpc>
              <a:spcBef>
                <a:spcPct val="30000"/>
              </a:spcBef>
              <a:spcAft>
                <a:spcPct val="30000"/>
              </a:spcAft>
              <a:buFont typeface="Arial" panose="020B0604020202020204" pitchFamily="34" charset="0"/>
              <a:buChar char="•"/>
            </a:pPr>
            <a:r>
              <a:rPr lang="es-ES" sz="1700" u="none" kern="0" dirty="0">
                <a:solidFill>
                  <a:srgbClr val="000000"/>
                </a:solidFill>
                <a:latin typeface="Comic Sans MS"/>
                <a:sym typeface="Wingdings" pitchFamily="2" charset="2"/>
              </a:rPr>
              <a:t>Concepto de </a:t>
            </a:r>
            <a:r>
              <a:rPr lang="es-ES" sz="1700" b="1" u="none" kern="0" dirty="0">
                <a:solidFill>
                  <a:srgbClr val="000000"/>
                </a:solidFill>
                <a:latin typeface="Comic Sans MS"/>
                <a:sym typeface="Wingdings" pitchFamily="2" charset="2"/>
              </a:rPr>
              <a:t>UNIDAD DE MANDO  </a:t>
            </a:r>
            <a:r>
              <a:rPr lang="es-ES" sz="1700" u="none" kern="0" dirty="0">
                <a:solidFill>
                  <a:srgbClr val="000000"/>
                </a:solidFill>
                <a:latin typeface="Comic Sans MS"/>
                <a:sym typeface="Wingdings" pitchFamily="2" charset="2"/>
              </a:rPr>
              <a:t> </a:t>
            </a:r>
            <a:r>
              <a:rPr lang="es-ES" sz="1700" b="1" u="none" kern="0" dirty="0">
                <a:solidFill>
                  <a:srgbClr val="000000"/>
                </a:solidFill>
                <a:latin typeface="Comic Sans MS"/>
                <a:sym typeface="Wingdings" pitchFamily="2" charset="2"/>
              </a:rPr>
              <a:t>JERARQUÍA</a:t>
            </a:r>
            <a:r>
              <a:rPr lang="es-ES" sz="1700" u="none" kern="0" dirty="0">
                <a:solidFill>
                  <a:srgbClr val="000000"/>
                </a:solidFill>
                <a:latin typeface="Comic Sans MS"/>
                <a:sym typeface="Wingdings" pitchFamily="2" charset="2"/>
              </a:rPr>
              <a:t> claramente definida</a:t>
            </a:r>
          </a:p>
          <a:p>
            <a:pPr marL="552450" lvl="2" indent="-285750" algn="just">
              <a:lnSpc>
                <a:spcPct val="90000"/>
              </a:lnSpc>
              <a:spcBef>
                <a:spcPct val="30000"/>
              </a:spcBef>
              <a:spcAft>
                <a:spcPct val="30000"/>
              </a:spcAft>
              <a:buFont typeface="Arial" panose="020B0604020202020204" pitchFamily="34" charset="0"/>
              <a:buChar char="•"/>
            </a:pPr>
            <a:r>
              <a:rPr lang="es-ES" sz="1700" u="none" kern="0" dirty="0">
                <a:solidFill>
                  <a:srgbClr val="000000"/>
                </a:solidFill>
                <a:latin typeface="Comic Sans MS"/>
                <a:sym typeface="Wingdings" pitchFamily="2" charset="2"/>
              </a:rPr>
              <a:t>Definición de las </a:t>
            </a:r>
            <a:r>
              <a:rPr lang="es-ES" sz="1700" b="1" u="none" kern="0" dirty="0">
                <a:solidFill>
                  <a:srgbClr val="000000"/>
                </a:solidFill>
                <a:latin typeface="Comic Sans MS"/>
                <a:sym typeface="Wingdings" pitchFamily="2" charset="2"/>
              </a:rPr>
              <a:t>FUNCIONES DIRECTIVAS BÁSICAS</a:t>
            </a:r>
          </a:p>
        </p:txBody>
      </p:sp>
      <p:sp>
        <p:nvSpPr>
          <p:cNvPr id="8" name="1 Título"/>
          <p:cNvSpPr>
            <a:spLocks noGrp="1"/>
          </p:cNvSpPr>
          <p:nvPr>
            <p:ph type="title"/>
          </p:nvPr>
        </p:nvSpPr>
        <p:spPr>
          <a:xfrm>
            <a:off x="107950" y="115888"/>
            <a:ext cx="8928100" cy="720725"/>
          </a:xfrm>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3.1.1. Perspectiva clásica: Resumen</a:t>
            </a:r>
          </a:p>
        </p:txBody>
      </p:sp>
      <p:sp>
        <p:nvSpPr>
          <p:cNvPr id="9" name="8 Rectángulo"/>
          <p:cNvSpPr/>
          <p:nvPr/>
        </p:nvSpPr>
        <p:spPr>
          <a:xfrm>
            <a:off x="4608066" y="3349072"/>
            <a:ext cx="4427984" cy="2682273"/>
          </a:xfrm>
          <a:prstGeom prst="rect">
            <a:avLst/>
          </a:prstGeom>
          <a:ln w="28575">
            <a:solidFill>
              <a:srgbClr val="0070C0"/>
            </a:solidFill>
            <a:prstDash val="sysDash"/>
          </a:ln>
        </p:spPr>
        <p:txBody>
          <a:bodyPr wrap="square">
            <a:spAutoFit/>
          </a:bodyPr>
          <a:lstStyle/>
          <a:p>
            <a:pPr marL="177800" lvl="1" indent="-177800" algn="just">
              <a:lnSpc>
                <a:spcPct val="90000"/>
              </a:lnSpc>
              <a:spcBef>
                <a:spcPct val="30000"/>
              </a:spcBef>
              <a:spcAft>
                <a:spcPct val="30000"/>
              </a:spcAft>
              <a:buFont typeface="+mj-lt"/>
              <a:buAutoNum type="arabicPeriod" startAt="3"/>
            </a:pPr>
            <a:r>
              <a:rPr lang="es-ES" sz="1700" b="1" u="none" kern="0" dirty="0">
                <a:solidFill>
                  <a:srgbClr val="0070C0"/>
                </a:solidFill>
                <a:latin typeface="Comic Sans MS"/>
                <a:sym typeface="Wingdings" pitchFamily="2" charset="2"/>
              </a:rPr>
              <a:t>MODELO BUROCRÁTICO  M. WEBER (1922)</a:t>
            </a:r>
            <a:endParaRPr lang="es-ES" sz="1700" u="none" kern="0" dirty="0">
              <a:latin typeface="Comic Sans MS"/>
              <a:sym typeface="Wingdings" pitchFamily="2" charset="2"/>
            </a:endParaRPr>
          </a:p>
          <a:p>
            <a:pPr marL="177800" lvl="1" indent="-177800" algn="just">
              <a:lnSpc>
                <a:spcPct val="90000"/>
              </a:lnSpc>
              <a:spcBef>
                <a:spcPct val="30000"/>
              </a:spcBef>
              <a:spcAft>
                <a:spcPct val="30000"/>
              </a:spcAft>
              <a:buFont typeface="Arial" pitchFamily="34" charset="0"/>
              <a:buChar char="•"/>
            </a:pPr>
            <a:r>
              <a:rPr lang="es-ES" sz="1700" u="none" kern="0" dirty="0">
                <a:latin typeface="Comic Sans MS"/>
                <a:sym typeface="Wingdings" pitchFamily="2" charset="2"/>
              </a:rPr>
              <a:t>Sistema basado en las </a:t>
            </a:r>
            <a:r>
              <a:rPr lang="es-ES" sz="1700" b="1" u="none" kern="0" dirty="0">
                <a:latin typeface="Comic Sans MS"/>
                <a:sym typeface="Wingdings" pitchFamily="2" charset="2"/>
              </a:rPr>
              <a:t>relaciones de autoridad</a:t>
            </a:r>
            <a:r>
              <a:rPr lang="es-ES" sz="1700" u="none" kern="0" dirty="0">
                <a:latin typeface="Comic Sans MS"/>
                <a:sym typeface="Wingdings" pitchFamily="2" charset="2"/>
              </a:rPr>
              <a:t> y en las </a:t>
            </a:r>
            <a:r>
              <a:rPr lang="es-ES" sz="1700" b="1" u="none" kern="0" dirty="0">
                <a:latin typeface="Comic Sans MS"/>
                <a:sym typeface="Wingdings" pitchFamily="2" charset="2"/>
              </a:rPr>
              <a:t>reglas</a:t>
            </a:r>
            <a:r>
              <a:rPr lang="es-ES" sz="1700" u="none" kern="0" dirty="0">
                <a:latin typeface="Comic Sans MS"/>
                <a:sym typeface="Wingdings" pitchFamily="2" charset="2"/>
              </a:rPr>
              <a:t> y procedimientos  que regulan el trabajo.</a:t>
            </a:r>
          </a:p>
          <a:p>
            <a:pPr marL="177800" lvl="1" indent="-177800" algn="just">
              <a:lnSpc>
                <a:spcPct val="90000"/>
              </a:lnSpc>
              <a:spcBef>
                <a:spcPct val="30000"/>
              </a:spcBef>
              <a:spcAft>
                <a:spcPct val="30000"/>
              </a:spcAft>
              <a:buFont typeface="Arial" pitchFamily="34" charset="0"/>
              <a:buChar char="•"/>
            </a:pPr>
            <a:r>
              <a:rPr lang="es-ES" sz="1700" u="none" kern="0" dirty="0">
                <a:latin typeface="Comic Sans MS"/>
                <a:sym typeface="Wingdings" pitchFamily="2" charset="2"/>
              </a:rPr>
              <a:t>Modelo inflexible e impersonal.</a:t>
            </a:r>
          </a:p>
          <a:p>
            <a:pPr marL="177800" lvl="1" indent="-177800" algn="just">
              <a:lnSpc>
                <a:spcPct val="90000"/>
              </a:lnSpc>
              <a:spcBef>
                <a:spcPct val="30000"/>
              </a:spcBef>
              <a:spcAft>
                <a:spcPct val="30000"/>
              </a:spcAft>
              <a:buFont typeface="Arial" pitchFamily="34" charset="0"/>
              <a:buChar char="•"/>
            </a:pPr>
            <a:r>
              <a:rPr lang="es-ES" sz="1700" u="none" kern="0" dirty="0">
                <a:latin typeface="Comic Sans MS"/>
                <a:sym typeface="Wingdings" pitchFamily="2" charset="2"/>
              </a:rPr>
              <a:t>Desarrollo de las carreras fundamentado en el </a:t>
            </a:r>
            <a:r>
              <a:rPr lang="es-ES" sz="1700" b="1" u="none" kern="0" dirty="0">
                <a:latin typeface="Comic Sans MS"/>
                <a:sym typeface="Wingdings" pitchFamily="2" charset="2"/>
              </a:rPr>
              <a:t>mérito del trabajador</a:t>
            </a:r>
            <a:r>
              <a:rPr lang="es-ES" sz="1700" u="none" kern="0" dirty="0">
                <a:latin typeface="Comic Sans MS"/>
                <a:sym typeface="Wingdings" pitchFamily="2" charset="2"/>
              </a:rPr>
              <a:t>, incluidos los directivos.</a:t>
            </a:r>
            <a:endParaRPr lang="es-ES" sz="1700" u="none" kern="0" dirty="0">
              <a:latin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p:cNvSpPr>
          <p:nvPr>
            <p:ph type="body" idx="4294967295"/>
          </p:nvPr>
        </p:nvSpPr>
        <p:spPr>
          <a:xfrm>
            <a:off x="1336104" y="1183034"/>
            <a:ext cx="7412360" cy="2389982"/>
          </a:xfrm>
        </p:spPr>
        <p:txBody>
          <a:bodyPr/>
          <a:lstStyle/>
          <a:p>
            <a:pPr marL="0" indent="0" algn="just" eaLnBrk="1" hangingPunct="1">
              <a:buNone/>
            </a:pPr>
            <a:r>
              <a:rPr lang="es-ES_tradnl" sz="2000" b="1" dirty="0">
                <a:solidFill>
                  <a:srgbClr val="C00000"/>
                </a:solidFill>
              </a:rPr>
              <a:t>Elton Mayo </a:t>
            </a:r>
            <a:r>
              <a:rPr lang="es-ES_tradnl" sz="2000" dirty="0"/>
              <a:t>(1945)</a:t>
            </a:r>
          </a:p>
          <a:p>
            <a:pPr marL="400050" lvl="1" indent="0" algn="just">
              <a:buFont typeface="Wingdings 2" pitchFamily="18" charset="2"/>
              <a:buNone/>
            </a:pPr>
            <a:r>
              <a:rPr lang="es-ES_tradnl" dirty="0"/>
              <a:t>Dirigió un estudio en  la planta de Hawthorne de  la empresa Western Electric </a:t>
            </a:r>
            <a:r>
              <a:rPr lang="es-ES_tradnl" dirty="0" err="1"/>
              <a:t>Company</a:t>
            </a:r>
            <a:r>
              <a:rPr lang="es-ES_tradnl" dirty="0"/>
              <a:t>, para medir los efectos que las condiciones físicas de trabajo tenían sobre el comportamiento de los trabajadores y su productividad. </a:t>
            </a:r>
          </a:p>
          <a:p>
            <a:pPr marL="0" indent="0" algn="just" eaLnBrk="1" hangingPunct="1">
              <a:buFont typeface="Wingdings 2" pitchFamily="18" charset="2"/>
              <a:buNone/>
            </a:pPr>
            <a:endParaRPr lang="es-ES" sz="2000" dirty="0"/>
          </a:p>
        </p:txBody>
      </p:sp>
      <p:pic>
        <p:nvPicPr>
          <p:cNvPr id="22531" name="Picture 2" descr="http://t3.gstatic.com/images?q=tbn:ANd9GcSMB3UjbMShkcbIWNeb_lARA6qZDINeM_NUkyRM6lCHr-Ge3u2xf_GcGHk">
            <a:hlinkClick r:id="rId3"/>
          </p:cNvPr>
          <p:cNvPicPr>
            <a:picLocks noChangeAspect="1" noChangeArrowheads="1"/>
          </p:cNvPicPr>
          <p:nvPr/>
        </p:nvPicPr>
        <p:blipFill>
          <a:blip r:embed="rId4" cstate="print"/>
          <a:srcRect/>
          <a:stretch>
            <a:fillRect/>
          </a:stretch>
        </p:blipFill>
        <p:spPr bwMode="auto">
          <a:xfrm>
            <a:off x="309562" y="1124744"/>
            <a:ext cx="806053" cy="1105073"/>
          </a:xfrm>
          <a:prstGeom prst="rect">
            <a:avLst/>
          </a:prstGeom>
          <a:noFill/>
          <a:ln w="9525">
            <a:noFill/>
            <a:miter lim="800000"/>
            <a:headEnd/>
            <a:tailEnd/>
          </a:ln>
        </p:spPr>
      </p:pic>
      <p:sp>
        <p:nvSpPr>
          <p:cNvPr id="6"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3.1.2. Perspectiva del comportamiento</a:t>
            </a:r>
          </a:p>
        </p:txBody>
      </p:sp>
      <p:graphicFrame>
        <p:nvGraphicFramePr>
          <p:cNvPr id="7" name="Group 23"/>
          <p:cNvGraphicFramePr>
            <a:graphicFrameLocks/>
          </p:cNvGraphicFramePr>
          <p:nvPr>
            <p:extLst>
              <p:ext uri="{D42A27DB-BD31-4B8C-83A1-F6EECF244321}">
                <p14:modId xmlns:p14="http://schemas.microsoft.com/office/powerpoint/2010/main" val="2676366030"/>
              </p:ext>
            </p:extLst>
          </p:nvPr>
        </p:nvGraphicFramePr>
        <p:xfrm>
          <a:off x="899592" y="3573016"/>
          <a:ext cx="7704856" cy="2544784"/>
        </p:xfrm>
        <a:graphic>
          <a:graphicData uri="http://schemas.openxmlformats.org/drawingml/2006/table">
            <a:tbl>
              <a:tblPr>
                <a:tableStyleId>{284E427A-3D55-4303-BF80-6455036E1DE7}</a:tableStyleId>
              </a:tblPr>
              <a:tblGrid>
                <a:gridCol w="7704856">
                  <a:extLst>
                    <a:ext uri="{9D8B030D-6E8A-4147-A177-3AD203B41FA5}">
                      <a16:colId xmlns:a16="http://schemas.microsoft.com/office/drawing/2014/main" val="20000"/>
                    </a:ext>
                  </a:extLst>
                </a:gridCol>
              </a:tblGrid>
              <a:tr h="428628">
                <a:tc>
                  <a:txBody>
                    <a:bodyPr/>
                    <a:lstStyle/>
                    <a:p>
                      <a:pPr marL="0" marR="0" lvl="0" indent="0" algn="ctr" defTabSz="914400" rtl="0" eaLnBrk="1" fontAlgn="base" latinLnBrk="0" hangingPunct="1">
                        <a:lnSpc>
                          <a:spcPct val="100000"/>
                        </a:lnSpc>
                        <a:spcBef>
                          <a:spcPts val="575"/>
                        </a:spcBef>
                        <a:spcAft>
                          <a:spcPct val="0"/>
                        </a:spcAft>
                        <a:buClr>
                          <a:schemeClr val="accent1"/>
                        </a:buClr>
                        <a:buSzPct val="85000"/>
                        <a:buFont typeface="Wingdings 2" pitchFamily="18" charset="2"/>
                        <a:buNone/>
                        <a:tabLst/>
                      </a:pPr>
                      <a:r>
                        <a:rPr kumimoji="0" lang="es-ES_tradnl" sz="2000" b="1" u="none" strike="noStrike" cap="none" normalizeH="0" baseline="0" dirty="0">
                          <a:ln>
                            <a:noFill/>
                          </a:ln>
                          <a:effectLst/>
                        </a:rPr>
                        <a:t>Conclusiones del trabajo los estudios de Hawthorne</a:t>
                      </a:r>
                      <a:endParaRPr kumimoji="0" lang="es-ES" sz="2000" b="1"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0"/>
                  </a:ext>
                </a:extLst>
              </a:tr>
              <a:tr h="2116156">
                <a:tc>
                  <a:txBody>
                    <a:bodyPr/>
                    <a:lstStyle/>
                    <a:p>
                      <a:pPr marL="274638" marR="0" lvl="0" indent="-274638" algn="just" defTabSz="914400" rtl="0" eaLnBrk="1" fontAlgn="base" latinLnBrk="0" hangingPunct="1">
                        <a:lnSpc>
                          <a:spcPct val="100000"/>
                        </a:lnSpc>
                        <a:spcBef>
                          <a:spcPts val="575"/>
                        </a:spcBef>
                        <a:spcAft>
                          <a:spcPct val="0"/>
                        </a:spcAft>
                        <a:buClrTx/>
                        <a:buSzPct val="85000"/>
                        <a:buFont typeface="+mj-lt"/>
                        <a:buAutoNum type="arabicPeriod"/>
                        <a:tabLst/>
                      </a:pPr>
                      <a:r>
                        <a:rPr lang="es-ES_tradnl" sz="2000" dirty="0"/>
                        <a:t>El comportamiento y las actitudes están estrechamente relacionadas.</a:t>
                      </a:r>
                    </a:p>
                    <a:p>
                      <a:pPr marL="274638" marR="0" lvl="0" indent="-274638" algn="just" defTabSz="914400" rtl="0" eaLnBrk="1" fontAlgn="base" latinLnBrk="0" hangingPunct="1">
                        <a:lnSpc>
                          <a:spcPct val="100000"/>
                        </a:lnSpc>
                        <a:spcBef>
                          <a:spcPts val="575"/>
                        </a:spcBef>
                        <a:spcAft>
                          <a:spcPct val="0"/>
                        </a:spcAft>
                        <a:buClrTx/>
                        <a:buSzPct val="85000"/>
                        <a:buFont typeface="Wingdings 2" pitchFamily="18" charset="2"/>
                        <a:buAutoNum type="arabicPeriod"/>
                        <a:tabLst/>
                      </a:pPr>
                      <a:r>
                        <a:rPr lang="es-ES_tradnl" sz="2000" dirty="0"/>
                        <a:t>Las influencias grupales afectan de manera significativa las conductas de los individuos.</a:t>
                      </a:r>
                    </a:p>
                    <a:p>
                      <a:pPr marL="274638" marR="0" lvl="0" indent="-274638" algn="just" defTabSz="914400" rtl="0" eaLnBrk="1" fontAlgn="base" latinLnBrk="0" hangingPunct="1">
                        <a:lnSpc>
                          <a:spcPct val="100000"/>
                        </a:lnSpc>
                        <a:spcBef>
                          <a:spcPts val="575"/>
                        </a:spcBef>
                        <a:spcAft>
                          <a:spcPct val="0"/>
                        </a:spcAft>
                        <a:buClrTx/>
                        <a:buSzPct val="85000"/>
                        <a:buFont typeface="Wingdings 2" pitchFamily="18" charset="2"/>
                        <a:buAutoNum type="arabicPeriod"/>
                        <a:tabLst/>
                      </a:pPr>
                      <a:r>
                        <a:rPr lang="es-ES_tradnl" sz="2000" dirty="0"/>
                        <a:t>Los estándares grupales determinan la productividad de cada trabajador individual.</a:t>
                      </a:r>
                      <a:endParaRPr kumimoji="0" lang="es-ES" sz="2000" b="0" i="0" u="none" strike="noStrike" cap="none" normalizeH="0" baseline="0" dirty="0">
                        <a:ln>
                          <a:noFill/>
                        </a:ln>
                        <a:solidFill>
                          <a:schemeClr val="tx1"/>
                        </a:solidFill>
                        <a:effectLst/>
                        <a:latin typeface="Perpetua" pitchFamily="18" charset="0"/>
                      </a:endParaRPr>
                    </a:p>
                  </a:txBody>
                  <a:tcPr horzOverflow="overflow"/>
                </a:tc>
                <a:extLst>
                  <a:ext uri="{0D108BD9-81ED-4DB2-BD59-A6C34878D82A}">
                    <a16:rowId xmlns:a16="http://schemas.microsoft.com/office/drawing/2014/main" val="10001"/>
                  </a:ext>
                </a:extLst>
              </a:tr>
            </a:tbl>
          </a:graphicData>
        </a:graphic>
      </p:graphicFrame>
      <p:sp>
        <p:nvSpPr>
          <p:cNvPr id="8" name="7 Marcador de número de diapositiva"/>
          <p:cNvSpPr>
            <a:spLocks noGrp="1"/>
          </p:cNvSpPr>
          <p:nvPr>
            <p:ph type="sldNum" sz="quarter" idx="4"/>
          </p:nvPr>
        </p:nvSpPr>
        <p:spPr/>
        <p:txBody>
          <a:bodyPr/>
          <a:lstStyle/>
          <a:p>
            <a:pPr>
              <a:defRPr/>
            </a:pPr>
            <a:fld id="{031E6992-B48E-4E13-A9CD-F20B6AAC6FC2}" type="slidenum">
              <a:rPr lang="es-ES" smtClean="0"/>
              <a:pPr>
                <a:defRPr/>
              </a:pPr>
              <a:t>12</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2 Marcador de contenido"/>
          <p:cNvSpPr>
            <a:spLocks/>
          </p:cNvSpPr>
          <p:nvPr/>
        </p:nvSpPr>
        <p:spPr bwMode="auto">
          <a:xfrm>
            <a:off x="1115616" y="908720"/>
            <a:ext cx="7716837" cy="2520279"/>
          </a:xfrm>
          <a:prstGeom prst="rect">
            <a:avLst/>
          </a:prstGeom>
          <a:noFill/>
          <a:ln w="9525">
            <a:noFill/>
            <a:miter lim="800000"/>
            <a:headEnd/>
            <a:tailEnd/>
          </a:ln>
        </p:spPr>
        <p:txBody>
          <a:bodyPr/>
          <a:lstStyle/>
          <a:p>
            <a:pPr>
              <a:spcBef>
                <a:spcPts val="575"/>
              </a:spcBef>
              <a:buClr>
                <a:schemeClr val="accent1"/>
              </a:buClr>
              <a:buSzPct val="85000"/>
              <a:buFont typeface="Wingdings 2" pitchFamily="18" charset="2"/>
              <a:buNone/>
            </a:pPr>
            <a:r>
              <a:rPr lang="es-ES_tradnl" sz="2000" b="1" dirty="0">
                <a:solidFill>
                  <a:srgbClr val="C00000"/>
                </a:solidFill>
                <a:latin typeface="+mn-lt"/>
              </a:rPr>
              <a:t>Abraham </a:t>
            </a:r>
            <a:r>
              <a:rPr lang="es-ES_tradnl" sz="2000" b="1" dirty="0" err="1">
                <a:solidFill>
                  <a:srgbClr val="C00000"/>
                </a:solidFill>
                <a:latin typeface="+mn-lt"/>
              </a:rPr>
              <a:t>Maslow</a:t>
            </a:r>
            <a:r>
              <a:rPr lang="es-ES_tradnl" sz="2000" b="1" dirty="0">
                <a:solidFill>
                  <a:srgbClr val="C00000"/>
                </a:solidFill>
                <a:latin typeface="+mn-lt"/>
              </a:rPr>
              <a:t> </a:t>
            </a:r>
            <a:r>
              <a:rPr lang="es-ES_tradnl" sz="2000" dirty="0">
                <a:latin typeface="+mn-lt"/>
              </a:rPr>
              <a:t>(1954)</a:t>
            </a:r>
            <a:endParaRPr lang="es-ES" sz="2000" dirty="0">
              <a:latin typeface="+mn-lt"/>
            </a:endParaRPr>
          </a:p>
          <a:p>
            <a:pPr lvl="1" algn="just">
              <a:spcBef>
                <a:spcPts val="575"/>
              </a:spcBef>
              <a:buClr>
                <a:schemeClr val="accent1"/>
              </a:buClr>
              <a:buSzPct val="85000"/>
              <a:buFont typeface="Wingdings 2" pitchFamily="18" charset="2"/>
              <a:buNone/>
            </a:pPr>
            <a:r>
              <a:rPr lang="es-ES_tradnl" sz="2000" dirty="0">
                <a:latin typeface="+mn-lt"/>
              </a:rPr>
              <a:t>Considera que todo ser humano presenta una serie de necesidades ordenadas jerárquicamente, de tal forma que cuando una necesidad inferior es satisfecha en nivel suficiente, el individuo trata de satisfacer otra de orden superior, dejando de ser aquella primera fuente de motivación. Estableció 5 tipos de necesidades:</a:t>
            </a:r>
          </a:p>
          <a:p>
            <a:pPr>
              <a:spcBef>
                <a:spcPts val="575"/>
              </a:spcBef>
              <a:buClr>
                <a:schemeClr val="accent1"/>
              </a:buClr>
              <a:buSzPct val="85000"/>
              <a:buFont typeface="Wingdings 2" pitchFamily="18" charset="2"/>
              <a:buNone/>
            </a:pPr>
            <a:endParaRPr lang="es-ES" sz="2000" dirty="0">
              <a:latin typeface="+mn-lt"/>
            </a:endParaRPr>
          </a:p>
        </p:txBody>
      </p:sp>
      <p:pic>
        <p:nvPicPr>
          <p:cNvPr id="23555" name="Picture 4" descr="http://t3.gstatic.com/images?q=tbn:ANd9GcQa_eS7TkvDRWCvb4wc78jBkeDSPHskPvAsJOuqKCUL-GaRBnD3lTarzw">
            <a:hlinkClick r:id="rId3"/>
          </p:cNvPr>
          <p:cNvPicPr>
            <a:picLocks noChangeAspect="1" noChangeArrowheads="1"/>
          </p:cNvPicPr>
          <p:nvPr/>
        </p:nvPicPr>
        <p:blipFill>
          <a:blip r:embed="rId4" cstate="print"/>
          <a:srcRect/>
          <a:stretch>
            <a:fillRect/>
          </a:stretch>
        </p:blipFill>
        <p:spPr bwMode="auto">
          <a:xfrm>
            <a:off x="323850" y="980728"/>
            <a:ext cx="719758" cy="1079637"/>
          </a:xfrm>
          <a:prstGeom prst="rect">
            <a:avLst/>
          </a:prstGeom>
          <a:noFill/>
          <a:ln w="9525">
            <a:noFill/>
            <a:miter lim="800000"/>
            <a:headEnd/>
            <a:tailEnd/>
          </a:ln>
        </p:spPr>
      </p:pic>
      <p:sp>
        <p:nvSpPr>
          <p:cNvPr id="6"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3.1.2. Perspectiva del comportamiento</a:t>
            </a:r>
          </a:p>
        </p:txBody>
      </p:sp>
      <p:grpSp>
        <p:nvGrpSpPr>
          <p:cNvPr id="9" name="4 Grupo"/>
          <p:cNvGrpSpPr/>
          <p:nvPr/>
        </p:nvGrpSpPr>
        <p:grpSpPr>
          <a:xfrm>
            <a:off x="1644654" y="3304848"/>
            <a:ext cx="4997872" cy="2951435"/>
            <a:chOff x="1835696" y="2060848"/>
            <a:chExt cx="5544616" cy="3890527"/>
          </a:xfrm>
        </p:grpSpPr>
        <p:sp>
          <p:nvSpPr>
            <p:cNvPr id="24" name="23 Forma libre"/>
            <p:cNvSpPr/>
            <p:nvPr/>
          </p:nvSpPr>
          <p:spPr>
            <a:xfrm>
              <a:off x="3851920" y="2060848"/>
              <a:ext cx="1368152" cy="864096"/>
            </a:xfrm>
            <a:custGeom>
              <a:avLst/>
              <a:gdLst>
                <a:gd name="connsiteX0" fmla="*/ 0 w 1038228"/>
                <a:gd name="connsiteY0" fmla="*/ 749302 h 749302"/>
                <a:gd name="connsiteX1" fmla="*/ 519114 w 1038228"/>
                <a:gd name="connsiteY1" fmla="*/ 0 h 749302"/>
                <a:gd name="connsiteX2" fmla="*/ 519114 w 1038228"/>
                <a:gd name="connsiteY2" fmla="*/ 0 h 749302"/>
                <a:gd name="connsiteX3" fmla="*/ 1038228 w 1038228"/>
                <a:gd name="connsiteY3" fmla="*/ 749302 h 749302"/>
                <a:gd name="connsiteX4" fmla="*/ 0 w 1038228"/>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28" h="749302">
                  <a:moveTo>
                    <a:pt x="0" y="749302"/>
                  </a:moveTo>
                  <a:lnTo>
                    <a:pt x="519114" y="0"/>
                  </a:lnTo>
                  <a:lnTo>
                    <a:pt x="519114" y="0"/>
                  </a:lnTo>
                  <a:lnTo>
                    <a:pt x="1038228" y="749302"/>
                  </a:lnTo>
                  <a:lnTo>
                    <a:pt x="0" y="749302"/>
                  </a:lnTo>
                  <a:close/>
                </a:path>
              </a:pathLst>
            </a:custGeom>
            <a:solidFill>
              <a:schemeClr val="accent6"/>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none" lIns="20320" tIns="20320" rIns="20320" bIns="20320" numCol="1" spcCol="1270" anchor="ctr" anchorCtr="0">
              <a:normAutofit/>
            </a:bodyPr>
            <a:lstStyle/>
            <a:p>
              <a:pPr lvl="0" algn="ctr" defTabSz="711200">
                <a:lnSpc>
                  <a:spcPct val="90000"/>
                </a:lnSpc>
                <a:spcBef>
                  <a:spcPct val="0"/>
                </a:spcBef>
                <a:spcAft>
                  <a:spcPct val="35000"/>
                </a:spcAft>
              </a:pPr>
              <a:r>
                <a:rPr lang="es-ES" sz="1600" kern="1200" dirty="0">
                  <a:solidFill>
                    <a:schemeClr val="tx1"/>
                  </a:solidFill>
                  <a:latin typeface="Comic Sans MS" pitchFamily="66" charset="0"/>
                </a:rPr>
                <a:t>Autorrealización</a:t>
              </a:r>
            </a:p>
          </p:txBody>
        </p:sp>
        <p:sp>
          <p:nvSpPr>
            <p:cNvPr id="25" name="24 Forma libre"/>
            <p:cNvSpPr/>
            <p:nvPr/>
          </p:nvSpPr>
          <p:spPr>
            <a:xfrm>
              <a:off x="3354429" y="2954166"/>
              <a:ext cx="2441704" cy="749302"/>
            </a:xfrm>
            <a:custGeom>
              <a:avLst/>
              <a:gdLst>
                <a:gd name="connsiteX0" fmla="*/ 0 w 2441704"/>
                <a:gd name="connsiteY0" fmla="*/ 749302 h 749302"/>
                <a:gd name="connsiteX1" fmla="*/ 519116 w 2441704"/>
                <a:gd name="connsiteY1" fmla="*/ 0 h 749302"/>
                <a:gd name="connsiteX2" fmla="*/ 1922588 w 2441704"/>
                <a:gd name="connsiteY2" fmla="*/ 0 h 749302"/>
                <a:gd name="connsiteX3" fmla="*/ 2441704 w 2441704"/>
                <a:gd name="connsiteY3" fmla="*/ 749302 h 749302"/>
                <a:gd name="connsiteX4" fmla="*/ 0 w 2441704"/>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1704" h="749302">
                  <a:moveTo>
                    <a:pt x="0" y="749302"/>
                  </a:moveTo>
                  <a:lnTo>
                    <a:pt x="519116" y="0"/>
                  </a:lnTo>
                  <a:lnTo>
                    <a:pt x="1922588" y="0"/>
                  </a:lnTo>
                  <a:lnTo>
                    <a:pt x="2441704" y="749302"/>
                  </a:lnTo>
                  <a:lnTo>
                    <a:pt x="0" y="749302"/>
                  </a:lnTo>
                  <a:close/>
                </a:path>
              </a:pathLst>
            </a:custGeom>
            <a:solidFill>
              <a:srgbClr val="92D050"/>
            </a:solidFill>
          </p:spPr>
          <p:style>
            <a:lnRef idx="2">
              <a:schemeClr val="lt1">
                <a:hueOff val="0"/>
                <a:satOff val="0"/>
                <a:lumOff val="0"/>
                <a:alphaOff val="0"/>
              </a:schemeClr>
            </a:lnRef>
            <a:fillRef idx="1">
              <a:scrgbClr r="0" g="0" b="0"/>
            </a:fillRef>
            <a:effectRef idx="0">
              <a:schemeClr val="accent4">
                <a:hueOff val="0"/>
                <a:satOff val="0"/>
                <a:lumOff val="25000"/>
                <a:alphaOff val="0"/>
              </a:schemeClr>
            </a:effectRef>
            <a:fontRef idx="minor">
              <a:schemeClr val="lt1"/>
            </a:fontRef>
          </p:style>
          <p:txBody>
            <a:bodyPr spcFirstLastPara="0" vert="horz" wrap="none" lIns="447619" tIns="20320" rIns="447618" bIns="20320" numCol="1" spcCol="1270" anchor="ctr" anchorCtr="0">
              <a:noAutofit/>
            </a:bodyPr>
            <a:lstStyle/>
            <a:p>
              <a:pPr lvl="0" algn="ctr" defTabSz="711200">
                <a:lnSpc>
                  <a:spcPct val="90000"/>
                </a:lnSpc>
                <a:spcBef>
                  <a:spcPct val="0"/>
                </a:spcBef>
                <a:spcAft>
                  <a:spcPct val="35000"/>
                </a:spcAft>
              </a:pPr>
              <a:r>
                <a:rPr lang="es-ES" sz="1500" kern="1200" dirty="0">
                  <a:solidFill>
                    <a:schemeClr val="tx1"/>
                  </a:solidFill>
                  <a:latin typeface="Comic Sans MS" pitchFamily="66" charset="0"/>
                </a:rPr>
                <a:t>Reconocimiento, respeto, </a:t>
              </a:r>
            </a:p>
            <a:p>
              <a:pPr lvl="0" algn="ctr" defTabSz="711200">
                <a:lnSpc>
                  <a:spcPct val="90000"/>
                </a:lnSpc>
                <a:spcBef>
                  <a:spcPct val="0"/>
                </a:spcBef>
                <a:spcAft>
                  <a:spcPct val="35000"/>
                </a:spcAft>
              </a:pPr>
              <a:r>
                <a:rPr lang="es-ES" sz="1500" kern="1200" dirty="0">
                  <a:solidFill>
                    <a:schemeClr val="tx1"/>
                  </a:solidFill>
                  <a:latin typeface="Comic Sans MS" pitchFamily="66" charset="0"/>
                </a:rPr>
                <a:t>éxito, confianza…</a:t>
              </a:r>
            </a:p>
          </p:txBody>
        </p:sp>
        <p:sp>
          <p:nvSpPr>
            <p:cNvPr id="26" name="25 Forma libre"/>
            <p:cNvSpPr/>
            <p:nvPr/>
          </p:nvSpPr>
          <p:spPr>
            <a:xfrm>
              <a:off x="2843808" y="3703468"/>
              <a:ext cx="3456384" cy="749302"/>
            </a:xfrm>
            <a:custGeom>
              <a:avLst/>
              <a:gdLst>
                <a:gd name="connsiteX0" fmla="*/ 0 w 3305801"/>
                <a:gd name="connsiteY0" fmla="*/ 749302 h 749302"/>
                <a:gd name="connsiteX1" fmla="*/ 519116 w 3305801"/>
                <a:gd name="connsiteY1" fmla="*/ 0 h 749302"/>
                <a:gd name="connsiteX2" fmla="*/ 2786685 w 3305801"/>
                <a:gd name="connsiteY2" fmla="*/ 0 h 749302"/>
                <a:gd name="connsiteX3" fmla="*/ 3305801 w 3305801"/>
                <a:gd name="connsiteY3" fmla="*/ 749302 h 749302"/>
                <a:gd name="connsiteX4" fmla="*/ 0 w 3305801"/>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5801" h="749302">
                  <a:moveTo>
                    <a:pt x="0" y="749302"/>
                  </a:moveTo>
                  <a:lnTo>
                    <a:pt x="519116" y="0"/>
                  </a:lnTo>
                  <a:lnTo>
                    <a:pt x="2786685" y="0"/>
                  </a:lnTo>
                  <a:lnTo>
                    <a:pt x="3305801" y="749302"/>
                  </a:lnTo>
                  <a:lnTo>
                    <a:pt x="0" y="749302"/>
                  </a:lnTo>
                  <a:close/>
                </a:path>
              </a:pathLst>
            </a:custGeom>
            <a:solidFill>
              <a:srgbClr val="F1D219"/>
            </a:solidFill>
          </p:spPr>
          <p:style>
            <a:lnRef idx="2">
              <a:schemeClr val="lt1">
                <a:hueOff val="0"/>
                <a:satOff val="0"/>
                <a:lumOff val="0"/>
                <a:alphaOff val="0"/>
              </a:schemeClr>
            </a:lnRef>
            <a:fillRef idx="1">
              <a:scrgbClr r="0" g="0" b="0"/>
            </a:fillRef>
            <a:effectRef idx="0">
              <a:schemeClr val="accent4">
                <a:hueOff val="0"/>
                <a:satOff val="0"/>
                <a:lumOff val="50000"/>
                <a:alphaOff val="0"/>
              </a:schemeClr>
            </a:effectRef>
            <a:fontRef idx="minor">
              <a:schemeClr val="lt1"/>
            </a:fontRef>
          </p:style>
          <p:txBody>
            <a:bodyPr spcFirstLastPara="0" vert="horz" wrap="square" lIns="598835" tIns="20320" rIns="598836" bIns="20320" numCol="1" spcCol="1270" anchor="ctr" anchorCtr="0">
              <a:noAutofit/>
            </a:bodyPr>
            <a:lstStyle/>
            <a:p>
              <a:pPr lvl="0" algn="ctr" defTabSz="711200">
                <a:lnSpc>
                  <a:spcPct val="90000"/>
                </a:lnSpc>
                <a:spcBef>
                  <a:spcPct val="0"/>
                </a:spcBef>
                <a:spcAft>
                  <a:spcPct val="35000"/>
                </a:spcAft>
              </a:pPr>
              <a:r>
                <a:rPr lang="es-ES" sz="1500" kern="1200" dirty="0">
                  <a:solidFill>
                    <a:schemeClr val="tx1"/>
                  </a:solidFill>
                  <a:latin typeface="Comic Sans MS" pitchFamily="66" charset="0"/>
                </a:rPr>
                <a:t>Amistad, afecto, aceptación</a:t>
              </a:r>
            </a:p>
          </p:txBody>
        </p:sp>
        <p:sp>
          <p:nvSpPr>
            <p:cNvPr id="27" name="8 Forma libre"/>
            <p:cNvSpPr/>
            <p:nvPr/>
          </p:nvSpPr>
          <p:spPr>
            <a:xfrm>
              <a:off x="2339752" y="4452771"/>
              <a:ext cx="4464496" cy="749302"/>
            </a:xfrm>
            <a:custGeom>
              <a:avLst/>
              <a:gdLst>
                <a:gd name="connsiteX0" fmla="*/ 0 w 4313920"/>
                <a:gd name="connsiteY0" fmla="*/ 749302 h 749302"/>
                <a:gd name="connsiteX1" fmla="*/ 519116 w 4313920"/>
                <a:gd name="connsiteY1" fmla="*/ 0 h 749302"/>
                <a:gd name="connsiteX2" fmla="*/ 3794804 w 4313920"/>
                <a:gd name="connsiteY2" fmla="*/ 0 h 749302"/>
                <a:gd name="connsiteX3" fmla="*/ 4313920 w 4313920"/>
                <a:gd name="connsiteY3" fmla="*/ 749302 h 749302"/>
                <a:gd name="connsiteX4" fmla="*/ 0 w 4313920"/>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920" h="749302">
                  <a:moveTo>
                    <a:pt x="0" y="749302"/>
                  </a:moveTo>
                  <a:lnTo>
                    <a:pt x="519116" y="0"/>
                  </a:lnTo>
                  <a:lnTo>
                    <a:pt x="3794804" y="0"/>
                  </a:lnTo>
                  <a:lnTo>
                    <a:pt x="4313920" y="749302"/>
                  </a:lnTo>
                  <a:lnTo>
                    <a:pt x="0" y="749302"/>
                  </a:lnTo>
                  <a:close/>
                </a:path>
              </a:pathLst>
            </a:custGeom>
            <a:solidFill>
              <a:srgbClr val="DB77BA"/>
            </a:solidFill>
          </p:spPr>
          <p:style>
            <a:lnRef idx="2">
              <a:schemeClr val="lt1">
                <a:hueOff val="0"/>
                <a:satOff val="0"/>
                <a:lumOff val="0"/>
                <a:alphaOff val="0"/>
              </a:schemeClr>
            </a:lnRef>
            <a:fillRef idx="1">
              <a:scrgbClr r="0" g="0" b="0"/>
            </a:fillRef>
            <a:effectRef idx="0">
              <a:schemeClr val="accent4">
                <a:hueOff val="0"/>
                <a:satOff val="0"/>
                <a:lumOff val="75000"/>
                <a:alphaOff val="0"/>
              </a:schemeClr>
            </a:effectRef>
            <a:fontRef idx="minor">
              <a:schemeClr val="lt1"/>
            </a:fontRef>
          </p:style>
          <p:txBody>
            <a:bodyPr spcFirstLastPara="0" vert="horz" wrap="none" lIns="775256" tIns="20320" rIns="775256" bIns="20320" numCol="1" spcCol="1270" anchor="ctr" anchorCtr="0">
              <a:noAutofit/>
            </a:bodyPr>
            <a:lstStyle/>
            <a:p>
              <a:pPr lvl="0" algn="ctr" defTabSz="711200">
                <a:lnSpc>
                  <a:spcPct val="90000"/>
                </a:lnSpc>
                <a:spcAft>
                  <a:spcPct val="35000"/>
                </a:spcAft>
              </a:pPr>
              <a:r>
                <a:rPr lang="es-ES" sz="1500" kern="1200" dirty="0">
                  <a:solidFill>
                    <a:schemeClr val="tx1"/>
                  </a:solidFill>
                  <a:latin typeface="Comic Sans MS" pitchFamily="66" charset="0"/>
                </a:rPr>
                <a:t>Seguridad física</a:t>
              </a:r>
              <a:r>
                <a:rPr lang="es-ES" sz="1500" dirty="0">
                  <a:solidFill>
                    <a:schemeClr val="tx1"/>
                  </a:solidFill>
                  <a:latin typeface="Comic Sans MS" pitchFamily="66" charset="0"/>
                </a:rPr>
                <a:t>, de protección de </a:t>
              </a:r>
              <a:r>
                <a:rPr lang="es-ES" sz="1500" kern="1200" dirty="0">
                  <a:solidFill>
                    <a:schemeClr val="tx1"/>
                  </a:solidFill>
                  <a:latin typeface="Comic Sans MS" pitchFamily="66" charset="0"/>
                </a:rPr>
                <a:t>empleo, </a:t>
              </a:r>
            </a:p>
            <a:p>
              <a:pPr lvl="0" algn="ctr" defTabSz="711200">
                <a:lnSpc>
                  <a:spcPct val="90000"/>
                </a:lnSpc>
                <a:spcAft>
                  <a:spcPct val="35000"/>
                </a:spcAft>
              </a:pPr>
              <a:r>
                <a:rPr lang="es-ES" sz="1500" kern="1200" dirty="0">
                  <a:solidFill>
                    <a:schemeClr val="tx1"/>
                  </a:solidFill>
                  <a:latin typeface="Comic Sans MS" pitchFamily="66" charset="0"/>
                </a:rPr>
                <a:t>de recursos, …</a:t>
              </a:r>
            </a:p>
          </p:txBody>
        </p:sp>
        <p:sp>
          <p:nvSpPr>
            <p:cNvPr id="28" name="9 Forma libre"/>
            <p:cNvSpPr/>
            <p:nvPr/>
          </p:nvSpPr>
          <p:spPr>
            <a:xfrm>
              <a:off x="1835696" y="5202073"/>
              <a:ext cx="5544616" cy="749302"/>
            </a:xfrm>
            <a:custGeom>
              <a:avLst/>
              <a:gdLst>
                <a:gd name="connsiteX0" fmla="*/ 0 w 5191140"/>
                <a:gd name="connsiteY0" fmla="*/ 749302 h 749302"/>
                <a:gd name="connsiteX1" fmla="*/ 519116 w 5191140"/>
                <a:gd name="connsiteY1" fmla="*/ 0 h 749302"/>
                <a:gd name="connsiteX2" fmla="*/ 4672024 w 5191140"/>
                <a:gd name="connsiteY2" fmla="*/ 0 h 749302"/>
                <a:gd name="connsiteX3" fmla="*/ 5191140 w 5191140"/>
                <a:gd name="connsiteY3" fmla="*/ 749302 h 749302"/>
                <a:gd name="connsiteX4" fmla="*/ 0 w 5191140"/>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40" h="749302">
                  <a:moveTo>
                    <a:pt x="0" y="749302"/>
                  </a:moveTo>
                  <a:lnTo>
                    <a:pt x="519116" y="0"/>
                  </a:lnTo>
                  <a:lnTo>
                    <a:pt x="4672024" y="0"/>
                  </a:lnTo>
                  <a:lnTo>
                    <a:pt x="5191140" y="749302"/>
                  </a:lnTo>
                  <a:lnTo>
                    <a:pt x="0" y="749302"/>
                  </a:lnTo>
                  <a:close/>
                </a:path>
              </a:pathLst>
            </a:custGeom>
            <a:solidFill>
              <a:schemeClr val="bg1">
                <a:lumMod val="50000"/>
              </a:schemeClr>
            </a:solidFill>
          </p:spPr>
          <p:style>
            <a:lnRef idx="2">
              <a:schemeClr val="lt1">
                <a:hueOff val="0"/>
                <a:satOff val="0"/>
                <a:lumOff val="0"/>
                <a:alphaOff val="0"/>
              </a:schemeClr>
            </a:lnRef>
            <a:fillRef idx="1">
              <a:scrgbClr r="0" g="0" b="0"/>
            </a:fillRef>
            <a:effectRef idx="0">
              <a:schemeClr val="accent4">
                <a:hueOff val="0"/>
                <a:satOff val="0"/>
                <a:lumOff val="100000"/>
                <a:alphaOff val="0"/>
              </a:schemeClr>
            </a:effectRef>
            <a:fontRef idx="minor">
              <a:schemeClr val="lt1"/>
            </a:fontRef>
          </p:style>
          <p:txBody>
            <a:bodyPr spcFirstLastPara="0" vert="horz" wrap="square" lIns="928769" tIns="20320" rIns="928770" bIns="20320" numCol="1" spcCol="1270" anchor="ctr" anchorCtr="0">
              <a:noAutofit/>
            </a:bodyPr>
            <a:lstStyle/>
            <a:p>
              <a:pPr lvl="0" algn="ctr" defTabSz="711200">
                <a:lnSpc>
                  <a:spcPct val="90000"/>
                </a:lnSpc>
                <a:spcBef>
                  <a:spcPct val="0"/>
                </a:spcBef>
                <a:spcAft>
                  <a:spcPct val="35000"/>
                </a:spcAft>
              </a:pPr>
              <a:r>
                <a:rPr lang="es-ES" sz="1600" kern="1200" dirty="0">
                  <a:solidFill>
                    <a:schemeClr val="tx1"/>
                  </a:solidFill>
                  <a:latin typeface="Comic Sans MS" pitchFamily="66" charset="0"/>
                </a:rPr>
                <a:t>Alimentación, respiración, descanso…</a:t>
              </a:r>
            </a:p>
          </p:txBody>
        </p:sp>
      </p:grpSp>
      <p:sp>
        <p:nvSpPr>
          <p:cNvPr id="10" name="9 CuadroTexto"/>
          <p:cNvSpPr txBox="1"/>
          <p:nvPr/>
        </p:nvSpPr>
        <p:spPr>
          <a:xfrm>
            <a:off x="6578451" y="5733256"/>
            <a:ext cx="1665957" cy="490321"/>
          </a:xfrm>
          <a:prstGeom prst="rect">
            <a:avLst/>
          </a:prstGeom>
          <a:noFill/>
        </p:spPr>
        <p:txBody>
          <a:bodyPr wrap="square" rtlCol="0">
            <a:spAutoFit/>
          </a:bodyPr>
          <a:lstStyle/>
          <a:p>
            <a:r>
              <a:rPr lang="es-ES" dirty="0">
                <a:solidFill>
                  <a:srgbClr val="C00000"/>
                </a:solidFill>
                <a:latin typeface="+mn-lt"/>
              </a:rPr>
              <a:t>Necesidades fisiológicas</a:t>
            </a:r>
          </a:p>
        </p:txBody>
      </p:sp>
      <p:sp>
        <p:nvSpPr>
          <p:cNvPr id="11" name="10 CuadroTexto"/>
          <p:cNvSpPr txBox="1"/>
          <p:nvPr/>
        </p:nvSpPr>
        <p:spPr>
          <a:xfrm>
            <a:off x="6065848" y="5041979"/>
            <a:ext cx="2178560" cy="710964"/>
          </a:xfrm>
          <a:prstGeom prst="rect">
            <a:avLst/>
          </a:prstGeom>
          <a:noFill/>
        </p:spPr>
        <p:txBody>
          <a:bodyPr wrap="square" rtlCol="0">
            <a:spAutoFit/>
          </a:bodyPr>
          <a:lstStyle/>
          <a:p>
            <a:r>
              <a:rPr lang="es-ES" dirty="0">
                <a:solidFill>
                  <a:srgbClr val="C00000"/>
                </a:solidFill>
                <a:latin typeface="+mn-lt"/>
              </a:rPr>
              <a:t>Necesidades de seguridad</a:t>
            </a:r>
          </a:p>
        </p:txBody>
      </p:sp>
      <p:sp>
        <p:nvSpPr>
          <p:cNvPr id="12" name="11 CuadroTexto"/>
          <p:cNvSpPr txBox="1"/>
          <p:nvPr/>
        </p:nvSpPr>
        <p:spPr>
          <a:xfrm>
            <a:off x="5617321" y="4617211"/>
            <a:ext cx="2555079" cy="406265"/>
          </a:xfrm>
          <a:prstGeom prst="rect">
            <a:avLst/>
          </a:prstGeom>
          <a:noFill/>
        </p:spPr>
        <p:txBody>
          <a:bodyPr wrap="square" rtlCol="0">
            <a:spAutoFit/>
          </a:bodyPr>
          <a:lstStyle/>
          <a:p>
            <a:r>
              <a:rPr lang="es-ES" dirty="0">
                <a:solidFill>
                  <a:srgbClr val="C00000"/>
                </a:solidFill>
                <a:latin typeface="+mn-lt"/>
              </a:rPr>
              <a:t>Necesidades sociales</a:t>
            </a:r>
          </a:p>
        </p:txBody>
      </p:sp>
      <p:sp>
        <p:nvSpPr>
          <p:cNvPr id="13" name="12 CuadroTexto"/>
          <p:cNvSpPr txBox="1"/>
          <p:nvPr/>
        </p:nvSpPr>
        <p:spPr>
          <a:xfrm>
            <a:off x="5232870" y="4070943"/>
            <a:ext cx="2723506" cy="406265"/>
          </a:xfrm>
          <a:prstGeom prst="rect">
            <a:avLst/>
          </a:prstGeom>
          <a:noFill/>
        </p:spPr>
        <p:txBody>
          <a:bodyPr wrap="square" rtlCol="0">
            <a:spAutoFit/>
          </a:bodyPr>
          <a:lstStyle/>
          <a:p>
            <a:r>
              <a:rPr lang="es-ES" dirty="0">
                <a:solidFill>
                  <a:srgbClr val="C00000"/>
                </a:solidFill>
                <a:latin typeface="+mn-lt"/>
              </a:rPr>
              <a:t>Necesidades de estima</a:t>
            </a:r>
          </a:p>
        </p:txBody>
      </p:sp>
      <p:sp>
        <p:nvSpPr>
          <p:cNvPr id="14" name="13 CuadroTexto"/>
          <p:cNvSpPr txBox="1"/>
          <p:nvPr/>
        </p:nvSpPr>
        <p:spPr>
          <a:xfrm>
            <a:off x="4969863" y="3310384"/>
            <a:ext cx="3130529" cy="710964"/>
          </a:xfrm>
          <a:prstGeom prst="rect">
            <a:avLst/>
          </a:prstGeom>
          <a:noFill/>
        </p:spPr>
        <p:txBody>
          <a:bodyPr wrap="square" rtlCol="0">
            <a:spAutoFit/>
          </a:bodyPr>
          <a:lstStyle/>
          <a:p>
            <a:r>
              <a:rPr lang="es-ES" dirty="0">
                <a:solidFill>
                  <a:srgbClr val="C00000"/>
                </a:solidFill>
                <a:latin typeface="+mn-lt"/>
              </a:rPr>
              <a:t>Necesidades de realización personal</a:t>
            </a:r>
          </a:p>
        </p:txBody>
      </p:sp>
      <p:grpSp>
        <p:nvGrpSpPr>
          <p:cNvPr id="15" name="Group 38"/>
          <p:cNvGrpSpPr>
            <a:grpSpLocks/>
          </p:cNvGrpSpPr>
          <p:nvPr/>
        </p:nvGrpSpPr>
        <p:grpSpPr bwMode="auto">
          <a:xfrm>
            <a:off x="1403408" y="3359587"/>
            <a:ext cx="1801438" cy="515867"/>
            <a:chOff x="1097" y="1092"/>
            <a:chExt cx="1368" cy="538"/>
          </a:xfrm>
        </p:grpSpPr>
        <p:sp>
          <p:nvSpPr>
            <p:cNvPr id="22" name="Text Box 23"/>
            <p:cNvSpPr txBox="1">
              <a:spLocks noChangeArrowheads="1"/>
            </p:cNvSpPr>
            <p:nvPr/>
          </p:nvSpPr>
          <p:spPr bwMode="auto">
            <a:xfrm>
              <a:off x="1097" y="1092"/>
              <a:ext cx="1114" cy="280"/>
            </a:xfrm>
            <a:prstGeom prst="rect">
              <a:avLst/>
            </a:prstGeom>
            <a:noFill/>
            <a:ln w="28575">
              <a:noFill/>
              <a:miter lim="800000"/>
              <a:headEnd/>
              <a:tailEnd/>
            </a:ln>
          </p:spPr>
          <p:txBody>
            <a:bodyPr wrap="none">
              <a:spAutoFit/>
            </a:bodyPr>
            <a:lstStyle/>
            <a:p>
              <a:pPr algn="l">
                <a:spcBef>
                  <a:spcPct val="20000"/>
                </a:spcBef>
                <a:buClr>
                  <a:schemeClr val="tx1"/>
                </a:buClr>
                <a:buFont typeface="Wingdings" pitchFamily="2" charset="2"/>
                <a:buNone/>
                <a:defRPr/>
              </a:pPr>
              <a:r>
                <a:rPr lang="es-ES" sz="1700" dirty="0">
                  <a:solidFill>
                    <a:srgbClr val="FF0000"/>
                  </a:solidFill>
                  <a:latin typeface="+mn-lt"/>
                </a:rPr>
                <a:t>Trascendencia</a:t>
              </a:r>
            </a:p>
          </p:txBody>
        </p:sp>
        <p:sp>
          <p:nvSpPr>
            <p:cNvPr id="23" name="AutoShape 24"/>
            <p:cNvSpPr>
              <a:spLocks/>
            </p:cNvSpPr>
            <p:nvPr/>
          </p:nvSpPr>
          <p:spPr bwMode="auto">
            <a:xfrm>
              <a:off x="2410" y="1142"/>
              <a:ext cx="55" cy="488"/>
            </a:xfrm>
            <a:prstGeom prst="leftBrace">
              <a:avLst>
                <a:gd name="adj1" fmla="val 59301"/>
                <a:gd name="adj2" fmla="val 50000"/>
              </a:avLst>
            </a:prstGeom>
            <a:noFill/>
            <a:ln w="28575">
              <a:solidFill>
                <a:srgbClr val="FF0000"/>
              </a:solidFill>
              <a:round/>
              <a:headEnd/>
              <a:tailEnd/>
            </a:ln>
          </p:spPr>
          <p:txBody>
            <a:bodyPr wrap="square" anchor="ctr">
              <a:spAutoFit/>
            </a:bodyPr>
            <a:lstStyle/>
            <a:p>
              <a:endParaRPr lang="es-ES"/>
            </a:p>
          </p:txBody>
        </p:sp>
      </p:grpSp>
      <p:grpSp>
        <p:nvGrpSpPr>
          <p:cNvPr id="16" name="Group 36"/>
          <p:cNvGrpSpPr>
            <a:grpSpLocks/>
          </p:cNvGrpSpPr>
          <p:nvPr/>
        </p:nvGrpSpPr>
        <p:grpSpPr bwMode="auto">
          <a:xfrm>
            <a:off x="899078" y="3954667"/>
            <a:ext cx="1514481" cy="1098238"/>
            <a:chOff x="1608" y="1706"/>
            <a:chExt cx="1340" cy="1003"/>
          </a:xfrm>
        </p:grpSpPr>
        <p:sp>
          <p:nvSpPr>
            <p:cNvPr id="20" name="AutoShape 25"/>
            <p:cNvSpPr>
              <a:spLocks/>
            </p:cNvSpPr>
            <p:nvPr/>
          </p:nvSpPr>
          <p:spPr bwMode="auto">
            <a:xfrm>
              <a:off x="2835" y="1706"/>
              <a:ext cx="113" cy="1003"/>
            </a:xfrm>
            <a:prstGeom prst="leftBrace">
              <a:avLst>
                <a:gd name="adj1" fmla="val 73968"/>
                <a:gd name="adj2" fmla="val 50000"/>
              </a:avLst>
            </a:prstGeom>
            <a:noFill/>
            <a:ln w="28575">
              <a:solidFill>
                <a:schemeClr val="bg1">
                  <a:lumMod val="50000"/>
                </a:schemeClr>
              </a:solidFill>
              <a:round/>
              <a:headEnd/>
              <a:tailEnd/>
            </a:ln>
          </p:spPr>
          <p:txBody>
            <a:bodyPr anchor="ctr">
              <a:spAutoFit/>
            </a:bodyPr>
            <a:lstStyle/>
            <a:p>
              <a:endParaRPr lang="es-ES"/>
            </a:p>
          </p:txBody>
        </p:sp>
        <p:sp>
          <p:nvSpPr>
            <p:cNvPr id="21" name="Text Box 27"/>
            <p:cNvSpPr txBox="1">
              <a:spLocks noChangeArrowheads="1"/>
            </p:cNvSpPr>
            <p:nvPr/>
          </p:nvSpPr>
          <p:spPr bwMode="auto">
            <a:xfrm>
              <a:off x="1608" y="2021"/>
              <a:ext cx="1225" cy="245"/>
            </a:xfrm>
            <a:prstGeom prst="rect">
              <a:avLst/>
            </a:prstGeom>
            <a:noFill/>
            <a:ln w="28575">
              <a:noFill/>
              <a:miter lim="800000"/>
              <a:headEnd/>
              <a:tailEnd/>
            </a:ln>
          </p:spPr>
          <p:txBody>
            <a:bodyPr wrap="square">
              <a:spAutoFit/>
            </a:bodyPr>
            <a:lstStyle/>
            <a:p>
              <a:pPr algn="l">
                <a:spcBef>
                  <a:spcPct val="20000"/>
                </a:spcBef>
                <a:buClr>
                  <a:schemeClr val="tx1"/>
                </a:buClr>
                <a:buFont typeface="Wingdings" pitchFamily="2" charset="2"/>
                <a:buNone/>
                <a:defRPr/>
              </a:pPr>
              <a:r>
                <a:rPr lang="es-ES" sz="1700" dirty="0">
                  <a:solidFill>
                    <a:schemeClr val="bg1">
                      <a:lumMod val="50000"/>
                    </a:schemeClr>
                  </a:solidFill>
                  <a:latin typeface="+mn-lt"/>
                </a:rPr>
                <a:t>Psicológicas</a:t>
              </a:r>
            </a:p>
          </p:txBody>
        </p:sp>
      </p:grpSp>
      <p:grpSp>
        <p:nvGrpSpPr>
          <p:cNvPr id="17" name="Group 36"/>
          <p:cNvGrpSpPr>
            <a:grpSpLocks/>
          </p:cNvGrpSpPr>
          <p:nvPr/>
        </p:nvGrpSpPr>
        <p:grpSpPr bwMode="auto">
          <a:xfrm>
            <a:off x="610843" y="5162037"/>
            <a:ext cx="1033011" cy="1098238"/>
            <a:chOff x="1466" y="1656"/>
            <a:chExt cx="914" cy="1003"/>
          </a:xfrm>
        </p:grpSpPr>
        <p:sp>
          <p:nvSpPr>
            <p:cNvPr id="18" name="AutoShape 25"/>
            <p:cNvSpPr>
              <a:spLocks/>
            </p:cNvSpPr>
            <p:nvPr/>
          </p:nvSpPr>
          <p:spPr bwMode="auto">
            <a:xfrm>
              <a:off x="2267" y="1656"/>
              <a:ext cx="113" cy="1003"/>
            </a:xfrm>
            <a:prstGeom prst="leftBrace">
              <a:avLst>
                <a:gd name="adj1" fmla="val 73968"/>
                <a:gd name="adj2" fmla="val 50000"/>
              </a:avLst>
            </a:prstGeom>
            <a:noFill/>
            <a:ln w="28575">
              <a:solidFill>
                <a:schemeClr val="tx1"/>
              </a:solidFill>
              <a:round/>
              <a:headEnd/>
              <a:tailEnd/>
            </a:ln>
          </p:spPr>
          <p:txBody>
            <a:bodyPr anchor="ctr">
              <a:spAutoFit/>
            </a:bodyPr>
            <a:lstStyle/>
            <a:p>
              <a:endParaRPr lang="es-ES"/>
            </a:p>
          </p:txBody>
        </p:sp>
        <p:sp>
          <p:nvSpPr>
            <p:cNvPr id="19" name="Text Box 27"/>
            <p:cNvSpPr txBox="1">
              <a:spLocks noChangeArrowheads="1"/>
            </p:cNvSpPr>
            <p:nvPr/>
          </p:nvSpPr>
          <p:spPr bwMode="auto">
            <a:xfrm>
              <a:off x="1466" y="1959"/>
              <a:ext cx="907" cy="245"/>
            </a:xfrm>
            <a:prstGeom prst="rect">
              <a:avLst/>
            </a:prstGeom>
            <a:noFill/>
            <a:ln w="28575">
              <a:noFill/>
              <a:miter lim="800000"/>
              <a:headEnd/>
              <a:tailEnd/>
            </a:ln>
          </p:spPr>
          <p:txBody>
            <a:bodyPr wrap="square">
              <a:spAutoFit/>
            </a:bodyPr>
            <a:lstStyle/>
            <a:p>
              <a:pPr algn="l">
                <a:spcBef>
                  <a:spcPct val="20000"/>
                </a:spcBef>
                <a:buClr>
                  <a:schemeClr val="tx1"/>
                </a:buClr>
                <a:buFont typeface="Wingdings" pitchFamily="2" charset="2"/>
                <a:buNone/>
                <a:defRPr/>
              </a:pPr>
              <a:r>
                <a:rPr lang="es-ES" sz="1700" dirty="0">
                  <a:latin typeface="+mn-lt"/>
                </a:rPr>
                <a:t>Básicas</a:t>
              </a:r>
            </a:p>
          </p:txBody>
        </p:sp>
      </p:grpSp>
      <p:sp>
        <p:nvSpPr>
          <p:cNvPr id="29" name="28 Marcador de número de diapositiva"/>
          <p:cNvSpPr>
            <a:spLocks noGrp="1"/>
          </p:cNvSpPr>
          <p:nvPr>
            <p:ph type="sldNum" sz="quarter" idx="4"/>
          </p:nvPr>
        </p:nvSpPr>
        <p:spPr/>
        <p:txBody>
          <a:bodyPr/>
          <a:lstStyle/>
          <a:p>
            <a:pPr>
              <a:defRPr/>
            </a:pPr>
            <a:fld id="{031E6992-B48E-4E13-A9CD-F20B6AAC6FC2}" type="slidenum">
              <a:rPr lang="es-ES" smtClean="0"/>
              <a:pPr>
                <a:defRPr/>
              </a:pPr>
              <a:t>13</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996950" y="980728"/>
            <a:ext cx="8147050" cy="1340148"/>
          </a:xfrm>
        </p:spPr>
        <p:txBody>
          <a:bodyPr>
            <a:noAutofit/>
          </a:bodyPr>
          <a:lstStyle/>
          <a:p>
            <a:pPr marL="0" indent="0" eaLnBrk="1" hangingPunct="1">
              <a:buFont typeface="Wingdings 2" pitchFamily="18" charset="2"/>
              <a:buNone/>
              <a:defRPr/>
            </a:pPr>
            <a:r>
              <a:rPr lang="es-ES" sz="2000" b="1" dirty="0">
                <a:solidFill>
                  <a:srgbClr val="C00000"/>
                </a:solidFill>
              </a:rPr>
              <a:t>Douglas </a:t>
            </a:r>
            <a:r>
              <a:rPr lang="es-ES" sz="2000" b="1" dirty="0" err="1">
                <a:solidFill>
                  <a:srgbClr val="C00000"/>
                </a:solidFill>
              </a:rPr>
              <a:t>McGREGOR</a:t>
            </a:r>
            <a:endParaRPr lang="es-ES" sz="2000" b="1" dirty="0">
              <a:solidFill>
                <a:srgbClr val="C00000"/>
              </a:solidFill>
            </a:endParaRPr>
          </a:p>
          <a:p>
            <a:pPr marL="400050" lvl="1" indent="0">
              <a:buFont typeface="Wingdings 2" pitchFamily="18" charset="2"/>
              <a:buNone/>
              <a:defRPr/>
            </a:pPr>
            <a:r>
              <a:rPr lang="es-ES_tradnl" dirty="0"/>
              <a:t>Planteó dos concepciones distintas sobre la naturaleza de los seres humanos: una básicamente negativa (</a:t>
            </a:r>
            <a:r>
              <a:rPr lang="es-ES_tradnl" b="1" dirty="0">
                <a:solidFill>
                  <a:srgbClr val="C00000"/>
                </a:solidFill>
              </a:rPr>
              <a:t>TEORÍA X</a:t>
            </a:r>
            <a:r>
              <a:rPr lang="es-ES_tradnl" dirty="0"/>
              <a:t>), y otra básicamente positiva (</a:t>
            </a:r>
            <a:r>
              <a:rPr lang="es-ES_tradnl" b="1" dirty="0">
                <a:solidFill>
                  <a:srgbClr val="C00000"/>
                </a:solidFill>
              </a:rPr>
              <a:t>TEORÍA Y</a:t>
            </a:r>
            <a:r>
              <a:rPr lang="es-ES_tradnl" dirty="0"/>
              <a:t>). </a:t>
            </a:r>
          </a:p>
          <a:p>
            <a:pPr marL="0" indent="0" eaLnBrk="1" hangingPunct="1">
              <a:buFont typeface="Wingdings 2" pitchFamily="18" charset="2"/>
              <a:buNone/>
              <a:defRPr/>
            </a:pPr>
            <a:endParaRPr lang="es-ES" sz="2000" dirty="0"/>
          </a:p>
          <a:p>
            <a:pPr marL="0" indent="0" eaLnBrk="1" hangingPunct="1">
              <a:buFont typeface="Wingdings 2" pitchFamily="18" charset="2"/>
              <a:buNone/>
              <a:defRPr/>
            </a:pPr>
            <a:endParaRPr lang="es-ES" sz="2000" dirty="0"/>
          </a:p>
        </p:txBody>
      </p:sp>
      <p:graphicFrame>
        <p:nvGraphicFramePr>
          <p:cNvPr id="5" name="4 Tabla"/>
          <p:cNvGraphicFramePr>
            <a:graphicFrameLocks noGrp="1"/>
          </p:cNvGraphicFramePr>
          <p:nvPr>
            <p:extLst>
              <p:ext uri="{D42A27DB-BD31-4B8C-83A1-F6EECF244321}">
                <p14:modId xmlns:p14="http://schemas.microsoft.com/office/powerpoint/2010/main" val="3608586141"/>
              </p:ext>
            </p:extLst>
          </p:nvPr>
        </p:nvGraphicFramePr>
        <p:xfrm>
          <a:off x="539750" y="2564904"/>
          <a:ext cx="8208912" cy="3955242"/>
        </p:xfrm>
        <a:graphic>
          <a:graphicData uri="http://schemas.openxmlformats.org/drawingml/2006/table">
            <a:tbl>
              <a:tblPr firstRow="1" bandRow="1">
                <a:tableStyleId>{284E427A-3D55-4303-BF80-6455036E1DE7}</a:tableStyleId>
              </a:tblPr>
              <a:tblGrid>
                <a:gridCol w="4104456">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394423">
                <a:tc>
                  <a:txBody>
                    <a:bodyPr/>
                    <a:lstStyle/>
                    <a:p>
                      <a:pPr algn="ctr"/>
                      <a:r>
                        <a:rPr lang="es-ES" sz="1800" dirty="0">
                          <a:solidFill>
                            <a:schemeClr val="tx1"/>
                          </a:solidFill>
                        </a:rPr>
                        <a:t>TEORÍA X</a:t>
                      </a:r>
                      <a:endParaRPr lang="es-ES" sz="1800" dirty="0">
                        <a:solidFill>
                          <a:schemeClr val="tx1"/>
                        </a:solidFill>
                        <a:latin typeface="+mn-lt"/>
                      </a:endParaRPr>
                    </a:p>
                  </a:txBody>
                  <a:tcPr/>
                </a:tc>
                <a:tc>
                  <a:txBody>
                    <a:bodyPr/>
                    <a:lstStyle/>
                    <a:p>
                      <a:pPr algn="ctr"/>
                      <a:r>
                        <a:rPr lang="es-ES" sz="1800" dirty="0">
                          <a:solidFill>
                            <a:schemeClr val="tx1"/>
                          </a:solidFill>
                        </a:rPr>
                        <a:t>TEORÍA</a:t>
                      </a:r>
                      <a:r>
                        <a:rPr lang="es-ES" sz="1800" baseline="0" dirty="0">
                          <a:solidFill>
                            <a:schemeClr val="tx1"/>
                          </a:solidFill>
                        </a:rPr>
                        <a:t> Y</a:t>
                      </a:r>
                      <a:endParaRPr lang="es-ES" sz="1800" dirty="0">
                        <a:solidFill>
                          <a:schemeClr val="tx1"/>
                        </a:solidFill>
                        <a:latin typeface="+mn-lt"/>
                      </a:endParaRPr>
                    </a:p>
                  </a:txBody>
                  <a:tcPr/>
                </a:tc>
                <a:extLst>
                  <a:ext uri="{0D108BD9-81ED-4DB2-BD59-A6C34878D82A}">
                    <a16:rowId xmlns:a16="http://schemas.microsoft.com/office/drawing/2014/main" val="10000"/>
                  </a:ext>
                </a:extLst>
              </a:tr>
              <a:tr h="778040">
                <a:tc>
                  <a:txBody>
                    <a:bodyPr/>
                    <a:lstStyle/>
                    <a:p>
                      <a:pPr marL="176213" marR="0" indent="-176213" algn="just" defTabSz="914400" rtl="0" eaLnBrk="1" fontAlgn="auto" latinLnBrk="0" hangingPunct="1">
                        <a:lnSpc>
                          <a:spcPct val="100000"/>
                        </a:lnSpc>
                        <a:spcBef>
                          <a:spcPts val="0"/>
                        </a:spcBef>
                        <a:spcAft>
                          <a:spcPts val="0"/>
                        </a:spcAft>
                        <a:buClrTx/>
                        <a:buSzTx/>
                        <a:buFont typeface="+mj-lt"/>
                        <a:buAutoNum type="arabicPeriod"/>
                        <a:tabLst/>
                        <a:defRPr/>
                      </a:pPr>
                      <a:r>
                        <a:rPr kumimoji="0" lang="es-ES_tradnl" sz="1400" kern="1200" dirty="0">
                          <a:solidFill>
                            <a:schemeClr val="tx1"/>
                          </a:solidFill>
                        </a:rPr>
                        <a:t>Los empleados tienen un desagrado inherente por trabajar y siempre evitarán hacerlo.</a:t>
                      </a:r>
                      <a:endParaRPr kumimoji="0" lang="es-ES" sz="1400" kern="1200" dirty="0">
                        <a:solidFill>
                          <a:schemeClr val="tx1"/>
                        </a:solidFill>
                      </a:endParaRPr>
                    </a:p>
                    <a:p>
                      <a:pPr algn="just"/>
                      <a:endParaRPr lang="es-ES" sz="1400" dirty="0">
                        <a:solidFill>
                          <a:schemeClr val="tx1"/>
                        </a:solidFill>
                        <a:latin typeface="+mn-lt"/>
                        <a:cs typeface="Times New Roman" pitchFamily="18" charset="0"/>
                      </a:endParaRPr>
                    </a:p>
                  </a:txBody>
                  <a:tcPr/>
                </a:tc>
                <a:tc>
                  <a:txBody>
                    <a:bodyPr/>
                    <a:lstStyle/>
                    <a:p>
                      <a:pPr marL="176213" marR="0" indent="-176213" algn="just" defTabSz="914400" rtl="0" eaLnBrk="1" fontAlgn="auto" latinLnBrk="0" hangingPunct="1">
                        <a:lnSpc>
                          <a:spcPct val="100000"/>
                        </a:lnSpc>
                        <a:spcBef>
                          <a:spcPts val="0"/>
                        </a:spcBef>
                        <a:spcAft>
                          <a:spcPts val="0"/>
                        </a:spcAft>
                        <a:buClrTx/>
                        <a:buSzTx/>
                        <a:buFont typeface="+mj-lt"/>
                        <a:buAutoNum type="arabicPeriod"/>
                        <a:tabLst/>
                        <a:defRPr/>
                      </a:pPr>
                      <a:r>
                        <a:rPr kumimoji="0" lang="es-ES_tradnl" sz="1400" kern="1200" dirty="0">
                          <a:solidFill>
                            <a:schemeClr val="tx1"/>
                          </a:solidFill>
                        </a:rPr>
                        <a:t>Los empleados pueden considerar que el trabajo es algo tan natural como descansar o jugar.</a:t>
                      </a:r>
                      <a:endParaRPr lang="es-ES" sz="1400" dirty="0">
                        <a:solidFill>
                          <a:schemeClr val="tx1"/>
                        </a:solidFill>
                        <a:latin typeface="+mn-lt"/>
                        <a:cs typeface="Times New Roman" pitchFamily="18" charset="0"/>
                      </a:endParaRPr>
                    </a:p>
                  </a:txBody>
                  <a:tcPr/>
                </a:tc>
                <a:extLst>
                  <a:ext uri="{0D108BD9-81ED-4DB2-BD59-A6C34878D82A}">
                    <a16:rowId xmlns:a16="http://schemas.microsoft.com/office/drawing/2014/main" val="10001"/>
                  </a:ext>
                </a:extLst>
              </a:tr>
              <a:tr h="1059859">
                <a:tc>
                  <a:txBody>
                    <a:bodyPr/>
                    <a:lstStyle/>
                    <a:p>
                      <a:pPr marL="176213" marR="0" indent="-176213" algn="just" defTabSz="914400" rtl="0" eaLnBrk="1" fontAlgn="auto" latinLnBrk="0" hangingPunct="1">
                        <a:lnSpc>
                          <a:spcPct val="100000"/>
                        </a:lnSpc>
                        <a:spcBef>
                          <a:spcPts val="0"/>
                        </a:spcBef>
                        <a:spcAft>
                          <a:spcPts val="0"/>
                        </a:spcAft>
                        <a:buClrTx/>
                        <a:buSzTx/>
                        <a:buFont typeface="+mj-lt"/>
                        <a:buAutoNum type="arabicPeriod" startAt="2"/>
                        <a:tabLst/>
                        <a:defRPr/>
                      </a:pPr>
                      <a:r>
                        <a:rPr kumimoji="0" lang="es-ES_tradnl" sz="1400" kern="1200" dirty="0">
                          <a:solidFill>
                            <a:schemeClr val="tx1"/>
                          </a:solidFill>
                        </a:rPr>
                        <a:t>Como a los empleados les desagrada trabajar, hay que coaccionarlos, controlarlos o amenazarlos con sanciones para que logren las metas que se quieren alcanzar.</a:t>
                      </a:r>
                      <a:endParaRPr lang="es-ES" sz="1400" dirty="0">
                        <a:solidFill>
                          <a:schemeClr val="tx1"/>
                        </a:solidFill>
                        <a:latin typeface="+mn-lt"/>
                        <a:cs typeface="Times New Roman" pitchFamily="18" charset="0"/>
                      </a:endParaRPr>
                    </a:p>
                  </a:txBody>
                  <a:tcPr/>
                </a:tc>
                <a:tc>
                  <a:txBody>
                    <a:bodyPr/>
                    <a:lstStyle/>
                    <a:p>
                      <a:pPr marL="176213" marR="0" indent="-176213" algn="just" defTabSz="914400" rtl="0" eaLnBrk="1" fontAlgn="auto" latinLnBrk="0" hangingPunct="1">
                        <a:lnSpc>
                          <a:spcPct val="100000"/>
                        </a:lnSpc>
                        <a:spcBef>
                          <a:spcPts val="0"/>
                        </a:spcBef>
                        <a:spcAft>
                          <a:spcPts val="0"/>
                        </a:spcAft>
                        <a:buClrTx/>
                        <a:buSzTx/>
                        <a:buFont typeface="+mj-lt"/>
                        <a:buAutoNum type="arabicPeriod" startAt="2"/>
                        <a:tabLst/>
                        <a:defRPr/>
                      </a:pPr>
                      <a:r>
                        <a:rPr kumimoji="0" lang="es-ES_tradnl" sz="1400" kern="1200" dirty="0">
                          <a:solidFill>
                            <a:schemeClr val="tx1"/>
                          </a:solidFill>
                        </a:rPr>
                        <a:t>Los hombres y mujeres serán capaces de dirigirse por sí mismos y ejercerán el autocontrol cuando estén comprometidos con los objetivos.</a:t>
                      </a:r>
                      <a:endParaRPr lang="es-ES" sz="1400" dirty="0">
                        <a:solidFill>
                          <a:schemeClr val="tx1"/>
                        </a:solidFill>
                        <a:latin typeface="+mn-lt"/>
                        <a:cs typeface="Times New Roman" pitchFamily="18" charset="0"/>
                      </a:endParaRPr>
                    </a:p>
                  </a:txBody>
                  <a:tcPr/>
                </a:tc>
                <a:extLst>
                  <a:ext uri="{0D108BD9-81ED-4DB2-BD59-A6C34878D82A}">
                    <a16:rowId xmlns:a16="http://schemas.microsoft.com/office/drawing/2014/main" val="10002"/>
                  </a:ext>
                </a:extLst>
              </a:tr>
              <a:tr h="778040">
                <a:tc>
                  <a:txBody>
                    <a:bodyPr/>
                    <a:lstStyle/>
                    <a:p>
                      <a:pPr marL="176213" marR="0" indent="-176213" algn="just" defTabSz="914400" rtl="0" eaLnBrk="1" fontAlgn="auto" latinLnBrk="0" hangingPunct="1">
                        <a:lnSpc>
                          <a:spcPct val="100000"/>
                        </a:lnSpc>
                        <a:spcBef>
                          <a:spcPts val="0"/>
                        </a:spcBef>
                        <a:spcAft>
                          <a:spcPts val="0"/>
                        </a:spcAft>
                        <a:buClrTx/>
                        <a:buSzTx/>
                        <a:buFont typeface="+mj-lt"/>
                        <a:buAutoNum type="arabicPeriod" startAt="3"/>
                        <a:tabLst/>
                        <a:defRPr/>
                      </a:pPr>
                      <a:r>
                        <a:rPr kumimoji="0" lang="es-ES_tradnl" sz="1400" kern="1200" dirty="0">
                          <a:solidFill>
                            <a:schemeClr val="tx1"/>
                          </a:solidFill>
                        </a:rPr>
                        <a:t>Los empleados evitarán las responsabilidades y buscarán una dirección formal siempre que sea posible.</a:t>
                      </a:r>
                      <a:endParaRPr lang="es-ES" sz="1400" dirty="0">
                        <a:solidFill>
                          <a:schemeClr val="tx1"/>
                        </a:solidFill>
                        <a:latin typeface="+mn-lt"/>
                        <a:cs typeface="Times New Roman" pitchFamily="18" charset="0"/>
                      </a:endParaRPr>
                    </a:p>
                  </a:txBody>
                  <a:tcPr/>
                </a:tc>
                <a:tc>
                  <a:txBody>
                    <a:bodyPr/>
                    <a:lstStyle/>
                    <a:p>
                      <a:pPr marL="176213" marR="0" indent="-176213" algn="just" defTabSz="914400" rtl="0" eaLnBrk="1" fontAlgn="auto" latinLnBrk="0" hangingPunct="1">
                        <a:lnSpc>
                          <a:spcPct val="100000"/>
                        </a:lnSpc>
                        <a:spcBef>
                          <a:spcPts val="0"/>
                        </a:spcBef>
                        <a:spcAft>
                          <a:spcPts val="0"/>
                        </a:spcAft>
                        <a:buClrTx/>
                        <a:buSzTx/>
                        <a:buFont typeface="+mj-lt"/>
                        <a:buAutoNum type="arabicPeriod" startAt="3"/>
                        <a:tabLst/>
                        <a:defRPr/>
                      </a:pPr>
                      <a:r>
                        <a:rPr kumimoji="0" lang="es-ES_tradnl" sz="1400" kern="1200" dirty="0">
                          <a:solidFill>
                            <a:schemeClr val="tx1"/>
                          </a:solidFill>
                        </a:rPr>
                        <a:t>La persona promedio puede aprender a aceptar responsabilidad, incluso a buscarla.</a:t>
                      </a:r>
                      <a:endParaRPr kumimoji="0" lang="es-ES" sz="1400" kern="1200" dirty="0">
                        <a:solidFill>
                          <a:schemeClr val="tx1"/>
                        </a:solidFill>
                      </a:endParaRPr>
                    </a:p>
                    <a:p>
                      <a:pPr algn="just"/>
                      <a:endParaRPr lang="es-ES" sz="1400" dirty="0">
                        <a:solidFill>
                          <a:schemeClr val="tx1"/>
                        </a:solidFill>
                        <a:latin typeface="+mn-lt"/>
                        <a:cs typeface="Times New Roman" pitchFamily="18" charset="0"/>
                      </a:endParaRPr>
                    </a:p>
                  </a:txBody>
                  <a:tcPr/>
                </a:tc>
                <a:extLst>
                  <a:ext uri="{0D108BD9-81ED-4DB2-BD59-A6C34878D82A}">
                    <a16:rowId xmlns:a16="http://schemas.microsoft.com/office/drawing/2014/main" val="10003"/>
                  </a:ext>
                </a:extLst>
              </a:tr>
              <a:tr h="778040">
                <a:tc>
                  <a:txBody>
                    <a:bodyPr/>
                    <a:lstStyle/>
                    <a:p>
                      <a:pPr marL="176213" indent="-176213" algn="just">
                        <a:buFont typeface="+mj-lt"/>
                        <a:buAutoNum type="arabicPeriod" startAt="4"/>
                      </a:pPr>
                      <a:r>
                        <a:rPr kumimoji="0" lang="es-ES_tradnl" sz="1400" kern="1200" dirty="0">
                          <a:solidFill>
                            <a:schemeClr val="tx1"/>
                          </a:solidFill>
                        </a:rPr>
                        <a:t>La mayoría de los empleados anteponen la seguridad a cualquier factor asociado con su trabajo y mostrarán muy pocas ambiciones.</a:t>
                      </a:r>
                      <a:endParaRPr lang="es-ES" sz="1400" dirty="0">
                        <a:solidFill>
                          <a:schemeClr val="tx1"/>
                        </a:solidFill>
                        <a:latin typeface="+mn-lt"/>
                        <a:cs typeface="Times New Roman" pitchFamily="18" charset="0"/>
                      </a:endParaRPr>
                    </a:p>
                  </a:txBody>
                  <a:tcPr/>
                </a:tc>
                <a:tc>
                  <a:txBody>
                    <a:bodyPr/>
                    <a:lstStyle/>
                    <a:p>
                      <a:pPr marL="176213" indent="-176213" algn="just">
                        <a:buFont typeface="+mj-lt"/>
                        <a:buAutoNum type="arabicPeriod" startAt="4"/>
                      </a:pPr>
                      <a:r>
                        <a:rPr kumimoji="0" lang="es-ES_tradnl" sz="1400" kern="1200" dirty="0">
                          <a:solidFill>
                            <a:schemeClr val="tx1"/>
                          </a:solidFill>
                        </a:rPr>
                        <a:t>La habilidad para tomar buenas decisiones está muy difundida entre la población y no necesariamente es un dominio exclusivo de los directivos.</a:t>
                      </a:r>
                      <a:endParaRPr lang="es-ES" sz="1400" dirty="0">
                        <a:solidFill>
                          <a:schemeClr val="tx1"/>
                        </a:solidFill>
                        <a:latin typeface="+mn-lt"/>
                        <a:cs typeface="Times New Roman" pitchFamily="18" charset="0"/>
                      </a:endParaRPr>
                    </a:p>
                  </a:txBody>
                  <a:tcPr/>
                </a:tc>
                <a:extLst>
                  <a:ext uri="{0D108BD9-81ED-4DB2-BD59-A6C34878D82A}">
                    <a16:rowId xmlns:a16="http://schemas.microsoft.com/office/drawing/2014/main" val="10004"/>
                  </a:ext>
                </a:extLst>
              </a:tr>
            </a:tbl>
          </a:graphicData>
        </a:graphic>
      </p:graphicFrame>
      <p:pic>
        <p:nvPicPr>
          <p:cNvPr id="24599" name="Picture 6" descr="http://t2.gstatic.com/images?q=tbn:ANd9GcQZRLqEk03G0wwgEYgioLjIJLPSCE57sx1KfCJGTcsImXMFYOSEwCVFDUM">
            <a:hlinkClick r:id="rId3"/>
          </p:cNvPr>
          <p:cNvPicPr>
            <a:picLocks noChangeAspect="1" noChangeArrowheads="1"/>
          </p:cNvPicPr>
          <p:nvPr/>
        </p:nvPicPr>
        <p:blipFill>
          <a:blip r:embed="rId4" cstate="print"/>
          <a:srcRect/>
          <a:stretch>
            <a:fillRect/>
          </a:stretch>
        </p:blipFill>
        <p:spPr bwMode="auto">
          <a:xfrm>
            <a:off x="250825" y="1007152"/>
            <a:ext cx="792783" cy="1097700"/>
          </a:xfrm>
          <a:prstGeom prst="rect">
            <a:avLst/>
          </a:prstGeom>
          <a:noFill/>
          <a:ln w="9525">
            <a:noFill/>
            <a:miter lim="800000"/>
            <a:headEnd/>
            <a:tailEnd/>
          </a:ln>
        </p:spPr>
      </p:pic>
      <p:sp>
        <p:nvSpPr>
          <p:cNvPr id="7"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3.1.2. Perspectiva del comportamiento</a:t>
            </a:r>
          </a:p>
        </p:txBody>
      </p:sp>
      <p:sp>
        <p:nvSpPr>
          <p:cNvPr id="8" name="7 Marcador de número de diapositiva"/>
          <p:cNvSpPr>
            <a:spLocks noGrp="1"/>
          </p:cNvSpPr>
          <p:nvPr>
            <p:ph type="sldNum" sz="quarter" idx="4"/>
          </p:nvPr>
        </p:nvSpPr>
        <p:spPr/>
        <p:txBody>
          <a:bodyPr/>
          <a:lstStyle/>
          <a:p>
            <a:pPr>
              <a:defRPr/>
            </a:pPr>
            <a:fld id="{031E6992-B48E-4E13-A9CD-F20B6AAC6FC2}" type="slidenum">
              <a:rPr lang="es-ES" smtClean="0"/>
              <a:pPr>
                <a:defRPr/>
              </a:pPr>
              <a:t>14</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fld id="{3A50B82F-E44A-4FE6-8B99-53CD253DED7E}" type="slidenum">
              <a:rPr lang="es-ES" smtClean="0"/>
              <a:pPr/>
              <a:t>15</a:t>
            </a:fld>
            <a:endParaRPr lang="es-ES" dirty="0"/>
          </a:p>
        </p:txBody>
      </p:sp>
      <p:sp>
        <p:nvSpPr>
          <p:cNvPr id="4" name="3 Rectángulo"/>
          <p:cNvSpPr/>
          <p:nvPr/>
        </p:nvSpPr>
        <p:spPr>
          <a:xfrm>
            <a:off x="179512" y="1052736"/>
            <a:ext cx="4176464" cy="3179332"/>
          </a:xfrm>
          <a:prstGeom prst="rect">
            <a:avLst/>
          </a:prstGeom>
          <a:ln w="28575">
            <a:solidFill>
              <a:srgbClr val="C00000"/>
            </a:solidFill>
            <a:prstDash val="sysDash"/>
          </a:ln>
        </p:spPr>
        <p:txBody>
          <a:bodyPr wrap="square">
            <a:spAutoFit/>
          </a:bodyPr>
          <a:lstStyle/>
          <a:p>
            <a:pPr marL="177800" lvl="0" indent="-177800" algn="just">
              <a:spcBef>
                <a:spcPct val="30000"/>
              </a:spcBef>
              <a:spcAft>
                <a:spcPct val="30000"/>
              </a:spcAft>
              <a:buAutoNum type="arabicPeriod"/>
              <a:tabLst>
                <a:tab pos="179388" algn="l"/>
              </a:tabLst>
            </a:pPr>
            <a:r>
              <a:rPr lang="es-ES" sz="1700" b="1" u="none" kern="0" dirty="0">
                <a:solidFill>
                  <a:srgbClr val="C00000"/>
                </a:solidFill>
                <a:latin typeface="Comic Sans MS"/>
              </a:rPr>
              <a:t>ESTUDIOS DE HAWTHORNE </a:t>
            </a:r>
            <a:r>
              <a:rPr lang="es-ES" sz="1700" b="1" u="none" kern="0" dirty="0">
                <a:solidFill>
                  <a:srgbClr val="C00000"/>
                </a:solidFill>
                <a:latin typeface="Comic Sans MS"/>
                <a:sym typeface="Wingdings" pitchFamily="2" charset="2"/>
              </a:rPr>
              <a:t> ELTON MAYO </a:t>
            </a:r>
          </a:p>
          <a:p>
            <a:pPr marL="177800" lvl="0" indent="-177800" algn="just">
              <a:spcBef>
                <a:spcPct val="30000"/>
              </a:spcBef>
              <a:spcAft>
                <a:spcPct val="30000"/>
              </a:spcAft>
              <a:buFont typeface="Arial" pitchFamily="34" charset="0"/>
              <a:buChar char="•"/>
              <a:tabLst>
                <a:tab pos="179388" algn="l"/>
              </a:tabLst>
            </a:pPr>
            <a:r>
              <a:rPr lang="es-ES" sz="1700" u="none" kern="0" dirty="0">
                <a:latin typeface="Comic Sans MS"/>
                <a:sym typeface="Wingdings" pitchFamily="2" charset="2"/>
              </a:rPr>
              <a:t>El comportamiento y las actitudes estrechamente relacionadas.</a:t>
            </a:r>
          </a:p>
          <a:p>
            <a:pPr marL="177800" lvl="0" indent="-177800" algn="just">
              <a:spcBef>
                <a:spcPct val="30000"/>
              </a:spcBef>
              <a:spcAft>
                <a:spcPct val="30000"/>
              </a:spcAft>
              <a:buFont typeface="Arial" pitchFamily="34" charset="0"/>
              <a:buChar char="•"/>
              <a:tabLst>
                <a:tab pos="179388" algn="l"/>
              </a:tabLst>
            </a:pPr>
            <a:r>
              <a:rPr lang="es-ES" sz="1700" u="none" kern="0" dirty="0">
                <a:latin typeface="Comic Sans MS"/>
                <a:sym typeface="Wingdings" pitchFamily="2" charset="2"/>
              </a:rPr>
              <a:t>Las influencias grupales afectan de manera significativa a las conductas de los individuos.</a:t>
            </a:r>
          </a:p>
          <a:p>
            <a:pPr marL="177800" lvl="0" indent="-177800" algn="just">
              <a:spcBef>
                <a:spcPct val="30000"/>
              </a:spcBef>
              <a:spcAft>
                <a:spcPct val="30000"/>
              </a:spcAft>
              <a:buFont typeface="Arial" pitchFamily="34" charset="0"/>
              <a:buChar char="•"/>
              <a:tabLst>
                <a:tab pos="179388" algn="l"/>
              </a:tabLst>
            </a:pPr>
            <a:r>
              <a:rPr lang="es-ES" sz="1700" u="none" kern="0" dirty="0">
                <a:latin typeface="Comic Sans MS"/>
                <a:sym typeface="Wingdings" pitchFamily="2" charset="2"/>
              </a:rPr>
              <a:t>Los estándares grupales determinan la productividad de cada trabajador individual.</a:t>
            </a:r>
          </a:p>
        </p:txBody>
      </p:sp>
      <p:sp>
        <p:nvSpPr>
          <p:cNvPr id="5" name="4 Rectángulo"/>
          <p:cNvSpPr/>
          <p:nvPr/>
        </p:nvSpPr>
        <p:spPr>
          <a:xfrm>
            <a:off x="4572000" y="1052737"/>
            <a:ext cx="4392488" cy="5376857"/>
          </a:xfrm>
          <a:prstGeom prst="rect">
            <a:avLst/>
          </a:prstGeom>
          <a:ln w="28575">
            <a:solidFill>
              <a:srgbClr val="C00000"/>
            </a:solidFill>
            <a:prstDash val="sysDash"/>
          </a:ln>
        </p:spPr>
        <p:txBody>
          <a:bodyPr wrap="square">
            <a:spAutoFit/>
          </a:bodyPr>
          <a:lstStyle/>
          <a:p>
            <a:pPr marL="342900" lvl="0" indent="-342900" algn="just">
              <a:spcBef>
                <a:spcPct val="30000"/>
              </a:spcBef>
              <a:spcAft>
                <a:spcPct val="30000"/>
              </a:spcAft>
              <a:buFont typeface="+mj-lt"/>
              <a:buAutoNum type="arabicPeriod" startAt="2"/>
              <a:tabLst>
                <a:tab pos="179388" algn="l"/>
              </a:tabLst>
            </a:pPr>
            <a:r>
              <a:rPr lang="es-ES" sz="1700" b="1" u="none" kern="0" dirty="0">
                <a:solidFill>
                  <a:srgbClr val="C00000"/>
                </a:solidFill>
                <a:latin typeface="Comic Sans MS"/>
                <a:sym typeface="Wingdings" pitchFamily="2" charset="2"/>
              </a:rPr>
              <a:t>PIRÁMIDE DE LAS NECESIDADES  ABRAHAM MASLOW (1954)</a:t>
            </a:r>
          </a:p>
          <a:p>
            <a:pPr lvl="0" algn="just">
              <a:spcBef>
                <a:spcPct val="30000"/>
              </a:spcBef>
              <a:spcAft>
                <a:spcPct val="30000"/>
              </a:spcAft>
              <a:tabLst>
                <a:tab pos="179388" algn="l"/>
              </a:tabLst>
            </a:pPr>
            <a:r>
              <a:rPr lang="es-ES_tradnl" sz="1700" u="none" dirty="0">
                <a:solidFill>
                  <a:srgbClr val="000000"/>
                </a:solidFill>
                <a:latin typeface="Comic Sans MS"/>
              </a:rPr>
              <a:t>Considera que todo ser humano presenta una serie de necesidades ordenadas jerárquicamente, de tal forma que cuando una necesidad inferior es satisfecha en nivel suficiente, el individuo trata de satisfacer otra de orden superior, dejando de ser aquella primera fuente de motivación.</a:t>
            </a:r>
          </a:p>
          <a:p>
            <a:pPr lvl="0" algn="just">
              <a:spcBef>
                <a:spcPct val="30000"/>
              </a:spcBef>
              <a:spcAft>
                <a:spcPct val="30000"/>
              </a:spcAft>
              <a:tabLst>
                <a:tab pos="179388" algn="l"/>
              </a:tabLst>
            </a:pPr>
            <a:endParaRPr lang="es-ES" sz="1700" u="none" kern="0" dirty="0">
              <a:solidFill>
                <a:srgbClr val="000000"/>
              </a:solidFill>
              <a:latin typeface="Comic Sans MS"/>
              <a:sym typeface="Wingdings" pitchFamily="2" charset="2"/>
            </a:endParaRPr>
          </a:p>
          <a:p>
            <a:pPr marL="342900" lvl="0" indent="-342900" algn="just">
              <a:spcBef>
                <a:spcPct val="30000"/>
              </a:spcBef>
              <a:spcAft>
                <a:spcPct val="30000"/>
              </a:spcAft>
              <a:buAutoNum type="arabicPeriod" startAt="2"/>
              <a:tabLst>
                <a:tab pos="179388" algn="l"/>
              </a:tabLst>
            </a:pPr>
            <a:endParaRPr lang="es-ES" sz="1700" u="none" kern="0" dirty="0">
              <a:solidFill>
                <a:srgbClr val="000000"/>
              </a:solidFill>
              <a:latin typeface="Comic Sans MS"/>
              <a:sym typeface="Wingdings" pitchFamily="2" charset="2"/>
            </a:endParaRPr>
          </a:p>
          <a:p>
            <a:pPr marL="342900" lvl="0" indent="-342900" algn="just">
              <a:spcBef>
                <a:spcPct val="30000"/>
              </a:spcBef>
              <a:spcAft>
                <a:spcPct val="30000"/>
              </a:spcAft>
              <a:buAutoNum type="arabicPeriod" startAt="2"/>
              <a:tabLst>
                <a:tab pos="179388" algn="l"/>
              </a:tabLst>
            </a:pPr>
            <a:endParaRPr lang="es-ES" sz="1700" u="none" kern="0" dirty="0">
              <a:solidFill>
                <a:srgbClr val="000000"/>
              </a:solidFill>
              <a:latin typeface="Comic Sans MS"/>
              <a:sym typeface="Wingdings" pitchFamily="2" charset="2"/>
            </a:endParaRPr>
          </a:p>
          <a:p>
            <a:pPr marL="342900" lvl="0" indent="-342900" algn="just">
              <a:spcBef>
                <a:spcPct val="30000"/>
              </a:spcBef>
              <a:spcAft>
                <a:spcPct val="30000"/>
              </a:spcAft>
              <a:buAutoNum type="arabicPeriod" startAt="2"/>
              <a:tabLst>
                <a:tab pos="179388" algn="l"/>
              </a:tabLst>
            </a:pPr>
            <a:endParaRPr lang="es-ES" sz="1700" u="none" kern="0" dirty="0">
              <a:solidFill>
                <a:srgbClr val="000000"/>
              </a:solidFill>
              <a:latin typeface="Comic Sans MS"/>
              <a:sym typeface="Wingdings" pitchFamily="2" charset="2"/>
            </a:endParaRPr>
          </a:p>
          <a:p>
            <a:pPr marL="342900" lvl="0" indent="-342900" algn="just">
              <a:spcBef>
                <a:spcPct val="30000"/>
              </a:spcBef>
              <a:spcAft>
                <a:spcPct val="30000"/>
              </a:spcAft>
              <a:buAutoNum type="arabicPeriod" startAt="2"/>
              <a:tabLst>
                <a:tab pos="179388" algn="l"/>
              </a:tabLst>
            </a:pPr>
            <a:endParaRPr lang="es-ES" sz="1700" u="none" kern="0" dirty="0">
              <a:solidFill>
                <a:srgbClr val="000000"/>
              </a:solidFill>
              <a:latin typeface="Comic Sans MS"/>
              <a:sym typeface="Wingdings" pitchFamily="2" charset="2"/>
            </a:endParaRPr>
          </a:p>
          <a:p>
            <a:pPr marL="342900" lvl="0" indent="-342900" algn="just">
              <a:spcBef>
                <a:spcPct val="30000"/>
              </a:spcBef>
              <a:spcAft>
                <a:spcPct val="30000"/>
              </a:spcAft>
              <a:buAutoNum type="arabicPeriod" startAt="2"/>
              <a:tabLst>
                <a:tab pos="179388" algn="l"/>
              </a:tabLst>
            </a:pPr>
            <a:endParaRPr lang="es-ES" sz="1700" u="none" kern="0" dirty="0">
              <a:solidFill>
                <a:srgbClr val="000000"/>
              </a:solidFill>
              <a:latin typeface="Comic Sans MS"/>
              <a:sym typeface="Wingdings" pitchFamily="2" charset="2"/>
            </a:endParaRPr>
          </a:p>
        </p:txBody>
      </p:sp>
      <p:grpSp>
        <p:nvGrpSpPr>
          <p:cNvPr id="2" name="5 Grupo"/>
          <p:cNvGrpSpPr/>
          <p:nvPr/>
        </p:nvGrpSpPr>
        <p:grpSpPr>
          <a:xfrm>
            <a:off x="5076056" y="3861048"/>
            <a:ext cx="3888445" cy="2471235"/>
            <a:chOff x="-340753" y="1340768"/>
            <a:chExt cx="7289017" cy="4111814"/>
          </a:xfrm>
        </p:grpSpPr>
        <p:grpSp>
          <p:nvGrpSpPr>
            <p:cNvPr id="6" name="4 Grupo"/>
            <p:cNvGrpSpPr/>
            <p:nvPr/>
          </p:nvGrpSpPr>
          <p:grpSpPr>
            <a:xfrm>
              <a:off x="1331640" y="1556792"/>
              <a:ext cx="5616624" cy="3890527"/>
              <a:chOff x="1835696" y="2060848"/>
              <a:chExt cx="5544616" cy="3890527"/>
            </a:xfrm>
          </p:grpSpPr>
          <p:sp>
            <p:nvSpPr>
              <p:cNvPr id="17" name="16 Forma libre"/>
              <p:cNvSpPr/>
              <p:nvPr/>
            </p:nvSpPr>
            <p:spPr>
              <a:xfrm>
                <a:off x="3851920" y="2060848"/>
                <a:ext cx="1368152" cy="864096"/>
              </a:xfrm>
              <a:custGeom>
                <a:avLst/>
                <a:gdLst>
                  <a:gd name="connsiteX0" fmla="*/ 0 w 1038228"/>
                  <a:gd name="connsiteY0" fmla="*/ 749302 h 749302"/>
                  <a:gd name="connsiteX1" fmla="*/ 519114 w 1038228"/>
                  <a:gd name="connsiteY1" fmla="*/ 0 h 749302"/>
                  <a:gd name="connsiteX2" fmla="*/ 519114 w 1038228"/>
                  <a:gd name="connsiteY2" fmla="*/ 0 h 749302"/>
                  <a:gd name="connsiteX3" fmla="*/ 1038228 w 1038228"/>
                  <a:gd name="connsiteY3" fmla="*/ 749302 h 749302"/>
                  <a:gd name="connsiteX4" fmla="*/ 0 w 1038228"/>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28" h="749302">
                    <a:moveTo>
                      <a:pt x="0" y="749302"/>
                    </a:moveTo>
                    <a:lnTo>
                      <a:pt x="519114" y="0"/>
                    </a:lnTo>
                    <a:lnTo>
                      <a:pt x="519114" y="0"/>
                    </a:lnTo>
                    <a:lnTo>
                      <a:pt x="1038228" y="749302"/>
                    </a:lnTo>
                    <a:lnTo>
                      <a:pt x="0" y="749302"/>
                    </a:lnTo>
                    <a:close/>
                  </a:path>
                </a:pathLst>
              </a:custGeom>
              <a:solidFill>
                <a:srgbClr val="7FB3E7"/>
              </a:solidFill>
              <a:ln w="25400" cap="flat" cmpd="sng" algn="ctr">
                <a:solidFill>
                  <a:srgbClr val="DEF6F1">
                    <a:hueOff val="0"/>
                    <a:satOff val="0"/>
                    <a:lumOff val="0"/>
                    <a:alphaOff val="0"/>
                  </a:srgbClr>
                </a:solidFill>
                <a:prstDash val="solid"/>
              </a:ln>
              <a:effectLst/>
            </p:spPr>
            <p:txBody>
              <a:bodyPr spcFirstLastPara="0" vert="horz" wrap="none" lIns="20320" tIns="20320" rIns="20320" bIns="2032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s-ES" sz="1500" b="0" i="0" u="none" strike="noStrike" kern="1200" cap="none" spc="0" normalizeH="0" baseline="0" noProof="0" dirty="0">
                    <a:ln>
                      <a:noFill/>
                    </a:ln>
                    <a:solidFill>
                      <a:srgbClr val="000000"/>
                    </a:solidFill>
                    <a:effectLst/>
                    <a:uLnTx/>
                    <a:uFillTx/>
                    <a:latin typeface="Comic Sans MS" pitchFamily="66" charset="0"/>
                    <a:ea typeface="+mn-ea"/>
                    <a:cs typeface="+mn-cs"/>
                  </a:rPr>
                  <a:t>Realización</a:t>
                </a:r>
                <a:endParaRPr lang="es-ES" sz="1500" noProof="0" dirty="0">
                  <a:solidFill>
                    <a:srgbClr val="000000"/>
                  </a:solidFill>
                  <a:latin typeface="Comic Sans MS" pitchFamily="66" charset="0"/>
                </a:endParaRPr>
              </a:p>
              <a:p>
                <a:pPr marL="0" marR="0" lvl="0" indent="0" algn="ctr" defTabSz="711200" eaLnBrk="1" fontAlgn="auto" latinLnBrk="0" hangingPunct="1">
                  <a:lnSpc>
                    <a:spcPct val="90000"/>
                  </a:lnSpc>
                  <a:spcBef>
                    <a:spcPct val="0"/>
                  </a:spcBef>
                  <a:spcAft>
                    <a:spcPct val="35000"/>
                  </a:spcAft>
                  <a:buClrTx/>
                  <a:buSzTx/>
                  <a:buFontTx/>
                  <a:buNone/>
                  <a:tabLst/>
                  <a:defRPr/>
                </a:pPr>
                <a:r>
                  <a:rPr kumimoji="0" lang="es-ES" sz="1500" b="0" i="0" u="none" strike="noStrike" kern="1200" cap="none" spc="0" normalizeH="0" baseline="0" dirty="0">
                    <a:ln>
                      <a:noFill/>
                    </a:ln>
                    <a:solidFill>
                      <a:srgbClr val="000000"/>
                    </a:solidFill>
                    <a:effectLst/>
                    <a:uLnTx/>
                    <a:uFillTx/>
                    <a:latin typeface="Comic Sans MS" pitchFamily="66" charset="0"/>
                    <a:ea typeface="+mn-ea"/>
                    <a:cs typeface="+mn-cs"/>
                  </a:rPr>
                  <a:t>personal</a:t>
                </a:r>
                <a:endParaRPr kumimoji="0" lang="es-ES" sz="1500" b="0" i="0" u="none" strike="noStrike" kern="1200" cap="none" spc="0" normalizeH="0" baseline="0" noProof="0" dirty="0">
                  <a:ln>
                    <a:noFill/>
                  </a:ln>
                  <a:solidFill>
                    <a:srgbClr val="000000"/>
                  </a:solidFill>
                  <a:effectLst/>
                  <a:uLnTx/>
                  <a:uFillTx/>
                  <a:latin typeface="Comic Sans MS" pitchFamily="66" charset="0"/>
                  <a:ea typeface="+mn-ea"/>
                  <a:cs typeface="+mn-cs"/>
                </a:endParaRPr>
              </a:p>
            </p:txBody>
          </p:sp>
          <p:sp>
            <p:nvSpPr>
              <p:cNvPr id="18" name="17 Forma libre"/>
              <p:cNvSpPr/>
              <p:nvPr/>
            </p:nvSpPr>
            <p:spPr>
              <a:xfrm>
                <a:off x="3354429" y="2954166"/>
                <a:ext cx="2441704" cy="749302"/>
              </a:xfrm>
              <a:custGeom>
                <a:avLst/>
                <a:gdLst>
                  <a:gd name="connsiteX0" fmla="*/ 0 w 2441704"/>
                  <a:gd name="connsiteY0" fmla="*/ 749302 h 749302"/>
                  <a:gd name="connsiteX1" fmla="*/ 519116 w 2441704"/>
                  <a:gd name="connsiteY1" fmla="*/ 0 h 749302"/>
                  <a:gd name="connsiteX2" fmla="*/ 1922588 w 2441704"/>
                  <a:gd name="connsiteY2" fmla="*/ 0 h 749302"/>
                  <a:gd name="connsiteX3" fmla="*/ 2441704 w 2441704"/>
                  <a:gd name="connsiteY3" fmla="*/ 749302 h 749302"/>
                  <a:gd name="connsiteX4" fmla="*/ 0 w 2441704"/>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1704" h="749302">
                    <a:moveTo>
                      <a:pt x="0" y="749302"/>
                    </a:moveTo>
                    <a:lnTo>
                      <a:pt x="519116" y="0"/>
                    </a:lnTo>
                    <a:lnTo>
                      <a:pt x="1922588" y="0"/>
                    </a:lnTo>
                    <a:lnTo>
                      <a:pt x="2441704" y="749302"/>
                    </a:lnTo>
                    <a:lnTo>
                      <a:pt x="0" y="749302"/>
                    </a:lnTo>
                    <a:close/>
                  </a:path>
                </a:pathLst>
              </a:custGeom>
              <a:solidFill>
                <a:srgbClr val="92D050"/>
              </a:solidFill>
              <a:ln w="25400" cap="flat" cmpd="sng" algn="ctr">
                <a:solidFill>
                  <a:srgbClr val="DEF6F1">
                    <a:hueOff val="0"/>
                    <a:satOff val="0"/>
                    <a:lumOff val="0"/>
                    <a:alphaOff val="0"/>
                  </a:srgbClr>
                </a:solidFill>
                <a:prstDash val="solid"/>
              </a:ln>
              <a:effectLst/>
            </p:spPr>
            <p:txBody>
              <a:bodyPr spcFirstLastPara="0" vert="horz" wrap="none" lIns="447619" tIns="20320" rIns="447618" bIns="2032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s-ES" sz="1500" b="0" i="0" u="none" strike="noStrike" kern="1200" cap="none" spc="0" normalizeH="0" baseline="0" noProof="0" dirty="0">
                    <a:ln>
                      <a:noFill/>
                    </a:ln>
                    <a:solidFill>
                      <a:srgbClr val="000000"/>
                    </a:solidFill>
                    <a:effectLst/>
                    <a:uLnTx/>
                    <a:uFillTx/>
                    <a:latin typeface="Comic Sans MS" pitchFamily="66" charset="0"/>
                    <a:ea typeface="+mn-ea"/>
                    <a:cs typeface="+mn-cs"/>
                  </a:rPr>
                  <a:t>Estima</a:t>
                </a:r>
              </a:p>
            </p:txBody>
          </p:sp>
          <p:sp>
            <p:nvSpPr>
              <p:cNvPr id="19" name="18 Forma libre"/>
              <p:cNvSpPr/>
              <p:nvPr/>
            </p:nvSpPr>
            <p:spPr>
              <a:xfrm>
                <a:off x="2843808" y="3703469"/>
                <a:ext cx="3470498" cy="749302"/>
              </a:xfrm>
              <a:custGeom>
                <a:avLst/>
                <a:gdLst>
                  <a:gd name="connsiteX0" fmla="*/ 0 w 3305801"/>
                  <a:gd name="connsiteY0" fmla="*/ 749302 h 749302"/>
                  <a:gd name="connsiteX1" fmla="*/ 519116 w 3305801"/>
                  <a:gd name="connsiteY1" fmla="*/ 0 h 749302"/>
                  <a:gd name="connsiteX2" fmla="*/ 2786685 w 3305801"/>
                  <a:gd name="connsiteY2" fmla="*/ 0 h 749302"/>
                  <a:gd name="connsiteX3" fmla="*/ 3305801 w 3305801"/>
                  <a:gd name="connsiteY3" fmla="*/ 749302 h 749302"/>
                  <a:gd name="connsiteX4" fmla="*/ 0 w 3305801"/>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5801" h="749302">
                    <a:moveTo>
                      <a:pt x="0" y="749302"/>
                    </a:moveTo>
                    <a:lnTo>
                      <a:pt x="519116" y="0"/>
                    </a:lnTo>
                    <a:lnTo>
                      <a:pt x="2786685" y="0"/>
                    </a:lnTo>
                    <a:lnTo>
                      <a:pt x="3305801" y="749302"/>
                    </a:lnTo>
                    <a:lnTo>
                      <a:pt x="0" y="749302"/>
                    </a:lnTo>
                    <a:close/>
                  </a:path>
                </a:pathLst>
              </a:custGeom>
              <a:solidFill>
                <a:srgbClr val="F1D219"/>
              </a:solidFill>
              <a:ln w="25400" cap="flat" cmpd="sng" algn="ctr">
                <a:solidFill>
                  <a:srgbClr val="DEF6F1">
                    <a:hueOff val="0"/>
                    <a:satOff val="0"/>
                    <a:lumOff val="0"/>
                    <a:alphaOff val="0"/>
                  </a:srgbClr>
                </a:solidFill>
                <a:prstDash val="solid"/>
              </a:ln>
              <a:effectLst/>
            </p:spPr>
            <p:txBody>
              <a:bodyPr spcFirstLastPara="0" vert="horz" wrap="none" lIns="598835" tIns="20320" rIns="598836" bIns="2032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s-ES" sz="1500" b="0" i="0" u="none" strike="noStrike" kern="1200" cap="none" spc="0" normalizeH="0" baseline="0" noProof="0" dirty="0">
                    <a:ln>
                      <a:noFill/>
                    </a:ln>
                    <a:solidFill>
                      <a:srgbClr val="000000"/>
                    </a:solidFill>
                    <a:effectLst/>
                    <a:uLnTx/>
                    <a:uFillTx/>
                    <a:latin typeface="Comic Sans MS" pitchFamily="66" charset="0"/>
                    <a:ea typeface="+mn-ea"/>
                    <a:cs typeface="+mn-cs"/>
                  </a:rPr>
                  <a:t>Sociales</a:t>
                </a:r>
              </a:p>
            </p:txBody>
          </p:sp>
          <p:sp>
            <p:nvSpPr>
              <p:cNvPr id="20" name="8 Forma libre"/>
              <p:cNvSpPr/>
              <p:nvPr/>
            </p:nvSpPr>
            <p:spPr>
              <a:xfrm>
                <a:off x="2339752" y="4452771"/>
                <a:ext cx="4464496" cy="749302"/>
              </a:xfrm>
              <a:custGeom>
                <a:avLst/>
                <a:gdLst>
                  <a:gd name="connsiteX0" fmla="*/ 0 w 4313920"/>
                  <a:gd name="connsiteY0" fmla="*/ 749302 h 749302"/>
                  <a:gd name="connsiteX1" fmla="*/ 519116 w 4313920"/>
                  <a:gd name="connsiteY1" fmla="*/ 0 h 749302"/>
                  <a:gd name="connsiteX2" fmla="*/ 3794804 w 4313920"/>
                  <a:gd name="connsiteY2" fmla="*/ 0 h 749302"/>
                  <a:gd name="connsiteX3" fmla="*/ 4313920 w 4313920"/>
                  <a:gd name="connsiteY3" fmla="*/ 749302 h 749302"/>
                  <a:gd name="connsiteX4" fmla="*/ 0 w 4313920"/>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920" h="749302">
                    <a:moveTo>
                      <a:pt x="0" y="749302"/>
                    </a:moveTo>
                    <a:lnTo>
                      <a:pt x="519116" y="0"/>
                    </a:lnTo>
                    <a:lnTo>
                      <a:pt x="3794804" y="0"/>
                    </a:lnTo>
                    <a:lnTo>
                      <a:pt x="4313920" y="749302"/>
                    </a:lnTo>
                    <a:lnTo>
                      <a:pt x="0" y="749302"/>
                    </a:lnTo>
                    <a:close/>
                  </a:path>
                </a:pathLst>
              </a:custGeom>
              <a:solidFill>
                <a:srgbClr val="DB77BA"/>
              </a:solidFill>
              <a:ln w="25400" cap="flat" cmpd="sng" algn="ctr">
                <a:solidFill>
                  <a:srgbClr val="DEF6F1">
                    <a:hueOff val="0"/>
                    <a:satOff val="0"/>
                    <a:lumOff val="0"/>
                    <a:alphaOff val="0"/>
                  </a:srgbClr>
                </a:solidFill>
                <a:prstDash val="solid"/>
              </a:ln>
              <a:effectLst/>
            </p:spPr>
            <p:txBody>
              <a:bodyPr spcFirstLastPara="0" vert="horz" wrap="none" lIns="775256" tIns="20320" rIns="775256" bIns="20320" numCol="1" spcCol="1270" anchor="ctr" anchorCtr="0">
                <a:noAutofit/>
              </a:bodyPr>
              <a:lstStyle/>
              <a:p>
                <a:pPr marL="0" marR="0" lvl="0" indent="0" algn="ctr" defTabSz="711200" eaLnBrk="1" fontAlgn="auto" latinLnBrk="0" hangingPunct="1">
                  <a:lnSpc>
                    <a:spcPct val="90000"/>
                  </a:lnSpc>
                  <a:spcBef>
                    <a:spcPts val="0"/>
                  </a:spcBef>
                  <a:spcAft>
                    <a:spcPct val="35000"/>
                  </a:spcAft>
                  <a:buClrTx/>
                  <a:buSzTx/>
                  <a:buFontTx/>
                  <a:buNone/>
                  <a:tabLst/>
                  <a:defRPr/>
                </a:pPr>
                <a:r>
                  <a:rPr kumimoji="0" lang="es-ES" sz="1500" b="0" i="0" u="none" strike="noStrike" kern="1200" cap="none" spc="0" normalizeH="0" baseline="0" noProof="0" dirty="0">
                    <a:ln>
                      <a:noFill/>
                    </a:ln>
                    <a:solidFill>
                      <a:srgbClr val="000000"/>
                    </a:solidFill>
                    <a:effectLst/>
                    <a:uLnTx/>
                    <a:uFillTx/>
                    <a:latin typeface="Comic Sans MS" pitchFamily="66" charset="0"/>
                    <a:ea typeface="+mn-ea"/>
                    <a:cs typeface="+mn-cs"/>
                  </a:rPr>
                  <a:t>De seguridad</a:t>
                </a:r>
              </a:p>
            </p:txBody>
          </p:sp>
          <p:sp>
            <p:nvSpPr>
              <p:cNvPr id="21" name="9 Forma libre"/>
              <p:cNvSpPr/>
              <p:nvPr/>
            </p:nvSpPr>
            <p:spPr>
              <a:xfrm>
                <a:off x="1835696" y="5202073"/>
                <a:ext cx="5544616" cy="749302"/>
              </a:xfrm>
              <a:custGeom>
                <a:avLst/>
                <a:gdLst>
                  <a:gd name="connsiteX0" fmla="*/ 0 w 5191140"/>
                  <a:gd name="connsiteY0" fmla="*/ 749302 h 749302"/>
                  <a:gd name="connsiteX1" fmla="*/ 519116 w 5191140"/>
                  <a:gd name="connsiteY1" fmla="*/ 0 h 749302"/>
                  <a:gd name="connsiteX2" fmla="*/ 4672024 w 5191140"/>
                  <a:gd name="connsiteY2" fmla="*/ 0 h 749302"/>
                  <a:gd name="connsiteX3" fmla="*/ 5191140 w 5191140"/>
                  <a:gd name="connsiteY3" fmla="*/ 749302 h 749302"/>
                  <a:gd name="connsiteX4" fmla="*/ 0 w 5191140"/>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40" h="749302">
                    <a:moveTo>
                      <a:pt x="0" y="749302"/>
                    </a:moveTo>
                    <a:lnTo>
                      <a:pt x="519116" y="0"/>
                    </a:lnTo>
                    <a:lnTo>
                      <a:pt x="4672024" y="0"/>
                    </a:lnTo>
                    <a:lnTo>
                      <a:pt x="5191140" y="749302"/>
                    </a:lnTo>
                    <a:lnTo>
                      <a:pt x="0" y="749302"/>
                    </a:lnTo>
                    <a:close/>
                  </a:path>
                </a:pathLst>
              </a:custGeom>
              <a:solidFill>
                <a:srgbClr val="DEF6F1">
                  <a:lumMod val="50000"/>
                </a:srgbClr>
              </a:solidFill>
              <a:ln w="25400" cap="flat" cmpd="sng" algn="ctr">
                <a:solidFill>
                  <a:srgbClr val="DEF6F1">
                    <a:hueOff val="0"/>
                    <a:satOff val="0"/>
                    <a:lumOff val="0"/>
                    <a:alphaOff val="0"/>
                  </a:srgbClr>
                </a:solidFill>
                <a:prstDash val="solid"/>
              </a:ln>
              <a:effectLst/>
            </p:spPr>
            <p:txBody>
              <a:bodyPr spcFirstLastPara="0" vert="horz" wrap="square" lIns="928769" tIns="20320" rIns="928770" bIns="2032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Comic Sans MS" pitchFamily="66" charset="0"/>
                    <a:ea typeface="+mn-ea"/>
                    <a:cs typeface="+mn-cs"/>
                  </a:rPr>
                  <a:t>Fisiológicas</a:t>
                </a:r>
              </a:p>
            </p:txBody>
          </p:sp>
        </p:grpSp>
        <p:grpSp>
          <p:nvGrpSpPr>
            <p:cNvPr id="7" name="Group 38"/>
            <p:cNvGrpSpPr>
              <a:grpSpLocks/>
            </p:cNvGrpSpPr>
            <p:nvPr/>
          </p:nvGrpSpPr>
          <p:grpSpPr bwMode="auto">
            <a:xfrm>
              <a:off x="-206241" y="1340768"/>
              <a:ext cx="3266073" cy="1007369"/>
              <a:chOff x="241" y="864"/>
              <a:chExt cx="2207" cy="797"/>
            </a:xfrm>
          </p:grpSpPr>
          <p:sp>
            <p:nvSpPr>
              <p:cNvPr id="15" name="Text Box 23"/>
              <p:cNvSpPr txBox="1">
                <a:spLocks noChangeArrowheads="1"/>
              </p:cNvSpPr>
              <p:nvPr/>
            </p:nvSpPr>
            <p:spPr bwMode="auto">
              <a:xfrm>
                <a:off x="241" y="1092"/>
                <a:ext cx="1870" cy="425"/>
              </a:xfrm>
              <a:prstGeom prst="rect">
                <a:avLst/>
              </a:prstGeom>
              <a:noFill/>
              <a:ln w="28575">
                <a:noFill/>
                <a:miter lim="800000"/>
                <a:headEnd/>
                <a:tailEnd/>
              </a:ln>
            </p:spPr>
            <p:txBody>
              <a:bodyPr wrap="none">
                <a:spAutoFit/>
              </a:bodyPr>
              <a:lstStyle/>
              <a:p>
                <a:pPr marL="0" marR="0" lvl="0" indent="0" algn="l" defTabSz="914400" eaLnBrk="1" fontAlgn="auto" latinLnBrk="0" hangingPunct="1">
                  <a:lnSpc>
                    <a:spcPct val="100000"/>
                  </a:lnSpc>
                  <a:spcBef>
                    <a:spcPct val="20000"/>
                  </a:spcBef>
                  <a:spcAft>
                    <a:spcPts val="0"/>
                  </a:spcAft>
                  <a:buClr>
                    <a:srgbClr val="000000"/>
                  </a:buClr>
                  <a:buSzTx/>
                  <a:buFont typeface="Wingdings" pitchFamily="2" charset="2"/>
                  <a:buNone/>
                  <a:tabLst/>
                  <a:defRPr/>
                </a:pPr>
                <a:r>
                  <a:rPr kumimoji="0" lang="es-ES" sz="1500" b="0" i="0" u="none" strike="noStrike" kern="0" cap="none" spc="0" normalizeH="0" baseline="0" noProof="0" dirty="0">
                    <a:ln>
                      <a:noFill/>
                    </a:ln>
                    <a:solidFill>
                      <a:srgbClr val="FF0000"/>
                    </a:solidFill>
                    <a:effectLst/>
                    <a:uLnTx/>
                    <a:uFillTx/>
                    <a:latin typeface="Comic Sans MS"/>
                  </a:rPr>
                  <a:t>Trascendencia</a:t>
                </a:r>
              </a:p>
            </p:txBody>
          </p:sp>
          <p:sp>
            <p:nvSpPr>
              <p:cNvPr id="16" name="AutoShape 24"/>
              <p:cNvSpPr>
                <a:spLocks/>
              </p:cNvSpPr>
              <p:nvPr/>
            </p:nvSpPr>
            <p:spPr bwMode="auto">
              <a:xfrm>
                <a:off x="2336" y="864"/>
                <a:ext cx="112" cy="797"/>
              </a:xfrm>
              <a:prstGeom prst="leftBrace">
                <a:avLst>
                  <a:gd name="adj1" fmla="val 59301"/>
                  <a:gd name="adj2" fmla="val 50000"/>
                </a:avLst>
              </a:prstGeom>
              <a:noFill/>
              <a:ln w="28575">
                <a:solidFill>
                  <a:srgbClr val="FF0000"/>
                </a:solidFill>
                <a:round/>
                <a:headEnd/>
                <a:tailEn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grpSp>
        <p:grpSp>
          <p:nvGrpSpPr>
            <p:cNvPr id="8" name="Group 36"/>
            <p:cNvGrpSpPr>
              <a:grpSpLocks/>
            </p:cNvGrpSpPr>
            <p:nvPr/>
          </p:nvGrpSpPr>
          <p:grpSpPr bwMode="auto">
            <a:xfrm>
              <a:off x="-340719" y="2413371"/>
              <a:ext cx="2733328" cy="1447677"/>
              <a:chOff x="951" y="1706"/>
              <a:chExt cx="2152" cy="1003"/>
            </a:xfrm>
          </p:grpSpPr>
          <p:sp>
            <p:nvSpPr>
              <p:cNvPr id="13" name="AutoShape 25"/>
              <p:cNvSpPr>
                <a:spLocks/>
              </p:cNvSpPr>
              <p:nvPr/>
            </p:nvSpPr>
            <p:spPr bwMode="auto">
              <a:xfrm>
                <a:off x="2990" y="1706"/>
                <a:ext cx="113" cy="1003"/>
              </a:xfrm>
              <a:prstGeom prst="leftBrace">
                <a:avLst>
                  <a:gd name="adj1" fmla="val 73968"/>
                  <a:gd name="adj2" fmla="val 50000"/>
                </a:avLst>
              </a:prstGeom>
              <a:noFill/>
              <a:ln w="28575">
                <a:solidFill>
                  <a:srgbClr val="DEF6F1">
                    <a:lumMod val="50000"/>
                  </a:srgbClr>
                </a:solidFill>
                <a:round/>
                <a:headEnd/>
                <a:tailEn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14" name="Text Box 27"/>
              <p:cNvSpPr txBox="1">
                <a:spLocks noChangeArrowheads="1"/>
              </p:cNvSpPr>
              <p:nvPr/>
            </p:nvSpPr>
            <p:spPr bwMode="auto">
              <a:xfrm>
                <a:off x="951" y="2021"/>
                <a:ext cx="1882" cy="373"/>
              </a:xfrm>
              <a:prstGeom prst="rect">
                <a:avLst/>
              </a:prstGeom>
              <a:noFill/>
              <a:ln w="28575">
                <a:noFill/>
                <a:miter lim="800000"/>
                <a:headEnd/>
                <a:tailEnd/>
              </a:ln>
            </p:spPr>
            <p:txBody>
              <a:bodyPr wrap="square">
                <a:spAutoFit/>
              </a:bodyPr>
              <a:lstStyle/>
              <a:p>
                <a:pPr marL="0" marR="0" lvl="0" indent="0" algn="l" defTabSz="914400" eaLnBrk="1" fontAlgn="auto" latinLnBrk="0" hangingPunct="1">
                  <a:lnSpc>
                    <a:spcPct val="100000"/>
                  </a:lnSpc>
                  <a:spcBef>
                    <a:spcPct val="20000"/>
                  </a:spcBef>
                  <a:spcAft>
                    <a:spcPts val="0"/>
                  </a:spcAft>
                  <a:buClr>
                    <a:srgbClr val="000000"/>
                  </a:buClr>
                  <a:buSzTx/>
                  <a:buFont typeface="Wingdings" pitchFamily="2" charset="2"/>
                  <a:buNone/>
                  <a:tabLst/>
                  <a:defRPr/>
                </a:pPr>
                <a:r>
                  <a:rPr kumimoji="0" lang="es-ES" sz="1500" b="0" i="0" u="none" strike="noStrike" kern="0" cap="none" spc="0" normalizeH="0" baseline="0" noProof="0" dirty="0">
                    <a:ln>
                      <a:noFill/>
                    </a:ln>
                    <a:solidFill>
                      <a:srgbClr val="DEF6F1">
                        <a:lumMod val="50000"/>
                      </a:srgbClr>
                    </a:solidFill>
                    <a:effectLst/>
                    <a:uLnTx/>
                    <a:uFillTx/>
                    <a:latin typeface="Comic Sans MS"/>
                  </a:rPr>
                  <a:t>Psicológicas</a:t>
                </a:r>
              </a:p>
            </p:txBody>
          </p:sp>
        </p:grpSp>
        <p:grpSp>
          <p:nvGrpSpPr>
            <p:cNvPr id="9" name="Group 36"/>
            <p:cNvGrpSpPr>
              <a:grpSpLocks/>
            </p:cNvGrpSpPr>
            <p:nvPr/>
          </p:nvGrpSpPr>
          <p:grpSpPr bwMode="auto">
            <a:xfrm>
              <a:off x="-340753" y="4004905"/>
              <a:ext cx="1671494" cy="1447677"/>
              <a:chOff x="1064" y="1656"/>
              <a:chExt cx="1316" cy="1003"/>
            </a:xfrm>
          </p:grpSpPr>
          <p:sp>
            <p:nvSpPr>
              <p:cNvPr id="11" name="AutoShape 25"/>
              <p:cNvSpPr>
                <a:spLocks/>
              </p:cNvSpPr>
              <p:nvPr/>
            </p:nvSpPr>
            <p:spPr bwMode="auto">
              <a:xfrm>
                <a:off x="2267" y="1656"/>
                <a:ext cx="113" cy="1003"/>
              </a:xfrm>
              <a:prstGeom prst="leftBrace">
                <a:avLst>
                  <a:gd name="adj1" fmla="val 73968"/>
                  <a:gd name="adj2" fmla="val 50000"/>
                </a:avLst>
              </a:prstGeom>
              <a:noFill/>
              <a:ln w="28575">
                <a:solidFill>
                  <a:srgbClr val="000000"/>
                </a:solidFill>
                <a:round/>
                <a:headEnd/>
                <a:tailEnd/>
              </a:ln>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ysClr val="windowText" lastClr="000000"/>
                  </a:solidFill>
                  <a:effectLst/>
                  <a:uLnTx/>
                  <a:uFillTx/>
                </a:endParaRPr>
              </a:p>
            </p:txBody>
          </p:sp>
          <p:sp>
            <p:nvSpPr>
              <p:cNvPr id="12" name="Text Box 27"/>
              <p:cNvSpPr txBox="1">
                <a:spLocks noChangeArrowheads="1"/>
              </p:cNvSpPr>
              <p:nvPr/>
            </p:nvSpPr>
            <p:spPr bwMode="auto">
              <a:xfrm>
                <a:off x="1064" y="1959"/>
                <a:ext cx="1309" cy="373"/>
              </a:xfrm>
              <a:prstGeom prst="rect">
                <a:avLst/>
              </a:prstGeom>
              <a:noFill/>
              <a:ln w="28575">
                <a:noFill/>
                <a:miter lim="800000"/>
                <a:headEnd/>
                <a:tailEnd/>
              </a:ln>
            </p:spPr>
            <p:txBody>
              <a:bodyPr wrap="square">
                <a:spAutoFit/>
              </a:bodyPr>
              <a:lstStyle/>
              <a:p>
                <a:pPr marL="0" marR="0" lvl="0" indent="0" algn="l" defTabSz="914400" eaLnBrk="1" fontAlgn="auto" latinLnBrk="0" hangingPunct="1">
                  <a:lnSpc>
                    <a:spcPct val="100000"/>
                  </a:lnSpc>
                  <a:spcBef>
                    <a:spcPct val="20000"/>
                  </a:spcBef>
                  <a:spcAft>
                    <a:spcPts val="0"/>
                  </a:spcAft>
                  <a:buClr>
                    <a:srgbClr val="000000"/>
                  </a:buClr>
                  <a:buSzTx/>
                  <a:buFont typeface="Wingdings" pitchFamily="2" charset="2"/>
                  <a:buNone/>
                  <a:tabLst/>
                  <a:defRPr/>
                </a:pPr>
                <a:r>
                  <a:rPr kumimoji="0" lang="es-ES" sz="1500" b="0" i="0" u="none" strike="noStrike" kern="0" cap="none" spc="0" normalizeH="0" baseline="0" noProof="0" dirty="0">
                    <a:ln>
                      <a:noFill/>
                    </a:ln>
                    <a:solidFill>
                      <a:sysClr val="windowText" lastClr="000000"/>
                    </a:solidFill>
                    <a:effectLst/>
                    <a:uLnTx/>
                    <a:uFillTx/>
                    <a:latin typeface="Comic Sans MS"/>
                  </a:rPr>
                  <a:t>Básicas</a:t>
                </a:r>
              </a:p>
            </p:txBody>
          </p:sp>
        </p:grpSp>
      </p:grpSp>
      <p:sp>
        <p:nvSpPr>
          <p:cNvPr id="24" name="1 Título"/>
          <p:cNvSpPr>
            <a:spLocks noGrp="1"/>
          </p:cNvSpPr>
          <p:nvPr>
            <p:ph type="title"/>
          </p:nvPr>
        </p:nvSpPr>
        <p:spPr>
          <a:xfrm>
            <a:off x="107950" y="115888"/>
            <a:ext cx="8928100" cy="720725"/>
          </a:xfrm>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3.1.2. Perspectiva del comportamiento: Resumen</a:t>
            </a:r>
          </a:p>
        </p:txBody>
      </p:sp>
      <p:sp>
        <p:nvSpPr>
          <p:cNvPr id="25" name="24 Rectángulo"/>
          <p:cNvSpPr/>
          <p:nvPr/>
        </p:nvSpPr>
        <p:spPr>
          <a:xfrm>
            <a:off x="179512" y="4346866"/>
            <a:ext cx="4176464" cy="2054409"/>
          </a:xfrm>
          <a:prstGeom prst="rect">
            <a:avLst/>
          </a:prstGeom>
          <a:ln w="28575">
            <a:solidFill>
              <a:srgbClr val="C00000"/>
            </a:solidFill>
            <a:prstDash val="sysDash"/>
          </a:ln>
        </p:spPr>
        <p:txBody>
          <a:bodyPr wrap="square">
            <a:spAutoFit/>
          </a:bodyPr>
          <a:lstStyle/>
          <a:p>
            <a:pPr marL="342900" lvl="0" indent="-342900" algn="just">
              <a:spcBef>
                <a:spcPct val="30000"/>
              </a:spcBef>
              <a:spcAft>
                <a:spcPct val="30000"/>
              </a:spcAft>
              <a:buFont typeface="+mj-lt"/>
              <a:buAutoNum type="arabicPeriod" startAt="3"/>
              <a:tabLst>
                <a:tab pos="179388" algn="l"/>
              </a:tabLst>
            </a:pPr>
            <a:r>
              <a:rPr lang="es-ES" sz="1700" b="1" u="none" kern="0" dirty="0">
                <a:solidFill>
                  <a:srgbClr val="C00000"/>
                </a:solidFill>
                <a:latin typeface="Comic Sans MS"/>
                <a:sym typeface="Wingdings" pitchFamily="2" charset="2"/>
              </a:rPr>
              <a:t>TEORÍA X Y TEORÍA Y  DOUGLAS MCGREGOR (1960)</a:t>
            </a:r>
          </a:p>
          <a:p>
            <a:pPr marL="0" lvl="1" algn="just">
              <a:spcBef>
                <a:spcPct val="20000"/>
              </a:spcBef>
              <a:defRPr/>
            </a:pPr>
            <a:r>
              <a:rPr lang="es-ES_tradnl" sz="1700" u="none" kern="0" dirty="0">
                <a:solidFill>
                  <a:srgbClr val="000000"/>
                </a:solidFill>
                <a:latin typeface="Comic Sans MS"/>
              </a:rPr>
              <a:t>Planteó dos concepciones distintas sobre la naturaleza de los seres humanos: una básicamente negativa (</a:t>
            </a:r>
            <a:r>
              <a:rPr lang="es-ES_tradnl" sz="1700" u="none" kern="0" dirty="0">
                <a:latin typeface="Comic Sans MS"/>
              </a:rPr>
              <a:t>TEORÍA X), y otra básicamente positiva (TEORÍA Y). </a:t>
            </a:r>
            <a:endParaRPr lang="es-ES" sz="1700" u="none" kern="0" dirty="0">
              <a:solidFill>
                <a:srgbClr val="000000"/>
              </a:solidFill>
              <a:latin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2 Marcador de contenido"/>
          <p:cNvSpPr>
            <a:spLocks noGrp="1"/>
          </p:cNvSpPr>
          <p:nvPr>
            <p:ph sz="quarter" idx="4294967295"/>
          </p:nvPr>
        </p:nvSpPr>
        <p:spPr>
          <a:xfrm>
            <a:off x="323528" y="1124744"/>
            <a:ext cx="8503344" cy="4767263"/>
          </a:xfrm>
        </p:spPr>
        <p:txBody>
          <a:bodyPr/>
          <a:lstStyle/>
          <a:p>
            <a:pPr algn="just" eaLnBrk="1" hangingPunct="1">
              <a:buFont typeface="Wingdings" pitchFamily="2" charset="2"/>
              <a:buChar char="Ø"/>
            </a:pPr>
            <a:r>
              <a:rPr lang="es-ES" sz="2000" b="1" dirty="0">
                <a:solidFill>
                  <a:srgbClr val="C00000"/>
                </a:solidFill>
              </a:rPr>
              <a:t>PERSPECTIVAS ACTUALES DE LA DIRECCIÓN</a:t>
            </a:r>
            <a:r>
              <a:rPr lang="es-ES" sz="2000" i="1" dirty="0"/>
              <a:t>: </a:t>
            </a:r>
            <a:r>
              <a:rPr lang="es-ES" sz="2000" dirty="0"/>
              <a:t>fundamentadas en las aportaciones de la perspectiva clásica y del comportamiento:</a:t>
            </a:r>
          </a:p>
          <a:p>
            <a:pPr algn="just" eaLnBrk="1" hangingPunct="1">
              <a:buNone/>
            </a:pPr>
            <a:endParaRPr lang="es-ES" sz="2300" i="1" dirty="0"/>
          </a:p>
          <a:p>
            <a:pPr lvl="1" algn="just" eaLnBrk="1" hangingPunct="1">
              <a:spcAft>
                <a:spcPts val="600"/>
              </a:spcAft>
              <a:buFont typeface="Wingdings" pitchFamily="2" charset="2"/>
              <a:buChar char="q"/>
            </a:pPr>
            <a:r>
              <a:rPr lang="es-ES" b="1" dirty="0">
                <a:solidFill>
                  <a:srgbClr val="007A37"/>
                </a:solidFill>
              </a:rPr>
              <a:t>TEORÍA DE SISTEMAS</a:t>
            </a:r>
            <a:r>
              <a:rPr lang="es-ES" dirty="0"/>
              <a:t>: ve a la organización como un sistema en el que diferentes partes están interrelacionadas entre sí, y que funcionan como un todo para alcanzar un objetivo común.</a:t>
            </a:r>
          </a:p>
          <a:p>
            <a:pPr lvl="1" algn="just" eaLnBrk="1" hangingPunct="1">
              <a:spcAft>
                <a:spcPts val="600"/>
              </a:spcAft>
              <a:buFont typeface="Wingdings" pitchFamily="2" charset="2"/>
              <a:buChar char="q"/>
            </a:pPr>
            <a:r>
              <a:rPr lang="es-ES" b="1" dirty="0">
                <a:solidFill>
                  <a:srgbClr val="007A37"/>
                </a:solidFill>
              </a:rPr>
              <a:t>TEORÍA CONTINGENTE</a:t>
            </a:r>
            <a:r>
              <a:rPr lang="es-ES" dirty="0"/>
              <a:t>: establece que no hay una “mejor manera” de dirigir y organizar porque las características situacionales, llamadas contingencias, cambian de unas a otras.</a:t>
            </a:r>
          </a:p>
          <a:p>
            <a:pPr lvl="1" algn="just" eaLnBrk="1" hangingPunct="1">
              <a:spcAft>
                <a:spcPts val="600"/>
              </a:spcAft>
              <a:buFont typeface="Wingdings" pitchFamily="2" charset="2"/>
              <a:buChar char="q"/>
            </a:pPr>
            <a:r>
              <a:rPr lang="es-ES" b="1" dirty="0">
                <a:solidFill>
                  <a:srgbClr val="007A37"/>
                </a:solidFill>
              </a:rPr>
              <a:t>GESTIÓN DE CALIDAD TOTAL</a:t>
            </a:r>
            <a:r>
              <a:rPr lang="es-ES" dirty="0"/>
              <a:t>: enfoque organizativo global que se centra en la calidad como principal objetivo.</a:t>
            </a:r>
          </a:p>
          <a:p>
            <a:pPr lvl="1" algn="just" eaLnBrk="1" hangingPunct="1">
              <a:buFontTx/>
              <a:buChar char="-"/>
            </a:pPr>
            <a:endParaRPr lang="es-ES" sz="2300" dirty="0"/>
          </a:p>
        </p:txBody>
      </p:sp>
      <p:sp>
        <p:nvSpPr>
          <p:cNvPr id="6"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a:ln w="9525">
            <a:noFill/>
            <a:miter lim="800000"/>
            <a:headEnd/>
            <a:tailEnd/>
          </a:ln>
        </p:spPr>
        <p:txBody>
          <a:bodyPr vert="horz" wrap="square" lIns="91440" tIns="45720" rIns="91440" bIns="45720" numCol="1" anchor="ctr" anchorCtr="0" compatLnSpc="1">
            <a:prstTxWarp prst="textNoShape">
              <a:avLst/>
            </a:prstTxWarp>
          </a:bodyPr>
          <a:lstStyle/>
          <a:p>
            <a:pPr algn="l"/>
            <a:r>
              <a:rPr lang="es-ES" dirty="0">
                <a:solidFill>
                  <a:schemeClr val="tx1"/>
                </a:solidFill>
              </a:rPr>
              <a:t>3.1.3. Perspectivas actuales</a:t>
            </a:r>
          </a:p>
        </p:txBody>
      </p:sp>
      <p:sp>
        <p:nvSpPr>
          <p:cNvPr id="7" name="6 Marcador de número de diapositiva"/>
          <p:cNvSpPr>
            <a:spLocks noGrp="1"/>
          </p:cNvSpPr>
          <p:nvPr>
            <p:ph type="sldNum" sz="quarter" idx="4"/>
          </p:nvPr>
        </p:nvSpPr>
        <p:spPr/>
        <p:txBody>
          <a:bodyPr/>
          <a:lstStyle/>
          <a:p>
            <a:pPr>
              <a:defRPr/>
            </a:pPr>
            <a:fld id="{031E6992-B48E-4E13-A9CD-F20B6AAC6FC2}" type="slidenum">
              <a:rPr lang="es-ES" smtClean="0"/>
              <a:pPr>
                <a:defRPr/>
              </a:pPr>
              <a:t>16</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124770" y="1184099"/>
            <a:ext cx="2947923" cy="415498"/>
          </a:xfrm>
          <a:prstGeom prst="rect">
            <a:avLst/>
          </a:prstGeom>
        </p:spPr>
        <p:txBody>
          <a:bodyPr wrap="none">
            <a:spAutoFit/>
          </a:bodyPr>
          <a:lstStyle/>
          <a:p>
            <a:r>
              <a:rPr lang="es-AR" sz="2100" b="1" dirty="0">
                <a:solidFill>
                  <a:srgbClr val="C00000"/>
                </a:solidFill>
                <a:latin typeface="Calibri" panose="020F0502020204030204" pitchFamily="34" charset="0"/>
                <a:cs typeface="Calibri" panose="020F0502020204030204" pitchFamily="34" charset="0"/>
              </a:rPr>
              <a:t>MODELO CONTINGENTE </a:t>
            </a:r>
            <a:endParaRPr lang="en-US" sz="2100" b="1" dirty="0">
              <a:solidFill>
                <a:srgbClr val="C00000"/>
              </a:solidFill>
              <a:latin typeface="Calibri" panose="020F0502020204030204" pitchFamily="34" charset="0"/>
              <a:cs typeface="Calibri" panose="020F0502020204030204" pitchFamily="34" charset="0"/>
            </a:endParaRPr>
          </a:p>
        </p:txBody>
      </p:sp>
      <p:sp>
        <p:nvSpPr>
          <p:cNvPr id="3" name="Rectángulo 2"/>
          <p:cNvSpPr/>
          <p:nvPr/>
        </p:nvSpPr>
        <p:spPr>
          <a:xfrm>
            <a:off x="691331" y="1901588"/>
            <a:ext cx="7814802" cy="784830"/>
          </a:xfrm>
          <a:prstGeom prst="rect">
            <a:avLst/>
          </a:prstGeom>
        </p:spPr>
        <p:txBody>
          <a:bodyPr wrap="square">
            <a:spAutoFit/>
          </a:bodyPr>
          <a:lstStyle/>
          <a:p>
            <a:pPr algn="just"/>
            <a:r>
              <a:rPr lang="es-AR" sz="1500" dirty="0">
                <a:latin typeface="Calibri" panose="020F0502020204030204" pitchFamily="34" charset="0"/>
                <a:cs typeface="Calibri" panose="020F0502020204030204" pitchFamily="34" charset="0"/>
              </a:rPr>
              <a:t>Modelo administrativo que reconoce las diferencias que existen entre organizaciones, lo cual implica que cada una de ellas enfrenta </a:t>
            </a:r>
            <a:r>
              <a:rPr lang="es-AR" sz="1500" b="1" dirty="0">
                <a:solidFill>
                  <a:srgbClr val="C00000"/>
                </a:solidFill>
                <a:latin typeface="Calibri" panose="020F0502020204030204" pitchFamily="34" charset="0"/>
                <a:cs typeface="Calibri" panose="020F0502020204030204" pitchFamily="34" charset="0"/>
              </a:rPr>
              <a:t>situaciones (contingencias) distintas</a:t>
            </a:r>
            <a:r>
              <a:rPr lang="es-AR" sz="1500" b="1" dirty="0">
                <a:latin typeface="Calibri" panose="020F0502020204030204" pitchFamily="34" charset="0"/>
                <a:cs typeface="Calibri" panose="020F0502020204030204" pitchFamily="34" charset="0"/>
              </a:rPr>
              <a:t> </a:t>
            </a:r>
            <a:r>
              <a:rPr lang="es-AR" sz="1500" dirty="0">
                <a:latin typeface="Calibri" panose="020F0502020204030204" pitchFamily="34" charset="0"/>
                <a:cs typeface="Calibri" panose="020F0502020204030204" pitchFamily="34" charset="0"/>
              </a:rPr>
              <a:t>y requiere formas de administración específicas</a:t>
            </a:r>
            <a:endParaRPr lang="en-US" sz="1500" dirty="0">
              <a:latin typeface="Calibri" panose="020F0502020204030204" pitchFamily="34" charset="0"/>
              <a:cs typeface="Calibri" panose="020F0502020204030204" pitchFamily="34" charset="0"/>
            </a:endParaRPr>
          </a:p>
        </p:txBody>
      </p:sp>
      <p:sp>
        <p:nvSpPr>
          <p:cNvPr id="4" name="CuadroTexto 3"/>
          <p:cNvSpPr txBox="1"/>
          <p:nvPr/>
        </p:nvSpPr>
        <p:spPr>
          <a:xfrm>
            <a:off x="741106" y="2780928"/>
            <a:ext cx="7687597" cy="2862322"/>
          </a:xfrm>
          <a:prstGeom prst="rect">
            <a:avLst/>
          </a:prstGeom>
          <a:noFill/>
        </p:spPr>
        <p:txBody>
          <a:bodyPr wrap="square" rtlCol="0">
            <a:spAutoFit/>
          </a:bodyPr>
          <a:lstStyle/>
          <a:p>
            <a:r>
              <a:rPr lang="es-AR" sz="1500" dirty="0">
                <a:latin typeface="Calibri" panose="020F0502020204030204" pitchFamily="34" charset="0"/>
                <a:cs typeface="Calibri" panose="020F0502020204030204" pitchFamily="34" charset="0"/>
              </a:rPr>
              <a:t>No existen reglas simplistas o universales que los gerentes puedan seguir.</a:t>
            </a:r>
          </a:p>
          <a:p>
            <a:endParaRPr lang="es-AR" sz="1500" dirty="0">
              <a:latin typeface="Calibri" panose="020F0502020204030204" pitchFamily="34" charset="0"/>
              <a:cs typeface="Calibri" panose="020F0502020204030204" pitchFamily="34" charset="0"/>
            </a:endParaRPr>
          </a:p>
          <a:p>
            <a:r>
              <a:rPr lang="es-AR" sz="1500" b="1" dirty="0">
                <a:latin typeface="Calibri" panose="020F0502020204030204" pitchFamily="34" charset="0"/>
                <a:cs typeface="Calibri" panose="020F0502020204030204" pitchFamily="34" charset="0"/>
              </a:rPr>
              <a:t>Variables de contingencia:</a:t>
            </a:r>
          </a:p>
          <a:p>
            <a:endParaRPr lang="es-AR" sz="1500" b="1" dirty="0">
              <a:latin typeface="Calibri" panose="020F0502020204030204" pitchFamily="34" charset="0"/>
              <a:cs typeface="Calibri" panose="020F0502020204030204" pitchFamily="34" charset="0"/>
            </a:endParaRPr>
          </a:p>
          <a:p>
            <a:pPr marL="214313" indent="-214313" algn="just">
              <a:buFont typeface="Wingdings" panose="05000000000000000000" pitchFamily="2" charset="2"/>
              <a:buChar char="q"/>
            </a:pPr>
            <a:r>
              <a:rPr lang="es-AR" sz="1500" b="1" dirty="0">
                <a:latin typeface="Calibri" panose="020F0502020204030204" pitchFamily="34" charset="0"/>
                <a:cs typeface="Calibri" panose="020F0502020204030204" pitchFamily="34" charset="0"/>
              </a:rPr>
              <a:t>Tamaño: </a:t>
            </a:r>
            <a:r>
              <a:rPr lang="es-AR" sz="1500" dirty="0">
                <a:latin typeface="Calibri" panose="020F0502020204030204" pitchFamily="34" charset="0"/>
                <a:cs typeface="Calibri" panose="020F0502020204030204" pitchFamily="34" charset="0"/>
              </a:rPr>
              <a:t> A medida que la empresa crece, también lo hacen los problemas de coordinación </a:t>
            </a:r>
          </a:p>
          <a:p>
            <a:pPr marL="214313" indent="-214313" algn="just">
              <a:buFont typeface="Wingdings" panose="05000000000000000000" pitchFamily="2" charset="2"/>
              <a:buChar char="q"/>
            </a:pPr>
            <a:endParaRPr lang="es-AR" sz="1500" dirty="0">
              <a:latin typeface="Calibri" panose="020F0502020204030204" pitchFamily="34" charset="0"/>
              <a:cs typeface="Calibri" panose="020F0502020204030204" pitchFamily="34" charset="0"/>
            </a:endParaRPr>
          </a:p>
          <a:p>
            <a:pPr marL="214313" indent="-214313" algn="just">
              <a:buFont typeface="Wingdings" panose="05000000000000000000" pitchFamily="2" charset="2"/>
              <a:buChar char="q"/>
            </a:pPr>
            <a:r>
              <a:rPr lang="es-AR" sz="1500" b="1" dirty="0">
                <a:latin typeface="Calibri" panose="020F0502020204030204" pitchFamily="34" charset="0"/>
                <a:cs typeface="Calibri" panose="020F0502020204030204" pitchFamily="34" charset="0"/>
              </a:rPr>
              <a:t>Tecnología:</a:t>
            </a:r>
            <a:r>
              <a:rPr lang="es-AR" sz="1500" dirty="0">
                <a:latin typeface="Calibri" panose="020F0502020204030204" pitchFamily="34" charset="0"/>
                <a:cs typeface="Calibri" panose="020F0502020204030204" pitchFamily="34" charset="0"/>
              </a:rPr>
              <a:t>  rutinaria o no rutinaria (cuan variable y analizable- descompuesta en pasos mecánicos)</a:t>
            </a:r>
          </a:p>
          <a:p>
            <a:pPr marL="214313" indent="-214313" algn="just">
              <a:buFont typeface="Wingdings" panose="05000000000000000000" pitchFamily="2" charset="2"/>
              <a:buChar char="q"/>
            </a:pPr>
            <a:endParaRPr lang="es-AR" sz="1500" dirty="0">
              <a:latin typeface="Calibri" panose="020F0502020204030204" pitchFamily="34" charset="0"/>
              <a:cs typeface="Calibri" panose="020F0502020204030204" pitchFamily="34" charset="0"/>
            </a:endParaRPr>
          </a:p>
          <a:p>
            <a:pPr marL="214313" indent="-214313" algn="just">
              <a:buFont typeface="Wingdings" panose="05000000000000000000" pitchFamily="2" charset="2"/>
              <a:buChar char="q"/>
            </a:pPr>
            <a:r>
              <a:rPr lang="es-AR" sz="1500" b="1" dirty="0">
                <a:latin typeface="Calibri" panose="020F0502020204030204" pitchFamily="34" charset="0"/>
                <a:cs typeface="Calibri" panose="020F0502020204030204" pitchFamily="34" charset="0"/>
              </a:rPr>
              <a:t>Incertidumbre del entorno: </a:t>
            </a:r>
            <a:r>
              <a:rPr lang="es-AR" sz="1500" dirty="0">
                <a:latin typeface="Calibri" panose="020F0502020204030204" pitchFamily="34" charset="0"/>
                <a:cs typeface="Calibri" panose="020F0502020204030204" pitchFamily="34" charset="0"/>
              </a:rPr>
              <a:t>estable vs impredecible </a:t>
            </a:r>
          </a:p>
          <a:p>
            <a:pPr marL="214313" indent="-214313" algn="just">
              <a:buFont typeface="Wingdings" panose="05000000000000000000" pitchFamily="2" charset="2"/>
              <a:buChar char="q"/>
            </a:pPr>
            <a:endParaRPr lang="es-AR" sz="1500" dirty="0">
              <a:latin typeface="Calibri" panose="020F0502020204030204" pitchFamily="34" charset="0"/>
              <a:cs typeface="Calibri" panose="020F0502020204030204" pitchFamily="34" charset="0"/>
            </a:endParaRPr>
          </a:p>
          <a:p>
            <a:pPr marL="214313" indent="-214313" algn="just">
              <a:buFont typeface="Wingdings" panose="05000000000000000000" pitchFamily="2" charset="2"/>
              <a:buChar char="q"/>
            </a:pPr>
            <a:r>
              <a:rPr lang="es-AR" sz="1500" b="1" dirty="0">
                <a:latin typeface="Calibri" panose="020F0502020204030204" pitchFamily="34" charset="0"/>
                <a:cs typeface="Calibri" panose="020F0502020204030204" pitchFamily="34" charset="0"/>
              </a:rPr>
              <a:t>Cultura organizacional </a:t>
            </a:r>
            <a:endParaRPr lang="en-US" sz="1500" b="1" dirty="0">
              <a:latin typeface="Calibri" panose="020F0502020204030204" pitchFamily="34" charset="0"/>
              <a:cs typeface="Calibri" panose="020F0502020204030204" pitchFamily="34" charset="0"/>
            </a:endParaRPr>
          </a:p>
        </p:txBody>
      </p:sp>
      <p:pic>
        <p:nvPicPr>
          <p:cNvPr id="5" name="Imagen 4"/>
          <p:cNvPicPr>
            <a:picLocks noChangeAspect="1"/>
          </p:cNvPicPr>
          <p:nvPr/>
        </p:nvPicPr>
        <p:blipFill>
          <a:blip r:embed="rId3"/>
          <a:stretch>
            <a:fillRect/>
          </a:stretch>
        </p:blipFill>
        <p:spPr>
          <a:xfrm>
            <a:off x="6067244" y="4580472"/>
            <a:ext cx="2228850" cy="1157288"/>
          </a:xfrm>
          <a:prstGeom prst="rect">
            <a:avLst/>
          </a:prstGeom>
        </p:spPr>
      </p:pic>
      <p:sp>
        <p:nvSpPr>
          <p:cNvPr id="6" name="Título 5">
            <a:extLst>
              <a:ext uri="{FF2B5EF4-FFF2-40B4-BE49-F238E27FC236}">
                <a16:creationId xmlns:a16="http://schemas.microsoft.com/office/drawing/2014/main" id="{A95E7970-894F-413B-3354-BBEE71AFFB58}"/>
              </a:ext>
            </a:extLst>
          </p:cNvPr>
          <p:cNvSpPr>
            <a:spLocks noGrp="1"/>
          </p:cNvSpPr>
          <p:nvPr>
            <p:ph type="title"/>
          </p:nvPr>
        </p:nvSpPr>
        <p:spPr/>
        <p:txBody>
          <a:bodyPr/>
          <a:lstStyle/>
          <a:p>
            <a:r>
              <a:rPr lang="es-ES" dirty="0">
                <a:solidFill>
                  <a:schemeClr val="tx1"/>
                </a:solidFill>
              </a:rPr>
              <a:t>3.1.3. Perspectivas actuales</a:t>
            </a:r>
            <a:endParaRPr lang="es-ES" dirty="0"/>
          </a:p>
        </p:txBody>
      </p:sp>
    </p:spTree>
    <p:extLst>
      <p:ext uri="{BB962C8B-B14F-4D97-AF65-F5344CB8AC3E}">
        <p14:creationId xmlns:p14="http://schemas.microsoft.com/office/powerpoint/2010/main" val="301316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FD79DC-34FB-45D1-AE6E-64A36E1A7533}"/>
              </a:ext>
            </a:extLst>
          </p:cNvPr>
          <p:cNvSpPr>
            <a:spLocks noGrp="1"/>
          </p:cNvSpPr>
          <p:nvPr>
            <p:ph type="title"/>
          </p:nvPr>
        </p:nvSpPr>
        <p:spPr/>
        <p:txBody>
          <a:bodyPr>
            <a:noAutofit/>
          </a:bodyPr>
          <a:lstStyle/>
          <a:p>
            <a:r>
              <a:rPr lang="es-ES" sz="2400" dirty="0">
                <a:solidFill>
                  <a:schemeClr val="accent1"/>
                </a:solidFill>
                <a:latin typeface="Calibri" panose="020F0502020204030204" pitchFamily="34" charset="0"/>
                <a:cs typeface="Calibri" panose="020F0502020204030204" pitchFamily="34" charset="0"/>
              </a:rPr>
              <a:t>PRODUCCIÓN AJUSTADA O MANUFACTURA ESBELTA (</a:t>
            </a:r>
            <a:r>
              <a:rPr lang="es-ES" sz="2400" i="1" dirty="0">
                <a:solidFill>
                  <a:schemeClr val="accent1"/>
                </a:solidFill>
                <a:latin typeface="Calibri" panose="020F0502020204030204" pitchFamily="34" charset="0"/>
                <a:cs typeface="Calibri" panose="020F0502020204030204" pitchFamily="34" charset="0"/>
              </a:rPr>
              <a:t>LEAN MANUFACTURING</a:t>
            </a:r>
            <a:r>
              <a:rPr lang="es-ES" sz="2400" dirty="0">
                <a:solidFill>
                  <a:schemeClr val="accent1"/>
                </a:solidFill>
                <a:latin typeface="Calibri" panose="020F0502020204030204" pitchFamily="34" charset="0"/>
                <a:cs typeface="Calibri" panose="020F0502020204030204" pitchFamily="34" charset="0"/>
              </a:rPr>
              <a:t>) </a:t>
            </a:r>
          </a:p>
        </p:txBody>
      </p:sp>
      <p:sp>
        <p:nvSpPr>
          <p:cNvPr id="3" name="Marcador de contenido 2">
            <a:extLst>
              <a:ext uri="{FF2B5EF4-FFF2-40B4-BE49-F238E27FC236}">
                <a16:creationId xmlns:a16="http://schemas.microsoft.com/office/drawing/2014/main" id="{4DDF797D-17DC-4F6E-8427-441E17F985D1}"/>
              </a:ext>
            </a:extLst>
          </p:cNvPr>
          <p:cNvSpPr>
            <a:spLocks noGrp="1"/>
          </p:cNvSpPr>
          <p:nvPr>
            <p:ph idx="4294967295"/>
          </p:nvPr>
        </p:nvSpPr>
        <p:spPr>
          <a:xfrm>
            <a:off x="226764" y="1378768"/>
            <a:ext cx="8377684" cy="1876425"/>
          </a:xfrm>
        </p:spPr>
        <p:txBody>
          <a:bodyPr>
            <a:noAutofit/>
          </a:bodyPr>
          <a:lstStyle/>
          <a:p>
            <a:pPr algn="just">
              <a:spcBef>
                <a:spcPts val="450"/>
              </a:spcBef>
            </a:pPr>
            <a:r>
              <a:rPr lang="es-ES" sz="1800" dirty="0">
                <a:latin typeface="+mj-lt"/>
                <a:cs typeface="Calibri" panose="020F0502020204030204" pitchFamily="34" charset="0"/>
              </a:rPr>
              <a:t>El término “</a:t>
            </a:r>
            <a:r>
              <a:rPr lang="es-ES" sz="1800" i="1" dirty="0">
                <a:latin typeface="+mj-lt"/>
                <a:cs typeface="Calibri" panose="020F0502020204030204" pitchFamily="34" charset="0"/>
              </a:rPr>
              <a:t>Lean</a:t>
            </a:r>
            <a:r>
              <a:rPr lang="es-ES" sz="1800" dirty="0">
                <a:latin typeface="+mj-lt"/>
                <a:cs typeface="Calibri" panose="020F0502020204030204" pitchFamily="34" charset="0"/>
              </a:rPr>
              <a:t>” fue acuñado en occidente en los años 80 para describir el Sistema de Producción de Toyota establecido en los años 50.</a:t>
            </a:r>
          </a:p>
          <a:p>
            <a:pPr algn="just">
              <a:spcBef>
                <a:spcPts val="450"/>
              </a:spcBef>
            </a:pPr>
            <a:r>
              <a:rPr lang="es-ES" sz="1800" dirty="0">
                <a:latin typeface="+mj-lt"/>
                <a:cs typeface="Calibri" panose="020F0502020204030204" pitchFamily="34" charset="0"/>
              </a:rPr>
              <a:t>Se trata más bien de una </a:t>
            </a:r>
            <a:r>
              <a:rPr lang="es-ES" sz="1800" b="1" dirty="0">
                <a:latin typeface="+mj-lt"/>
                <a:cs typeface="Calibri" panose="020F0502020204030204" pitchFamily="34" charset="0"/>
              </a:rPr>
              <a:t>filosofía para la mejora continua.</a:t>
            </a:r>
          </a:p>
          <a:p>
            <a:pPr lvl="1" algn="just">
              <a:spcBef>
                <a:spcPts val="450"/>
              </a:spcBef>
            </a:pPr>
            <a:r>
              <a:rPr lang="es-ES" dirty="0">
                <a:latin typeface="+mj-lt"/>
                <a:cs typeface="Calibri" panose="020F0502020204030204" pitchFamily="34" charset="0"/>
              </a:rPr>
              <a:t>No es una metodología tradicional de reducción de costes mediante reducción de servicios o recortes de personal. Los principios fundamentales de esta filosofía son el respeto a los empleados, lo que impide el despido como resultado de la aplicación de “</a:t>
            </a:r>
            <a:r>
              <a:rPr lang="es-ES" i="1" dirty="0">
                <a:latin typeface="+mj-lt"/>
                <a:cs typeface="Calibri" panose="020F0502020204030204" pitchFamily="34" charset="0"/>
              </a:rPr>
              <a:t>Lean</a:t>
            </a:r>
            <a:r>
              <a:rPr lang="es-ES" dirty="0">
                <a:latin typeface="+mj-lt"/>
                <a:cs typeface="Calibri" panose="020F0502020204030204" pitchFamily="34" charset="0"/>
              </a:rPr>
              <a:t>” y la satisfacción del cliente, lo que impide una reducción de servicios</a:t>
            </a:r>
          </a:p>
        </p:txBody>
      </p:sp>
      <p:pic>
        <p:nvPicPr>
          <p:cNvPr id="6" name="Imagen 5"/>
          <p:cNvPicPr>
            <a:picLocks noChangeAspect="1"/>
          </p:cNvPicPr>
          <p:nvPr/>
        </p:nvPicPr>
        <p:blipFill>
          <a:blip r:embed="rId3"/>
          <a:stretch>
            <a:fillRect/>
          </a:stretch>
        </p:blipFill>
        <p:spPr>
          <a:xfrm>
            <a:off x="6804248" y="4616630"/>
            <a:ext cx="1550194" cy="871538"/>
          </a:xfrm>
          <a:prstGeom prst="rect">
            <a:avLst/>
          </a:prstGeom>
        </p:spPr>
      </p:pic>
      <p:sp>
        <p:nvSpPr>
          <p:cNvPr id="4" name="CuadroTexto 3"/>
          <p:cNvSpPr txBox="1"/>
          <p:nvPr/>
        </p:nvSpPr>
        <p:spPr>
          <a:xfrm>
            <a:off x="612467" y="4788339"/>
            <a:ext cx="5162513" cy="1818447"/>
          </a:xfrm>
          <a:prstGeom prst="rect">
            <a:avLst/>
          </a:prstGeom>
          <a:solidFill>
            <a:srgbClr val="FF9999"/>
          </a:solidFill>
        </p:spPr>
        <p:txBody>
          <a:bodyPr wrap="square" rtlCol="0">
            <a:spAutoFit/>
          </a:bodyPr>
          <a:lstStyle/>
          <a:p>
            <a:pPr algn="just">
              <a:spcBef>
                <a:spcPts val="450"/>
              </a:spcBef>
            </a:pPr>
            <a:r>
              <a:rPr lang="es-ES" dirty="0">
                <a:latin typeface="Calibri" panose="020F0502020204030204" pitchFamily="34" charset="0"/>
                <a:cs typeface="Calibri" panose="020F0502020204030204" pitchFamily="34" charset="0"/>
              </a:rPr>
              <a:t>La idea central es </a:t>
            </a:r>
            <a:r>
              <a:rPr lang="es-ES" b="1" dirty="0">
                <a:latin typeface="Calibri" panose="020F0502020204030204" pitchFamily="34" charset="0"/>
                <a:cs typeface="Calibri" panose="020F0502020204030204" pitchFamily="34" charset="0"/>
              </a:rPr>
              <a:t>crear el máximo valor posible para el cliente, con el menor consumo de recursos </a:t>
            </a:r>
            <a:r>
              <a:rPr lang="es-ES" dirty="0">
                <a:latin typeface="Calibri" panose="020F0502020204030204" pitchFamily="34" charset="0"/>
                <a:cs typeface="Calibri" panose="020F0502020204030204" pitchFamily="34" charset="0"/>
              </a:rPr>
              <a:t>(es decir, ajustados), </a:t>
            </a:r>
            <a:r>
              <a:rPr lang="es-ES" b="1" dirty="0">
                <a:latin typeface="Calibri" panose="020F0502020204030204" pitchFamily="34" charset="0"/>
                <a:cs typeface="Calibri" panose="020F0502020204030204" pitchFamily="34" charset="0"/>
              </a:rPr>
              <a:t>usando el conocimiento y las habilidades del personal.</a:t>
            </a:r>
          </a:p>
          <a:p>
            <a:pPr algn="just">
              <a:spcBef>
                <a:spcPts val="450"/>
              </a:spcBef>
            </a:pPr>
            <a:r>
              <a:rPr lang="es-ES" dirty="0">
                <a:latin typeface="Calibri" panose="020F0502020204030204" pitchFamily="34" charset="0"/>
                <a:cs typeface="Calibri" panose="020F0502020204030204" pitchFamily="34" charset="0"/>
              </a:rPr>
              <a:t>Además permite reducir los “despilfarros” (costes y tiempo de ejecución) y los inventarios.</a:t>
            </a:r>
            <a:endParaRPr lang="en-US" dirty="0">
              <a:latin typeface="Calibri" panose="020F0502020204030204" pitchFamily="34" charset="0"/>
              <a:cs typeface="Calibri" panose="020F0502020204030204" pitchFamily="34" charset="0"/>
            </a:endParaRPr>
          </a:p>
        </p:txBody>
      </p:sp>
      <p:sp>
        <p:nvSpPr>
          <p:cNvPr id="5" name="CuadroTexto 4">
            <a:extLst>
              <a:ext uri="{FF2B5EF4-FFF2-40B4-BE49-F238E27FC236}">
                <a16:creationId xmlns:a16="http://schemas.microsoft.com/office/drawing/2014/main" id="{CFBB79A9-4ACE-E53A-3C61-52AF6BEF780D}"/>
              </a:ext>
            </a:extLst>
          </p:cNvPr>
          <p:cNvSpPr txBox="1"/>
          <p:nvPr/>
        </p:nvSpPr>
        <p:spPr>
          <a:xfrm>
            <a:off x="611560" y="980728"/>
            <a:ext cx="6336704" cy="400110"/>
          </a:xfrm>
          <a:prstGeom prst="rect">
            <a:avLst/>
          </a:prstGeom>
          <a:noFill/>
        </p:spPr>
        <p:txBody>
          <a:bodyPr wrap="square" rtlCol="0">
            <a:spAutoFit/>
          </a:bodyPr>
          <a:lstStyle/>
          <a:p>
            <a:r>
              <a:rPr lang="es-ES" sz="2000" b="1" dirty="0">
                <a:solidFill>
                  <a:schemeClr val="accent6">
                    <a:lumMod val="50000"/>
                  </a:schemeClr>
                </a:solidFill>
              </a:rPr>
              <a:t>Calidad total</a:t>
            </a:r>
          </a:p>
        </p:txBody>
      </p:sp>
    </p:spTree>
    <p:extLst>
      <p:ext uri="{BB962C8B-B14F-4D97-AF65-F5344CB8AC3E}">
        <p14:creationId xmlns:p14="http://schemas.microsoft.com/office/powerpoint/2010/main" val="337919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465119" y="5444088"/>
            <a:ext cx="3995313" cy="646331"/>
          </a:xfrm>
          <a:prstGeom prst="rect">
            <a:avLst/>
          </a:prstGeom>
        </p:spPr>
        <p:txBody>
          <a:bodyPr wrap="square">
            <a:spAutoFit/>
          </a:bodyPr>
          <a:lstStyle/>
          <a:p>
            <a:pPr algn="just"/>
            <a:r>
              <a:rPr lang="es-AR" dirty="0">
                <a:latin typeface="Calibri" panose="020F0502020204030204" pitchFamily="34" charset="0"/>
                <a:cs typeface="Calibri" panose="020F0502020204030204" pitchFamily="34" charset="0"/>
              </a:rPr>
              <a:t>Equipos de trabajo para encontrar problemas y solucionarlos.</a:t>
            </a:r>
            <a:endParaRPr lang="en-US" dirty="0">
              <a:latin typeface="Calibri" panose="020F0502020204030204" pitchFamily="34" charset="0"/>
              <a:cs typeface="Calibri" panose="020F0502020204030204" pitchFamily="34" charset="0"/>
            </a:endParaRPr>
          </a:p>
        </p:txBody>
      </p:sp>
      <p:sp>
        <p:nvSpPr>
          <p:cNvPr id="3" name="Rectángulo 2"/>
          <p:cNvSpPr/>
          <p:nvPr/>
        </p:nvSpPr>
        <p:spPr>
          <a:xfrm>
            <a:off x="1493658" y="1639244"/>
            <a:ext cx="2488758" cy="323165"/>
          </a:xfrm>
          <a:prstGeom prst="rect">
            <a:avLst/>
          </a:prstGeom>
          <a:solidFill>
            <a:schemeClr val="accent2">
              <a:lumMod val="20000"/>
              <a:lumOff val="80000"/>
            </a:schemeClr>
          </a:solidFill>
        </p:spPr>
        <p:txBody>
          <a:bodyPr wrap="none">
            <a:spAutoFit/>
          </a:bodyPr>
          <a:lstStyle/>
          <a:p>
            <a:r>
              <a:rPr lang="es-AR" sz="1500" b="1" dirty="0">
                <a:latin typeface="Calibri" panose="020F0502020204030204" pitchFamily="34" charset="0"/>
                <a:cs typeface="Calibri" panose="020F0502020204030204" pitchFamily="34" charset="0"/>
              </a:rPr>
              <a:t>Intenso enfoque en el cliente</a:t>
            </a:r>
            <a:endParaRPr lang="en-US" sz="1500" b="1" dirty="0">
              <a:latin typeface="Calibri" panose="020F0502020204030204" pitchFamily="34" charset="0"/>
              <a:cs typeface="Calibri" panose="020F0502020204030204" pitchFamily="34" charset="0"/>
            </a:endParaRPr>
          </a:p>
        </p:txBody>
      </p:sp>
      <p:sp>
        <p:nvSpPr>
          <p:cNvPr id="4" name="Rectángulo 3"/>
          <p:cNvSpPr/>
          <p:nvPr/>
        </p:nvSpPr>
        <p:spPr>
          <a:xfrm>
            <a:off x="1493659" y="2688595"/>
            <a:ext cx="2776239" cy="323165"/>
          </a:xfrm>
          <a:prstGeom prst="rect">
            <a:avLst/>
          </a:prstGeom>
          <a:solidFill>
            <a:schemeClr val="accent2">
              <a:lumMod val="20000"/>
              <a:lumOff val="80000"/>
            </a:schemeClr>
          </a:solidFill>
        </p:spPr>
        <p:txBody>
          <a:bodyPr wrap="square">
            <a:spAutoFit/>
          </a:bodyPr>
          <a:lstStyle/>
          <a:p>
            <a:r>
              <a:rPr lang="es-AR" sz="1500" b="1" dirty="0">
                <a:latin typeface="Calibri" panose="020F0502020204030204" pitchFamily="34" charset="0"/>
                <a:cs typeface="Calibri" panose="020F0502020204030204" pitchFamily="34" charset="0"/>
              </a:rPr>
              <a:t>Interés en la mejora continua</a:t>
            </a:r>
            <a:endParaRPr lang="en-US" sz="1500" b="1" dirty="0">
              <a:latin typeface="Calibri" panose="020F0502020204030204" pitchFamily="34" charset="0"/>
              <a:cs typeface="Calibri" panose="020F0502020204030204" pitchFamily="34" charset="0"/>
            </a:endParaRPr>
          </a:p>
        </p:txBody>
      </p:sp>
      <p:sp>
        <p:nvSpPr>
          <p:cNvPr id="5" name="Rectángulo 4"/>
          <p:cNvSpPr/>
          <p:nvPr/>
        </p:nvSpPr>
        <p:spPr>
          <a:xfrm>
            <a:off x="4468806" y="1334753"/>
            <a:ext cx="3991626" cy="923330"/>
          </a:xfrm>
          <a:prstGeom prst="rect">
            <a:avLst/>
          </a:prstGeom>
        </p:spPr>
        <p:txBody>
          <a:bodyPr wrap="square">
            <a:spAutoFit/>
          </a:bodyPr>
          <a:lstStyle/>
          <a:p>
            <a:pPr algn="just"/>
            <a:r>
              <a:rPr lang="es-AR" dirty="0">
                <a:latin typeface="Calibri" panose="020F0502020204030204" pitchFamily="34" charset="0"/>
                <a:cs typeface="Calibri" panose="020F0502020204030204" pitchFamily="34" charset="0"/>
              </a:rPr>
              <a:t>Clientes tanto ajenos a la organización, como clientes internos, que dan servicio a otros integrantes de la empresa.</a:t>
            </a:r>
          </a:p>
        </p:txBody>
      </p:sp>
      <p:sp>
        <p:nvSpPr>
          <p:cNvPr id="6" name="Rectángulo 5"/>
          <p:cNvSpPr/>
          <p:nvPr/>
        </p:nvSpPr>
        <p:spPr>
          <a:xfrm>
            <a:off x="4450544" y="2535082"/>
            <a:ext cx="4009888" cy="646331"/>
          </a:xfrm>
          <a:prstGeom prst="rect">
            <a:avLst/>
          </a:prstGeom>
        </p:spPr>
        <p:txBody>
          <a:bodyPr wrap="square">
            <a:spAutoFit/>
          </a:bodyPr>
          <a:lstStyle/>
          <a:p>
            <a:pPr algn="just"/>
            <a:r>
              <a:rPr lang="es-AR" dirty="0">
                <a:latin typeface="Calibri" panose="020F0502020204030204" pitchFamily="34" charset="0"/>
                <a:cs typeface="Calibri" panose="020F0502020204030204" pitchFamily="34" charset="0"/>
              </a:rPr>
              <a:t>“Muy bien” no es suficiente. La calidad siempre puede mejorarse.</a:t>
            </a:r>
          </a:p>
        </p:txBody>
      </p:sp>
      <p:sp>
        <p:nvSpPr>
          <p:cNvPr id="7" name="Rectángulo 6"/>
          <p:cNvSpPr/>
          <p:nvPr/>
        </p:nvSpPr>
        <p:spPr>
          <a:xfrm>
            <a:off x="1493660" y="3361711"/>
            <a:ext cx="2776238" cy="784830"/>
          </a:xfrm>
          <a:prstGeom prst="rect">
            <a:avLst/>
          </a:prstGeom>
          <a:solidFill>
            <a:schemeClr val="accent2">
              <a:lumMod val="20000"/>
              <a:lumOff val="80000"/>
            </a:schemeClr>
          </a:solidFill>
        </p:spPr>
        <p:txBody>
          <a:bodyPr wrap="square">
            <a:spAutoFit/>
          </a:bodyPr>
          <a:lstStyle/>
          <a:p>
            <a:r>
              <a:rPr lang="es-AR" sz="1500" b="1" dirty="0">
                <a:latin typeface="Calibri" panose="020F0502020204030204" pitchFamily="34" charset="0"/>
                <a:cs typeface="Calibri" panose="020F0502020204030204" pitchFamily="34" charset="0"/>
              </a:rPr>
              <a:t>Enfoque en los procesos y mejoramiento de todo lo que hace la organización</a:t>
            </a:r>
            <a:endParaRPr lang="en-US" sz="1500" b="1" dirty="0">
              <a:latin typeface="Calibri" panose="020F0502020204030204" pitchFamily="34" charset="0"/>
              <a:cs typeface="Calibri" panose="020F0502020204030204" pitchFamily="34" charset="0"/>
            </a:endParaRPr>
          </a:p>
        </p:txBody>
      </p:sp>
      <p:sp>
        <p:nvSpPr>
          <p:cNvPr id="8" name="Rectángulo 7"/>
          <p:cNvSpPr/>
          <p:nvPr/>
        </p:nvSpPr>
        <p:spPr>
          <a:xfrm>
            <a:off x="1349917" y="4558382"/>
            <a:ext cx="2776240" cy="323165"/>
          </a:xfrm>
          <a:prstGeom prst="rect">
            <a:avLst/>
          </a:prstGeom>
          <a:solidFill>
            <a:schemeClr val="accent2">
              <a:lumMod val="20000"/>
              <a:lumOff val="80000"/>
            </a:schemeClr>
          </a:solidFill>
        </p:spPr>
        <p:txBody>
          <a:bodyPr wrap="square">
            <a:spAutoFit/>
          </a:bodyPr>
          <a:lstStyle/>
          <a:p>
            <a:r>
              <a:rPr lang="es-AR" sz="1500" b="1" dirty="0">
                <a:latin typeface="Calibri" panose="020F0502020204030204" pitchFamily="34" charset="0"/>
                <a:cs typeface="Calibri" panose="020F0502020204030204" pitchFamily="34" charset="0"/>
              </a:rPr>
              <a:t>Uso de medidas precisas </a:t>
            </a:r>
            <a:endParaRPr lang="en-US" sz="1500" b="1" dirty="0">
              <a:latin typeface="Calibri" panose="020F0502020204030204" pitchFamily="34" charset="0"/>
              <a:cs typeface="Calibri" panose="020F0502020204030204" pitchFamily="34" charset="0"/>
            </a:endParaRPr>
          </a:p>
        </p:txBody>
      </p:sp>
      <p:sp>
        <p:nvSpPr>
          <p:cNvPr id="9" name="Rectángulo 8"/>
          <p:cNvSpPr/>
          <p:nvPr/>
        </p:nvSpPr>
        <p:spPr>
          <a:xfrm>
            <a:off x="1349917" y="5505122"/>
            <a:ext cx="2776240" cy="553998"/>
          </a:xfrm>
          <a:prstGeom prst="rect">
            <a:avLst/>
          </a:prstGeom>
          <a:solidFill>
            <a:schemeClr val="accent2">
              <a:lumMod val="20000"/>
              <a:lumOff val="80000"/>
            </a:schemeClr>
          </a:solidFill>
        </p:spPr>
        <p:txBody>
          <a:bodyPr wrap="square">
            <a:spAutoFit/>
          </a:bodyPr>
          <a:lstStyle/>
          <a:p>
            <a:pPr algn="just"/>
            <a:r>
              <a:rPr lang="es-AR" sz="1500" b="1" dirty="0">
                <a:latin typeface="Calibri" panose="020F0502020204030204" pitchFamily="34" charset="0"/>
                <a:cs typeface="Calibri" panose="020F0502020204030204" pitchFamily="34" charset="0"/>
              </a:rPr>
              <a:t>Empoderamiento de los empleados </a:t>
            </a:r>
            <a:endParaRPr lang="en-US" sz="1500" b="1" dirty="0">
              <a:latin typeface="Calibri" panose="020F0502020204030204" pitchFamily="34" charset="0"/>
              <a:cs typeface="Calibri" panose="020F0502020204030204" pitchFamily="34" charset="0"/>
            </a:endParaRPr>
          </a:p>
        </p:txBody>
      </p:sp>
      <p:sp>
        <p:nvSpPr>
          <p:cNvPr id="10" name="Rectángulo 9"/>
          <p:cNvSpPr/>
          <p:nvPr/>
        </p:nvSpPr>
        <p:spPr>
          <a:xfrm>
            <a:off x="4450544" y="3153961"/>
            <a:ext cx="4009888" cy="923330"/>
          </a:xfrm>
          <a:prstGeom prst="rect">
            <a:avLst/>
          </a:prstGeom>
        </p:spPr>
        <p:txBody>
          <a:bodyPr wrap="square">
            <a:spAutoFit/>
          </a:bodyPr>
          <a:lstStyle/>
          <a:p>
            <a:pPr algn="just"/>
            <a:r>
              <a:rPr lang="es-AR" dirty="0">
                <a:latin typeface="Calibri" panose="020F0502020204030204" pitchFamily="34" charset="0"/>
                <a:cs typeface="Calibri" panose="020F0502020204030204" pitchFamily="34" charset="0"/>
              </a:rPr>
              <a:t>Foco en mecanismos para hacer las entregas, responder las quejas, contestar las llamadas telefónicas, etcétera.</a:t>
            </a:r>
          </a:p>
        </p:txBody>
      </p:sp>
      <p:sp>
        <p:nvSpPr>
          <p:cNvPr id="11" name="Rectángulo 10"/>
          <p:cNvSpPr/>
          <p:nvPr/>
        </p:nvSpPr>
        <p:spPr>
          <a:xfrm>
            <a:off x="4465118" y="4243759"/>
            <a:ext cx="3995314" cy="923330"/>
          </a:xfrm>
          <a:prstGeom prst="rect">
            <a:avLst/>
          </a:prstGeom>
        </p:spPr>
        <p:txBody>
          <a:bodyPr wrap="square">
            <a:spAutoFit/>
          </a:bodyPr>
          <a:lstStyle/>
          <a:p>
            <a:r>
              <a:rPr lang="es-AR" dirty="0">
                <a:latin typeface="Calibri" panose="020F0502020204030204" pitchFamily="34" charset="0"/>
                <a:cs typeface="Calibri" panose="020F0502020204030204" pitchFamily="34" charset="0"/>
              </a:rPr>
              <a:t>Técnicas estadísticas para medir variables, identificación de  problemas, llegar hasta su raíz y erradicar las causas</a:t>
            </a:r>
            <a:endParaRPr lang="en-US" dirty="0">
              <a:latin typeface="Calibri" panose="020F0502020204030204" pitchFamily="34" charset="0"/>
              <a:cs typeface="Calibri" panose="020F0502020204030204" pitchFamily="34" charset="0"/>
            </a:endParaRPr>
          </a:p>
        </p:txBody>
      </p:sp>
      <p:sp>
        <p:nvSpPr>
          <p:cNvPr id="12" name="Rectángulo 11"/>
          <p:cNvSpPr/>
          <p:nvPr/>
        </p:nvSpPr>
        <p:spPr>
          <a:xfrm>
            <a:off x="1282757" y="1357183"/>
            <a:ext cx="1987532" cy="415498"/>
          </a:xfrm>
          <a:prstGeom prst="rect">
            <a:avLst/>
          </a:prstGeom>
        </p:spPr>
        <p:txBody>
          <a:bodyPr wrap="none">
            <a:spAutoFit/>
          </a:bodyPr>
          <a:lstStyle/>
          <a:p>
            <a:r>
              <a:rPr lang="es-AR" sz="2100" b="1" dirty="0">
                <a:solidFill>
                  <a:schemeClr val="accent1"/>
                </a:solidFill>
                <a:latin typeface="Calibri" panose="020F0502020204030204" pitchFamily="34" charset="0"/>
                <a:cs typeface="Calibri" panose="020F0502020204030204" pitchFamily="34" charset="0"/>
              </a:rPr>
              <a:t>CALIDAD TOTAL </a:t>
            </a:r>
            <a:endParaRPr lang="en-US" sz="2100" b="1" dirty="0">
              <a:solidFill>
                <a:schemeClr val="accent1"/>
              </a:solidFill>
              <a:latin typeface="Calibri" panose="020F0502020204030204" pitchFamily="34" charset="0"/>
              <a:cs typeface="Calibri" panose="020F0502020204030204" pitchFamily="34" charset="0"/>
            </a:endParaRPr>
          </a:p>
        </p:txBody>
      </p:sp>
      <p:sp>
        <p:nvSpPr>
          <p:cNvPr id="13" name="Título 12">
            <a:extLst>
              <a:ext uri="{FF2B5EF4-FFF2-40B4-BE49-F238E27FC236}">
                <a16:creationId xmlns:a16="http://schemas.microsoft.com/office/drawing/2014/main" id="{9210A726-EE65-464A-2366-FF3F00100854}"/>
              </a:ext>
            </a:extLst>
          </p:cNvPr>
          <p:cNvSpPr>
            <a:spLocks noGrp="1"/>
          </p:cNvSpPr>
          <p:nvPr>
            <p:ph type="title"/>
          </p:nvPr>
        </p:nvSpPr>
        <p:spPr/>
        <p:txBody>
          <a:bodyPr/>
          <a:lstStyle/>
          <a:p>
            <a:r>
              <a:rPr lang="es-ES" dirty="0">
                <a:solidFill>
                  <a:schemeClr val="tx1"/>
                </a:solidFill>
              </a:rPr>
              <a:t>3.1.3. Perspectivas actuales</a:t>
            </a:r>
            <a:endParaRPr lang="es-ES" dirty="0"/>
          </a:p>
        </p:txBody>
      </p:sp>
      <p:sp>
        <p:nvSpPr>
          <p:cNvPr id="14" name="CuadroTexto 13">
            <a:extLst>
              <a:ext uri="{FF2B5EF4-FFF2-40B4-BE49-F238E27FC236}">
                <a16:creationId xmlns:a16="http://schemas.microsoft.com/office/drawing/2014/main" id="{8E9D8CEC-6B22-2F1E-4594-FA620F89FEDB}"/>
              </a:ext>
            </a:extLst>
          </p:cNvPr>
          <p:cNvSpPr txBox="1"/>
          <p:nvPr/>
        </p:nvSpPr>
        <p:spPr>
          <a:xfrm>
            <a:off x="683568" y="957378"/>
            <a:ext cx="6336704" cy="400110"/>
          </a:xfrm>
          <a:prstGeom prst="rect">
            <a:avLst/>
          </a:prstGeom>
          <a:noFill/>
        </p:spPr>
        <p:txBody>
          <a:bodyPr wrap="square" rtlCol="0">
            <a:spAutoFit/>
          </a:bodyPr>
          <a:lstStyle/>
          <a:p>
            <a:r>
              <a:rPr lang="es-ES" sz="2000" b="1" dirty="0">
                <a:solidFill>
                  <a:schemeClr val="accent6">
                    <a:lumMod val="50000"/>
                  </a:schemeClr>
                </a:solidFill>
              </a:rPr>
              <a:t>Calidad total</a:t>
            </a:r>
          </a:p>
        </p:txBody>
      </p:sp>
    </p:spTree>
    <p:extLst>
      <p:ext uri="{BB962C8B-B14F-4D97-AF65-F5344CB8AC3E}">
        <p14:creationId xmlns:p14="http://schemas.microsoft.com/office/powerpoint/2010/main" val="9589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0"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s cinco rasgos de las organizaciones ágiles, por McKinsey | Blog de Simón  Pulido"/>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a:p>
        </p:txBody>
      </p:sp>
      <p:sp>
        <p:nvSpPr>
          <p:cNvPr id="5" name="Rectángulo 4"/>
          <p:cNvSpPr/>
          <p:nvPr/>
        </p:nvSpPr>
        <p:spPr>
          <a:xfrm>
            <a:off x="555518" y="1769778"/>
            <a:ext cx="7994582" cy="1015663"/>
          </a:xfrm>
          <a:prstGeom prst="rect">
            <a:avLst/>
          </a:prstGeom>
          <a:solidFill>
            <a:schemeClr val="bg1"/>
          </a:solidFill>
        </p:spPr>
        <p:txBody>
          <a:bodyPr wrap="square">
            <a:spAutoFit/>
          </a:bodyPr>
          <a:lstStyle/>
          <a:p>
            <a:pPr algn="just"/>
            <a:r>
              <a:rPr lang="es-AR" sz="1500" dirty="0">
                <a:solidFill>
                  <a:srgbClr val="222222"/>
                </a:solidFill>
                <a:latin typeface="Calibri" panose="020F0502020204030204" pitchFamily="34" charset="0"/>
                <a:cs typeface="Calibri" panose="020F0502020204030204" pitchFamily="34" charset="0"/>
              </a:rPr>
              <a:t>La organización ágil está surgiendo como </a:t>
            </a:r>
            <a:r>
              <a:rPr lang="es-AR" sz="1500" dirty="0">
                <a:solidFill>
                  <a:srgbClr val="C00000"/>
                </a:solidFill>
                <a:latin typeface="Calibri" panose="020F0502020204030204" pitchFamily="34" charset="0"/>
                <a:cs typeface="Calibri" panose="020F0502020204030204" pitchFamily="34" charset="0"/>
              </a:rPr>
              <a:t>el nuevo paradigma dominante </a:t>
            </a:r>
            <a:r>
              <a:rPr lang="es-AR" sz="1500" dirty="0">
                <a:solidFill>
                  <a:srgbClr val="222222"/>
                </a:solidFill>
                <a:latin typeface="Calibri" panose="020F0502020204030204" pitchFamily="34" charset="0"/>
                <a:cs typeface="Calibri" panose="020F0502020204030204" pitchFamily="34" charset="0"/>
              </a:rPr>
              <a:t>para cumplir con las </a:t>
            </a:r>
            <a:r>
              <a:rPr lang="es-AR" sz="1500" b="1" dirty="0">
                <a:solidFill>
                  <a:srgbClr val="C00000"/>
                </a:solidFill>
                <a:latin typeface="Calibri" panose="020F0502020204030204" pitchFamily="34" charset="0"/>
                <a:cs typeface="Calibri" panose="020F0502020204030204" pitchFamily="34" charset="0"/>
              </a:rPr>
              <a:t>condiciones cambiantes de clientes y competencia</a:t>
            </a:r>
            <a:r>
              <a:rPr lang="es-AR" sz="1500" dirty="0">
                <a:solidFill>
                  <a:srgbClr val="222222"/>
                </a:solidFill>
                <a:latin typeface="Calibri" panose="020F0502020204030204" pitchFamily="34" charset="0"/>
                <a:cs typeface="Calibri" panose="020F0502020204030204" pitchFamily="34" charset="0"/>
              </a:rPr>
              <a:t>. En lugar de funcionar como máquinas, las organizaciones ágiles son un organismo vivo (</a:t>
            </a:r>
            <a:r>
              <a:rPr lang="es-AR" sz="1500" dirty="0" err="1">
                <a:solidFill>
                  <a:srgbClr val="222222"/>
                </a:solidFill>
                <a:latin typeface="Calibri" panose="020F0502020204030204" pitchFamily="34" charset="0"/>
                <a:cs typeface="Calibri" panose="020F0502020204030204" pitchFamily="34" charset="0"/>
              </a:rPr>
              <a:t>McKinsey</a:t>
            </a:r>
            <a:r>
              <a:rPr lang="es-AR" sz="1500" dirty="0">
                <a:solidFill>
                  <a:srgbClr val="222222"/>
                </a:solidFill>
                <a:latin typeface="Calibri" panose="020F0502020204030204" pitchFamily="34" charset="0"/>
                <a:cs typeface="Calibri" panose="020F0502020204030204" pitchFamily="34" charset="0"/>
              </a:rPr>
              <a:t>, 2018)</a:t>
            </a:r>
          </a:p>
          <a:p>
            <a:endParaRPr lang="en-US" sz="1500" dirty="0">
              <a:latin typeface="Calibri" panose="020F0502020204030204" pitchFamily="34" charset="0"/>
              <a:cs typeface="Calibri" panose="020F0502020204030204" pitchFamily="34" charset="0"/>
            </a:endParaRPr>
          </a:p>
        </p:txBody>
      </p:sp>
      <p:sp>
        <p:nvSpPr>
          <p:cNvPr id="6" name="Rectángulo 5"/>
          <p:cNvSpPr/>
          <p:nvPr/>
        </p:nvSpPr>
        <p:spPr>
          <a:xfrm>
            <a:off x="2995139" y="1158123"/>
            <a:ext cx="3115340" cy="415498"/>
          </a:xfrm>
          <a:prstGeom prst="rect">
            <a:avLst/>
          </a:prstGeom>
        </p:spPr>
        <p:txBody>
          <a:bodyPr wrap="none">
            <a:spAutoFit/>
          </a:bodyPr>
          <a:lstStyle/>
          <a:p>
            <a:r>
              <a:rPr lang="es-AR" sz="2100" b="1" dirty="0">
                <a:solidFill>
                  <a:schemeClr val="accent6">
                    <a:lumMod val="50000"/>
                  </a:schemeClr>
                </a:solidFill>
                <a:latin typeface="Calibri" panose="020F0502020204030204" pitchFamily="34" charset="0"/>
                <a:cs typeface="Calibri" panose="020F0502020204030204" pitchFamily="34" charset="0"/>
              </a:rPr>
              <a:t>ORGANIZACIONES ÁGILES </a:t>
            </a:r>
            <a:endParaRPr lang="en-US" sz="2100" b="1" dirty="0">
              <a:solidFill>
                <a:schemeClr val="accent6">
                  <a:lumMod val="50000"/>
                </a:schemeClr>
              </a:solidFill>
              <a:latin typeface="Calibri" panose="020F0502020204030204" pitchFamily="34" charset="0"/>
              <a:cs typeface="Calibri" panose="020F0502020204030204" pitchFamily="34" charset="0"/>
            </a:endParaRPr>
          </a:p>
        </p:txBody>
      </p:sp>
      <p:pic>
        <p:nvPicPr>
          <p:cNvPr id="7" name="Imagen 6">
            <a:extLst>
              <a:ext uri="{FF2B5EF4-FFF2-40B4-BE49-F238E27FC236}">
                <a16:creationId xmlns:a16="http://schemas.microsoft.com/office/drawing/2014/main" id="{D9842BE8-57C8-4466-A3C3-23ACFFEC2A5E}"/>
              </a:ext>
            </a:extLst>
          </p:cNvPr>
          <p:cNvPicPr>
            <a:picLocks noChangeAspect="1"/>
          </p:cNvPicPr>
          <p:nvPr/>
        </p:nvPicPr>
        <p:blipFill>
          <a:blip r:embed="rId3"/>
          <a:stretch>
            <a:fillRect/>
          </a:stretch>
        </p:blipFill>
        <p:spPr>
          <a:xfrm>
            <a:off x="972872" y="2566742"/>
            <a:ext cx="7342884" cy="2811964"/>
          </a:xfrm>
          <a:prstGeom prst="rect">
            <a:avLst/>
          </a:prstGeom>
        </p:spPr>
      </p:pic>
      <p:sp>
        <p:nvSpPr>
          <p:cNvPr id="3" name="Título 2">
            <a:extLst>
              <a:ext uri="{FF2B5EF4-FFF2-40B4-BE49-F238E27FC236}">
                <a16:creationId xmlns:a16="http://schemas.microsoft.com/office/drawing/2014/main" id="{A0DB220B-8BA7-4AB8-667E-FF65C07A5C99}"/>
              </a:ext>
            </a:extLst>
          </p:cNvPr>
          <p:cNvSpPr>
            <a:spLocks noGrp="1"/>
          </p:cNvSpPr>
          <p:nvPr>
            <p:ph type="title"/>
          </p:nvPr>
        </p:nvSpPr>
        <p:spPr/>
        <p:txBody>
          <a:bodyPr/>
          <a:lstStyle/>
          <a:p>
            <a:r>
              <a:rPr lang="es-ES" dirty="0">
                <a:solidFill>
                  <a:schemeClr val="tx1"/>
                </a:solidFill>
              </a:rPr>
              <a:t>3.1.3. Perspectivas actuales</a:t>
            </a:r>
            <a:endParaRPr lang="es-ES" dirty="0"/>
          </a:p>
        </p:txBody>
      </p:sp>
    </p:spTree>
    <p:extLst>
      <p:ext uri="{BB962C8B-B14F-4D97-AF65-F5344CB8AC3E}">
        <p14:creationId xmlns:p14="http://schemas.microsoft.com/office/powerpoint/2010/main" val="436705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s cinco rasgos de las organizaciones ágiles, por McKinsey | Blog de Simón  Pulido"/>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a:p>
        </p:txBody>
      </p:sp>
      <p:sp>
        <p:nvSpPr>
          <p:cNvPr id="6" name="Rectángulo 5"/>
          <p:cNvSpPr/>
          <p:nvPr/>
        </p:nvSpPr>
        <p:spPr>
          <a:xfrm>
            <a:off x="3167844" y="1257242"/>
            <a:ext cx="4212468" cy="415498"/>
          </a:xfrm>
          <a:prstGeom prst="rect">
            <a:avLst/>
          </a:prstGeom>
        </p:spPr>
        <p:txBody>
          <a:bodyPr wrap="square">
            <a:spAutoFit/>
          </a:bodyPr>
          <a:lstStyle/>
          <a:p>
            <a:r>
              <a:rPr lang="es-AR" sz="2100" b="1" dirty="0">
                <a:solidFill>
                  <a:schemeClr val="accent6">
                    <a:lumMod val="50000"/>
                  </a:schemeClr>
                </a:solidFill>
                <a:latin typeface="Calibri" panose="020F0502020204030204" pitchFamily="34" charset="0"/>
                <a:cs typeface="Calibri" panose="020F0502020204030204" pitchFamily="34" charset="0"/>
              </a:rPr>
              <a:t>Organizaciones Ágiles</a:t>
            </a:r>
            <a:r>
              <a:rPr lang="es-AR" sz="2100" b="1" dirty="0">
                <a:solidFill>
                  <a:schemeClr val="accent1"/>
                </a:solidFill>
                <a:latin typeface="Calibri" panose="020F0502020204030204" pitchFamily="34" charset="0"/>
                <a:cs typeface="Calibri" panose="020F0502020204030204" pitchFamily="34" charset="0"/>
              </a:rPr>
              <a:t> ágiles </a:t>
            </a:r>
            <a:endParaRPr lang="en-US" sz="2100" b="1" dirty="0">
              <a:solidFill>
                <a:schemeClr val="accent1"/>
              </a:solidFill>
              <a:latin typeface="Calibri" panose="020F0502020204030204" pitchFamily="34" charset="0"/>
              <a:cs typeface="Calibri" panose="020F0502020204030204" pitchFamily="34" charset="0"/>
            </a:endParaRPr>
          </a:p>
        </p:txBody>
      </p:sp>
      <p:sp>
        <p:nvSpPr>
          <p:cNvPr id="8" name="Rectángulo 7"/>
          <p:cNvSpPr/>
          <p:nvPr/>
        </p:nvSpPr>
        <p:spPr>
          <a:xfrm>
            <a:off x="613430" y="1672740"/>
            <a:ext cx="8005595" cy="1077218"/>
          </a:xfrm>
          <a:prstGeom prst="rect">
            <a:avLst/>
          </a:prstGeom>
        </p:spPr>
        <p:txBody>
          <a:bodyPr wrap="square">
            <a:spAutoFit/>
          </a:bodyPr>
          <a:lstStyle/>
          <a:p>
            <a:pPr marL="257175" indent="-257175" algn="just">
              <a:buFont typeface="Wingdings" panose="05000000000000000000" pitchFamily="2" charset="2"/>
              <a:buChar char="q"/>
            </a:pPr>
            <a:r>
              <a:rPr lang="es-AR" sz="1600" dirty="0">
                <a:latin typeface="Calibri" panose="020F0502020204030204" pitchFamily="34" charset="0"/>
                <a:cs typeface="Calibri" panose="020F0502020204030204" pitchFamily="34" charset="0"/>
              </a:rPr>
              <a:t>Comprometidas con la </a:t>
            </a:r>
            <a:r>
              <a:rPr lang="es-AR" sz="1600" b="1" dirty="0">
                <a:solidFill>
                  <a:srgbClr val="C00000"/>
                </a:solidFill>
                <a:latin typeface="Calibri" panose="020F0502020204030204" pitchFamily="34" charset="0"/>
                <a:cs typeface="Calibri" panose="020F0502020204030204" pitchFamily="34" charset="0"/>
              </a:rPr>
              <a:t>creación de valor con y para </a:t>
            </a:r>
            <a:r>
              <a:rPr lang="es-AR" sz="1600" dirty="0">
                <a:solidFill>
                  <a:srgbClr val="C00000"/>
                </a:solidFill>
                <a:latin typeface="Calibri" panose="020F0502020204030204" pitchFamily="34" charset="0"/>
                <a:cs typeface="Calibri" panose="020F0502020204030204" pitchFamily="34" charset="0"/>
              </a:rPr>
              <a:t>una amplia gama de partes interesadas.</a:t>
            </a:r>
          </a:p>
          <a:p>
            <a:pPr marL="257175" indent="-257175" algn="just">
              <a:buFont typeface="Wingdings" panose="05000000000000000000" pitchFamily="2" charset="2"/>
              <a:buChar char="q"/>
            </a:pPr>
            <a:r>
              <a:rPr lang="es-AR" sz="1600" dirty="0">
                <a:latin typeface="Calibri" panose="020F0502020204030204" pitchFamily="34" charset="0"/>
                <a:cs typeface="Calibri" panose="020F0502020204030204" pitchFamily="34" charset="0"/>
              </a:rPr>
              <a:t>Estructura organizacional estable de primer nivel, tradicional y </a:t>
            </a:r>
            <a:r>
              <a:rPr lang="es-AR" sz="1600" b="1" dirty="0">
                <a:solidFill>
                  <a:srgbClr val="C00000"/>
                </a:solidFill>
                <a:latin typeface="Calibri" panose="020F0502020204030204" pitchFamily="34" charset="0"/>
                <a:cs typeface="Calibri" panose="020F0502020204030204" pitchFamily="34" charset="0"/>
              </a:rPr>
              <a:t>red de equipos flexibles, escalables y facultados</a:t>
            </a:r>
            <a:r>
              <a:rPr lang="es-AR" sz="1600" dirty="0">
                <a:solidFill>
                  <a:srgbClr val="C00000"/>
                </a:solidFill>
                <a:latin typeface="Calibri" panose="020F0502020204030204" pitchFamily="34" charset="0"/>
                <a:cs typeface="Calibri" panose="020F0502020204030204" pitchFamily="34" charset="0"/>
              </a:rPr>
              <a:t>.</a:t>
            </a:r>
          </a:p>
        </p:txBody>
      </p:sp>
      <p:pic>
        <p:nvPicPr>
          <p:cNvPr id="9" name="Imagen 8"/>
          <p:cNvPicPr>
            <a:picLocks noChangeAspect="1"/>
          </p:cNvPicPr>
          <p:nvPr/>
        </p:nvPicPr>
        <p:blipFill>
          <a:blip r:embed="rId3"/>
          <a:stretch>
            <a:fillRect/>
          </a:stretch>
        </p:blipFill>
        <p:spPr>
          <a:xfrm>
            <a:off x="1115616" y="4993266"/>
            <a:ext cx="836400" cy="1059582"/>
          </a:xfrm>
          <a:prstGeom prst="rect">
            <a:avLst/>
          </a:prstGeom>
        </p:spPr>
      </p:pic>
      <p:sp>
        <p:nvSpPr>
          <p:cNvPr id="3" name="CuadroTexto 2"/>
          <p:cNvSpPr txBox="1"/>
          <p:nvPr/>
        </p:nvSpPr>
        <p:spPr>
          <a:xfrm>
            <a:off x="630361" y="2855042"/>
            <a:ext cx="7860745" cy="2062103"/>
          </a:xfrm>
          <a:prstGeom prst="rect">
            <a:avLst/>
          </a:prstGeom>
          <a:noFill/>
        </p:spPr>
        <p:txBody>
          <a:bodyPr wrap="square" rtlCol="0">
            <a:spAutoFit/>
          </a:bodyPr>
          <a:lstStyle/>
          <a:p>
            <a:pPr marL="257175" indent="-257175" algn="just">
              <a:buFont typeface="Wingdings" panose="05000000000000000000" pitchFamily="2" charset="2"/>
              <a:buChar char="q"/>
            </a:pPr>
            <a:r>
              <a:rPr lang="es-AR" sz="1600" dirty="0">
                <a:latin typeface="Calibri" panose="020F0502020204030204" pitchFamily="34" charset="0"/>
                <a:cs typeface="Calibri" panose="020F0502020204030204" pitchFamily="34" charset="0"/>
              </a:rPr>
              <a:t> </a:t>
            </a:r>
            <a:r>
              <a:rPr lang="es-AR" sz="1600" b="1" dirty="0">
                <a:solidFill>
                  <a:srgbClr val="C00000"/>
                </a:solidFill>
                <a:latin typeface="Calibri" panose="020F0502020204030204" pitchFamily="34" charset="0"/>
                <a:cs typeface="Calibri" panose="020F0502020204030204" pitchFamily="34" charset="0"/>
              </a:rPr>
              <a:t>Ciclos rápidos de pensamiento y acción </a:t>
            </a:r>
            <a:r>
              <a:rPr lang="es-AR" sz="1600" dirty="0">
                <a:latin typeface="Calibri" panose="020F0502020204030204" pitchFamily="34" charset="0"/>
                <a:cs typeface="Calibri" panose="020F0502020204030204" pitchFamily="34" charset="0"/>
              </a:rPr>
              <a:t>que están estrechamente alineados con su proceso de creatividad y resultados. Toma de decisiones rápida, eficiente y continua, </a:t>
            </a:r>
            <a:r>
              <a:rPr lang="es-AR" sz="1600" b="1" dirty="0">
                <a:solidFill>
                  <a:srgbClr val="C00000"/>
                </a:solidFill>
                <a:latin typeface="Calibri" panose="020F0502020204030204" pitchFamily="34" charset="0"/>
                <a:cs typeface="Calibri" panose="020F0502020204030204" pitchFamily="34" charset="0"/>
              </a:rPr>
              <a:t>prefiriendo el 70% de probabilidad ahora vs 100 % de certeza más adelante.</a:t>
            </a:r>
          </a:p>
          <a:p>
            <a:pPr marL="257175" indent="-257175" algn="just">
              <a:buFont typeface="Wingdings" panose="05000000000000000000" pitchFamily="2" charset="2"/>
              <a:buChar char="q"/>
            </a:pPr>
            <a:r>
              <a:rPr lang="es-AR" sz="1600" b="1" dirty="0">
                <a:solidFill>
                  <a:srgbClr val="C00000"/>
                </a:solidFill>
                <a:latin typeface="Calibri" panose="020F0502020204030204" pitchFamily="34" charset="0"/>
                <a:cs typeface="Calibri" panose="020F0502020204030204" pitchFamily="34" charset="0"/>
              </a:rPr>
              <a:t>Cultura organizacional ágil- </a:t>
            </a:r>
            <a:r>
              <a:rPr lang="es-AR" sz="1600" dirty="0">
                <a:latin typeface="Calibri" panose="020F0502020204030204" pitchFamily="34" charset="0"/>
                <a:cs typeface="Calibri" panose="020F0502020204030204" pitchFamily="34" charset="0"/>
              </a:rPr>
              <a:t>Empodera a todos en la organización, lo que crea pasión y valor de manera rápida, colaborativa y efectiva.</a:t>
            </a:r>
          </a:p>
          <a:p>
            <a:pPr marL="257175" indent="-257175" algn="just">
              <a:buFont typeface="Wingdings" panose="05000000000000000000" pitchFamily="2" charset="2"/>
              <a:buChar char="q"/>
            </a:pPr>
            <a:r>
              <a:rPr lang="es-AR" sz="1600" dirty="0">
                <a:latin typeface="Calibri" panose="020F0502020204030204" pitchFamily="34" charset="0"/>
                <a:cs typeface="Calibri" panose="020F0502020204030204" pitchFamily="34" charset="0"/>
              </a:rPr>
              <a:t>Replanteamiento de las </a:t>
            </a:r>
            <a:r>
              <a:rPr lang="es-AR" sz="1600" dirty="0">
                <a:solidFill>
                  <a:srgbClr val="C00000"/>
                </a:solidFill>
                <a:latin typeface="Calibri" panose="020F0502020204030204" pitchFamily="34" charset="0"/>
                <a:cs typeface="Calibri" panose="020F0502020204030204" pitchFamily="34" charset="0"/>
              </a:rPr>
              <a:t>tecnologías subyacentes necesarias </a:t>
            </a:r>
            <a:r>
              <a:rPr lang="es-AR" sz="1600" dirty="0">
                <a:latin typeface="Calibri" panose="020F0502020204030204" pitchFamily="34" charset="0"/>
                <a:cs typeface="Calibri" panose="020F0502020204030204" pitchFamily="34" charset="0"/>
              </a:rPr>
              <a:t>para respaldar la velocidad y la flexibilidad.</a:t>
            </a:r>
          </a:p>
          <a:p>
            <a:endParaRPr lang="en-US" sz="1600" dirty="0">
              <a:latin typeface="Calibri" panose="020F0502020204030204" pitchFamily="34" charset="0"/>
              <a:cs typeface="Calibri" panose="020F0502020204030204" pitchFamily="34" charset="0"/>
            </a:endParaRPr>
          </a:p>
        </p:txBody>
      </p:sp>
      <p:sp>
        <p:nvSpPr>
          <p:cNvPr id="4" name="Título 3">
            <a:extLst>
              <a:ext uri="{FF2B5EF4-FFF2-40B4-BE49-F238E27FC236}">
                <a16:creationId xmlns:a16="http://schemas.microsoft.com/office/drawing/2014/main" id="{8BAD6C04-AB10-FE63-471D-6506544E07B2}"/>
              </a:ext>
            </a:extLst>
          </p:cNvPr>
          <p:cNvSpPr>
            <a:spLocks noGrp="1"/>
          </p:cNvSpPr>
          <p:nvPr>
            <p:ph type="title"/>
          </p:nvPr>
        </p:nvSpPr>
        <p:spPr/>
        <p:txBody>
          <a:bodyPr/>
          <a:lstStyle/>
          <a:p>
            <a:r>
              <a:rPr lang="es-ES" dirty="0">
                <a:solidFill>
                  <a:schemeClr val="tx1"/>
                </a:solidFill>
              </a:rPr>
              <a:t>3.1.3. Perspectivas actuales</a:t>
            </a:r>
            <a:endParaRPr lang="es-ES" dirty="0"/>
          </a:p>
        </p:txBody>
      </p:sp>
    </p:spTree>
    <p:extLst>
      <p:ext uri="{BB962C8B-B14F-4D97-AF65-F5344CB8AC3E}">
        <p14:creationId xmlns:p14="http://schemas.microsoft.com/office/powerpoint/2010/main" val="479417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66682" y="1757171"/>
            <a:ext cx="8014433" cy="1107996"/>
          </a:xfrm>
          <a:prstGeom prst="rect">
            <a:avLst/>
          </a:prstGeom>
          <a:noFill/>
        </p:spPr>
        <p:txBody>
          <a:bodyPr wrap="square" rtlCol="0">
            <a:spAutoFit/>
          </a:bodyPr>
          <a:lstStyle/>
          <a:p>
            <a:pPr algn="just"/>
            <a:r>
              <a:rPr lang="es-AR" sz="1650" dirty="0">
                <a:latin typeface="Calibri" panose="020F0502020204030204" pitchFamily="34" charset="0"/>
                <a:cs typeface="Calibri" panose="020F0502020204030204" pitchFamily="34" charset="0"/>
              </a:rPr>
              <a:t>Agilidad estratégica: “la capacidad de explotar o crear en beneficio propio </a:t>
            </a:r>
            <a:r>
              <a:rPr lang="es-AR" sz="1650" b="1" dirty="0">
                <a:solidFill>
                  <a:srgbClr val="C00000"/>
                </a:solidFill>
                <a:latin typeface="Calibri" panose="020F0502020204030204" pitchFamily="34" charset="0"/>
                <a:cs typeface="Calibri" panose="020F0502020204030204" pitchFamily="34" charset="0"/>
              </a:rPr>
              <a:t>patrones cambiantes de despliegue de recursos</a:t>
            </a:r>
            <a:r>
              <a:rPr lang="es-AR" sz="1650" dirty="0">
                <a:solidFill>
                  <a:srgbClr val="C00000"/>
                </a:solidFill>
                <a:latin typeface="Calibri" panose="020F0502020204030204" pitchFamily="34" charset="0"/>
                <a:cs typeface="Calibri" panose="020F0502020204030204" pitchFamily="34" charset="0"/>
              </a:rPr>
              <a:t> de una </a:t>
            </a:r>
            <a:r>
              <a:rPr lang="es-AR" sz="1650" b="1" dirty="0">
                <a:solidFill>
                  <a:srgbClr val="C00000"/>
                </a:solidFill>
                <a:latin typeface="Calibri" panose="020F0502020204030204" pitchFamily="34" charset="0"/>
                <a:cs typeface="Calibri" panose="020F0502020204030204" pitchFamily="34" charset="0"/>
              </a:rPr>
              <a:t>manera reflexiva y decidida, pero también manera rápida y ágil </a:t>
            </a:r>
            <a:r>
              <a:rPr lang="es-AR" sz="1650" dirty="0">
                <a:latin typeface="Calibri" panose="020F0502020204030204" pitchFamily="34" charset="0"/>
                <a:cs typeface="Calibri" panose="020F0502020204030204" pitchFamily="34" charset="0"/>
              </a:rPr>
              <a:t>en lugar de permanecer rehén de planes preestablecidos estables y modelos de negocio existentes ”(</a:t>
            </a:r>
            <a:r>
              <a:rPr lang="es-AR" sz="1650" dirty="0" err="1">
                <a:latin typeface="Calibri" panose="020F0502020204030204" pitchFamily="34" charset="0"/>
                <a:cs typeface="Calibri" panose="020F0502020204030204" pitchFamily="34" charset="0"/>
              </a:rPr>
              <a:t>Doz</a:t>
            </a:r>
            <a:r>
              <a:rPr lang="es-AR" sz="1650" dirty="0">
                <a:latin typeface="Calibri" panose="020F0502020204030204" pitchFamily="34" charset="0"/>
                <a:cs typeface="Calibri" panose="020F0502020204030204" pitchFamily="34" charset="0"/>
              </a:rPr>
              <a:t> &amp; </a:t>
            </a:r>
            <a:r>
              <a:rPr lang="es-AR" sz="1650" dirty="0" err="1">
                <a:latin typeface="Calibri" panose="020F0502020204030204" pitchFamily="34" charset="0"/>
                <a:cs typeface="Calibri" panose="020F0502020204030204" pitchFamily="34" charset="0"/>
              </a:rPr>
              <a:t>Kosonen</a:t>
            </a:r>
            <a:r>
              <a:rPr lang="es-AR" sz="1650" dirty="0">
                <a:latin typeface="Calibri" panose="020F0502020204030204" pitchFamily="34" charset="0"/>
                <a:cs typeface="Calibri" panose="020F0502020204030204" pitchFamily="34" charset="0"/>
              </a:rPr>
              <a:t>, 2007) </a:t>
            </a:r>
          </a:p>
        </p:txBody>
      </p:sp>
      <p:sp>
        <p:nvSpPr>
          <p:cNvPr id="3" name="Rectángulo 2"/>
          <p:cNvSpPr/>
          <p:nvPr/>
        </p:nvSpPr>
        <p:spPr>
          <a:xfrm>
            <a:off x="3137593" y="1295151"/>
            <a:ext cx="3115340" cy="415498"/>
          </a:xfrm>
          <a:prstGeom prst="rect">
            <a:avLst/>
          </a:prstGeom>
        </p:spPr>
        <p:txBody>
          <a:bodyPr wrap="none">
            <a:spAutoFit/>
          </a:bodyPr>
          <a:lstStyle/>
          <a:p>
            <a:r>
              <a:rPr lang="es-AR" sz="2100" b="1" dirty="0">
                <a:solidFill>
                  <a:schemeClr val="accent6">
                    <a:lumMod val="50000"/>
                  </a:schemeClr>
                </a:solidFill>
                <a:latin typeface="Calibri" panose="020F0502020204030204" pitchFamily="34" charset="0"/>
                <a:cs typeface="Calibri" panose="020F0502020204030204" pitchFamily="34" charset="0"/>
              </a:rPr>
              <a:t>ORGANIZACIONES ÁGILES </a:t>
            </a:r>
            <a:endParaRPr lang="en-US" sz="2100" b="1" dirty="0">
              <a:solidFill>
                <a:schemeClr val="accent6">
                  <a:lumMod val="50000"/>
                </a:schemeClr>
              </a:solidFill>
              <a:latin typeface="Calibri" panose="020F0502020204030204" pitchFamily="34" charset="0"/>
              <a:cs typeface="Calibri" panose="020F0502020204030204" pitchFamily="34" charset="0"/>
            </a:endParaRPr>
          </a:p>
        </p:txBody>
      </p:sp>
      <p:sp>
        <p:nvSpPr>
          <p:cNvPr id="4" name="CuadroTexto 3"/>
          <p:cNvSpPr txBox="1"/>
          <p:nvPr/>
        </p:nvSpPr>
        <p:spPr>
          <a:xfrm>
            <a:off x="740443" y="3023064"/>
            <a:ext cx="6172697" cy="1107996"/>
          </a:xfrm>
          <a:prstGeom prst="rect">
            <a:avLst/>
          </a:prstGeom>
          <a:noFill/>
        </p:spPr>
        <p:txBody>
          <a:bodyPr wrap="square" rtlCol="0">
            <a:spAutoFit/>
          </a:bodyPr>
          <a:lstStyle/>
          <a:p>
            <a:pPr algn="just"/>
            <a:r>
              <a:rPr lang="es-AR" sz="1650" dirty="0">
                <a:latin typeface="Calibri" panose="020F0502020204030204" pitchFamily="34" charset="0"/>
                <a:cs typeface="Calibri" panose="020F0502020204030204" pitchFamily="34" charset="0"/>
              </a:rPr>
              <a:t>En algunas </a:t>
            </a:r>
            <a:r>
              <a:rPr lang="es-AR" sz="1650" b="1" dirty="0">
                <a:solidFill>
                  <a:srgbClr val="C00000"/>
                </a:solidFill>
                <a:latin typeface="Calibri" panose="020F0502020204030204" pitchFamily="34" charset="0"/>
                <a:cs typeface="Calibri" panose="020F0502020204030204" pitchFamily="34" charset="0"/>
              </a:rPr>
              <a:t>industrias como la de la tecnología de la información y de la comunicación</a:t>
            </a:r>
            <a:r>
              <a:rPr lang="es-AR" sz="1650" b="1" dirty="0">
                <a:latin typeface="Calibri" panose="020F0502020204030204" pitchFamily="34" charset="0"/>
                <a:cs typeface="Calibri" panose="020F0502020204030204" pitchFamily="34" charset="0"/>
              </a:rPr>
              <a:t>, </a:t>
            </a:r>
            <a:r>
              <a:rPr lang="es-AR" sz="1650" dirty="0">
                <a:latin typeface="Calibri" panose="020F0502020204030204" pitchFamily="34" charset="0"/>
                <a:cs typeface="Calibri" panose="020F0502020204030204" pitchFamily="34" charset="0"/>
              </a:rPr>
              <a:t> la agilidad estratégica ya es un determinante clave del desempeño, y las empresas de otras industrias enfrentan cada vez más esta necesidad (Doz &amp; </a:t>
            </a:r>
            <a:r>
              <a:rPr lang="es-AR" sz="1650" dirty="0" err="1">
                <a:latin typeface="Calibri" panose="020F0502020204030204" pitchFamily="34" charset="0"/>
                <a:cs typeface="Calibri" panose="020F0502020204030204" pitchFamily="34" charset="0"/>
              </a:rPr>
              <a:t>Kosonen</a:t>
            </a:r>
            <a:r>
              <a:rPr lang="es-AR" sz="1650" dirty="0">
                <a:latin typeface="Calibri" panose="020F0502020204030204" pitchFamily="34" charset="0"/>
                <a:cs typeface="Calibri" panose="020F0502020204030204" pitchFamily="34" charset="0"/>
              </a:rPr>
              <a:t>, 2007).</a:t>
            </a:r>
            <a:endParaRPr lang="en-US" sz="1650" dirty="0">
              <a:latin typeface="Calibri" panose="020F0502020204030204" pitchFamily="34" charset="0"/>
              <a:cs typeface="Calibri" panose="020F0502020204030204" pitchFamily="34" charset="0"/>
            </a:endParaRPr>
          </a:p>
        </p:txBody>
      </p:sp>
      <p:sp>
        <p:nvSpPr>
          <p:cNvPr id="5" name="Rectángulo 4"/>
          <p:cNvSpPr/>
          <p:nvPr/>
        </p:nvSpPr>
        <p:spPr>
          <a:xfrm>
            <a:off x="1215371" y="4411777"/>
            <a:ext cx="6713258" cy="923330"/>
          </a:xfrm>
          <a:prstGeom prst="rect">
            <a:avLst/>
          </a:prstGeom>
          <a:solidFill>
            <a:schemeClr val="accent2">
              <a:lumMod val="20000"/>
              <a:lumOff val="80000"/>
            </a:schemeClr>
          </a:solidFill>
        </p:spPr>
        <p:txBody>
          <a:bodyPr wrap="square">
            <a:spAutoFit/>
          </a:bodyPr>
          <a:lstStyle/>
          <a:p>
            <a:pPr algn="just"/>
            <a:r>
              <a:rPr lang="es-AR" dirty="0">
                <a:latin typeface="Calibri" panose="020F0502020204030204" pitchFamily="34" charset="0"/>
                <a:cs typeface="Calibri" panose="020F0502020204030204" pitchFamily="34" charset="0"/>
              </a:rPr>
              <a:t>Empresas ágiles como Google, Dropbox, </a:t>
            </a:r>
            <a:r>
              <a:rPr lang="es-AR" dirty="0" err="1">
                <a:latin typeface="Calibri" panose="020F0502020204030204" pitchFamily="34" charset="0"/>
                <a:cs typeface="Calibri" panose="020F0502020204030204" pitchFamily="34" charset="0"/>
              </a:rPr>
              <a:t>Spotify</a:t>
            </a:r>
            <a:r>
              <a:rPr lang="es-AR" dirty="0">
                <a:latin typeface="Calibri" panose="020F0502020204030204" pitchFamily="34" charset="0"/>
                <a:cs typeface="Calibri" panose="020F0502020204030204" pitchFamily="34" charset="0"/>
              </a:rPr>
              <a:t>, Facebook, Idealista, </a:t>
            </a:r>
            <a:r>
              <a:rPr lang="es-AR" dirty="0" err="1">
                <a:latin typeface="Calibri" panose="020F0502020204030204" pitchFamily="34" charset="0"/>
                <a:cs typeface="Calibri" panose="020F0502020204030204" pitchFamily="34" charset="0"/>
              </a:rPr>
              <a:t>Infojobs</a:t>
            </a:r>
            <a:r>
              <a:rPr lang="es-AR" dirty="0">
                <a:latin typeface="Calibri" panose="020F0502020204030204" pitchFamily="34" charset="0"/>
                <a:cs typeface="Calibri" panose="020F0502020204030204" pitchFamily="34" charset="0"/>
              </a:rPr>
              <a:t> o BBVA, Amazon, Gore, Patagonia, </a:t>
            </a:r>
            <a:r>
              <a:rPr lang="es-AR" dirty="0" err="1">
                <a:latin typeface="Calibri" panose="020F0502020204030204" pitchFamily="34" charset="0"/>
                <a:cs typeface="Calibri" panose="020F0502020204030204" pitchFamily="34" charset="0"/>
              </a:rPr>
              <a:t>Virgin</a:t>
            </a:r>
            <a:r>
              <a:rPr lang="es-AR" dirty="0">
                <a:latin typeface="Calibri" panose="020F0502020204030204" pitchFamily="34" charset="0"/>
                <a:cs typeface="Calibri" panose="020F0502020204030204" pitchFamily="34" charset="0"/>
              </a:rPr>
              <a:t>, donde el poder de decisión está en las personas que hacen el trabajo.</a:t>
            </a:r>
            <a:endParaRPr lang="en-US" dirty="0">
              <a:latin typeface="Calibri" panose="020F0502020204030204" pitchFamily="34" charset="0"/>
              <a:cs typeface="Calibri" panose="020F0502020204030204" pitchFamily="34" charset="0"/>
            </a:endParaRPr>
          </a:p>
        </p:txBody>
      </p:sp>
      <p:pic>
        <p:nvPicPr>
          <p:cNvPr id="6" name="Imagen 5"/>
          <p:cNvPicPr>
            <a:picLocks noChangeAspect="1"/>
          </p:cNvPicPr>
          <p:nvPr/>
        </p:nvPicPr>
        <p:blipFill>
          <a:blip r:embed="rId3"/>
          <a:stretch>
            <a:fillRect/>
          </a:stretch>
        </p:blipFill>
        <p:spPr>
          <a:xfrm>
            <a:off x="7115621" y="2886073"/>
            <a:ext cx="1360308" cy="918102"/>
          </a:xfrm>
          <a:prstGeom prst="rect">
            <a:avLst/>
          </a:prstGeom>
        </p:spPr>
      </p:pic>
      <p:sp>
        <p:nvSpPr>
          <p:cNvPr id="7" name="Título 6">
            <a:extLst>
              <a:ext uri="{FF2B5EF4-FFF2-40B4-BE49-F238E27FC236}">
                <a16:creationId xmlns:a16="http://schemas.microsoft.com/office/drawing/2014/main" id="{281669A9-8FEC-BBA9-4B29-3910CEF70D01}"/>
              </a:ext>
            </a:extLst>
          </p:cNvPr>
          <p:cNvSpPr>
            <a:spLocks noGrp="1"/>
          </p:cNvSpPr>
          <p:nvPr>
            <p:ph type="title"/>
          </p:nvPr>
        </p:nvSpPr>
        <p:spPr/>
        <p:txBody>
          <a:bodyPr/>
          <a:lstStyle/>
          <a:p>
            <a:r>
              <a:rPr lang="es-ES" dirty="0">
                <a:solidFill>
                  <a:schemeClr val="tx1"/>
                </a:solidFill>
              </a:rPr>
              <a:t>3.1.3. Perspectivas actuales</a:t>
            </a:r>
            <a:endParaRPr lang="es-ES" dirty="0"/>
          </a:p>
        </p:txBody>
      </p:sp>
    </p:spTree>
    <p:extLst>
      <p:ext uri="{BB962C8B-B14F-4D97-AF65-F5344CB8AC3E}">
        <p14:creationId xmlns:p14="http://schemas.microsoft.com/office/powerpoint/2010/main" val="197927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84710" y="1381901"/>
            <a:ext cx="7974579" cy="1985159"/>
          </a:xfrm>
          <a:prstGeom prst="rect">
            <a:avLst/>
          </a:prstGeom>
          <a:noFill/>
        </p:spPr>
        <p:txBody>
          <a:bodyPr wrap="square" rtlCol="0">
            <a:spAutoFit/>
          </a:bodyPr>
          <a:lstStyle/>
          <a:p>
            <a:pPr algn="just"/>
            <a:r>
              <a:rPr lang="es-AR" sz="1500" dirty="0">
                <a:latin typeface="Calibri" panose="020F0502020204030204" pitchFamily="34" charset="0"/>
                <a:cs typeface="Calibri" panose="020F0502020204030204" pitchFamily="34" charset="0"/>
              </a:rPr>
              <a:t>Anteriores revoluciones a la Cuarta Revolución Industrial</a:t>
            </a:r>
          </a:p>
          <a:p>
            <a:pPr marL="257175" indent="-257175" algn="just">
              <a:buFont typeface="Arial" panose="020B0604020202020204" pitchFamily="34" charset="0"/>
              <a:buChar char="•"/>
            </a:pPr>
            <a:r>
              <a:rPr lang="es-AR" sz="1500" dirty="0">
                <a:latin typeface="Calibri" panose="020F0502020204030204" pitchFamily="34" charset="0"/>
                <a:cs typeface="Calibri" panose="020F0502020204030204" pitchFamily="34" charset="0"/>
              </a:rPr>
              <a:t>1785- Primera revolución- Ferrocarril/ Gas/ Petróleo/ Máquina vapor</a:t>
            </a:r>
          </a:p>
          <a:p>
            <a:pPr marL="257175" indent="-257175" algn="just">
              <a:buFont typeface="Arial" panose="020B0604020202020204" pitchFamily="34" charset="0"/>
              <a:buChar char="•"/>
            </a:pPr>
            <a:r>
              <a:rPr lang="es-AR" sz="1500" dirty="0">
                <a:latin typeface="Calibri" panose="020F0502020204030204" pitchFamily="34" charset="0"/>
                <a:cs typeface="Calibri" panose="020F0502020204030204" pitchFamily="34" charset="0"/>
              </a:rPr>
              <a:t>1875- Segunda revolución- Producción en cadena y electrificación/ Ford/ Poderío manufacturero pasa de Reino Unido a Estados Unidos y Alemania </a:t>
            </a:r>
          </a:p>
          <a:p>
            <a:pPr marL="257175" indent="-257175" algn="just">
              <a:buFont typeface="Arial" panose="020B0604020202020204" pitchFamily="34" charset="0"/>
              <a:buChar char="•"/>
            </a:pPr>
            <a:r>
              <a:rPr lang="es-AR" sz="1500" dirty="0">
                <a:latin typeface="Calibri" panose="020F0502020204030204" pitchFamily="34" charset="0"/>
                <a:cs typeface="Calibri" panose="020F0502020204030204" pitchFamily="34" charset="0"/>
              </a:rPr>
              <a:t>1970-Ordenadores/ ordenadores personales e internet</a:t>
            </a:r>
          </a:p>
          <a:p>
            <a:pPr marL="257175" indent="-257175" algn="just">
              <a:buFont typeface="Arial" panose="020B0604020202020204" pitchFamily="34" charset="0"/>
              <a:buChar char="•"/>
            </a:pPr>
            <a:r>
              <a:rPr lang="es-AR" sz="1500" dirty="0">
                <a:latin typeface="Calibri" panose="020F0502020204030204" pitchFamily="34" charset="0"/>
                <a:cs typeface="Calibri" panose="020F0502020204030204" pitchFamily="34" charset="0"/>
              </a:rPr>
              <a:t>2015- </a:t>
            </a:r>
            <a:r>
              <a:rPr lang="es-AR" sz="1500" b="1" dirty="0">
                <a:latin typeface="Calibri" panose="020F0502020204030204" pitchFamily="34" charset="0"/>
                <a:cs typeface="Calibri" panose="020F0502020204030204" pitchFamily="34" charset="0"/>
              </a:rPr>
              <a:t>era digital, 4ta revolución industrial- tecnologías que conectan el mundo físico y virtual- </a:t>
            </a:r>
            <a:r>
              <a:rPr lang="es-AR" sz="1500" dirty="0">
                <a:latin typeface="Calibri" panose="020F0502020204030204" pitchFamily="34" charset="0"/>
                <a:cs typeface="Calibri" panose="020F0502020204030204" pitchFamily="34" charset="0"/>
              </a:rPr>
              <a:t>Inicia en Alemania con ese nombre</a:t>
            </a:r>
          </a:p>
          <a:p>
            <a:endParaRPr lang="es-AR" dirty="0">
              <a:latin typeface="Calibri" panose="020F0502020204030204" pitchFamily="34" charset="0"/>
              <a:cs typeface="Calibri" panose="020F0502020204030204" pitchFamily="34" charset="0"/>
            </a:endParaRPr>
          </a:p>
        </p:txBody>
      </p:sp>
      <p:pic>
        <p:nvPicPr>
          <p:cNvPr id="3" name="Imagen 2"/>
          <p:cNvPicPr>
            <a:picLocks noChangeAspect="1"/>
          </p:cNvPicPr>
          <p:nvPr/>
        </p:nvPicPr>
        <p:blipFill>
          <a:blip r:embed="rId3"/>
          <a:stretch>
            <a:fillRect/>
          </a:stretch>
        </p:blipFill>
        <p:spPr>
          <a:xfrm>
            <a:off x="3855821" y="3367060"/>
            <a:ext cx="4158462" cy="2247713"/>
          </a:xfrm>
          <a:prstGeom prst="rect">
            <a:avLst/>
          </a:prstGeom>
        </p:spPr>
      </p:pic>
      <p:sp>
        <p:nvSpPr>
          <p:cNvPr id="4" name="Título 3">
            <a:extLst>
              <a:ext uri="{FF2B5EF4-FFF2-40B4-BE49-F238E27FC236}">
                <a16:creationId xmlns:a16="http://schemas.microsoft.com/office/drawing/2014/main" id="{D6BA27FF-090E-269F-C381-6CE95BBCC10C}"/>
              </a:ext>
            </a:extLst>
          </p:cNvPr>
          <p:cNvSpPr>
            <a:spLocks noGrp="1"/>
          </p:cNvSpPr>
          <p:nvPr>
            <p:ph type="title"/>
          </p:nvPr>
        </p:nvSpPr>
        <p:spPr/>
        <p:txBody>
          <a:bodyPr/>
          <a:lstStyle/>
          <a:p>
            <a:r>
              <a:rPr lang="es-ES" dirty="0">
                <a:solidFill>
                  <a:schemeClr val="tx1"/>
                </a:solidFill>
              </a:rPr>
              <a:t>3.1.3. Perspectivas actuales. La cuarta revolución industrial</a:t>
            </a:r>
            <a:endParaRPr lang="es-ES" dirty="0"/>
          </a:p>
        </p:txBody>
      </p:sp>
    </p:spTree>
    <p:extLst>
      <p:ext uri="{BB962C8B-B14F-4D97-AF65-F5344CB8AC3E}">
        <p14:creationId xmlns:p14="http://schemas.microsoft.com/office/powerpoint/2010/main" val="293399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uadroTexto 1"/>
          <p:cNvSpPr txBox="1">
            <a:spLocks noChangeArrowheads="1"/>
          </p:cNvSpPr>
          <p:nvPr/>
        </p:nvSpPr>
        <p:spPr bwMode="auto">
          <a:xfrm>
            <a:off x="594475" y="1738576"/>
            <a:ext cx="772645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ClrTx/>
              <a:buSzTx/>
            </a:pPr>
            <a:r>
              <a:rPr lang="es-AR" altLang="es-AR" sz="1400" dirty="0">
                <a:latin typeface="+mj-lt"/>
                <a:cs typeface="Calibri" panose="020F0502020204030204" pitchFamily="34" charset="0"/>
              </a:rPr>
              <a:t>Digitalización y automatización del trabajo (Schwab, 2016)</a:t>
            </a:r>
          </a:p>
          <a:p>
            <a:pPr algn="just">
              <a:spcBef>
                <a:spcPct val="0"/>
              </a:spcBef>
              <a:buClrTx/>
              <a:buSzTx/>
            </a:pPr>
            <a:endParaRPr lang="es-AR" altLang="es-AR" sz="1400" dirty="0">
              <a:latin typeface="+mj-lt"/>
              <a:cs typeface="Calibri" panose="020F0502020204030204" pitchFamily="34" charset="0"/>
            </a:endParaRPr>
          </a:p>
          <a:p>
            <a:pPr algn="just">
              <a:spcBef>
                <a:spcPct val="0"/>
              </a:spcBef>
              <a:buClrTx/>
              <a:buSzTx/>
            </a:pPr>
            <a:r>
              <a:rPr lang="es-AR" altLang="es-AR" sz="1400" dirty="0">
                <a:latin typeface="+mj-lt"/>
                <a:cs typeface="Calibri" panose="020F0502020204030204" pitchFamily="34" charset="0"/>
              </a:rPr>
              <a:t>La </a:t>
            </a:r>
            <a:r>
              <a:rPr lang="es-AR" altLang="es-AR" sz="1400" b="1" dirty="0">
                <a:latin typeface="+mj-lt"/>
                <a:cs typeface="Calibri" panose="020F0502020204030204" pitchFamily="34" charset="0"/>
              </a:rPr>
              <a:t>más importante tendencia mundial en términos sociales y económicos</a:t>
            </a:r>
            <a:r>
              <a:rPr lang="es-AR" altLang="es-AR" sz="1400" dirty="0">
                <a:latin typeface="+mj-lt"/>
                <a:cs typeface="Calibri" panose="020F0502020204030204" pitchFamily="34" charset="0"/>
              </a:rPr>
              <a:t>, que cambiará la naturaleza del trabajo, los negocios y las sociedades en las próximas décadas (</a:t>
            </a:r>
            <a:r>
              <a:rPr lang="es-AR" altLang="es-AR" sz="1400" dirty="0" err="1">
                <a:latin typeface="+mj-lt"/>
                <a:cs typeface="Calibri" panose="020F0502020204030204" pitchFamily="34" charset="0"/>
              </a:rPr>
              <a:t>Arntz</a:t>
            </a:r>
            <a:r>
              <a:rPr lang="es-AR" altLang="es-AR" sz="1400" dirty="0">
                <a:latin typeface="+mj-lt"/>
                <a:cs typeface="Calibri" panose="020F0502020204030204" pitchFamily="34" charset="0"/>
              </a:rPr>
              <a:t> </a:t>
            </a:r>
            <a:r>
              <a:rPr lang="es-AR" altLang="es-AR" sz="1400" i="1" dirty="0">
                <a:latin typeface="+mj-lt"/>
                <a:cs typeface="Calibri" panose="020F0502020204030204" pitchFamily="34" charset="0"/>
              </a:rPr>
              <a:t>et al</a:t>
            </a:r>
            <a:r>
              <a:rPr lang="es-AR" altLang="es-AR" sz="1400" dirty="0">
                <a:latin typeface="+mj-lt"/>
                <a:cs typeface="Calibri" panose="020F0502020204030204" pitchFamily="34" charset="0"/>
              </a:rPr>
              <a:t>., 2016; Frey &amp; </a:t>
            </a:r>
            <a:r>
              <a:rPr lang="es-AR" altLang="es-AR" sz="1400" dirty="0" err="1">
                <a:latin typeface="+mj-lt"/>
                <a:cs typeface="Calibri" panose="020F0502020204030204" pitchFamily="34" charset="0"/>
              </a:rPr>
              <a:t>Osborne</a:t>
            </a:r>
            <a:r>
              <a:rPr lang="es-AR" altLang="es-AR" sz="1400" dirty="0">
                <a:latin typeface="+mj-lt"/>
                <a:cs typeface="Calibri" panose="020F0502020204030204" pitchFamily="34" charset="0"/>
              </a:rPr>
              <a:t>, 2013</a:t>
            </a:r>
            <a:r>
              <a:rPr lang="en-US" altLang="es-AR" sz="1400" dirty="0">
                <a:latin typeface="+mj-lt"/>
                <a:cs typeface="Calibri" panose="020F0502020204030204" pitchFamily="34" charset="0"/>
              </a:rPr>
              <a:t>). </a:t>
            </a:r>
            <a:endParaRPr lang="es-AR" altLang="es-AR" sz="1400" dirty="0">
              <a:latin typeface="+mj-lt"/>
              <a:cs typeface="Calibri" panose="020F0502020204030204" pitchFamily="34" charset="0"/>
            </a:endParaRPr>
          </a:p>
        </p:txBody>
      </p:sp>
      <p:sp>
        <p:nvSpPr>
          <p:cNvPr id="54275" name="CuadroTexto 1"/>
          <p:cNvSpPr txBox="1">
            <a:spLocks noChangeArrowheads="1"/>
          </p:cNvSpPr>
          <p:nvPr/>
        </p:nvSpPr>
        <p:spPr bwMode="auto">
          <a:xfrm>
            <a:off x="1586204" y="1107365"/>
            <a:ext cx="514676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ClrTx/>
              <a:buSzTx/>
              <a:buNone/>
            </a:pPr>
            <a:r>
              <a:rPr lang="es-AR" altLang="es-AR" sz="2100" b="1" dirty="0">
                <a:solidFill>
                  <a:schemeClr val="accent6">
                    <a:lumMod val="50000"/>
                  </a:schemeClr>
                </a:solidFill>
                <a:latin typeface="Calibri" panose="020F0502020204030204" pitchFamily="34" charset="0"/>
                <a:cs typeface="Calibri" panose="020F0502020204030204" pitchFamily="34" charset="0"/>
              </a:rPr>
              <a:t>CUARTA REVOLUCIÓN INDUSTRIAL</a:t>
            </a:r>
          </a:p>
        </p:txBody>
      </p:sp>
      <p:sp>
        <p:nvSpPr>
          <p:cNvPr id="4" name="CuadroTexto 3"/>
          <p:cNvSpPr txBox="1"/>
          <p:nvPr/>
        </p:nvSpPr>
        <p:spPr>
          <a:xfrm>
            <a:off x="789187" y="3167461"/>
            <a:ext cx="7678202" cy="1477328"/>
          </a:xfrm>
          <a:prstGeom prst="rect">
            <a:avLst/>
          </a:prstGeom>
          <a:solidFill>
            <a:schemeClr val="accent2">
              <a:lumMod val="60000"/>
              <a:lumOff val="40000"/>
            </a:schemeClr>
          </a:solidFill>
        </p:spPr>
        <p:txBody>
          <a:bodyPr wrap="square">
            <a:spAutoFit/>
          </a:bodyPr>
          <a:lstStyle/>
          <a:p>
            <a:pPr algn="just">
              <a:defRPr/>
            </a:pPr>
            <a:r>
              <a:rPr lang="es-AR" altLang="es-AR" dirty="0">
                <a:latin typeface="Calibri" panose="020F0502020204030204" pitchFamily="34" charset="0"/>
                <a:cs typeface="Calibri" panose="020F0502020204030204" pitchFamily="34" charset="0"/>
              </a:rPr>
              <a:t>Los trabajos en el sector de la tecnología tienden a agruparse. </a:t>
            </a:r>
            <a:r>
              <a:rPr lang="es-AR" altLang="es-AR" b="1" dirty="0">
                <a:latin typeface="Calibri" panose="020F0502020204030204" pitchFamily="34" charset="0"/>
                <a:cs typeface="Calibri" panose="020F0502020204030204" pitchFamily="34" charset="0"/>
              </a:rPr>
              <a:t>Los nuevos puestos tienden a aglomerarse en lugares con una fuerza de trabajo altamente calificada (Oxford, 2017)</a:t>
            </a:r>
          </a:p>
          <a:p>
            <a:pPr algn="just">
              <a:defRPr/>
            </a:pPr>
            <a:r>
              <a:rPr lang="es-AR" altLang="es-AR" dirty="0">
                <a:latin typeface="Calibri" panose="020F0502020204030204" pitchFamily="34" charset="0"/>
                <a:cs typeface="Calibri" panose="020F0502020204030204" pitchFamily="34" charset="0"/>
              </a:rPr>
              <a:t>Los trabajadores de baja  calificación deberán trasladarse a  donde se creen los  nuevos trabajos del sector tecnológico. </a:t>
            </a:r>
            <a:endParaRPr lang="es-AR" dirty="0">
              <a:latin typeface="Calibri" panose="020F0502020204030204" pitchFamily="34" charset="0"/>
              <a:cs typeface="Calibri" panose="020F0502020204030204" pitchFamily="34" charset="0"/>
            </a:endParaRPr>
          </a:p>
        </p:txBody>
      </p:sp>
      <p:sp>
        <p:nvSpPr>
          <p:cNvPr id="2" name="AutoShape 2" descr="The 4th Industrial Revolution in today's business - Institute of  Entrepreneurship Development"/>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a:p>
        </p:txBody>
      </p:sp>
      <p:pic>
        <p:nvPicPr>
          <p:cNvPr id="5" name="Imagen 4"/>
          <p:cNvPicPr>
            <a:picLocks noChangeAspect="1"/>
          </p:cNvPicPr>
          <p:nvPr/>
        </p:nvPicPr>
        <p:blipFill>
          <a:blip r:embed="rId3"/>
          <a:stretch>
            <a:fillRect/>
          </a:stretch>
        </p:blipFill>
        <p:spPr>
          <a:xfrm>
            <a:off x="5580112" y="4889551"/>
            <a:ext cx="2014538" cy="1278731"/>
          </a:xfrm>
          <a:prstGeom prst="rect">
            <a:avLst/>
          </a:prstGeom>
        </p:spPr>
      </p:pic>
      <p:sp>
        <p:nvSpPr>
          <p:cNvPr id="3" name="Título 2">
            <a:extLst>
              <a:ext uri="{FF2B5EF4-FFF2-40B4-BE49-F238E27FC236}">
                <a16:creationId xmlns:a16="http://schemas.microsoft.com/office/drawing/2014/main" id="{8F6F0F99-4B86-33ED-3E9A-8947E469C3CC}"/>
              </a:ext>
            </a:extLst>
          </p:cNvPr>
          <p:cNvSpPr>
            <a:spLocks noGrp="1"/>
          </p:cNvSpPr>
          <p:nvPr>
            <p:ph type="title"/>
          </p:nvPr>
        </p:nvSpPr>
        <p:spPr/>
        <p:txBody>
          <a:bodyPr/>
          <a:lstStyle/>
          <a:p>
            <a:r>
              <a:rPr lang="es-ES" dirty="0">
                <a:solidFill>
                  <a:schemeClr val="tx1"/>
                </a:solidFill>
              </a:rPr>
              <a:t>3.1.3. Perspectivas actuales</a:t>
            </a:r>
            <a:endParaRPr lang="es-ES" dirty="0"/>
          </a:p>
        </p:txBody>
      </p:sp>
    </p:spTree>
    <p:extLst>
      <p:ext uri="{BB962C8B-B14F-4D97-AF65-F5344CB8AC3E}">
        <p14:creationId xmlns:p14="http://schemas.microsoft.com/office/powerpoint/2010/main" val="1933915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uadroTexto 1"/>
          <p:cNvSpPr txBox="1">
            <a:spLocks noChangeArrowheads="1"/>
          </p:cNvSpPr>
          <p:nvPr/>
        </p:nvSpPr>
        <p:spPr bwMode="auto">
          <a:xfrm>
            <a:off x="600218" y="1684006"/>
            <a:ext cx="790508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s-AR" altLang="es-AR" sz="1800" b="1" dirty="0">
                <a:latin typeface="Calibri" panose="020F0502020204030204" pitchFamily="34" charset="0"/>
                <a:cs typeface="Calibri" panose="020F0502020204030204" pitchFamily="34" charset="0"/>
              </a:rPr>
              <a:t>Polarización del empleo (</a:t>
            </a:r>
            <a:r>
              <a:rPr lang="es-AR" altLang="es-AR" sz="1800" b="1" dirty="0" err="1">
                <a:latin typeface="Calibri" panose="020F0502020204030204" pitchFamily="34" charset="0"/>
                <a:cs typeface="Calibri" panose="020F0502020204030204" pitchFamily="34" charset="0"/>
              </a:rPr>
              <a:t>Hirschi</a:t>
            </a:r>
            <a:r>
              <a:rPr lang="es-AR" altLang="es-AR" sz="1800" b="1" dirty="0">
                <a:latin typeface="Calibri" panose="020F0502020204030204" pitchFamily="34" charset="0"/>
                <a:cs typeface="Calibri" panose="020F0502020204030204" pitchFamily="34" charset="0"/>
              </a:rPr>
              <a:t>, 2017)</a:t>
            </a:r>
            <a:r>
              <a:rPr lang="es-AR" altLang="es-AR" sz="1800" dirty="0">
                <a:latin typeface="Calibri" panose="020F0502020204030204" pitchFamily="34" charset="0"/>
                <a:cs typeface="Calibri" panose="020F0502020204030204" pitchFamily="34" charset="0"/>
              </a:rPr>
              <a:t>: </a:t>
            </a:r>
          </a:p>
          <a:p>
            <a:pPr algn="just">
              <a:spcBef>
                <a:spcPct val="0"/>
              </a:spcBef>
              <a:buClrTx/>
              <a:buSzTx/>
              <a:buFontTx/>
              <a:buNone/>
            </a:pPr>
            <a:r>
              <a:rPr lang="es-AR" altLang="es-AR" sz="1800" dirty="0">
                <a:latin typeface="Calibri" panose="020F0502020204030204" pitchFamily="34" charset="0"/>
                <a:cs typeface="Calibri" panose="020F0502020204030204" pitchFamily="34" charset="0"/>
              </a:rPr>
              <a:t>Los </a:t>
            </a:r>
            <a:r>
              <a:rPr lang="es-AR" altLang="es-AR" sz="1800" b="1" dirty="0">
                <a:latin typeface="Calibri" panose="020F0502020204030204" pitchFamily="34" charset="0"/>
                <a:cs typeface="Calibri" panose="020F0502020204030204" pitchFamily="34" charset="0"/>
              </a:rPr>
              <a:t>trabajos de habilidades medias se vacían</a:t>
            </a:r>
            <a:r>
              <a:rPr lang="es-AR" altLang="es-AR" sz="1800" dirty="0">
                <a:latin typeface="Calibri" panose="020F0502020204030204" pitchFamily="34" charset="0"/>
                <a:cs typeface="Calibri" panose="020F0502020204030204" pitchFamily="34" charset="0"/>
              </a:rPr>
              <a:t>, y  los de habilidades bajas y  altas aumentan de manera desproporcionada. </a:t>
            </a:r>
          </a:p>
        </p:txBody>
      </p:sp>
      <p:sp>
        <p:nvSpPr>
          <p:cNvPr id="4" name="CuadroTexto 3"/>
          <p:cNvSpPr txBox="1">
            <a:spLocks noChangeArrowheads="1"/>
          </p:cNvSpPr>
          <p:nvPr/>
        </p:nvSpPr>
        <p:spPr bwMode="auto">
          <a:xfrm>
            <a:off x="629799" y="2632465"/>
            <a:ext cx="541144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ClrTx/>
              <a:buSzTx/>
              <a:buFontTx/>
              <a:buNone/>
            </a:pPr>
            <a:r>
              <a:rPr lang="es-AR" altLang="es-AR" sz="1500" dirty="0">
                <a:latin typeface="Calibri" panose="020F0502020204030204" pitchFamily="34" charset="0"/>
                <a:cs typeface="Calibri" panose="020F0502020204030204" pitchFamily="34" charset="0"/>
              </a:rPr>
              <a:t>El </a:t>
            </a:r>
            <a:r>
              <a:rPr lang="es-AR" altLang="es-AR" sz="1500" b="1" dirty="0">
                <a:latin typeface="Calibri" panose="020F0502020204030204" pitchFamily="34" charset="0"/>
                <a:cs typeface="Calibri" panose="020F0502020204030204" pitchFamily="34" charset="0"/>
              </a:rPr>
              <a:t>vacío de los puestos de habilidades medias </a:t>
            </a:r>
            <a:r>
              <a:rPr lang="es-AR" altLang="es-AR" sz="1500" dirty="0">
                <a:latin typeface="Calibri" panose="020F0502020204030204" pitchFamily="34" charset="0"/>
                <a:cs typeface="Calibri" panose="020F0502020204030204" pitchFamily="34" charset="0"/>
              </a:rPr>
              <a:t>(administrativos, operadores de máquinas) sucede pues las tareas manuales o cognitivas implicadas pueden automatizarse con facilidad con la tecnología actual, al seguir procedimientos precisos y predecibles. </a:t>
            </a:r>
            <a:endParaRPr lang="es-AR" altLang="es-AR" sz="1350" dirty="0">
              <a:latin typeface="Calibri" panose="020F0502020204030204" pitchFamily="34" charset="0"/>
              <a:cs typeface="Calibri" panose="020F0502020204030204" pitchFamily="34" charset="0"/>
            </a:endParaRPr>
          </a:p>
        </p:txBody>
      </p:sp>
      <p:sp>
        <p:nvSpPr>
          <p:cNvPr id="5" name="CuadroTexto 4"/>
          <p:cNvSpPr txBox="1">
            <a:spLocks noChangeArrowheads="1"/>
          </p:cNvSpPr>
          <p:nvPr/>
        </p:nvSpPr>
        <p:spPr bwMode="auto">
          <a:xfrm>
            <a:off x="600218" y="3673256"/>
            <a:ext cx="5723617" cy="171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ClrTx/>
              <a:buSzTx/>
              <a:buFontTx/>
              <a:buNone/>
            </a:pPr>
            <a:r>
              <a:rPr lang="es-AR" altLang="es-AR" sz="1500" b="1" dirty="0">
                <a:latin typeface="Calibri" panose="020F0502020204030204" pitchFamily="34" charset="0"/>
                <a:cs typeface="Calibri" panose="020F0502020204030204" pitchFamily="34" charset="0"/>
              </a:rPr>
              <a:t>Los puestos de bajas habilidades </a:t>
            </a:r>
            <a:r>
              <a:rPr lang="es-AR" altLang="es-AR" sz="1500" dirty="0">
                <a:latin typeface="Calibri" panose="020F0502020204030204" pitchFamily="34" charset="0"/>
                <a:cs typeface="Calibri" panose="020F0502020204030204" pitchFamily="34" charset="0"/>
              </a:rPr>
              <a:t>(cuidadores, gente de limpieza, guardias de seguridad) implican muchas tareas de fácil realización pero difíciles de automatizar. </a:t>
            </a:r>
          </a:p>
          <a:p>
            <a:pPr algn="just">
              <a:spcBef>
                <a:spcPct val="0"/>
              </a:spcBef>
              <a:buClrTx/>
              <a:buSzTx/>
              <a:buFontTx/>
              <a:buNone/>
            </a:pPr>
            <a:endParaRPr lang="es-AR" altLang="es-AR" sz="750" dirty="0">
              <a:latin typeface="Calibri" panose="020F0502020204030204" pitchFamily="34" charset="0"/>
              <a:cs typeface="Calibri" panose="020F0502020204030204" pitchFamily="34" charset="0"/>
            </a:endParaRPr>
          </a:p>
          <a:p>
            <a:pPr algn="just">
              <a:spcBef>
                <a:spcPct val="0"/>
              </a:spcBef>
              <a:buClrTx/>
              <a:buSzTx/>
              <a:buFontTx/>
              <a:buNone/>
            </a:pPr>
            <a:endParaRPr lang="es-AR" altLang="es-AR" sz="825" dirty="0">
              <a:latin typeface="Calibri" panose="020F0502020204030204" pitchFamily="34" charset="0"/>
              <a:cs typeface="Calibri" panose="020F0502020204030204" pitchFamily="34" charset="0"/>
            </a:endParaRPr>
          </a:p>
          <a:p>
            <a:pPr algn="just">
              <a:spcBef>
                <a:spcPct val="0"/>
              </a:spcBef>
              <a:buClrTx/>
              <a:buSzTx/>
              <a:buFontTx/>
              <a:buNone/>
            </a:pPr>
            <a:r>
              <a:rPr lang="es-AR" altLang="es-AR" sz="1500" b="1" dirty="0">
                <a:latin typeface="Calibri" panose="020F0502020204030204" pitchFamily="34" charset="0"/>
                <a:cs typeface="Calibri" panose="020F0502020204030204" pitchFamily="34" charset="0"/>
              </a:rPr>
              <a:t>Los puestos de altas habilidades </a:t>
            </a:r>
            <a:r>
              <a:rPr lang="es-AR" altLang="es-AR" sz="1500" dirty="0">
                <a:latin typeface="Calibri" panose="020F0502020204030204" pitchFamily="34" charset="0"/>
                <a:cs typeface="Calibri" panose="020F0502020204030204" pitchFamily="34" charset="0"/>
              </a:rPr>
              <a:t>(técnicos, educadores, gerentes) implican la solución creativa de problemas e interacciones sociales complejas que son más difíciles de automatizar. </a:t>
            </a:r>
            <a:endParaRPr lang="es-AR" altLang="es-AR" sz="1350" dirty="0">
              <a:latin typeface="Calibri" panose="020F0502020204030204" pitchFamily="34" charset="0"/>
              <a:cs typeface="Calibri" panose="020F0502020204030204" pitchFamily="34" charset="0"/>
            </a:endParaRPr>
          </a:p>
        </p:txBody>
      </p:sp>
      <p:pic>
        <p:nvPicPr>
          <p:cNvPr id="56326" name="Imagen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03829" y="3595013"/>
            <a:ext cx="1462088" cy="78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Imagen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03829" y="2441038"/>
            <a:ext cx="1428750" cy="948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Imagen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28515" y="4588387"/>
            <a:ext cx="1462088"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uadroTexto 1"/>
          <p:cNvSpPr txBox="1">
            <a:spLocks noChangeArrowheads="1"/>
          </p:cNvSpPr>
          <p:nvPr/>
        </p:nvSpPr>
        <p:spPr bwMode="auto">
          <a:xfrm>
            <a:off x="1177069" y="1122702"/>
            <a:ext cx="514676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ClrTx/>
              <a:buSzTx/>
              <a:buNone/>
            </a:pPr>
            <a:r>
              <a:rPr lang="es-AR" altLang="es-AR" sz="2100" b="1" dirty="0">
                <a:solidFill>
                  <a:schemeClr val="accent6">
                    <a:lumMod val="50000"/>
                  </a:schemeClr>
                </a:solidFill>
                <a:latin typeface="Calibri" panose="020F0502020204030204" pitchFamily="34" charset="0"/>
                <a:cs typeface="Calibri" panose="020F0502020204030204" pitchFamily="34" charset="0"/>
              </a:rPr>
              <a:t>CUARTA REVOLUCIÓN INDUSTRIAL</a:t>
            </a:r>
          </a:p>
        </p:txBody>
      </p:sp>
      <p:sp>
        <p:nvSpPr>
          <p:cNvPr id="2" name="Título 1">
            <a:extLst>
              <a:ext uri="{FF2B5EF4-FFF2-40B4-BE49-F238E27FC236}">
                <a16:creationId xmlns:a16="http://schemas.microsoft.com/office/drawing/2014/main" id="{C6FB3CB3-52C3-6047-70B4-5FF582936530}"/>
              </a:ext>
            </a:extLst>
          </p:cNvPr>
          <p:cNvSpPr>
            <a:spLocks noGrp="1"/>
          </p:cNvSpPr>
          <p:nvPr>
            <p:ph type="title"/>
          </p:nvPr>
        </p:nvSpPr>
        <p:spPr/>
        <p:txBody>
          <a:bodyPr/>
          <a:lstStyle/>
          <a:p>
            <a:r>
              <a:rPr lang="es-ES" dirty="0">
                <a:solidFill>
                  <a:schemeClr val="tx1"/>
                </a:solidFill>
              </a:rPr>
              <a:t>3.1.3. Perspectivas actuales</a:t>
            </a:r>
            <a:endParaRPr lang="es-ES" dirty="0"/>
          </a:p>
        </p:txBody>
      </p:sp>
    </p:spTree>
    <p:extLst>
      <p:ext uri="{BB962C8B-B14F-4D97-AF65-F5344CB8AC3E}">
        <p14:creationId xmlns:p14="http://schemas.microsoft.com/office/powerpoint/2010/main" val="2191900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Imagen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461713"/>
            <a:ext cx="7729897" cy="4178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CuadroTexto 6"/>
          <p:cNvSpPr txBox="1">
            <a:spLocks noChangeArrowheads="1"/>
          </p:cNvSpPr>
          <p:nvPr/>
        </p:nvSpPr>
        <p:spPr bwMode="auto">
          <a:xfrm>
            <a:off x="5228410" y="864702"/>
            <a:ext cx="289015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ClrTx/>
              <a:buSzTx/>
              <a:buNone/>
            </a:pPr>
            <a:r>
              <a:rPr lang="es-AR" altLang="es-AR" sz="2700" b="1" dirty="0">
                <a:solidFill>
                  <a:schemeClr val="accent1"/>
                </a:solidFill>
                <a:latin typeface="Calibri" panose="020F0502020204030204" pitchFamily="34" charset="0"/>
                <a:ea typeface="+mj-ea"/>
                <a:cs typeface="Calibri" panose="020F0502020204030204" pitchFamily="34" charset="0"/>
              </a:rPr>
              <a:t>WEF (2018 a 2022)</a:t>
            </a:r>
          </a:p>
        </p:txBody>
      </p:sp>
      <p:sp>
        <p:nvSpPr>
          <p:cNvPr id="2" name="Título 1">
            <a:extLst>
              <a:ext uri="{FF2B5EF4-FFF2-40B4-BE49-F238E27FC236}">
                <a16:creationId xmlns:a16="http://schemas.microsoft.com/office/drawing/2014/main" id="{0B072BB2-6463-7123-1984-1F71E89F7925}"/>
              </a:ext>
            </a:extLst>
          </p:cNvPr>
          <p:cNvSpPr>
            <a:spLocks noGrp="1"/>
          </p:cNvSpPr>
          <p:nvPr>
            <p:ph type="title"/>
          </p:nvPr>
        </p:nvSpPr>
        <p:spPr/>
        <p:txBody>
          <a:bodyPr/>
          <a:lstStyle/>
          <a:p>
            <a:r>
              <a:rPr lang="es-ES" dirty="0">
                <a:solidFill>
                  <a:schemeClr val="tx1"/>
                </a:solidFill>
              </a:rPr>
              <a:t>3.1.3. Perspectivas actuales</a:t>
            </a:r>
            <a:endParaRPr lang="es-ES" dirty="0"/>
          </a:p>
        </p:txBody>
      </p:sp>
      <p:sp>
        <p:nvSpPr>
          <p:cNvPr id="3" name="Rectángulo 2">
            <a:extLst>
              <a:ext uri="{FF2B5EF4-FFF2-40B4-BE49-F238E27FC236}">
                <a16:creationId xmlns:a16="http://schemas.microsoft.com/office/drawing/2014/main" id="{AB821791-E076-23FB-6F73-6835D19A8686}"/>
              </a:ext>
            </a:extLst>
          </p:cNvPr>
          <p:cNvSpPr/>
          <p:nvPr/>
        </p:nvSpPr>
        <p:spPr>
          <a:xfrm>
            <a:off x="7092280" y="1044258"/>
            <a:ext cx="1441404" cy="328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6">
                    <a:lumMod val="75000"/>
                  </a:schemeClr>
                </a:solidFill>
              </a:rPr>
              <a:t>Superfluo</a:t>
            </a:r>
          </a:p>
        </p:txBody>
      </p:sp>
      <p:cxnSp>
        <p:nvCxnSpPr>
          <p:cNvPr id="7" name="Conector recto de flecha 6">
            <a:extLst>
              <a:ext uri="{FF2B5EF4-FFF2-40B4-BE49-F238E27FC236}">
                <a16:creationId xmlns:a16="http://schemas.microsoft.com/office/drawing/2014/main" id="{BF702ED0-9E2A-2821-A87D-313DC0400E4E}"/>
              </a:ext>
            </a:extLst>
          </p:cNvPr>
          <p:cNvCxnSpPr>
            <a:cxnSpLocks/>
          </p:cNvCxnSpPr>
          <p:nvPr/>
        </p:nvCxnSpPr>
        <p:spPr>
          <a:xfrm flipV="1">
            <a:off x="6228184" y="1208395"/>
            <a:ext cx="864096" cy="492413"/>
          </a:xfrm>
          <a:prstGeom prst="straightConnector1">
            <a:avLst/>
          </a:prstGeom>
          <a:ln>
            <a:solidFill>
              <a:schemeClr val="accent6">
                <a:lumMod val="75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52683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82929" y="1316884"/>
            <a:ext cx="7778143" cy="4247317"/>
          </a:xfrm>
          <a:prstGeom prst="rect">
            <a:avLst/>
          </a:prstGeom>
          <a:noFill/>
        </p:spPr>
        <p:txBody>
          <a:bodyPr wrap="square" rtlCol="0">
            <a:spAutoFit/>
          </a:bodyPr>
          <a:lstStyle/>
          <a:p>
            <a:r>
              <a:rPr lang="es-AR" sz="1500" dirty="0">
                <a:latin typeface="+mj-lt"/>
                <a:cs typeface="Calibri" panose="020F0502020204030204" pitchFamily="34" charset="0"/>
              </a:rPr>
              <a:t>Según WEF , para 2025 la </a:t>
            </a:r>
            <a:r>
              <a:rPr lang="es-AR" sz="1500" b="1" dirty="0">
                <a:latin typeface="+mj-lt"/>
                <a:cs typeface="Calibri" panose="020F0502020204030204" pitchFamily="34" charset="0"/>
              </a:rPr>
              <a:t>tasa de automatización de la fuerza laboral </a:t>
            </a:r>
            <a:r>
              <a:rPr lang="es-AR" sz="1500" dirty="0">
                <a:latin typeface="+mj-lt"/>
                <a:cs typeface="Calibri" panose="020F0502020204030204" pitchFamily="34" charset="0"/>
              </a:rPr>
              <a:t>será del 47%, frente al actual 33%, mientras que los empleos desempeñados por seres humanos representarán el 53%, muy por debajo del 67% vigente. </a:t>
            </a:r>
          </a:p>
          <a:p>
            <a:pPr algn="just"/>
            <a:endParaRPr lang="es-AR" sz="1500" dirty="0">
              <a:latin typeface="+mj-lt"/>
              <a:cs typeface="Calibri" panose="020F0502020204030204" pitchFamily="34" charset="0"/>
            </a:endParaRPr>
          </a:p>
          <a:p>
            <a:pPr algn="just"/>
            <a:r>
              <a:rPr lang="es-AR" sz="1500" dirty="0">
                <a:latin typeface="+mj-lt"/>
                <a:cs typeface="Calibri" panose="020F0502020204030204" pitchFamily="34" charset="0"/>
              </a:rPr>
              <a:t>“La </a:t>
            </a:r>
            <a:r>
              <a:rPr lang="es-AR" sz="1500" b="1" dirty="0">
                <a:latin typeface="+mj-lt"/>
                <a:cs typeface="Calibri" panose="020F0502020204030204" pitchFamily="34" charset="0"/>
              </a:rPr>
              <a:t>automatización y una nueva división del trabajo entre los seres humanos y las máquinas </a:t>
            </a:r>
            <a:r>
              <a:rPr lang="es-AR" sz="1500" dirty="0">
                <a:latin typeface="+mj-lt"/>
                <a:cs typeface="Calibri" panose="020F0502020204030204" pitchFamily="34" charset="0"/>
              </a:rPr>
              <a:t>desplazarán 85 millones de empleos en todo el mundo en empresas medianas y grandes de 15 industrias y 26 economías”,</a:t>
            </a:r>
          </a:p>
          <a:p>
            <a:pPr algn="just"/>
            <a:endParaRPr lang="es-AR" sz="1500" dirty="0">
              <a:latin typeface="+mj-lt"/>
              <a:cs typeface="Calibri" panose="020F0502020204030204" pitchFamily="34" charset="0"/>
            </a:endParaRPr>
          </a:p>
          <a:p>
            <a:pPr algn="just"/>
            <a:endParaRPr lang="es-AR" sz="1500" dirty="0">
              <a:latin typeface="+mj-lt"/>
              <a:cs typeface="Calibri" panose="020F0502020204030204" pitchFamily="34" charset="0"/>
            </a:endParaRPr>
          </a:p>
          <a:p>
            <a:pPr algn="just"/>
            <a:endParaRPr lang="es-AR" sz="1500" dirty="0">
              <a:latin typeface="+mj-lt"/>
              <a:cs typeface="Calibri" panose="020F0502020204030204" pitchFamily="34" charset="0"/>
            </a:endParaRPr>
          </a:p>
          <a:p>
            <a:pPr algn="just"/>
            <a:endParaRPr lang="es-AR" sz="1500" dirty="0">
              <a:latin typeface="+mj-lt"/>
              <a:cs typeface="Calibri" panose="020F0502020204030204" pitchFamily="34" charset="0"/>
            </a:endParaRPr>
          </a:p>
          <a:p>
            <a:pPr algn="just"/>
            <a:endParaRPr lang="es-AR" sz="1500" dirty="0">
              <a:latin typeface="+mj-lt"/>
              <a:cs typeface="Calibri" panose="020F0502020204030204" pitchFamily="34" charset="0"/>
            </a:endParaRPr>
          </a:p>
          <a:p>
            <a:pPr algn="just"/>
            <a:endParaRPr lang="es-AR" sz="1500" dirty="0">
              <a:latin typeface="+mj-lt"/>
              <a:cs typeface="Calibri" panose="020F0502020204030204" pitchFamily="34" charset="0"/>
            </a:endParaRPr>
          </a:p>
          <a:p>
            <a:pPr algn="just"/>
            <a:endParaRPr lang="es-AR" sz="1500" dirty="0">
              <a:latin typeface="+mj-lt"/>
              <a:cs typeface="Calibri" panose="020F0502020204030204" pitchFamily="34" charset="0"/>
            </a:endParaRPr>
          </a:p>
          <a:p>
            <a:pPr algn="just"/>
            <a:r>
              <a:rPr lang="es-AR" sz="1500" dirty="0">
                <a:latin typeface="+mj-lt"/>
                <a:cs typeface="Calibri" panose="020F0502020204030204" pitchFamily="34" charset="0"/>
              </a:rPr>
              <a:t>El aumento de la presencia de las máquinas “puede permitir la aparición de otros 97 millones de puestos de trabajo, principalmente en </a:t>
            </a:r>
            <a:r>
              <a:rPr lang="es-AR" sz="1500" b="1" dirty="0">
                <a:solidFill>
                  <a:srgbClr val="C00000"/>
                </a:solidFill>
                <a:latin typeface="+mj-lt"/>
                <a:cs typeface="Calibri" panose="020F0502020204030204" pitchFamily="34" charset="0"/>
              </a:rPr>
              <a:t>sectores como los cuidados, las industrias tecnológicas de la Cuarta Revolución Industrial</a:t>
            </a:r>
            <a:r>
              <a:rPr lang="es-AR" sz="1500" dirty="0">
                <a:latin typeface="+mj-lt"/>
                <a:cs typeface="Calibri" panose="020F0502020204030204" pitchFamily="34" charset="0"/>
              </a:rPr>
              <a:t>, como la inteligencia artificial, y en los campos de creación de contenidos”.</a:t>
            </a:r>
            <a:endParaRPr lang="en-US" sz="1500" dirty="0">
              <a:latin typeface="+mj-lt"/>
              <a:cs typeface="Calibri" panose="020F0502020204030204" pitchFamily="34" charset="0"/>
            </a:endParaRPr>
          </a:p>
        </p:txBody>
      </p:sp>
      <p:pic>
        <p:nvPicPr>
          <p:cNvPr id="3" name="Imagen 2"/>
          <p:cNvPicPr>
            <a:picLocks noChangeAspect="1"/>
          </p:cNvPicPr>
          <p:nvPr/>
        </p:nvPicPr>
        <p:blipFill>
          <a:blip r:embed="rId3"/>
          <a:stretch>
            <a:fillRect/>
          </a:stretch>
        </p:blipFill>
        <p:spPr>
          <a:xfrm>
            <a:off x="4797464" y="2946572"/>
            <a:ext cx="2171700" cy="1185863"/>
          </a:xfrm>
          <a:prstGeom prst="rect">
            <a:avLst/>
          </a:prstGeom>
        </p:spPr>
      </p:pic>
      <p:sp>
        <p:nvSpPr>
          <p:cNvPr id="4" name="Título 3">
            <a:extLst>
              <a:ext uri="{FF2B5EF4-FFF2-40B4-BE49-F238E27FC236}">
                <a16:creationId xmlns:a16="http://schemas.microsoft.com/office/drawing/2014/main" id="{DA88A776-91E2-C637-D809-14ABC570BC7F}"/>
              </a:ext>
            </a:extLst>
          </p:cNvPr>
          <p:cNvSpPr>
            <a:spLocks noGrp="1"/>
          </p:cNvSpPr>
          <p:nvPr>
            <p:ph type="title"/>
          </p:nvPr>
        </p:nvSpPr>
        <p:spPr/>
        <p:txBody>
          <a:bodyPr/>
          <a:lstStyle/>
          <a:p>
            <a:r>
              <a:rPr lang="es-ES" dirty="0">
                <a:solidFill>
                  <a:schemeClr val="tx1"/>
                </a:solidFill>
              </a:rPr>
              <a:t>3.1.3. </a:t>
            </a:r>
            <a:r>
              <a:rPr lang="es-ES">
                <a:solidFill>
                  <a:schemeClr val="tx1"/>
                </a:solidFill>
              </a:rPr>
              <a:t>Perspectivas actuales</a:t>
            </a:r>
            <a:endParaRPr lang="es-ES"/>
          </a:p>
        </p:txBody>
      </p:sp>
    </p:spTree>
    <p:extLst>
      <p:ext uri="{BB962C8B-B14F-4D97-AF65-F5344CB8AC3E}">
        <p14:creationId xmlns:p14="http://schemas.microsoft.com/office/powerpoint/2010/main" val="687129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28</a:t>
            </a:fld>
            <a:endParaRPr lang="es-ES"/>
          </a:p>
        </p:txBody>
      </p:sp>
      <p:sp>
        <p:nvSpPr>
          <p:cNvPr id="8" name="7 Rectángulo"/>
          <p:cNvSpPr/>
          <p:nvPr/>
        </p:nvSpPr>
        <p:spPr>
          <a:xfrm>
            <a:off x="755576" y="2852936"/>
            <a:ext cx="7848872" cy="1680460"/>
          </a:xfrm>
          <a:prstGeom prst="rect">
            <a:avLst/>
          </a:prstGeom>
        </p:spPr>
        <p:txBody>
          <a:bodyPr wrap="square">
            <a:spAutoFit/>
          </a:bodyPr>
          <a:lstStyle/>
          <a:p>
            <a:pPr marL="285750" indent="-285750">
              <a:lnSpc>
                <a:spcPct val="130000"/>
              </a:lnSpc>
              <a:spcBef>
                <a:spcPct val="20000"/>
              </a:spcBef>
            </a:pPr>
            <a:r>
              <a:rPr lang="es-ES_tradnl" sz="2400" u="none" kern="0" dirty="0">
                <a:solidFill>
                  <a:srgbClr val="000000"/>
                </a:solidFill>
                <a:latin typeface="Comic Sans MS"/>
              </a:rPr>
              <a:t>3.2.1. </a:t>
            </a:r>
            <a:r>
              <a:rPr lang="es-ES_tradnl" sz="2400" kern="0" dirty="0">
                <a:solidFill>
                  <a:srgbClr val="000000"/>
                </a:solidFill>
                <a:latin typeface="Comic Sans MS"/>
              </a:rPr>
              <a:t>Justificación e importancia.</a:t>
            </a:r>
          </a:p>
          <a:p>
            <a:pPr marL="285750" indent="-285750">
              <a:lnSpc>
                <a:spcPct val="130000"/>
              </a:lnSpc>
              <a:spcBef>
                <a:spcPct val="20000"/>
              </a:spcBef>
            </a:pPr>
            <a:r>
              <a:rPr lang="es-ES_tradnl" sz="2400" u="none" kern="0" dirty="0">
                <a:solidFill>
                  <a:srgbClr val="000000"/>
                </a:solidFill>
                <a:latin typeface="Comic Sans MS"/>
              </a:rPr>
              <a:t>3.2.2. Definición y fases del proceso.</a:t>
            </a:r>
          </a:p>
          <a:p>
            <a:pPr marL="285750" indent="-285750">
              <a:lnSpc>
                <a:spcPct val="130000"/>
              </a:lnSpc>
              <a:spcBef>
                <a:spcPct val="20000"/>
              </a:spcBef>
            </a:pPr>
            <a:r>
              <a:rPr lang="es-ES_tradnl" sz="2400" u="none" kern="0" dirty="0">
                <a:solidFill>
                  <a:srgbClr val="000000"/>
                </a:solidFill>
                <a:latin typeface="Comic Sans MS"/>
              </a:rPr>
              <a:t>3.2.3. Tipos de planificación.</a:t>
            </a:r>
          </a:p>
        </p:txBody>
      </p:sp>
      <p:sp>
        <p:nvSpPr>
          <p:cNvPr id="9" name="8 Rectángulo"/>
          <p:cNvSpPr/>
          <p:nvPr/>
        </p:nvSpPr>
        <p:spPr>
          <a:xfrm>
            <a:off x="518111" y="1484784"/>
            <a:ext cx="8374369" cy="523220"/>
          </a:xfrm>
          <a:prstGeom prst="rect">
            <a:avLst/>
          </a:prstGeom>
        </p:spPr>
        <p:txBody>
          <a:bodyPr wrap="square">
            <a:spAutoFit/>
          </a:bodyPr>
          <a:lstStyle/>
          <a:p>
            <a:pPr algn="ctr"/>
            <a:r>
              <a:rPr lang="es-ES" sz="2800" b="1" dirty="0">
                <a:solidFill>
                  <a:srgbClr val="C00000"/>
                </a:solidFill>
                <a:latin typeface="+mn-lt"/>
              </a:rPr>
              <a:t>3</a:t>
            </a:r>
            <a:r>
              <a:rPr lang="es-ES" sz="2800" b="1" u="none" dirty="0">
                <a:solidFill>
                  <a:srgbClr val="C00000"/>
                </a:solidFill>
                <a:latin typeface="+mn-lt"/>
              </a:rPr>
              <a:t>.2. </a:t>
            </a:r>
            <a:r>
              <a:rPr lang="es-ES" sz="2800" b="1" dirty="0">
                <a:solidFill>
                  <a:srgbClr val="C00000"/>
                </a:solidFill>
                <a:latin typeface="+mn-lt"/>
              </a:rPr>
              <a:t>PLANIFICACIÓN</a:t>
            </a:r>
            <a:endParaRPr lang="es-ES" sz="2800" b="1" u="none" dirty="0">
              <a:latin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950" y="115888"/>
            <a:ext cx="8928100" cy="720725"/>
          </a:xfrm>
        </p:spPr>
        <p:txBody>
          <a:bodyPr/>
          <a:lstStyle/>
          <a:p>
            <a:pPr algn="l"/>
            <a:r>
              <a:rPr lang="es-ES" dirty="0"/>
              <a:t> Funciones de la administración </a:t>
            </a:r>
          </a:p>
        </p:txBody>
      </p:sp>
      <p:sp>
        <p:nvSpPr>
          <p:cNvPr id="3" name="2 Marcador de número de diapositiva"/>
          <p:cNvSpPr>
            <a:spLocks noGrp="1"/>
          </p:cNvSpPr>
          <p:nvPr>
            <p:ph type="sldNum" sz="quarter" idx="4"/>
          </p:nvPr>
        </p:nvSpPr>
        <p:spPr/>
        <p:txBody>
          <a:bodyPr/>
          <a:lstStyle/>
          <a:p>
            <a:fld id="{3A50B82F-E44A-4FE6-8B99-53CD253DED7E}" type="slidenum">
              <a:rPr lang="es-ES" smtClean="0"/>
              <a:pPr/>
              <a:t>29</a:t>
            </a:fld>
            <a:endParaRPr lang="es-ES" dirty="0"/>
          </a:p>
        </p:txBody>
      </p:sp>
      <p:grpSp>
        <p:nvGrpSpPr>
          <p:cNvPr id="4" name="Grupo 3">
            <a:extLst>
              <a:ext uri="{FF2B5EF4-FFF2-40B4-BE49-F238E27FC236}">
                <a16:creationId xmlns:a16="http://schemas.microsoft.com/office/drawing/2014/main" id="{830EE73C-B133-436C-B2D0-36DFDC8C1E10}"/>
              </a:ext>
            </a:extLst>
          </p:cNvPr>
          <p:cNvGrpSpPr/>
          <p:nvPr/>
        </p:nvGrpSpPr>
        <p:grpSpPr>
          <a:xfrm>
            <a:off x="539552" y="846881"/>
            <a:ext cx="8280920" cy="5884318"/>
            <a:chOff x="539552" y="846881"/>
            <a:chExt cx="8280920" cy="5884318"/>
          </a:xfrm>
        </p:grpSpPr>
        <p:sp>
          <p:nvSpPr>
            <p:cNvPr id="7" name="Rectángulo 6">
              <a:extLst>
                <a:ext uri="{FF2B5EF4-FFF2-40B4-BE49-F238E27FC236}">
                  <a16:creationId xmlns:a16="http://schemas.microsoft.com/office/drawing/2014/main" id="{71C8FBA6-4118-4353-BC0B-324CD23771AE}"/>
                </a:ext>
              </a:extLst>
            </p:cNvPr>
            <p:cNvSpPr/>
            <p:nvPr/>
          </p:nvSpPr>
          <p:spPr>
            <a:xfrm>
              <a:off x="539552" y="1124744"/>
              <a:ext cx="8280920" cy="5328592"/>
            </a:xfrm>
            <a:prstGeom prst="rect">
              <a:avLst/>
            </a:prstGeom>
            <a:noFill/>
          </p:spPr>
          <p:txBody>
            <a:bodyPr/>
            <a:lstStyle/>
            <a:p>
              <a:endParaRPr lang="es-ES"/>
            </a:p>
          </p:txBody>
        </p:sp>
        <p:sp>
          <p:nvSpPr>
            <p:cNvPr id="8" name="Forma libre: forma 7">
              <a:extLst>
                <a:ext uri="{FF2B5EF4-FFF2-40B4-BE49-F238E27FC236}">
                  <a16:creationId xmlns:a16="http://schemas.microsoft.com/office/drawing/2014/main" id="{1F86DC94-4FD8-4725-B08E-5E6E4DFCAFD1}"/>
                </a:ext>
              </a:extLst>
            </p:cNvPr>
            <p:cNvSpPr/>
            <p:nvPr/>
          </p:nvSpPr>
          <p:spPr>
            <a:xfrm>
              <a:off x="3125736" y="846881"/>
              <a:ext cx="2975112" cy="2079451"/>
            </a:xfrm>
            <a:custGeom>
              <a:avLst/>
              <a:gdLst>
                <a:gd name="connsiteX0" fmla="*/ 0 w 2975112"/>
                <a:gd name="connsiteY0" fmla="*/ 1039726 h 2079451"/>
                <a:gd name="connsiteX1" fmla="*/ 1487556 w 2975112"/>
                <a:gd name="connsiteY1" fmla="*/ 0 h 2079451"/>
                <a:gd name="connsiteX2" fmla="*/ 2975112 w 2975112"/>
                <a:gd name="connsiteY2" fmla="*/ 1039726 h 2079451"/>
                <a:gd name="connsiteX3" fmla="*/ 1487556 w 2975112"/>
                <a:gd name="connsiteY3" fmla="*/ 2079452 h 2079451"/>
                <a:gd name="connsiteX4" fmla="*/ 0 w 2975112"/>
                <a:gd name="connsiteY4" fmla="*/ 1039726 h 2079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5112" h="2079451">
                  <a:moveTo>
                    <a:pt x="0" y="1039726"/>
                  </a:moveTo>
                  <a:cubicBezTo>
                    <a:pt x="0" y="465501"/>
                    <a:pt x="666002" y="0"/>
                    <a:pt x="1487556" y="0"/>
                  </a:cubicBezTo>
                  <a:cubicBezTo>
                    <a:pt x="2309110" y="0"/>
                    <a:pt x="2975112" y="465501"/>
                    <a:pt x="2975112" y="1039726"/>
                  </a:cubicBezTo>
                  <a:cubicBezTo>
                    <a:pt x="2975112" y="1613951"/>
                    <a:pt x="2309110" y="2079452"/>
                    <a:pt x="1487556" y="2079452"/>
                  </a:cubicBezTo>
                  <a:cubicBezTo>
                    <a:pt x="666002" y="2079452"/>
                    <a:pt x="0" y="1613951"/>
                    <a:pt x="0" y="1039726"/>
                  </a:cubicBez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453475" tIns="322309" rIns="453475" bIns="322309" numCol="1" spcCol="1270" anchor="ctr" anchorCtr="0">
              <a:noAutofit/>
            </a:bodyPr>
            <a:lstStyle/>
            <a:p>
              <a:pPr marL="0" lvl="0" indent="0" algn="ctr" defTabSz="622300">
                <a:lnSpc>
                  <a:spcPct val="90000"/>
                </a:lnSpc>
                <a:spcBef>
                  <a:spcPct val="0"/>
                </a:spcBef>
                <a:spcAft>
                  <a:spcPct val="35000"/>
                </a:spcAft>
                <a:buNone/>
              </a:pPr>
              <a:r>
                <a:rPr lang="es-ES" sz="1400" b="1" kern="1200" dirty="0">
                  <a:solidFill>
                    <a:schemeClr val="tx1"/>
                  </a:solidFill>
                </a:rPr>
                <a:t>PLANIFICACIÓN</a:t>
              </a:r>
            </a:p>
            <a:p>
              <a:pPr marL="0" lvl="0" indent="0" algn="ctr" defTabSz="622300">
                <a:lnSpc>
                  <a:spcPct val="90000"/>
                </a:lnSpc>
                <a:spcBef>
                  <a:spcPct val="0"/>
                </a:spcBef>
                <a:spcAft>
                  <a:spcPct val="35000"/>
                </a:spcAft>
                <a:buNone/>
              </a:pPr>
              <a:r>
                <a:rPr lang="es-ES" sz="1400" kern="1200" dirty="0">
                  <a:solidFill>
                    <a:schemeClr val="tx1"/>
                  </a:solidFill>
                </a:rPr>
                <a:t>Definir los objetivos apropiados para la organización y las mejores estrategias para alcanzarlos</a:t>
              </a:r>
            </a:p>
          </p:txBody>
        </p:sp>
        <p:sp>
          <p:nvSpPr>
            <p:cNvPr id="9" name="Forma libre: forma 8">
              <a:extLst>
                <a:ext uri="{FF2B5EF4-FFF2-40B4-BE49-F238E27FC236}">
                  <a16:creationId xmlns:a16="http://schemas.microsoft.com/office/drawing/2014/main" id="{015F3D9C-816B-4A41-8142-0915A944E466}"/>
                </a:ext>
              </a:extLst>
            </p:cNvPr>
            <p:cNvSpPr/>
            <p:nvPr/>
          </p:nvSpPr>
          <p:spPr>
            <a:xfrm rot="2084035">
              <a:off x="5747739" y="2493270"/>
              <a:ext cx="310807" cy="575201"/>
            </a:xfrm>
            <a:custGeom>
              <a:avLst/>
              <a:gdLst>
                <a:gd name="connsiteX0" fmla="*/ 0 w 310807"/>
                <a:gd name="connsiteY0" fmla="*/ 115040 h 575201"/>
                <a:gd name="connsiteX1" fmla="*/ 155404 w 310807"/>
                <a:gd name="connsiteY1" fmla="*/ 115040 h 575201"/>
                <a:gd name="connsiteX2" fmla="*/ 155404 w 310807"/>
                <a:gd name="connsiteY2" fmla="*/ 0 h 575201"/>
                <a:gd name="connsiteX3" fmla="*/ 310807 w 310807"/>
                <a:gd name="connsiteY3" fmla="*/ 287601 h 575201"/>
                <a:gd name="connsiteX4" fmla="*/ 155404 w 310807"/>
                <a:gd name="connsiteY4" fmla="*/ 575201 h 575201"/>
                <a:gd name="connsiteX5" fmla="*/ 155404 w 310807"/>
                <a:gd name="connsiteY5" fmla="*/ 460161 h 575201"/>
                <a:gd name="connsiteX6" fmla="*/ 0 w 310807"/>
                <a:gd name="connsiteY6" fmla="*/ 460161 h 575201"/>
                <a:gd name="connsiteX7" fmla="*/ 0 w 310807"/>
                <a:gd name="connsiteY7" fmla="*/ 115040 h 57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807" h="575201">
                  <a:moveTo>
                    <a:pt x="0" y="115040"/>
                  </a:moveTo>
                  <a:lnTo>
                    <a:pt x="155404" y="115040"/>
                  </a:lnTo>
                  <a:lnTo>
                    <a:pt x="155404" y="0"/>
                  </a:lnTo>
                  <a:lnTo>
                    <a:pt x="310807" y="287601"/>
                  </a:lnTo>
                  <a:lnTo>
                    <a:pt x="155404" y="575201"/>
                  </a:lnTo>
                  <a:lnTo>
                    <a:pt x="155404" y="460161"/>
                  </a:lnTo>
                  <a:lnTo>
                    <a:pt x="0" y="460161"/>
                  </a:lnTo>
                  <a:lnTo>
                    <a:pt x="0" y="115040"/>
                  </a:lnTo>
                  <a:close/>
                </a:path>
              </a:pathLst>
            </a:custGeom>
            <a:solidFill>
              <a:schemeClr val="accent6">
                <a:lumMod val="75000"/>
              </a:schemeClr>
            </a:solidFill>
          </p:spPr>
          <p:style>
            <a:lnRef idx="0">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0" tIns="115039" rIns="93241" bIns="115040" numCol="1" spcCol="1270" anchor="ctr" anchorCtr="0">
              <a:noAutofit/>
            </a:bodyPr>
            <a:lstStyle/>
            <a:p>
              <a:pPr marL="0" lvl="0" indent="0" algn="ctr" defTabSz="933450">
                <a:lnSpc>
                  <a:spcPct val="90000"/>
                </a:lnSpc>
                <a:spcBef>
                  <a:spcPct val="0"/>
                </a:spcBef>
                <a:spcAft>
                  <a:spcPct val="35000"/>
                </a:spcAft>
                <a:buNone/>
              </a:pPr>
              <a:endParaRPr lang="es-ES" sz="2100" kern="1200">
                <a:solidFill>
                  <a:schemeClr val="tx1"/>
                </a:solidFill>
              </a:endParaRPr>
            </a:p>
          </p:txBody>
        </p:sp>
        <p:sp>
          <p:nvSpPr>
            <p:cNvPr id="10" name="Forma libre: forma 9">
              <a:extLst>
                <a:ext uri="{FF2B5EF4-FFF2-40B4-BE49-F238E27FC236}">
                  <a16:creationId xmlns:a16="http://schemas.microsoft.com/office/drawing/2014/main" id="{388FA81C-6BA8-46C1-A2D1-612624B9E173}"/>
                </a:ext>
              </a:extLst>
            </p:cNvPr>
            <p:cNvSpPr/>
            <p:nvPr/>
          </p:nvSpPr>
          <p:spPr>
            <a:xfrm>
              <a:off x="5827191" y="2457873"/>
              <a:ext cx="2993280" cy="2615948"/>
            </a:xfrm>
            <a:custGeom>
              <a:avLst/>
              <a:gdLst>
                <a:gd name="connsiteX0" fmla="*/ 0 w 2993280"/>
                <a:gd name="connsiteY0" fmla="*/ 1307974 h 2615948"/>
                <a:gd name="connsiteX1" fmla="*/ 1496640 w 2993280"/>
                <a:gd name="connsiteY1" fmla="*/ 0 h 2615948"/>
                <a:gd name="connsiteX2" fmla="*/ 2993280 w 2993280"/>
                <a:gd name="connsiteY2" fmla="*/ 1307974 h 2615948"/>
                <a:gd name="connsiteX3" fmla="*/ 1496640 w 2993280"/>
                <a:gd name="connsiteY3" fmla="*/ 2615948 h 2615948"/>
                <a:gd name="connsiteX4" fmla="*/ 0 w 2993280"/>
                <a:gd name="connsiteY4" fmla="*/ 1307974 h 2615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280" h="2615948">
                  <a:moveTo>
                    <a:pt x="0" y="1307974"/>
                  </a:moveTo>
                  <a:cubicBezTo>
                    <a:pt x="0" y="585600"/>
                    <a:pt x="670069" y="0"/>
                    <a:pt x="1496640" y="0"/>
                  </a:cubicBezTo>
                  <a:cubicBezTo>
                    <a:pt x="2323211" y="0"/>
                    <a:pt x="2993280" y="585600"/>
                    <a:pt x="2993280" y="1307974"/>
                  </a:cubicBezTo>
                  <a:cubicBezTo>
                    <a:pt x="2993280" y="2030348"/>
                    <a:pt x="2323211" y="2615948"/>
                    <a:pt x="1496640" y="2615948"/>
                  </a:cubicBezTo>
                  <a:cubicBezTo>
                    <a:pt x="670069" y="2615948"/>
                    <a:pt x="0" y="2030348"/>
                    <a:pt x="0" y="1307974"/>
                  </a:cubicBezTo>
                  <a:close/>
                </a:path>
              </a:pathLst>
            </a:custGeom>
            <a:solidFill>
              <a:srgbClr val="FFC000"/>
            </a:solidFill>
          </p:spPr>
          <p:style>
            <a:lnRef idx="2">
              <a:schemeClr val="lt1">
                <a:hueOff val="0"/>
                <a:satOff val="0"/>
                <a:lumOff val="0"/>
                <a:alphaOff val="0"/>
              </a:schemeClr>
            </a:lnRef>
            <a:fillRef idx="1">
              <a:scrgbClr r="0" g="0" b="0"/>
            </a:fillRef>
            <a:effectRef idx="0">
              <a:schemeClr val="accent3">
                <a:hueOff val="-3342870"/>
                <a:satOff val="-19444"/>
                <a:lumOff val="-31765"/>
                <a:alphaOff val="0"/>
              </a:schemeClr>
            </a:effectRef>
            <a:fontRef idx="minor">
              <a:schemeClr val="lt1"/>
            </a:fontRef>
          </p:style>
          <p:txBody>
            <a:bodyPr spcFirstLastPara="0" vert="horz" wrap="square" lIns="456136" tIns="400877" rIns="456136" bIns="400877" numCol="1" spcCol="1270" anchor="ctr" anchorCtr="0">
              <a:noAutofit/>
            </a:bodyPr>
            <a:lstStyle/>
            <a:p>
              <a:pPr marL="0" lvl="0" indent="0" algn="ctr" defTabSz="622300">
                <a:lnSpc>
                  <a:spcPct val="90000"/>
                </a:lnSpc>
                <a:spcBef>
                  <a:spcPct val="0"/>
                </a:spcBef>
                <a:spcAft>
                  <a:spcPct val="35000"/>
                </a:spcAft>
                <a:buNone/>
              </a:pPr>
              <a:r>
                <a:rPr lang="es-ES" sz="1400" b="1" kern="1200" dirty="0">
                  <a:solidFill>
                    <a:schemeClr val="tx1"/>
                  </a:solidFill>
                </a:rPr>
                <a:t>ORGANIZACIÓN </a:t>
              </a:r>
            </a:p>
            <a:p>
              <a:pPr marL="0" lvl="0" indent="0" algn="ctr" defTabSz="622300">
                <a:lnSpc>
                  <a:spcPct val="90000"/>
                </a:lnSpc>
                <a:spcBef>
                  <a:spcPct val="0"/>
                </a:spcBef>
                <a:spcAft>
                  <a:spcPct val="35000"/>
                </a:spcAft>
                <a:buNone/>
              </a:pPr>
              <a:r>
                <a:rPr lang="es-ES" sz="1400" kern="1200" dirty="0">
                  <a:solidFill>
                    <a:schemeClr val="tx1"/>
                  </a:solidFill>
                </a:rPr>
                <a:t>Diseño de  la estructura organizativa mediante el que se divide el trabajo en tareas y se definen los mecanismos de coordinación de las mismas</a:t>
              </a:r>
            </a:p>
          </p:txBody>
        </p:sp>
        <p:sp>
          <p:nvSpPr>
            <p:cNvPr id="11" name="Forma libre: forma 10">
              <a:extLst>
                <a:ext uri="{FF2B5EF4-FFF2-40B4-BE49-F238E27FC236}">
                  <a16:creationId xmlns:a16="http://schemas.microsoft.com/office/drawing/2014/main" id="{18815965-871A-4F84-80E1-46C68BBE4212}"/>
                </a:ext>
              </a:extLst>
            </p:cNvPr>
            <p:cNvSpPr/>
            <p:nvPr/>
          </p:nvSpPr>
          <p:spPr>
            <a:xfrm rot="19638012">
              <a:off x="5847940" y="4357577"/>
              <a:ext cx="212363" cy="575202"/>
            </a:xfrm>
            <a:custGeom>
              <a:avLst/>
              <a:gdLst>
                <a:gd name="connsiteX0" fmla="*/ 0 w 212362"/>
                <a:gd name="connsiteY0" fmla="*/ 115040 h 575201"/>
                <a:gd name="connsiteX1" fmla="*/ 106181 w 212362"/>
                <a:gd name="connsiteY1" fmla="*/ 115040 h 575201"/>
                <a:gd name="connsiteX2" fmla="*/ 106181 w 212362"/>
                <a:gd name="connsiteY2" fmla="*/ 0 h 575201"/>
                <a:gd name="connsiteX3" fmla="*/ 212362 w 212362"/>
                <a:gd name="connsiteY3" fmla="*/ 287601 h 575201"/>
                <a:gd name="connsiteX4" fmla="*/ 106181 w 212362"/>
                <a:gd name="connsiteY4" fmla="*/ 575201 h 575201"/>
                <a:gd name="connsiteX5" fmla="*/ 106181 w 212362"/>
                <a:gd name="connsiteY5" fmla="*/ 460161 h 575201"/>
                <a:gd name="connsiteX6" fmla="*/ 0 w 212362"/>
                <a:gd name="connsiteY6" fmla="*/ 460161 h 575201"/>
                <a:gd name="connsiteX7" fmla="*/ 0 w 212362"/>
                <a:gd name="connsiteY7" fmla="*/ 115040 h 57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362" h="575201">
                  <a:moveTo>
                    <a:pt x="212361" y="460161"/>
                  </a:moveTo>
                  <a:lnTo>
                    <a:pt x="106181" y="460161"/>
                  </a:lnTo>
                  <a:lnTo>
                    <a:pt x="106181" y="575201"/>
                  </a:lnTo>
                  <a:lnTo>
                    <a:pt x="1" y="287600"/>
                  </a:lnTo>
                  <a:lnTo>
                    <a:pt x="106181" y="0"/>
                  </a:lnTo>
                  <a:lnTo>
                    <a:pt x="106181" y="115040"/>
                  </a:lnTo>
                  <a:lnTo>
                    <a:pt x="212361" y="115040"/>
                  </a:lnTo>
                  <a:lnTo>
                    <a:pt x="212361" y="460161"/>
                  </a:lnTo>
                  <a:close/>
                </a:path>
              </a:pathLst>
            </a:custGeom>
            <a:solidFill>
              <a:srgbClr val="FFC000"/>
            </a:solidFill>
          </p:spPr>
          <p:style>
            <a:lnRef idx="0">
              <a:schemeClr val="lt1">
                <a:hueOff val="0"/>
                <a:satOff val="0"/>
                <a:lumOff val="0"/>
                <a:alphaOff val="0"/>
              </a:schemeClr>
            </a:lnRef>
            <a:fillRef idx="1">
              <a:scrgbClr r="0" g="0" b="0"/>
            </a:fillRef>
            <a:effectRef idx="0">
              <a:schemeClr val="accent3">
                <a:hueOff val="-3342870"/>
                <a:satOff val="-19444"/>
                <a:lumOff val="-31765"/>
                <a:alphaOff val="0"/>
              </a:schemeClr>
            </a:effectRef>
            <a:fontRef idx="minor">
              <a:schemeClr val="lt1"/>
            </a:fontRef>
          </p:style>
          <p:txBody>
            <a:bodyPr spcFirstLastPara="0" vert="horz" wrap="square" lIns="63708" tIns="115040" rIns="1" bIns="115040" numCol="1" spcCol="1270" anchor="ctr" anchorCtr="0">
              <a:noAutofit/>
            </a:bodyPr>
            <a:lstStyle/>
            <a:p>
              <a:pPr marL="0" lvl="0" indent="0" algn="ctr" defTabSz="933450">
                <a:lnSpc>
                  <a:spcPct val="90000"/>
                </a:lnSpc>
                <a:spcBef>
                  <a:spcPct val="0"/>
                </a:spcBef>
                <a:spcAft>
                  <a:spcPct val="35000"/>
                </a:spcAft>
                <a:buNone/>
              </a:pPr>
              <a:endParaRPr lang="es-ES" sz="2100" kern="1200">
                <a:solidFill>
                  <a:schemeClr val="tx1"/>
                </a:solidFill>
              </a:endParaRPr>
            </a:p>
          </p:txBody>
        </p:sp>
        <p:sp>
          <p:nvSpPr>
            <p:cNvPr id="12" name="Forma libre: forma 11">
              <a:extLst>
                <a:ext uri="{FF2B5EF4-FFF2-40B4-BE49-F238E27FC236}">
                  <a16:creationId xmlns:a16="http://schemas.microsoft.com/office/drawing/2014/main" id="{CE612A7F-7BD8-4C19-B1D4-8007A5F7C25B}"/>
                </a:ext>
              </a:extLst>
            </p:cNvPr>
            <p:cNvSpPr/>
            <p:nvPr/>
          </p:nvSpPr>
          <p:spPr>
            <a:xfrm>
              <a:off x="3138075" y="4280739"/>
              <a:ext cx="2950434" cy="2450460"/>
            </a:xfrm>
            <a:custGeom>
              <a:avLst/>
              <a:gdLst>
                <a:gd name="connsiteX0" fmla="*/ 0 w 2950434"/>
                <a:gd name="connsiteY0" fmla="*/ 1225230 h 2450460"/>
                <a:gd name="connsiteX1" fmla="*/ 1475217 w 2950434"/>
                <a:gd name="connsiteY1" fmla="*/ 0 h 2450460"/>
                <a:gd name="connsiteX2" fmla="*/ 2950434 w 2950434"/>
                <a:gd name="connsiteY2" fmla="*/ 1225230 h 2450460"/>
                <a:gd name="connsiteX3" fmla="*/ 1475217 w 2950434"/>
                <a:gd name="connsiteY3" fmla="*/ 2450460 h 2450460"/>
                <a:gd name="connsiteX4" fmla="*/ 0 w 2950434"/>
                <a:gd name="connsiteY4" fmla="*/ 1225230 h 2450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0434" h="2450460">
                  <a:moveTo>
                    <a:pt x="0" y="1225230"/>
                  </a:moveTo>
                  <a:cubicBezTo>
                    <a:pt x="0" y="548554"/>
                    <a:pt x="660477" y="0"/>
                    <a:pt x="1475217" y="0"/>
                  </a:cubicBezTo>
                  <a:cubicBezTo>
                    <a:pt x="2289957" y="0"/>
                    <a:pt x="2950434" y="548554"/>
                    <a:pt x="2950434" y="1225230"/>
                  </a:cubicBezTo>
                  <a:cubicBezTo>
                    <a:pt x="2950434" y="1901906"/>
                    <a:pt x="2289957" y="2450460"/>
                    <a:pt x="1475217" y="2450460"/>
                  </a:cubicBezTo>
                  <a:cubicBezTo>
                    <a:pt x="660477" y="2450460"/>
                    <a:pt x="0" y="1901906"/>
                    <a:pt x="0" y="1225230"/>
                  </a:cubicBezTo>
                  <a:close/>
                </a:path>
              </a:pathLst>
            </a:custGeom>
            <a:solidFill>
              <a:srgbClr val="00B050"/>
            </a:solidFill>
          </p:spPr>
          <p:style>
            <a:lnRef idx="2">
              <a:schemeClr val="lt1">
                <a:hueOff val="0"/>
                <a:satOff val="0"/>
                <a:lumOff val="0"/>
                <a:alphaOff val="0"/>
              </a:schemeClr>
            </a:lnRef>
            <a:fillRef idx="1">
              <a:scrgbClr r="0" g="0" b="0"/>
            </a:fillRef>
            <a:effectRef idx="0">
              <a:schemeClr val="accent3">
                <a:hueOff val="-6685741"/>
                <a:satOff val="-38887"/>
                <a:lumOff val="-63529"/>
                <a:alphaOff val="0"/>
              </a:schemeClr>
            </a:effectRef>
            <a:fontRef idx="minor">
              <a:schemeClr val="lt1"/>
            </a:fontRef>
          </p:style>
          <p:txBody>
            <a:bodyPr spcFirstLastPara="0" vert="horz" wrap="square" lIns="449861" tIns="376642" rIns="449861" bIns="376642" numCol="1" spcCol="1270" anchor="ctr" anchorCtr="0">
              <a:noAutofit/>
            </a:bodyPr>
            <a:lstStyle/>
            <a:p>
              <a:pPr marL="0" lvl="0" indent="0" algn="ctr" defTabSz="622300">
                <a:lnSpc>
                  <a:spcPct val="90000"/>
                </a:lnSpc>
                <a:spcBef>
                  <a:spcPct val="0"/>
                </a:spcBef>
                <a:spcAft>
                  <a:spcPct val="35000"/>
                </a:spcAft>
                <a:buNone/>
              </a:pPr>
              <a:r>
                <a:rPr lang="es-ES" sz="1400" b="1" kern="1200" dirty="0">
                  <a:solidFill>
                    <a:schemeClr val="tx1"/>
                  </a:solidFill>
                </a:rPr>
                <a:t>DIRECCIÓN</a:t>
              </a:r>
            </a:p>
            <a:p>
              <a:pPr marL="0" lvl="0" indent="0" algn="ctr" defTabSz="622300">
                <a:lnSpc>
                  <a:spcPct val="90000"/>
                </a:lnSpc>
                <a:spcBef>
                  <a:spcPct val="0"/>
                </a:spcBef>
                <a:spcAft>
                  <a:spcPct val="35000"/>
                </a:spcAft>
                <a:buNone/>
              </a:pPr>
              <a:r>
                <a:rPr lang="es-ES" sz="1400" kern="1200" dirty="0">
                  <a:solidFill>
                    <a:schemeClr val="tx1"/>
                  </a:solidFill>
                </a:rPr>
                <a:t>Motivar, coordinar y vigorizar a individuos y grupos para que colaboren en la consecución de las metas de la organización</a:t>
              </a:r>
            </a:p>
            <a:p>
              <a:pPr marL="0" lvl="0" indent="0" algn="ctr" defTabSz="622300">
                <a:lnSpc>
                  <a:spcPct val="90000"/>
                </a:lnSpc>
                <a:spcBef>
                  <a:spcPct val="0"/>
                </a:spcBef>
                <a:spcAft>
                  <a:spcPct val="35000"/>
                </a:spcAft>
                <a:buNone/>
              </a:pPr>
              <a:endParaRPr lang="es-ES" sz="1400" kern="1200" dirty="0">
                <a:solidFill>
                  <a:schemeClr val="tx1"/>
                </a:solidFill>
              </a:endParaRPr>
            </a:p>
          </p:txBody>
        </p:sp>
        <p:sp>
          <p:nvSpPr>
            <p:cNvPr id="13" name="Forma libre: forma 12">
              <a:extLst>
                <a:ext uri="{FF2B5EF4-FFF2-40B4-BE49-F238E27FC236}">
                  <a16:creationId xmlns:a16="http://schemas.microsoft.com/office/drawing/2014/main" id="{8D011804-E242-402C-860B-2EEC9A5F70A7}"/>
                </a:ext>
              </a:extLst>
            </p:cNvPr>
            <p:cNvSpPr/>
            <p:nvPr/>
          </p:nvSpPr>
          <p:spPr>
            <a:xfrm rot="23672073">
              <a:off x="3042131" y="4256576"/>
              <a:ext cx="347107" cy="575202"/>
            </a:xfrm>
            <a:custGeom>
              <a:avLst/>
              <a:gdLst>
                <a:gd name="connsiteX0" fmla="*/ 0 w 347106"/>
                <a:gd name="connsiteY0" fmla="*/ 115040 h 575201"/>
                <a:gd name="connsiteX1" fmla="*/ 173553 w 347106"/>
                <a:gd name="connsiteY1" fmla="*/ 115040 h 575201"/>
                <a:gd name="connsiteX2" fmla="*/ 173553 w 347106"/>
                <a:gd name="connsiteY2" fmla="*/ 0 h 575201"/>
                <a:gd name="connsiteX3" fmla="*/ 347106 w 347106"/>
                <a:gd name="connsiteY3" fmla="*/ 287601 h 575201"/>
                <a:gd name="connsiteX4" fmla="*/ 173553 w 347106"/>
                <a:gd name="connsiteY4" fmla="*/ 575201 h 575201"/>
                <a:gd name="connsiteX5" fmla="*/ 173553 w 347106"/>
                <a:gd name="connsiteY5" fmla="*/ 460161 h 575201"/>
                <a:gd name="connsiteX6" fmla="*/ 0 w 347106"/>
                <a:gd name="connsiteY6" fmla="*/ 460161 h 575201"/>
                <a:gd name="connsiteX7" fmla="*/ 0 w 347106"/>
                <a:gd name="connsiteY7" fmla="*/ 115040 h 57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106" h="575201">
                  <a:moveTo>
                    <a:pt x="347106" y="460161"/>
                  </a:moveTo>
                  <a:lnTo>
                    <a:pt x="173553" y="460161"/>
                  </a:lnTo>
                  <a:lnTo>
                    <a:pt x="173553" y="575201"/>
                  </a:lnTo>
                  <a:lnTo>
                    <a:pt x="0" y="287600"/>
                  </a:lnTo>
                  <a:lnTo>
                    <a:pt x="173553" y="0"/>
                  </a:lnTo>
                  <a:lnTo>
                    <a:pt x="173553" y="115040"/>
                  </a:lnTo>
                  <a:lnTo>
                    <a:pt x="347106" y="115040"/>
                  </a:lnTo>
                  <a:lnTo>
                    <a:pt x="347106" y="460161"/>
                  </a:lnTo>
                  <a:close/>
                </a:path>
              </a:pathLst>
            </a:custGeom>
            <a:solidFill>
              <a:srgbClr val="00B050"/>
            </a:solidFill>
          </p:spPr>
          <p:style>
            <a:lnRef idx="0">
              <a:schemeClr val="lt1">
                <a:hueOff val="0"/>
                <a:satOff val="0"/>
                <a:lumOff val="0"/>
                <a:alphaOff val="0"/>
              </a:schemeClr>
            </a:lnRef>
            <a:fillRef idx="1">
              <a:scrgbClr r="0" g="0" b="0"/>
            </a:fillRef>
            <a:effectRef idx="0">
              <a:schemeClr val="accent3">
                <a:hueOff val="-6685741"/>
                <a:satOff val="-38887"/>
                <a:lumOff val="-63529"/>
                <a:alphaOff val="0"/>
              </a:schemeClr>
            </a:effectRef>
            <a:fontRef idx="minor">
              <a:schemeClr val="lt1"/>
            </a:fontRef>
          </p:style>
          <p:txBody>
            <a:bodyPr spcFirstLastPara="0" vert="horz" wrap="square" lIns="104131" tIns="115040" rIns="1" bIns="115040" numCol="1" spcCol="1270" anchor="ctr" anchorCtr="0">
              <a:noAutofit/>
            </a:bodyPr>
            <a:lstStyle/>
            <a:p>
              <a:pPr marL="0" lvl="0" indent="0" algn="ctr" defTabSz="933450">
                <a:lnSpc>
                  <a:spcPct val="90000"/>
                </a:lnSpc>
                <a:spcBef>
                  <a:spcPct val="0"/>
                </a:spcBef>
                <a:spcAft>
                  <a:spcPct val="35000"/>
                </a:spcAft>
                <a:buNone/>
              </a:pPr>
              <a:endParaRPr lang="es-ES" sz="2100" kern="1200">
                <a:solidFill>
                  <a:schemeClr val="tx1"/>
                </a:solidFill>
              </a:endParaRPr>
            </a:p>
          </p:txBody>
        </p:sp>
        <p:sp>
          <p:nvSpPr>
            <p:cNvPr id="14" name="Forma libre: forma 13">
              <a:extLst>
                <a:ext uri="{FF2B5EF4-FFF2-40B4-BE49-F238E27FC236}">
                  <a16:creationId xmlns:a16="http://schemas.microsoft.com/office/drawing/2014/main" id="{27799200-38DA-4F7C-B541-D88E8F7B3ABB}"/>
                </a:ext>
              </a:extLst>
            </p:cNvPr>
            <p:cNvSpPr/>
            <p:nvPr/>
          </p:nvSpPr>
          <p:spPr>
            <a:xfrm>
              <a:off x="539552" y="2546038"/>
              <a:ext cx="2726403" cy="2189242"/>
            </a:xfrm>
            <a:custGeom>
              <a:avLst/>
              <a:gdLst>
                <a:gd name="connsiteX0" fmla="*/ 0 w 2726403"/>
                <a:gd name="connsiteY0" fmla="*/ 1094621 h 2189242"/>
                <a:gd name="connsiteX1" fmla="*/ 1363202 w 2726403"/>
                <a:gd name="connsiteY1" fmla="*/ 0 h 2189242"/>
                <a:gd name="connsiteX2" fmla="*/ 2726404 w 2726403"/>
                <a:gd name="connsiteY2" fmla="*/ 1094621 h 2189242"/>
                <a:gd name="connsiteX3" fmla="*/ 1363202 w 2726403"/>
                <a:gd name="connsiteY3" fmla="*/ 2189242 h 2189242"/>
                <a:gd name="connsiteX4" fmla="*/ 0 w 2726403"/>
                <a:gd name="connsiteY4" fmla="*/ 1094621 h 2189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6403" h="2189242">
                  <a:moveTo>
                    <a:pt x="0" y="1094621"/>
                  </a:moveTo>
                  <a:cubicBezTo>
                    <a:pt x="0" y="490079"/>
                    <a:pt x="610326" y="0"/>
                    <a:pt x="1363202" y="0"/>
                  </a:cubicBezTo>
                  <a:cubicBezTo>
                    <a:pt x="2116078" y="0"/>
                    <a:pt x="2726404" y="490079"/>
                    <a:pt x="2726404" y="1094621"/>
                  </a:cubicBezTo>
                  <a:cubicBezTo>
                    <a:pt x="2726404" y="1699163"/>
                    <a:pt x="2116078" y="2189242"/>
                    <a:pt x="1363202" y="2189242"/>
                  </a:cubicBezTo>
                  <a:cubicBezTo>
                    <a:pt x="610326" y="2189242"/>
                    <a:pt x="0" y="1699163"/>
                    <a:pt x="0" y="1094621"/>
                  </a:cubicBezTo>
                  <a:close/>
                </a:path>
              </a:pathLst>
            </a:custGeom>
            <a:solidFill>
              <a:srgbClr val="F66E1A"/>
            </a:solidFill>
          </p:spPr>
          <p:style>
            <a:lnRef idx="2">
              <a:schemeClr val="lt1">
                <a:hueOff val="0"/>
                <a:satOff val="0"/>
                <a:lumOff val="0"/>
                <a:alphaOff val="0"/>
              </a:schemeClr>
            </a:lnRef>
            <a:fillRef idx="1">
              <a:scrgbClr r="0" g="0" b="0"/>
            </a:fillRef>
            <a:effectRef idx="0">
              <a:schemeClr val="accent3">
                <a:hueOff val="-10028611"/>
                <a:satOff val="-58331"/>
                <a:lumOff val="-95294"/>
                <a:alphaOff val="0"/>
              </a:schemeClr>
            </a:effectRef>
            <a:fontRef idx="minor">
              <a:schemeClr val="lt1"/>
            </a:fontRef>
          </p:style>
          <p:txBody>
            <a:bodyPr spcFirstLastPara="0" vert="horz" wrap="square" lIns="417052" tIns="338387" rIns="417052" bIns="338387" numCol="1" spcCol="1270" anchor="ctr" anchorCtr="0">
              <a:noAutofit/>
            </a:bodyPr>
            <a:lstStyle/>
            <a:p>
              <a:pPr marL="0" lvl="0" indent="0" algn="ctr" defTabSz="622300">
                <a:lnSpc>
                  <a:spcPct val="90000"/>
                </a:lnSpc>
                <a:spcBef>
                  <a:spcPct val="0"/>
                </a:spcBef>
                <a:spcAft>
                  <a:spcPct val="35000"/>
                </a:spcAft>
                <a:buNone/>
              </a:pPr>
              <a:r>
                <a:rPr lang="es-ES" sz="1400" b="1" kern="1200" dirty="0">
                  <a:solidFill>
                    <a:schemeClr val="tx1"/>
                  </a:solidFill>
                </a:rPr>
                <a:t>CONTROL</a:t>
              </a:r>
            </a:p>
            <a:p>
              <a:pPr marL="0" lvl="0" indent="0" algn="ctr" defTabSz="622300">
                <a:lnSpc>
                  <a:spcPct val="90000"/>
                </a:lnSpc>
                <a:spcBef>
                  <a:spcPct val="0"/>
                </a:spcBef>
                <a:spcAft>
                  <a:spcPct val="35000"/>
                </a:spcAft>
                <a:buNone/>
              </a:pPr>
              <a:r>
                <a:rPr lang="es-ES" sz="1400" kern="1200" dirty="0">
                  <a:solidFill>
                    <a:schemeClr val="tx1"/>
                  </a:solidFill>
                </a:rPr>
                <a:t>Establecer sistemas adecuados de medición y supervisión para evaluar el grado en que la organización alcanza sus metas</a:t>
              </a:r>
            </a:p>
          </p:txBody>
        </p:sp>
        <p:sp>
          <p:nvSpPr>
            <p:cNvPr id="15" name="Forma libre: forma 14">
              <a:extLst>
                <a:ext uri="{FF2B5EF4-FFF2-40B4-BE49-F238E27FC236}">
                  <a16:creationId xmlns:a16="http://schemas.microsoft.com/office/drawing/2014/main" id="{D5E2C072-064D-47A4-AA21-73D4C9050920}"/>
                </a:ext>
              </a:extLst>
            </p:cNvPr>
            <p:cNvSpPr/>
            <p:nvPr/>
          </p:nvSpPr>
          <p:spPr>
            <a:xfrm rot="19625528">
              <a:off x="3058598" y="2491194"/>
              <a:ext cx="351991" cy="575201"/>
            </a:xfrm>
            <a:custGeom>
              <a:avLst/>
              <a:gdLst>
                <a:gd name="connsiteX0" fmla="*/ 0 w 351991"/>
                <a:gd name="connsiteY0" fmla="*/ 115040 h 575201"/>
                <a:gd name="connsiteX1" fmla="*/ 175996 w 351991"/>
                <a:gd name="connsiteY1" fmla="*/ 115040 h 575201"/>
                <a:gd name="connsiteX2" fmla="*/ 175996 w 351991"/>
                <a:gd name="connsiteY2" fmla="*/ 0 h 575201"/>
                <a:gd name="connsiteX3" fmla="*/ 351991 w 351991"/>
                <a:gd name="connsiteY3" fmla="*/ 287601 h 575201"/>
                <a:gd name="connsiteX4" fmla="*/ 175996 w 351991"/>
                <a:gd name="connsiteY4" fmla="*/ 575201 h 575201"/>
                <a:gd name="connsiteX5" fmla="*/ 175996 w 351991"/>
                <a:gd name="connsiteY5" fmla="*/ 460161 h 575201"/>
                <a:gd name="connsiteX6" fmla="*/ 0 w 351991"/>
                <a:gd name="connsiteY6" fmla="*/ 460161 h 575201"/>
                <a:gd name="connsiteX7" fmla="*/ 0 w 351991"/>
                <a:gd name="connsiteY7" fmla="*/ 115040 h 57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1991" h="575201">
                  <a:moveTo>
                    <a:pt x="0" y="115040"/>
                  </a:moveTo>
                  <a:lnTo>
                    <a:pt x="175996" y="115040"/>
                  </a:lnTo>
                  <a:lnTo>
                    <a:pt x="175996" y="0"/>
                  </a:lnTo>
                  <a:lnTo>
                    <a:pt x="351991" y="287601"/>
                  </a:lnTo>
                  <a:lnTo>
                    <a:pt x="175996" y="575201"/>
                  </a:lnTo>
                  <a:lnTo>
                    <a:pt x="175996" y="460161"/>
                  </a:lnTo>
                  <a:lnTo>
                    <a:pt x="0" y="460161"/>
                  </a:lnTo>
                  <a:lnTo>
                    <a:pt x="0" y="115040"/>
                  </a:lnTo>
                  <a:close/>
                </a:path>
              </a:pathLst>
            </a:custGeom>
            <a:solidFill>
              <a:srgbClr val="F66E1A"/>
            </a:solidFill>
          </p:spPr>
          <p:style>
            <a:lnRef idx="0">
              <a:schemeClr val="lt1">
                <a:hueOff val="0"/>
                <a:satOff val="0"/>
                <a:lumOff val="0"/>
                <a:alphaOff val="0"/>
              </a:schemeClr>
            </a:lnRef>
            <a:fillRef idx="1">
              <a:scrgbClr r="0" g="0" b="0"/>
            </a:fillRef>
            <a:effectRef idx="0">
              <a:schemeClr val="accent3">
                <a:hueOff val="-10028611"/>
                <a:satOff val="-58331"/>
                <a:lumOff val="-95294"/>
                <a:alphaOff val="0"/>
              </a:schemeClr>
            </a:effectRef>
            <a:fontRef idx="minor">
              <a:schemeClr val="lt1"/>
            </a:fontRef>
          </p:style>
          <p:txBody>
            <a:bodyPr spcFirstLastPara="0" vert="horz" wrap="square" lIns="-1" tIns="115040" rIns="105597" bIns="115039" numCol="1" spcCol="1270" anchor="ctr" anchorCtr="0">
              <a:noAutofit/>
            </a:bodyPr>
            <a:lstStyle/>
            <a:p>
              <a:pPr marL="0" lvl="0" indent="0" algn="ctr" defTabSz="933450">
                <a:lnSpc>
                  <a:spcPct val="90000"/>
                </a:lnSpc>
                <a:spcBef>
                  <a:spcPct val="0"/>
                </a:spcBef>
                <a:spcAft>
                  <a:spcPct val="35000"/>
                </a:spcAft>
                <a:buNone/>
              </a:pPr>
              <a:endParaRPr lang="es-ES" sz="2100" kern="1200">
                <a:solidFill>
                  <a:schemeClr val="tx1"/>
                </a:solidFill>
              </a:endParaRPr>
            </a:p>
          </p:txBody>
        </p:sp>
      </p:grpSp>
      <p:sp>
        <p:nvSpPr>
          <p:cNvPr id="6" name="5 Rectángulo redondeado"/>
          <p:cNvSpPr/>
          <p:nvPr/>
        </p:nvSpPr>
        <p:spPr>
          <a:xfrm>
            <a:off x="3347864" y="3068960"/>
            <a:ext cx="2448272" cy="1152128"/>
          </a:xfrm>
          <a:prstGeom prst="roundRect">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FUNCIONES DE LA </a:t>
            </a:r>
          </a:p>
          <a:p>
            <a:pPr algn="ctr"/>
            <a:r>
              <a:rPr lang="es-ES" sz="1700" dirty="0">
                <a:solidFill>
                  <a:schemeClr val="tx1"/>
                </a:solidFill>
              </a:rPr>
              <a:t>ADMINISTRACIÓN</a:t>
            </a:r>
          </a:p>
        </p:txBody>
      </p:sp>
      <p:sp>
        <p:nvSpPr>
          <p:cNvPr id="5" name="CuadroTexto 4">
            <a:extLst>
              <a:ext uri="{FF2B5EF4-FFF2-40B4-BE49-F238E27FC236}">
                <a16:creationId xmlns:a16="http://schemas.microsoft.com/office/drawing/2014/main" id="{CE825AB3-032E-4D9E-883C-E7D839A726AB}"/>
              </a:ext>
            </a:extLst>
          </p:cNvPr>
          <p:cNvSpPr txBox="1"/>
          <p:nvPr/>
        </p:nvSpPr>
        <p:spPr>
          <a:xfrm>
            <a:off x="5784800" y="896264"/>
            <a:ext cx="2725426" cy="707886"/>
          </a:xfrm>
          <a:prstGeom prst="rect">
            <a:avLst/>
          </a:prstGeom>
          <a:noFill/>
        </p:spPr>
        <p:txBody>
          <a:bodyPr wrap="none" rtlCol="0">
            <a:spAutoFit/>
          </a:bodyPr>
          <a:lstStyle/>
          <a:p>
            <a:pPr algn="ctr"/>
            <a:r>
              <a:rPr lang="es-ES" sz="2000" b="1" dirty="0">
                <a:solidFill>
                  <a:srgbClr val="C00000"/>
                </a:solidFill>
                <a:latin typeface="+mj-lt"/>
              </a:rPr>
              <a:t>¿QUÉ?</a:t>
            </a:r>
          </a:p>
          <a:p>
            <a:pPr algn="ctr"/>
            <a:r>
              <a:rPr lang="es-ES" sz="2000" b="1" dirty="0">
                <a:solidFill>
                  <a:srgbClr val="C00000"/>
                </a:solidFill>
                <a:latin typeface="+mj-lt"/>
              </a:rPr>
              <a:t>Propósitos y medios </a:t>
            </a:r>
          </a:p>
        </p:txBody>
      </p:sp>
      <p:sp>
        <p:nvSpPr>
          <p:cNvPr id="16" name="CuadroTexto 15">
            <a:extLst>
              <a:ext uri="{FF2B5EF4-FFF2-40B4-BE49-F238E27FC236}">
                <a16:creationId xmlns:a16="http://schemas.microsoft.com/office/drawing/2014/main" id="{E0B162C6-233B-4869-9D59-63AB41DE8DAC}"/>
              </a:ext>
            </a:extLst>
          </p:cNvPr>
          <p:cNvSpPr txBox="1"/>
          <p:nvPr/>
        </p:nvSpPr>
        <p:spPr>
          <a:xfrm>
            <a:off x="6990355" y="1882013"/>
            <a:ext cx="2366913" cy="707886"/>
          </a:xfrm>
          <a:prstGeom prst="rect">
            <a:avLst/>
          </a:prstGeom>
          <a:noFill/>
        </p:spPr>
        <p:txBody>
          <a:bodyPr wrap="square" rtlCol="0">
            <a:spAutoFit/>
          </a:bodyPr>
          <a:lstStyle/>
          <a:p>
            <a:pPr algn="ctr"/>
            <a:r>
              <a:rPr lang="es-ES" sz="2000" b="1" dirty="0">
                <a:solidFill>
                  <a:srgbClr val="C00000"/>
                </a:solidFill>
                <a:latin typeface="+mj-lt"/>
              </a:rPr>
              <a:t>¿CÓMO Y</a:t>
            </a:r>
          </a:p>
          <a:p>
            <a:pPr algn="ctr"/>
            <a:r>
              <a:rPr lang="es-ES" sz="2000" b="1" dirty="0">
                <a:solidFill>
                  <a:srgbClr val="C00000"/>
                </a:solidFill>
                <a:latin typeface="+mj-lt"/>
              </a:rPr>
              <a:t>CON QUIÉN?</a:t>
            </a:r>
          </a:p>
        </p:txBody>
      </p:sp>
      <p:sp>
        <p:nvSpPr>
          <p:cNvPr id="17" name="CuadroTexto 16">
            <a:extLst>
              <a:ext uri="{FF2B5EF4-FFF2-40B4-BE49-F238E27FC236}">
                <a16:creationId xmlns:a16="http://schemas.microsoft.com/office/drawing/2014/main" id="{C602F009-0B86-4D1C-B1E8-AAA5ACFE0C80}"/>
              </a:ext>
            </a:extLst>
          </p:cNvPr>
          <p:cNvSpPr txBox="1"/>
          <p:nvPr/>
        </p:nvSpPr>
        <p:spPr>
          <a:xfrm>
            <a:off x="5940152" y="5765194"/>
            <a:ext cx="2760492" cy="400110"/>
          </a:xfrm>
          <a:prstGeom prst="rect">
            <a:avLst/>
          </a:prstGeom>
          <a:noFill/>
        </p:spPr>
        <p:txBody>
          <a:bodyPr wrap="square" rtlCol="0">
            <a:spAutoFit/>
          </a:bodyPr>
          <a:lstStyle/>
          <a:p>
            <a:pPr algn="ctr"/>
            <a:r>
              <a:rPr lang="es-ES" sz="2000" b="1">
                <a:solidFill>
                  <a:srgbClr val="C00000"/>
                </a:solidFill>
                <a:latin typeface="+mj-lt"/>
              </a:rPr>
              <a:t>¿DE </a:t>
            </a:r>
            <a:r>
              <a:rPr lang="es-ES" sz="2000" b="1" dirty="0">
                <a:solidFill>
                  <a:srgbClr val="C00000"/>
                </a:solidFill>
                <a:latin typeface="+mj-lt"/>
              </a:rPr>
              <a:t>QUÉ MANERA?</a:t>
            </a:r>
          </a:p>
        </p:txBody>
      </p:sp>
      <p:sp>
        <p:nvSpPr>
          <p:cNvPr id="18" name="CuadroTexto 17">
            <a:extLst>
              <a:ext uri="{FF2B5EF4-FFF2-40B4-BE49-F238E27FC236}">
                <a16:creationId xmlns:a16="http://schemas.microsoft.com/office/drawing/2014/main" id="{41D58D5C-0BEA-4694-B87F-BBF107DE302B}"/>
              </a:ext>
            </a:extLst>
          </p:cNvPr>
          <p:cNvSpPr txBox="1"/>
          <p:nvPr/>
        </p:nvSpPr>
        <p:spPr>
          <a:xfrm>
            <a:off x="-78378" y="1604150"/>
            <a:ext cx="3919948" cy="1015663"/>
          </a:xfrm>
          <a:prstGeom prst="rect">
            <a:avLst/>
          </a:prstGeom>
          <a:noFill/>
        </p:spPr>
        <p:txBody>
          <a:bodyPr wrap="square" rtlCol="0">
            <a:spAutoFit/>
          </a:bodyPr>
          <a:lstStyle/>
          <a:p>
            <a:pPr algn="ctr"/>
            <a:r>
              <a:rPr lang="es-ES" sz="2000" b="1" dirty="0">
                <a:solidFill>
                  <a:srgbClr val="C00000"/>
                </a:solidFill>
                <a:latin typeface="+mj-lt"/>
              </a:rPr>
              <a:t>¿RESULTADO?</a:t>
            </a:r>
          </a:p>
          <a:p>
            <a:pPr algn="ctr"/>
            <a:r>
              <a:rPr lang="es-ES" sz="2000" b="1" dirty="0">
                <a:solidFill>
                  <a:srgbClr val="C00000"/>
                </a:solidFill>
                <a:latin typeface="+mj-lt"/>
              </a:rPr>
              <a:t>Seguimiento + Comparación + Corrección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7"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4294967295"/>
          </p:nvPr>
        </p:nvSpPr>
        <p:spPr>
          <a:xfrm>
            <a:off x="446856" y="1052736"/>
            <a:ext cx="8229600" cy="5472608"/>
          </a:xfrm>
        </p:spPr>
        <p:txBody>
          <a:bodyPr/>
          <a:lstStyle/>
          <a:p>
            <a:pPr algn="just" eaLnBrk="1" hangingPunct="1">
              <a:buFont typeface="Wingdings" pitchFamily="2" charset="2"/>
              <a:buNone/>
            </a:pPr>
            <a:r>
              <a:rPr lang="es-ES" sz="2000" b="1" u="sng" dirty="0"/>
              <a:t>Justificación e importancia</a:t>
            </a:r>
          </a:p>
          <a:p>
            <a:pPr marL="444500" lvl="1" indent="12700" algn="just" eaLnBrk="1" hangingPunct="1">
              <a:buNone/>
            </a:pPr>
            <a:r>
              <a:rPr lang="es-ES" sz="2000" dirty="0"/>
              <a:t>La planificación es el instrumento a través del cual las empresas van a desarrollar la capacidad de anticiparse al futuro y reducir la incertidumbre reinante. </a:t>
            </a:r>
          </a:p>
          <a:p>
            <a:pPr algn="just">
              <a:buNone/>
            </a:pPr>
            <a:endParaRPr lang="es-ES" sz="2000" b="1" u="sng" dirty="0"/>
          </a:p>
          <a:p>
            <a:pPr algn="just">
              <a:buNone/>
            </a:pPr>
            <a:r>
              <a:rPr lang="es-ES" sz="2000" b="1" u="sng" dirty="0"/>
              <a:t>Razones que la justifican:</a:t>
            </a:r>
          </a:p>
          <a:p>
            <a:pPr lvl="1" algn="just">
              <a:buFont typeface="Wingdings" pitchFamily="2" charset="2"/>
              <a:buChar char="ü"/>
            </a:pPr>
            <a:r>
              <a:rPr lang="es-ES" sz="1800" dirty="0"/>
              <a:t>Proporciona un marco favorable para la cohesión interna.</a:t>
            </a:r>
          </a:p>
          <a:p>
            <a:pPr lvl="1" algn="just">
              <a:buFont typeface="Wingdings" pitchFamily="2" charset="2"/>
              <a:buChar char="ü"/>
            </a:pPr>
            <a:r>
              <a:rPr lang="es-ES" sz="1800" dirty="0"/>
              <a:t>Facilita los procesos de cambio, permite reconocer y justificar las razones por las que deben modificarse determinados aspectos de la empresa para seguir siendo competitivos. </a:t>
            </a:r>
          </a:p>
          <a:p>
            <a:pPr lvl="1" algn="just">
              <a:buFont typeface="Wingdings" pitchFamily="2" charset="2"/>
              <a:buChar char="ü"/>
            </a:pPr>
            <a:r>
              <a:rPr lang="es-ES" sz="1800" dirty="0"/>
              <a:t>Establece normas que facilitan su control.</a:t>
            </a:r>
          </a:p>
          <a:p>
            <a:pPr lvl="2" eaLnBrk="1" hangingPunct="1">
              <a:buNone/>
            </a:pPr>
            <a:endParaRPr lang="es-ES" sz="1600" dirty="0"/>
          </a:p>
          <a:p>
            <a:pPr marL="342900" lvl="1" indent="-342900" algn="just">
              <a:buNone/>
            </a:pPr>
            <a:r>
              <a:rPr lang="es-ES" b="1" u="sng" dirty="0">
                <a:ea typeface="+mn-ea"/>
                <a:cs typeface="+mn-cs"/>
              </a:rPr>
              <a:t>Implicaciones contraproducentes:</a:t>
            </a:r>
          </a:p>
          <a:p>
            <a:pPr lvl="1" algn="just">
              <a:buFont typeface="Wingdings" pitchFamily="2" charset="2"/>
              <a:buChar char="ü"/>
            </a:pPr>
            <a:r>
              <a:rPr lang="es-ES" sz="1800" dirty="0"/>
              <a:t>Un exceso de planificación puede encorsetar a la empresa y reducir su capacidad de respuesta ante cambios no previstos, limita la creatividad de los trabajadores a la hora de enfrentarse a situaciones no previstas.</a:t>
            </a:r>
          </a:p>
          <a:p>
            <a:pPr lvl="2" eaLnBrk="1" hangingPunct="1">
              <a:buNone/>
            </a:pPr>
            <a:endParaRPr lang="es-ES" sz="1600" dirty="0"/>
          </a:p>
        </p:txBody>
      </p:sp>
      <p:sp>
        <p:nvSpPr>
          <p:cNvPr id="6" name="5 Marcador de número de diapositiva"/>
          <p:cNvSpPr>
            <a:spLocks noGrp="1"/>
          </p:cNvSpPr>
          <p:nvPr>
            <p:ph type="sldNum" sz="quarter" idx="4"/>
          </p:nvPr>
        </p:nvSpPr>
        <p:spPr/>
        <p:txBody>
          <a:bodyPr/>
          <a:lstStyle/>
          <a:p>
            <a:pPr>
              <a:defRPr/>
            </a:pPr>
            <a:fld id="{031E6992-B48E-4E13-A9CD-F20B6AAC6FC2}" type="slidenum">
              <a:rPr lang="es-ES" smtClean="0"/>
              <a:pPr>
                <a:defRPr/>
              </a:pPr>
              <a:t>30</a:t>
            </a:fld>
            <a:endParaRPr lang="es-ES"/>
          </a:p>
        </p:txBody>
      </p:sp>
      <p:sp>
        <p:nvSpPr>
          <p:cNvPr id="8" name="1 Título"/>
          <p:cNvSpPr>
            <a:spLocks noGrp="1"/>
          </p:cNvSpPr>
          <p:nvPr>
            <p:ph type="title"/>
          </p:nvPr>
        </p:nvSpPr>
        <p:spPr>
          <a:xfrm>
            <a:off x="107950" y="115888"/>
            <a:ext cx="8928100" cy="720725"/>
          </a:xfrm>
        </p:spPr>
        <p:txBody>
          <a:bodyPr/>
          <a:lstStyle/>
          <a:p>
            <a:pPr algn="l"/>
            <a:r>
              <a:rPr lang="es-ES" dirty="0"/>
              <a:t>3.2.1. Planificación: justificación e importancia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31</a:t>
            </a:fld>
            <a:endParaRPr lang="es-ES"/>
          </a:p>
        </p:txBody>
      </p:sp>
      <p:sp>
        <p:nvSpPr>
          <p:cNvPr id="4099" name="2 Marcador de contenido"/>
          <p:cNvSpPr>
            <a:spLocks noGrp="1"/>
          </p:cNvSpPr>
          <p:nvPr>
            <p:ph idx="4294967295"/>
          </p:nvPr>
        </p:nvSpPr>
        <p:spPr>
          <a:xfrm>
            <a:off x="288032" y="1052637"/>
            <a:ext cx="8604448" cy="1728291"/>
          </a:xfrm>
        </p:spPr>
        <p:txBody>
          <a:bodyPr lIns="0" rIns="108000"/>
          <a:lstStyle/>
          <a:p>
            <a:pPr algn="just" eaLnBrk="1" hangingPunct="1">
              <a:lnSpc>
                <a:spcPct val="90000"/>
              </a:lnSpc>
              <a:buFont typeface="Wingdings 2" pitchFamily="18" charset="2"/>
              <a:buNone/>
            </a:pPr>
            <a:r>
              <a:rPr lang="es-ES" sz="1800" b="1" dirty="0">
                <a:solidFill>
                  <a:srgbClr val="C00000"/>
                </a:solidFill>
              </a:rPr>
              <a:t>DEFINICIÓN</a:t>
            </a:r>
          </a:p>
          <a:p>
            <a:pPr marL="444500" lvl="1" indent="-12700" algn="just">
              <a:buNone/>
              <a:tabLst>
                <a:tab pos="444500" algn="l"/>
              </a:tabLst>
            </a:pPr>
            <a:r>
              <a:rPr lang="es-ES_tradnl" sz="1800" kern="1200" dirty="0"/>
              <a:t>Esta función implica la selección de medios para la consecución de objetivos y supone decidir de antemano qué es lo que se va a hacer y cómo</a:t>
            </a:r>
            <a:r>
              <a:rPr lang="es-ES" sz="1800" dirty="0"/>
              <a:t> </a:t>
            </a:r>
            <a:r>
              <a:rPr lang="es-ES" sz="1800" dirty="0">
                <a:sym typeface="Wingdings" pitchFamily="2" charset="2"/>
              </a:rPr>
              <a:t> p</a:t>
            </a:r>
            <a:r>
              <a:rPr lang="es-ES" sz="1800" kern="1200" dirty="0"/>
              <a:t>lanificar</a:t>
            </a:r>
            <a:r>
              <a:rPr lang="es-ES_tradnl" sz="1800" kern="1200" dirty="0"/>
              <a:t> consiste en decidir anticipadamente qué se quiere hacer en el futuro y cuáles son los medios que van a utilizarse para alcanzarlo.</a:t>
            </a:r>
            <a:endParaRPr lang="es-ES" sz="1800" dirty="0"/>
          </a:p>
        </p:txBody>
      </p:sp>
      <p:sp>
        <p:nvSpPr>
          <p:cNvPr id="6" name="5 CuadroTexto"/>
          <p:cNvSpPr txBox="1"/>
          <p:nvPr/>
        </p:nvSpPr>
        <p:spPr>
          <a:xfrm>
            <a:off x="323528" y="2780928"/>
            <a:ext cx="8568952" cy="3801041"/>
          </a:xfrm>
          <a:prstGeom prst="rect">
            <a:avLst/>
          </a:prstGeom>
          <a:noFill/>
        </p:spPr>
        <p:txBody>
          <a:bodyPr wrap="square" rtlCol="0">
            <a:spAutoFit/>
          </a:bodyPr>
          <a:lstStyle/>
          <a:p>
            <a:pPr marL="342900" indent="-342900" algn="just">
              <a:spcAft>
                <a:spcPts val="600"/>
              </a:spcAft>
            </a:pPr>
            <a:r>
              <a:rPr lang="es-ES" dirty="0">
                <a:latin typeface="+mn-lt"/>
              </a:rPr>
              <a:t>Se ocupa de:</a:t>
            </a:r>
          </a:p>
          <a:p>
            <a:pPr marL="342900" indent="-342900" algn="just">
              <a:spcAft>
                <a:spcPts val="600"/>
              </a:spcAft>
              <a:buFont typeface="Wingdings" pitchFamily="2" charset="2"/>
              <a:buChar char="Ø"/>
            </a:pPr>
            <a:r>
              <a:rPr lang="es-ES" dirty="0">
                <a:latin typeface="+mn-lt"/>
              </a:rPr>
              <a:t>En sentido amplio: los </a:t>
            </a:r>
            <a:r>
              <a:rPr lang="es-ES" b="1" dirty="0">
                <a:solidFill>
                  <a:srgbClr val="C00000"/>
                </a:solidFill>
                <a:latin typeface="+mn-lt"/>
              </a:rPr>
              <a:t>objetivos</a:t>
            </a:r>
            <a:r>
              <a:rPr lang="es-ES" dirty="0">
                <a:latin typeface="+mn-lt"/>
              </a:rPr>
              <a:t> (metas) </a:t>
            </a:r>
            <a:r>
              <a:rPr lang="es-ES" dirty="0">
                <a:latin typeface="+mn-lt"/>
                <a:sym typeface="Wingdings" pitchFamily="2" charset="2"/>
              </a:rPr>
              <a:t> resultados deseados por la unidad de análisis  los objetivos empresariales son un compromiso para la consecución de unos determinados resultados en un determinado periodo de tiempo.</a:t>
            </a:r>
          </a:p>
          <a:p>
            <a:pPr marL="342900" indent="-342900" algn="just">
              <a:spcAft>
                <a:spcPts val="600"/>
              </a:spcAft>
              <a:buFont typeface="Wingdings" pitchFamily="2" charset="2"/>
              <a:buChar char="Ø"/>
            </a:pPr>
            <a:r>
              <a:rPr lang="es-ES" dirty="0">
                <a:latin typeface="+mn-lt"/>
                <a:sym typeface="Wingdings" pitchFamily="2" charset="2"/>
              </a:rPr>
              <a:t>En sentido estricto: </a:t>
            </a:r>
            <a:r>
              <a:rPr lang="es-ES" b="1" dirty="0">
                <a:solidFill>
                  <a:srgbClr val="C00000"/>
                </a:solidFill>
                <a:latin typeface="+mn-lt"/>
                <a:sym typeface="Wingdings" pitchFamily="2" charset="2"/>
              </a:rPr>
              <a:t>los planes</a:t>
            </a:r>
            <a:endParaRPr lang="es-ES" dirty="0">
              <a:latin typeface="+mn-lt"/>
              <a:sym typeface="Wingdings" pitchFamily="2" charset="2"/>
            </a:endParaRPr>
          </a:p>
          <a:p>
            <a:pPr marL="800100" lvl="1" indent="-342900" algn="just">
              <a:spcAft>
                <a:spcPts val="600"/>
              </a:spcAft>
              <a:buFont typeface="Wingdings" pitchFamily="2" charset="2"/>
              <a:buChar char="§"/>
            </a:pPr>
            <a:r>
              <a:rPr lang="es-ES" dirty="0">
                <a:latin typeface="+mn-lt"/>
                <a:sym typeface="Wingdings" pitchFamily="2" charset="2"/>
              </a:rPr>
              <a:t>Documentos en los que se explica </a:t>
            </a:r>
            <a:r>
              <a:rPr lang="es-ES" b="1" dirty="0">
                <a:solidFill>
                  <a:srgbClr val="C00000"/>
                </a:solidFill>
                <a:latin typeface="+mn-lt"/>
                <a:sym typeface="Wingdings" pitchFamily="2" charset="2"/>
              </a:rPr>
              <a:t>cómo</a:t>
            </a:r>
            <a:r>
              <a:rPr lang="es-ES" dirty="0">
                <a:latin typeface="+mn-lt"/>
                <a:sym typeface="Wingdings" pitchFamily="2" charset="2"/>
              </a:rPr>
              <a:t> se van a alcanzar las metas  identificación de los recursos, su distribución, calendarios y otras acciones para concretar las metas.</a:t>
            </a:r>
          </a:p>
          <a:p>
            <a:pPr marL="800100" lvl="1" indent="-342900" algn="just">
              <a:spcAft>
                <a:spcPts val="600"/>
              </a:spcAft>
              <a:buFont typeface="Wingdings" pitchFamily="2" charset="2"/>
              <a:buChar char="§"/>
            </a:pPr>
            <a:r>
              <a:rPr lang="es-ES" dirty="0">
                <a:latin typeface="+mn-lt"/>
                <a:sym typeface="Wingdings" pitchFamily="2" charset="2"/>
              </a:rPr>
              <a:t>Incluye las </a:t>
            </a:r>
            <a:r>
              <a:rPr lang="es-ES" b="1" dirty="0">
                <a:solidFill>
                  <a:srgbClr val="C00000"/>
                </a:solidFill>
                <a:latin typeface="+mn-lt"/>
                <a:sym typeface="Wingdings" pitchFamily="2" charset="2"/>
              </a:rPr>
              <a:t>acciones</a:t>
            </a:r>
            <a:r>
              <a:rPr lang="es-ES" dirty="0">
                <a:latin typeface="+mn-lt"/>
                <a:sym typeface="Wingdings" pitchFamily="2" charset="2"/>
              </a:rPr>
              <a:t> determinadas en la planificación para alcanzar los objetivos.</a:t>
            </a:r>
          </a:p>
          <a:p>
            <a:pPr algn="just"/>
            <a:endParaRPr lang="es-ES" dirty="0">
              <a:latin typeface="+mn-lt"/>
            </a:endParaRPr>
          </a:p>
        </p:txBody>
      </p:sp>
      <p:sp>
        <p:nvSpPr>
          <p:cNvPr id="9" name="1 Título"/>
          <p:cNvSpPr>
            <a:spLocks noGrp="1"/>
          </p:cNvSpPr>
          <p:nvPr>
            <p:ph type="title"/>
          </p:nvPr>
        </p:nvSpPr>
        <p:spPr>
          <a:xfrm>
            <a:off x="107950" y="115888"/>
            <a:ext cx="8928100" cy="720725"/>
          </a:xfrm>
        </p:spPr>
        <p:txBody>
          <a:bodyPr/>
          <a:lstStyle/>
          <a:p>
            <a:pPr algn="l"/>
            <a:r>
              <a:rPr lang="es-ES" dirty="0"/>
              <a:t>3.2.2. Planificación: definición y fases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2 Marcador de contenido"/>
          <p:cNvSpPr>
            <a:spLocks noGrp="1"/>
          </p:cNvSpPr>
          <p:nvPr>
            <p:ph idx="4294967295"/>
          </p:nvPr>
        </p:nvSpPr>
        <p:spPr>
          <a:xfrm>
            <a:off x="518864" y="1052736"/>
            <a:ext cx="8373616" cy="5328592"/>
          </a:xfrm>
        </p:spPr>
        <p:txBody>
          <a:bodyPr/>
          <a:lstStyle/>
          <a:p>
            <a:pPr marL="342900" lvl="1" indent="-342900" algn="just">
              <a:lnSpc>
                <a:spcPct val="90000"/>
              </a:lnSpc>
              <a:spcAft>
                <a:spcPts val="600"/>
              </a:spcAft>
              <a:buNone/>
            </a:pPr>
            <a:r>
              <a:rPr lang="es-ES" b="1" dirty="0">
                <a:solidFill>
                  <a:srgbClr val="C00000"/>
                </a:solidFill>
                <a:ea typeface="+mn-ea"/>
                <a:cs typeface="+mn-cs"/>
              </a:rPr>
              <a:t>FASES DEL PROCESO:</a:t>
            </a:r>
          </a:p>
          <a:p>
            <a:pPr marL="914400" lvl="1" indent="-457200" algn="just">
              <a:lnSpc>
                <a:spcPct val="90000"/>
              </a:lnSpc>
              <a:spcBef>
                <a:spcPts val="600"/>
              </a:spcBef>
              <a:spcAft>
                <a:spcPts val="600"/>
              </a:spcAft>
              <a:buFont typeface="+mj-lt"/>
              <a:buAutoNum type="arabicPeriod"/>
            </a:pPr>
            <a:r>
              <a:rPr lang="es-ES" dirty="0"/>
              <a:t>Identificación del problema.</a:t>
            </a:r>
          </a:p>
          <a:p>
            <a:pPr marL="914400" lvl="1" indent="-457200" algn="just">
              <a:lnSpc>
                <a:spcPct val="90000"/>
              </a:lnSpc>
              <a:spcBef>
                <a:spcPts val="600"/>
              </a:spcBef>
              <a:spcAft>
                <a:spcPts val="600"/>
              </a:spcAft>
              <a:buFont typeface="+mj-lt"/>
              <a:buAutoNum type="arabicPeriod"/>
            </a:pPr>
            <a:r>
              <a:rPr lang="es-ES" dirty="0"/>
              <a:t>Especificación de objetivos.</a:t>
            </a:r>
          </a:p>
          <a:p>
            <a:pPr marL="914400" lvl="1" indent="-457200" algn="just">
              <a:lnSpc>
                <a:spcPct val="90000"/>
              </a:lnSpc>
              <a:spcBef>
                <a:spcPts val="600"/>
              </a:spcBef>
              <a:spcAft>
                <a:spcPts val="600"/>
              </a:spcAft>
              <a:buFont typeface="+mj-lt"/>
              <a:buAutoNum type="arabicPeriod"/>
            </a:pPr>
            <a:r>
              <a:rPr lang="es-ES" dirty="0"/>
              <a:t>Determinación de premisas.</a:t>
            </a:r>
          </a:p>
          <a:p>
            <a:pPr marL="914400" lvl="1" indent="-457200" algn="just">
              <a:lnSpc>
                <a:spcPct val="90000"/>
              </a:lnSpc>
              <a:spcBef>
                <a:spcPts val="600"/>
              </a:spcBef>
              <a:spcAft>
                <a:spcPts val="600"/>
              </a:spcAft>
              <a:buFont typeface="+mj-lt"/>
              <a:buAutoNum type="arabicPeriod"/>
            </a:pPr>
            <a:r>
              <a:rPr lang="es-ES" dirty="0"/>
              <a:t>Establecimiento de líneas de acción alternativas.</a:t>
            </a:r>
          </a:p>
          <a:p>
            <a:pPr marL="914400" lvl="1" indent="-457200" algn="just">
              <a:lnSpc>
                <a:spcPct val="90000"/>
              </a:lnSpc>
              <a:spcBef>
                <a:spcPts val="600"/>
              </a:spcBef>
              <a:spcAft>
                <a:spcPts val="600"/>
              </a:spcAft>
              <a:buFont typeface="+mj-lt"/>
              <a:buAutoNum type="arabicPeriod"/>
            </a:pPr>
            <a:r>
              <a:rPr lang="es-ES" dirty="0"/>
              <a:t>Evaluación de alternativas.</a:t>
            </a:r>
          </a:p>
          <a:p>
            <a:pPr marL="914400" lvl="1" indent="-457200" algn="just">
              <a:lnSpc>
                <a:spcPct val="90000"/>
              </a:lnSpc>
              <a:spcBef>
                <a:spcPts val="600"/>
              </a:spcBef>
              <a:spcAft>
                <a:spcPts val="600"/>
              </a:spcAft>
              <a:buFont typeface="+mj-lt"/>
              <a:buAutoNum type="arabicPeriod"/>
            </a:pPr>
            <a:r>
              <a:rPr lang="es-ES" dirty="0"/>
              <a:t>Elección de la mejor alternativa posible.</a:t>
            </a:r>
          </a:p>
          <a:p>
            <a:pPr marL="914400" lvl="1" indent="-457200" algn="just">
              <a:lnSpc>
                <a:spcPct val="90000"/>
              </a:lnSpc>
              <a:spcBef>
                <a:spcPts val="600"/>
              </a:spcBef>
              <a:spcAft>
                <a:spcPts val="600"/>
              </a:spcAft>
              <a:buFont typeface="+mj-lt"/>
              <a:buAutoNum type="arabicPeriod"/>
            </a:pPr>
            <a:r>
              <a:rPr lang="es-ES" b="1" dirty="0">
                <a:solidFill>
                  <a:srgbClr val="C00000"/>
                </a:solidFill>
              </a:rPr>
              <a:t>Presupuestación</a:t>
            </a:r>
            <a:r>
              <a:rPr lang="es-ES" dirty="0"/>
              <a:t>: se traducen los resultados a números.</a:t>
            </a:r>
          </a:p>
          <a:p>
            <a:pPr marL="342900" lvl="1" indent="-342900" algn="just">
              <a:lnSpc>
                <a:spcPct val="90000"/>
              </a:lnSpc>
              <a:buNone/>
            </a:pPr>
            <a:endParaRPr lang="es-ES" b="1" u="sng" dirty="0">
              <a:ea typeface="+mn-ea"/>
              <a:cs typeface="+mn-cs"/>
            </a:endParaRPr>
          </a:p>
          <a:p>
            <a:pPr eaLnBrk="1" hangingPunct="1">
              <a:buFont typeface="Wingdings 2" pitchFamily="18" charset="2"/>
              <a:buNone/>
            </a:pPr>
            <a:endParaRPr lang="es-ES" dirty="0"/>
          </a:p>
        </p:txBody>
      </p:sp>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32</a:t>
            </a:fld>
            <a:endParaRPr lang="es-ES"/>
          </a:p>
        </p:txBody>
      </p:sp>
      <p:sp>
        <p:nvSpPr>
          <p:cNvPr id="8" name="1 Título">
            <a:extLst>
              <a:ext uri="{FF2B5EF4-FFF2-40B4-BE49-F238E27FC236}">
                <a16:creationId xmlns:a16="http://schemas.microsoft.com/office/drawing/2014/main" id="{9CF48B0D-6843-4A39-A5C7-867C361260A9}"/>
              </a:ext>
            </a:extLst>
          </p:cNvPr>
          <p:cNvSpPr>
            <a:spLocks noGrp="1"/>
          </p:cNvSpPr>
          <p:nvPr>
            <p:ph type="title"/>
          </p:nvPr>
        </p:nvSpPr>
        <p:spPr>
          <a:xfrm>
            <a:off x="107950" y="115888"/>
            <a:ext cx="8928100" cy="720725"/>
          </a:xfrm>
        </p:spPr>
        <p:txBody>
          <a:bodyPr/>
          <a:lstStyle/>
          <a:p>
            <a:pPr algn="l"/>
            <a:r>
              <a:rPr lang="es-ES" dirty="0"/>
              <a:t>3.2.2. Planificación: definición y fases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33</a:t>
            </a:fld>
            <a:endParaRPr lang="es-ES"/>
          </a:p>
        </p:txBody>
      </p:sp>
      <p:sp>
        <p:nvSpPr>
          <p:cNvPr id="6147" name="2 Marcador de contenido"/>
          <p:cNvSpPr>
            <a:spLocks noGrp="1"/>
          </p:cNvSpPr>
          <p:nvPr>
            <p:ph idx="4294967295"/>
          </p:nvPr>
        </p:nvSpPr>
        <p:spPr>
          <a:xfrm>
            <a:off x="302517" y="1052736"/>
            <a:ext cx="8589963" cy="4860925"/>
          </a:xfrm>
        </p:spPr>
        <p:txBody>
          <a:bodyPr/>
          <a:lstStyle/>
          <a:p>
            <a:pPr algn="just">
              <a:lnSpc>
                <a:spcPct val="90000"/>
              </a:lnSpc>
              <a:buNone/>
            </a:pPr>
            <a:r>
              <a:rPr lang="es-ES" sz="1800" b="1" dirty="0">
                <a:solidFill>
                  <a:srgbClr val="C00000"/>
                </a:solidFill>
              </a:rPr>
              <a:t>TIPOS DE PLANIFICACIÓN</a:t>
            </a:r>
          </a:p>
          <a:p>
            <a:pPr algn="just">
              <a:lnSpc>
                <a:spcPct val="90000"/>
              </a:lnSpc>
              <a:buNone/>
            </a:pPr>
            <a:endParaRPr lang="es-ES" sz="1800" b="1" dirty="0">
              <a:solidFill>
                <a:srgbClr val="C00000"/>
              </a:solidFill>
            </a:endParaRPr>
          </a:p>
          <a:p>
            <a:pPr marL="422275" algn="just">
              <a:lnSpc>
                <a:spcPct val="90000"/>
              </a:lnSpc>
              <a:spcBef>
                <a:spcPts val="439"/>
              </a:spcBef>
              <a:spcAft>
                <a:spcPts val="600"/>
              </a:spcAft>
              <a:buFont typeface="+mj-lt"/>
              <a:buAutoNum type="alphaLcParenR"/>
            </a:pPr>
            <a:r>
              <a:rPr lang="es-ES" sz="1800" b="1" dirty="0"/>
              <a:t>En función de su </a:t>
            </a:r>
            <a:r>
              <a:rPr lang="es-ES" sz="1800" b="1" dirty="0">
                <a:solidFill>
                  <a:srgbClr val="C00000"/>
                </a:solidFill>
              </a:rPr>
              <a:t>carácter</a:t>
            </a:r>
            <a:r>
              <a:rPr lang="es-ES" sz="1800" b="1" dirty="0"/>
              <a:t>:</a:t>
            </a:r>
          </a:p>
          <a:p>
            <a:pPr marL="822325" lvl="1" algn="just">
              <a:lnSpc>
                <a:spcPct val="120000"/>
              </a:lnSpc>
              <a:spcBef>
                <a:spcPts val="439"/>
              </a:spcBef>
              <a:spcAft>
                <a:spcPts val="600"/>
              </a:spcAft>
              <a:buFont typeface="Wingdings" pitchFamily="2" charset="2"/>
              <a:buChar char="§"/>
            </a:pPr>
            <a:r>
              <a:rPr lang="es-ES" sz="1800" u="sng" dirty="0">
                <a:solidFill>
                  <a:srgbClr val="C00000"/>
                </a:solidFill>
              </a:rPr>
              <a:t>Formal</a:t>
            </a:r>
            <a:r>
              <a:rPr lang="es-ES" sz="1800" dirty="0">
                <a:solidFill>
                  <a:srgbClr val="C00000"/>
                </a:solidFill>
              </a:rPr>
              <a:t>:</a:t>
            </a:r>
            <a:r>
              <a:rPr lang="es-ES" sz="1800" dirty="0"/>
              <a:t> se transmite por cauces formales (escritos). Ej. Presupuestos.</a:t>
            </a:r>
          </a:p>
          <a:p>
            <a:pPr marL="822325" lvl="1" algn="just">
              <a:lnSpc>
                <a:spcPct val="120000"/>
              </a:lnSpc>
              <a:spcBef>
                <a:spcPts val="439"/>
              </a:spcBef>
              <a:spcAft>
                <a:spcPts val="600"/>
              </a:spcAft>
              <a:buFont typeface="Wingdings" pitchFamily="2" charset="2"/>
              <a:buChar char="§"/>
            </a:pPr>
            <a:r>
              <a:rPr lang="es-ES" sz="1800" u="sng" dirty="0">
                <a:solidFill>
                  <a:srgbClr val="C00000"/>
                </a:solidFill>
              </a:rPr>
              <a:t>Informal</a:t>
            </a:r>
            <a:r>
              <a:rPr lang="es-ES" sz="1800" dirty="0"/>
              <a:t>: se mantiene en el plano no escrito. Ej. Planificación semanal o diaria que cualquier trabajador establece de forma autónoma para quitarse volumen de trabajo.</a:t>
            </a:r>
          </a:p>
          <a:p>
            <a:pPr marL="422275" algn="just">
              <a:lnSpc>
                <a:spcPct val="120000"/>
              </a:lnSpc>
              <a:spcBef>
                <a:spcPts val="439"/>
              </a:spcBef>
              <a:spcAft>
                <a:spcPts val="600"/>
              </a:spcAft>
              <a:buFont typeface="+mj-lt"/>
              <a:buAutoNum type="alphaLcParenR"/>
            </a:pPr>
            <a:r>
              <a:rPr lang="es-ES" sz="1800" b="1" dirty="0"/>
              <a:t>En función de su </a:t>
            </a:r>
            <a:r>
              <a:rPr lang="es-ES" sz="1800" b="1" dirty="0">
                <a:solidFill>
                  <a:srgbClr val="C00000"/>
                </a:solidFill>
              </a:rPr>
              <a:t>importancia</a:t>
            </a:r>
            <a:r>
              <a:rPr lang="es-ES" sz="1800" b="1" dirty="0"/>
              <a:t> o intención: </a:t>
            </a:r>
          </a:p>
          <a:p>
            <a:pPr marL="822325" lvl="1" algn="just">
              <a:lnSpc>
                <a:spcPct val="120000"/>
              </a:lnSpc>
              <a:spcBef>
                <a:spcPts val="439"/>
              </a:spcBef>
              <a:spcAft>
                <a:spcPts val="600"/>
              </a:spcAft>
              <a:buFont typeface="Wingdings" pitchFamily="2" charset="2"/>
              <a:buChar char="§"/>
            </a:pPr>
            <a:r>
              <a:rPr lang="es-ES" sz="1800" u="sng" dirty="0">
                <a:solidFill>
                  <a:srgbClr val="C00000"/>
                </a:solidFill>
              </a:rPr>
              <a:t>Estratégica</a:t>
            </a:r>
            <a:r>
              <a:rPr lang="es-ES" sz="1800" dirty="0"/>
              <a:t>: abarca a toda la organización. Establece objetivos generales. Ej. Lanzamiento de un nuevo producto.</a:t>
            </a:r>
          </a:p>
          <a:p>
            <a:pPr marL="822325" lvl="1" algn="just">
              <a:lnSpc>
                <a:spcPct val="120000"/>
              </a:lnSpc>
              <a:spcBef>
                <a:spcPts val="439"/>
              </a:spcBef>
              <a:spcAft>
                <a:spcPts val="600"/>
              </a:spcAft>
              <a:buFont typeface="Wingdings" pitchFamily="2" charset="2"/>
              <a:buChar char="§"/>
            </a:pPr>
            <a:r>
              <a:rPr lang="es-ES" sz="1800" u="sng" dirty="0">
                <a:solidFill>
                  <a:srgbClr val="C00000"/>
                </a:solidFill>
              </a:rPr>
              <a:t>Táctica</a:t>
            </a:r>
            <a:r>
              <a:rPr lang="es-ES" sz="1800" dirty="0"/>
              <a:t>: especifica con detalle la forma de alcanzar los objetivos. Ej. Campaña navidad (Marketing).</a:t>
            </a:r>
          </a:p>
          <a:p>
            <a:pPr marL="447675" indent="-382588" eaLnBrk="1" hangingPunct="1">
              <a:buFont typeface="Wingdings 2" pitchFamily="18" charset="2"/>
              <a:buChar char=""/>
            </a:pPr>
            <a:endParaRPr lang="es-ES" sz="1800" dirty="0"/>
          </a:p>
        </p:txBody>
      </p:sp>
      <p:sp>
        <p:nvSpPr>
          <p:cNvPr id="10" name="1 Título"/>
          <p:cNvSpPr>
            <a:spLocks noGrp="1"/>
          </p:cNvSpPr>
          <p:nvPr>
            <p:ph type="title"/>
          </p:nvPr>
        </p:nvSpPr>
        <p:spPr>
          <a:xfrm>
            <a:off x="107950" y="115888"/>
            <a:ext cx="8928100" cy="720725"/>
          </a:xfrm>
        </p:spPr>
        <p:txBody>
          <a:bodyPr/>
          <a:lstStyle/>
          <a:p>
            <a:pPr algn="l"/>
            <a:r>
              <a:rPr lang="es-ES" dirty="0"/>
              <a:t>3.2.3. Planificación: tipos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4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34</a:t>
            </a:fld>
            <a:endParaRPr lang="es-ES"/>
          </a:p>
        </p:txBody>
      </p:sp>
      <p:sp>
        <p:nvSpPr>
          <p:cNvPr id="7171" name="Rectangle 3"/>
          <p:cNvSpPr>
            <a:spLocks noGrp="1" noChangeArrowheads="1"/>
          </p:cNvSpPr>
          <p:nvPr>
            <p:ph idx="4294967295"/>
          </p:nvPr>
        </p:nvSpPr>
        <p:spPr>
          <a:xfrm>
            <a:off x="202505" y="908720"/>
            <a:ext cx="8689975" cy="5472112"/>
          </a:xfrm>
        </p:spPr>
        <p:txBody>
          <a:bodyPr/>
          <a:lstStyle/>
          <a:p>
            <a:pPr algn="just">
              <a:lnSpc>
                <a:spcPct val="90000"/>
              </a:lnSpc>
              <a:spcAft>
                <a:spcPts val="400"/>
              </a:spcAft>
              <a:buFont typeface="Wingdings" pitchFamily="2" charset="2"/>
              <a:buChar char="q"/>
            </a:pPr>
            <a:r>
              <a:rPr lang="es-ES" sz="1800" b="1" dirty="0"/>
              <a:t>En función del </a:t>
            </a:r>
            <a:r>
              <a:rPr lang="es-ES" sz="1800" b="1" dirty="0">
                <a:solidFill>
                  <a:srgbClr val="C00000"/>
                </a:solidFill>
              </a:rPr>
              <a:t>plazo</a:t>
            </a:r>
            <a:r>
              <a:rPr lang="es-ES" sz="1800" b="1" dirty="0"/>
              <a:t> u horizonte temporal:</a:t>
            </a:r>
          </a:p>
          <a:p>
            <a:pPr marL="622300" lvl="1" indent="-165100" algn="just">
              <a:lnSpc>
                <a:spcPct val="120000"/>
              </a:lnSpc>
              <a:spcAft>
                <a:spcPts val="400"/>
              </a:spcAft>
              <a:buFont typeface="Wingdings" pitchFamily="2" charset="2"/>
              <a:buChar char="§"/>
            </a:pPr>
            <a:r>
              <a:rPr lang="es-ES" sz="1800" u="sng" dirty="0">
                <a:solidFill>
                  <a:srgbClr val="C00000"/>
                </a:solidFill>
              </a:rPr>
              <a:t>Largo plazo</a:t>
            </a:r>
            <a:r>
              <a:rPr lang="es-ES" sz="1800" dirty="0"/>
              <a:t>: planificación estratégica es a largo plazo. Ej. Expansión a otros mercados.</a:t>
            </a:r>
          </a:p>
          <a:p>
            <a:pPr marL="622300" lvl="1" indent="-165100" algn="just">
              <a:lnSpc>
                <a:spcPct val="120000"/>
              </a:lnSpc>
              <a:spcAft>
                <a:spcPts val="600"/>
              </a:spcAft>
              <a:buFont typeface="Wingdings" pitchFamily="2" charset="2"/>
              <a:buChar char="§"/>
            </a:pPr>
            <a:r>
              <a:rPr lang="es-ES" sz="1800" u="sng" dirty="0">
                <a:solidFill>
                  <a:srgbClr val="C00000"/>
                </a:solidFill>
              </a:rPr>
              <a:t>Corto plazo</a:t>
            </a:r>
            <a:r>
              <a:rPr lang="es-ES" sz="1800" dirty="0"/>
              <a:t>: planificación táctica es a corto plazo. Ej. Problema de calidad</a:t>
            </a:r>
          </a:p>
          <a:p>
            <a:pPr algn="just">
              <a:lnSpc>
                <a:spcPct val="90000"/>
              </a:lnSpc>
              <a:spcBef>
                <a:spcPts val="420"/>
              </a:spcBef>
              <a:spcAft>
                <a:spcPts val="400"/>
              </a:spcAft>
              <a:buFont typeface="Wingdings" pitchFamily="2" charset="2"/>
              <a:buChar char="q"/>
            </a:pPr>
            <a:r>
              <a:rPr lang="es-ES" sz="1800" b="1" dirty="0"/>
              <a:t>En función de su </a:t>
            </a:r>
            <a:r>
              <a:rPr lang="es-ES" sz="1800" b="1" dirty="0">
                <a:solidFill>
                  <a:srgbClr val="C00000"/>
                </a:solidFill>
              </a:rPr>
              <a:t>grado de especificidad</a:t>
            </a:r>
            <a:r>
              <a:rPr lang="es-ES" sz="1800" b="1" dirty="0"/>
              <a:t>:</a:t>
            </a:r>
          </a:p>
          <a:p>
            <a:pPr marL="622300" lvl="1" indent="-165100" algn="just">
              <a:lnSpc>
                <a:spcPct val="120000"/>
              </a:lnSpc>
              <a:spcAft>
                <a:spcPts val="400"/>
              </a:spcAft>
              <a:buFont typeface="Wingdings" pitchFamily="2" charset="2"/>
              <a:buChar char="§"/>
            </a:pPr>
            <a:r>
              <a:rPr lang="es-ES" sz="1800" u="sng" dirty="0">
                <a:solidFill>
                  <a:srgbClr val="C00000"/>
                </a:solidFill>
              </a:rPr>
              <a:t>General:</a:t>
            </a:r>
            <a:r>
              <a:rPr lang="es-ES" sz="1800" dirty="0"/>
              <a:t> objetivos planteados de forma menos concreta. Planificación estratégica a largo plazo. Ej. Localizar la ubicación de una nueva planta.</a:t>
            </a:r>
          </a:p>
          <a:p>
            <a:pPr marL="622300" lvl="1" indent="-165100" algn="just">
              <a:lnSpc>
                <a:spcPct val="120000"/>
              </a:lnSpc>
              <a:spcAft>
                <a:spcPts val="400"/>
              </a:spcAft>
              <a:buFont typeface="Wingdings" pitchFamily="2" charset="2"/>
              <a:buChar char="§"/>
            </a:pPr>
            <a:r>
              <a:rPr lang="es-ES" sz="1800" u="sng" dirty="0">
                <a:solidFill>
                  <a:srgbClr val="C00000"/>
                </a:solidFill>
              </a:rPr>
              <a:t>Específica</a:t>
            </a:r>
            <a:r>
              <a:rPr lang="es-ES" sz="1800" dirty="0"/>
              <a:t>: objetivos definidos con mucha claridad. Planificación táctica a corto plazo. Ej. Queja de un cliente.</a:t>
            </a:r>
          </a:p>
          <a:p>
            <a:pPr algn="just">
              <a:lnSpc>
                <a:spcPct val="120000"/>
              </a:lnSpc>
              <a:spcAft>
                <a:spcPts val="400"/>
              </a:spcAft>
              <a:buFont typeface="Wingdings" pitchFamily="2" charset="2"/>
              <a:buChar char="q"/>
            </a:pPr>
            <a:r>
              <a:rPr lang="es-ES" sz="1800" b="1" dirty="0"/>
              <a:t>En función de la </a:t>
            </a:r>
            <a:r>
              <a:rPr lang="es-ES" sz="1800" b="1" dirty="0">
                <a:solidFill>
                  <a:srgbClr val="C00000"/>
                </a:solidFill>
              </a:rPr>
              <a:t>frecuencia de uso</a:t>
            </a:r>
            <a:r>
              <a:rPr lang="es-ES" sz="1800" b="1" dirty="0"/>
              <a:t>: </a:t>
            </a:r>
          </a:p>
          <a:p>
            <a:pPr marL="622300" lvl="1" indent="-165100" algn="just">
              <a:lnSpc>
                <a:spcPct val="120000"/>
              </a:lnSpc>
              <a:spcAft>
                <a:spcPts val="400"/>
              </a:spcAft>
              <a:buFont typeface="Wingdings" pitchFamily="2" charset="2"/>
              <a:buChar char="§"/>
            </a:pPr>
            <a:r>
              <a:rPr lang="es-ES" sz="1800" u="sng" dirty="0">
                <a:solidFill>
                  <a:srgbClr val="C00000"/>
                </a:solidFill>
              </a:rPr>
              <a:t>Única</a:t>
            </a:r>
            <a:r>
              <a:rPr lang="es-ES" sz="1800" dirty="0"/>
              <a:t>: elaborado para aplicarse en una sola ocasión. Ej. Introducción de servicio de transacciones por Internet en una determinada empresa.</a:t>
            </a:r>
          </a:p>
          <a:p>
            <a:pPr marL="622300" lvl="1" indent="-165100" algn="just">
              <a:lnSpc>
                <a:spcPct val="120000"/>
              </a:lnSpc>
              <a:spcAft>
                <a:spcPts val="400"/>
              </a:spcAft>
              <a:buFont typeface="Wingdings" pitchFamily="2" charset="2"/>
              <a:buChar char="§"/>
            </a:pPr>
            <a:r>
              <a:rPr lang="es-ES" sz="1800" u="sng" dirty="0">
                <a:solidFill>
                  <a:srgbClr val="C00000"/>
                </a:solidFill>
              </a:rPr>
              <a:t>Permanente</a:t>
            </a:r>
            <a:r>
              <a:rPr lang="es-ES" sz="1800" dirty="0"/>
              <a:t>: carácter continuo que constituye una guía para las actividades que se realizan de forma repetitiva. Ej. Presupuestos.</a:t>
            </a:r>
          </a:p>
          <a:p>
            <a:pPr lvl="1" algn="just" eaLnBrk="1" hangingPunct="1"/>
            <a:endParaRPr lang="es-ES" sz="1800" dirty="0"/>
          </a:p>
          <a:p>
            <a:pPr eaLnBrk="1" hangingPunct="1">
              <a:buFont typeface="Wingdings" pitchFamily="2" charset="2"/>
              <a:buNone/>
            </a:pPr>
            <a:endParaRPr lang="es-ES_tradnl" sz="1800" dirty="0"/>
          </a:p>
          <a:p>
            <a:pPr eaLnBrk="1" hangingPunct="1">
              <a:buFont typeface="Wingdings" pitchFamily="2" charset="2"/>
              <a:buNone/>
            </a:pPr>
            <a:endParaRPr lang="es-ES_tradnl" sz="1800" dirty="0"/>
          </a:p>
          <a:p>
            <a:pPr eaLnBrk="1" hangingPunct="1">
              <a:buFont typeface="Wingdings" pitchFamily="2" charset="2"/>
              <a:buNone/>
            </a:pPr>
            <a:endParaRPr lang="es-ES" sz="1800" dirty="0"/>
          </a:p>
        </p:txBody>
      </p:sp>
      <p:sp>
        <p:nvSpPr>
          <p:cNvPr id="8" name="1 Título">
            <a:extLst>
              <a:ext uri="{FF2B5EF4-FFF2-40B4-BE49-F238E27FC236}">
                <a16:creationId xmlns:a16="http://schemas.microsoft.com/office/drawing/2014/main" id="{3AA049B4-9F35-4C2B-B4C0-F5D17D94DAB7}"/>
              </a:ext>
            </a:extLst>
          </p:cNvPr>
          <p:cNvSpPr>
            <a:spLocks noGrp="1"/>
          </p:cNvSpPr>
          <p:nvPr>
            <p:ph type="title"/>
          </p:nvPr>
        </p:nvSpPr>
        <p:spPr>
          <a:xfrm>
            <a:off x="107950" y="115888"/>
            <a:ext cx="8928100" cy="720725"/>
          </a:xfrm>
        </p:spPr>
        <p:txBody>
          <a:bodyPr/>
          <a:lstStyle/>
          <a:p>
            <a:pPr algn="l"/>
            <a:r>
              <a:rPr lang="es-ES" dirty="0"/>
              <a:t>3.2.3. Planificación: tipos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35</a:t>
            </a:fld>
            <a:endParaRPr lang="es-ES"/>
          </a:p>
        </p:txBody>
      </p:sp>
      <p:sp>
        <p:nvSpPr>
          <p:cNvPr id="9" name="8 Rectángulo"/>
          <p:cNvSpPr/>
          <p:nvPr/>
        </p:nvSpPr>
        <p:spPr>
          <a:xfrm>
            <a:off x="518111" y="1484784"/>
            <a:ext cx="8374369" cy="523220"/>
          </a:xfrm>
          <a:prstGeom prst="rect">
            <a:avLst/>
          </a:prstGeom>
        </p:spPr>
        <p:txBody>
          <a:bodyPr wrap="square">
            <a:spAutoFit/>
          </a:bodyPr>
          <a:lstStyle/>
          <a:p>
            <a:pPr algn="ctr"/>
            <a:r>
              <a:rPr lang="es-ES" sz="2800" b="1" dirty="0">
                <a:solidFill>
                  <a:srgbClr val="C00000"/>
                </a:solidFill>
                <a:latin typeface="+mn-lt"/>
              </a:rPr>
              <a:t>3</a:t>
            </a:r>
            <a:r>
              <a:rPr lang="es-ES" sz="2800" b="1" u="none" dirty="0">
                <a:solidFill>
                  <a:srgbClr val="C00000"/>
                </a:solidFill>
                <a:latin typeface="+mn-lt"/>
              </a:rPr>
              <a:t>.3. </a:t>
            </a:r>
            <a:r>
              <a:rPr lang="es-ES" sz="2800" b="1" dirty="0">
                <a:solidFill>
                  <a:srgbClr val="C00000"/>
                </a:solidFill>
                <a:latin typeface="+mn-lt"/>
              </a:rPr>
              <a:t>ORGANIZACIÓN</a:t>
            </a:r>
            <a:endParaRPr lang="es-ES" sz="2800" b="1" u="none" dirty="0">
              <a:latin typeface="+mn-lt"/>
            </a:endParaRPr>
          </a:p>
        </p:txBody>
      </p:sp>
      <p:sp>
        <p:nvSpPr>
          <p:cNvPr id="5" name="4 Rectángulo"/>
          <p:cNvSpPr/>
          <p:nvPr/>
        </p:nvSpPr>
        <p:spPr>
          <a:xfrm>
            <a:off x="755576" y="5277360"/>
            <a:ext cx="7848872" cy="412421"/>
          </a:xfrm>
          <a:prstGeom prst="rect">
            <a:avLst/>
          </a:prstGeom>
        </p:spPr>
        <p:txBody>
          <a:bodyPr wrap="square">
            <a:spAutoFit/>
          </a:bodyPr>
          <a:lstStyle/>
          <a:p>
            <a:pPr marL="285750" indent="-285750">
              <a:lnSpc>
                <a:spcPct val="130000"/>
              </a:lnSpc>
              <a:spcBef>
                <a:spcPct val="20000"/>
              </a:spcBef>
            </a:pPr>
            <a:r>
              <a:rPr lang="es-ES_tradnl" sz="1600" u="none" kern="0" dirty="0">
                <a:solidFill>
                  <a:srgbClr val="000000"/>
                </a:solidFill>
                <a:latin typeface="Comic Sans MS"/>
              </a:rPr>
              <a:t>* Este apartado lo vamos a ver en detalle </a:t>
            </a:r>
            <a:r>
              <a:rPr lang="es-ES_tradnl" sz="1600" kern="0" dirty="0">
                <a:solidFill>
                  <a:srgbClr val="000000"/>
                </a:solidFill>
                <a:latin typeface="Comic Sans MS"/>
              </a:rPr>
              <a:t>en el tema 4.</a:t>
            </a:r>
            <a:endParaRPr lang="es-ES_tradnl" sz="1600" u="none" kern="0" dirty="0">
              <a:solidFill>
                <a:srgbClr val="000000"/>
              </a:solidFill>
              <a:latin typeface="Comic Sans M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4294967295"/>
          </p:nvPr>
        </p:nvSpPr>
        <p:spPr>
          <a:xfrm>
            <a:off x="251520" y="1052736"/>
            <a:ext cx="8715375" cy="5286375"/>
          </a:xfrm>
        </p:spPr>
        <p:txBody>
          <a:bodyPr>
            <a:normAutofit/>
          </a:bodyPr>
          <a:lstStyle/>
          <a:p>
            <a:pPr marL="88900" indent="-25400" algn="ctr">
              <a:lnSpc>
                <a:spcPct val="80000"/>
              </a:lnSpc>
              <a:buFont typeface="Wingdings 2" pitchFamily="18" charset="2"/>
              <a:buNone/>
            </a:pPr>
            <a:r>
              <a:rPr lang="es-ES" sz="2000" dirty="0"/>
              <a:t>	</a:t>
            </a:r>
            <a:r>
              <a:rPr lang="es-ES" sz="2000" b="1" dirty="0">
                <a:solidFill>
                  <a:srgbClr val="C00000"/>
                </a:solidFill>
              </a:rPr>
              <a:t>ORGANIZAR</a:t>
            </a:r>
            <a:r>
              <a:rPr lang="es-ES" sz="2000" b="1" dirty="0"/>
              <a:t>: </a:t>
            </a:r>
            <a:r>
              <a:rPr lang="es-ES" sz="2000" dirty="0"/>
              <a:t>función administrativa básica que consiste en diseñar la estructura organizativa.</a:t>
            </a:r>
          </a:p>
          <a:p>
            <a:pPr marL="520700" indent="-457200" algn="just">
              <a:lnSpc>
                <a:spcPct val="80000"/>
              </a:lnSpc>
              <a:buFont typeface="Wingdings 2" pitchFamily="18" charset="2"/>
              <a:buNone/>
            </a:pPr>
            <a:endParaRPr lang="es-ES" sz="2000" dirty="0"/>
          </a:p>
          <a:p>
            <a:pPr marL="520700" indent="-457200" algn="just">
              <a:lnSpc>
                <a:spcPct val="80000"/>
              </a:lnSpc>
              <a:buFont typeface="Wingdings 2" pitchFamily="18" charset="2"/>
              <a:buNone/>
            </a:pPr>
            <a:endParaRPr lang="es-ES" sz="2000" dirty="0"/>
          </a:p>
          <a:p>
            <a:pPr marL="520700" indent="-457200" algn="just">
              <a:lnSpc>
                <a:spcPct val="80000"/>
              </a:lnSpc>
              <a:buFont typeface="Wingdings 2" pitchFamily="18" charset="2"/>
              <a:buNone/>
            </a:pPr>
            <a:endParaRPr lang="es-ES" sz="2000" dirty="0"/>
          </a:p>
          <a:p>
            <a:pPr marL="520700" indent="-457200" algn="ctr">
              <a:lnSpc>
                <a:spcPct val="80000"/>
              </a:lnSpc>
              <a:buFont typeface="Wingdings 2" pitchFamily="18" charset="2"/>
              <a:buNone/>
            </a:pPr>
            <a:r>
              <a:rPr lang="es-ES" sz="2000" b="1" dirty="0"/>
              <a:t>	</a:t>
            </a:r>
            <a:r>
              <a:rPr lang="es-ES" sz="2000" b="1" dirty="0">
                <a:solidFill>
                  <a:srgbClr val="C00000"/>
                </a:solidFill>
              </a:rPr>
              <a:t>ESTRUCTURA ORGANIZATIVA</a:t>
            </a:r>
            <a:r>
              <a:rPr lang="es-ES" sz="2000" b="1" dirty="0"/>
              <a:t>: </a:t>
            </a:r>
            <a:r>
              <a:rPr lang="es-ES" sz="2000" dirty="0"/>
              <a:t>suma total de las formas en las que una organización divide su trabajo en diversas tareas coordinándolas entre sí.</a:t>
            </a:r>
          </a:p>
          <a:p>
            <a:pPr marL="520700" indent="-457200" algn="just">
              <a:lnSpc>
                <a:spcPct val="80000"/>
              </a:lnSpc>
              <a:buFont typeface="Wingdings 2" pitchFamily="18" charset="2"/>
              <a:buNone/>
            </a:pPr>
            <a:endParaRPr lang="es-ES" sz="2000" b="1" dirty="0"/>
          </a:p>
          <a:p>
            <a:pPr marL="520700" indent="-457200" algn="just">
              <a:lnSpc>
                <a:spcPct val="80000"/>
              </a:lnSpc>
              <a:buFont typeface="Wingdings 2" pitchFamily="18" charset="2"/>
              <a:buNone/>
            </a:pPr>
            <a:endParaRPr lang="es-ES" sz="2000" b="1" dirty="0"/>
          </a:p>
          <a:p>
            <a:pPr marL="520700" indent="-457200" algn="just">
              <a:lnSpc>
                <a:spcPct val="80000"/>
              </a:lnSpc>
              <a:buFont typeface="Wingdings 2" pitchFamily="18" charset="2"/>
              <a:buNone/>
            </a:pPr>
            <a:endParaRPr lang="es-ES" sz="2000" b="1" dirty="0"/>
          </a:p>
          <a:p>
            <a:pPr marL="520700" indent="-457200" algn="ctr">
              <a:lnSpc>
                <a:spcPct val="80000"/>
              </a:lnSpc>
              <a:buNone/>
            </a:pPr>
            <a:r>
              <a:rPr lang="es-ES" sz="2000" b="1" dirty="0">
                <a:solidFill>
                  <a:srgbClr val="C00000"/>
                </a:solidFill>
              </a:rPr>
              <a:t>DISEÑO ORGANIZATIVO</a:t>
            </a:r>
            <a:r>
              <a:rPr lang="es-ES" sz="2000" dirty="0"/>
              <a:t>: proceso dinámico por el cual los directivos construyen, evalúan y modifican la estructura básica de funcionamiento de las organizaciones con el propósito de facilitar la realización de las tareas o actividades necesarias para la consecución de los objetivos establecidos de  una manera </a:t>
            </a:r>
            <a:r>
              <a:rPr lang="es-ES" sz="2000" b="1" dirty="0"/>
              <a:t>eficaz</a:t>
            </a:r>
            <a:r>
              <a:rPr lang="es-ES" sz="2000" dirty="0"/>
              <a:t> y </a:t>
            </a:r>
            <a:r>
              <a:rPr lang="es-ES" sz="2000" b="1" dirty="0"/>
              <a:t>eficiente</a:t>
            </a:r>
            <a:r>
              <a:rPr lang="es-ES" sz="2000" dirty="0"/>
              <a:t>. </a:t>
            </a:r>
          </a:p>
          <a:p>
            <a:pPr marL="520700" indent="-457200" algn="just">
              <a:lnSpc>
                <a:spcPct val="80000"/>
              </a:lnSpc>
              <a:buFont typeface="Wingdings 2" pitchFamily="18" charset="2"/>
              <a:buNone/>
            </a:pPr>
            <a:endParaRPr lang="es-ES" sz="2000" b="1" dirty="0"/>
          </a:p>
          <a:p>
            <a:pPr marL="520700" indent="-457200" algn="just">
              <a:lnSpc>
                <a:spcPct val="80000"/>
              </a:lnSpc>
              <a:buFont typeface="Wingdings 2" pitchFamily="18" charset="2"/>
              <a:buNone/>
            </a:pPr>
            <a:endParaRPr lang="es-ES" sz="2000" dirty="0"/>
          </a:p>
        </p:txBody>
      </p:sp>
      <p:sp>
        <p:nvSpPr>
          <p:cNvPr id="4" name="3 Marcador de número de diapositiva"/>
          <p:cNvSpPr>
            <a:spLocks noGrp="1"/>
          </p:cNvSpPr>
          <p:nvPr>
            <p:ph type="sldNum" sz="quarter" idx="4"/>
          </p:nvPr>
        </p:nvSpPr>
        <p:spPr/>
        <p:txBody>
          <a:bodyPr/>
          <a:lstStyle/>
          <a:p>
            <a:pPr>
              <a:defRPr/>
            </a:pPr>
            <a:fld id="{031E6992-B48E-4E13-A9CD-F20B6AAC6FC2}" type="slidenum">
              <a:rPr lang="es-ES" smtClean="0"/>
              <a:pPr>
                <a:defRPr/>
              </a:pPr>
              <a:t>36</a:t>
            </a:fld>
            <a:endParaRPr lang="es-ES"/>
          </a:p>
        </p:txBody>
      </p:sp>
      <p:sp>
        <p:nvSpPr>
          <p:cNvPr id="5" name="4 Título"/>
          <p:cNvSpPr>
            <a:spLocks noGrp="1"/>
          </p:cNvSpPr>
          <p:nvPr>
            <p:ph type="title"/>
          </p:nvPr>
        </p:nvSpPr>
        <p:spPr/>
        <p:txBody>
          <a:bodyPr/>
          <a:lstStyle/>
          <a:p>
            <a:pPr algn="l"/>
            <a:r>
              <a:rPr lang="es-ES" dirty="0"/>
              <a:t>3.3. </a:t>
            </a:r>
            <a:r>
              <a:rPr lang="es-ES" sz="2600" dirty="0"/>
              <a:t>Organización</a:t>
            </a:r>
          </a:p>
        </p:txBody>
      </p:sp>
      <p:sp>
        <p:nvSpPr>
          <p:cNvPr id="6" name="5 Flecha abajo"/>
          <p:cNvSpPr/>
          <p:nvPr/>
        </p:nvSpPr>
        <p:spPr>
          <a:xfrm>
            <a:off x="4067944" y="1772816"/>
            <a:ext cx="576064" cy="432048"/>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Flecha abajo"/>
          <p:cNvSpPr/>
          <p:nvPr/>
        </p:nvSpPr>
        <p:spPr>
          <a:xfrm>
            <a:off x="4067944" y="3573016"/>
            <a:ext cx="576064" cy="432048"/>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16 Marcador de número de diapositiva"/>
          <p:cNvSpPr>
            <a:spLocks noGrp="1"/>
          </p:cNvSpPr>
          <p:nvPr>
            <p:ph type="sldNum" sz="quarter" idx="4"/>
          </p:nvPr>
        </p:nvSpPr>
        <p:spPr/>
        <p:txBody>
          <a:bodyPr/>
          <a:lstStyle/>
          <a:p>
            <a:fld id="{D42BB61E-C86B-4CAF-A502-2171CAC2525F}" type="slidenum">
              <a:rPr lang="es-ES" smtClean="0"/>
              <a:pPr/>
              <a:t>37</a:t>
            </a:fld>
            <a:endParaRPr lang="es-ES"/>
          </a:p>
        </p:txBody>
      </p:sp>
      <p:sp>
        <p:nvSpPr>
          <p:cNvPr id="10242" name="Rectangle 3" descr="Rectangle: Click to edit Master text styles&#10;Second level&#10;Third level&#10;Fourth level&#10;Fifth level"/>
          <p:cNvSpPr>
            <a:spLocks noGrp="1" noChangeArrowheads="1"/>
          </p:cNvSpPr>
          <p:nvPr>
            <p:ph idx="4294967295"/>
          </p:nvPr>
        </p:nvSpPr>
        <p:spPr>
          <a:xfrm>
            <a:off x="358080" y="1124744"/>
            <a:ext cx="8534400" cy="4468812"/>
          </a:xfrm>
        </p:spPr>
        <p:txBody>
          <a:bodyPr/>
          <a:lstStyle/>
          <a:p>
            <a:pPr marL="0" indent="0" algn="ctr">
              <a:lnSpc>
                <a:spcPct val="110000"/>
              </a:lnSpc>
              <a:buFont typeface="Wingdings" pitchFamily="2" charset="2"/>
              <a:buNone/>
            </a:pPr>
            <a:r>
              <a:rPr lang="es-ES" sz="2000" b="1" dirty="0"/>
              <a:t>ESTRUCTURA FORMAL		ESTRUCTURA INFORMAL</a:t>
            </a:r>
          </a:p>
          <a:p>
            <a:pPr marL="177800" indent="-177800" algn="just">
              <a:lnSpc>
                <a:spcPct val="110000"/>
              </a:lnSpc>
              <a:buClr>
                <a:srgbClr val="C00000"/>
              </a:buClr>
            </a:pPr>
            <a:r>
              <a:rPr lang="es-ES" sz="1800" u="sng" dirty="0">
                <a:solidFill>
                  <a:srgbClr val="C00000"/>
                </a:solidFill>
              </a:rPr>
              <a:t>Estructura formal</a:t>
            </a:r>
            <a:r>
              <a:rPr lang="es-ES" sz="1800" dirty="0"/>
              <a:t>: relaciones entre las personas que han sido previa y conscientemente establecidas. Situaciones previstas y previamente definidas.</a:t>
            </a:r>
          </a:p>
          <a:p>
            <a:pPr marL="177800" indent="-177800" algn="just">
              <a:lnSpc>
                <a:spcPct val="110000"/>
              </a:lnSpc>
              <a:buClr>
                <a:srgbClr val="C00000"/>
              </a:buClr>
            </a:pPr>
            <a:r>
              <a:rPr lang="es-ES" sz="1800" u="sng" dirty="0">
                <a:solidFill>
                  <a:srgbClr val="C00000"/>
                </a:solidFill>
              </a:rPr>
              <a:t>Estructura informal</a:t>
            </a:r>
            <a:r>
              <a:rPr lang="es-ES" sz="1800" dirty="0"/>
              <a:t>: relaciones que no han sido previa ni conscientemente definidas y responden a las necesidades de relación entre individuos que entran en contacto en su trabajo. Impredecibles de antemano, fruto de los contactos y afinidades sociales entre individuos.</a:t>
            </a:r>
          </a:p>
          <a:p>
            <a:pPr marL="0" indent="0" algn="just">
              <a:lnSpc>
                <a:spcPct val="110000"/>
              </a:lnSpc>
              <a:buClr>
                <a:srgbClr val="C00000"/>
              </a:buClr>
            </a:pPr>
            <a:r>
              <a:rPr lang="es-ES" sz="1800" dirty="0"/>
              <a:t> </a:t>
            </a:r>
            <a:r>
              <a:rPr lang="es-ES" sz="1800" u="sng" dirty="0">
                <a:solidFill>
                  <a:srgbClr val="C00000"/>
                </a:solidFill>
              </a:rPr>
              <a:t>Estructura real</a:t>
            </a:r>
            <a:r>
              <a:rPr lang="es-ES" sz="1800" dirty="0"/>
              <a:t>: consecuencia de los aspectos formales e informales.  	</a:t>
            </a:r>
          </a:p>
        </p:txBody>
      </p:sp>
      <p:grpSp>
        <p:nvGrpSpPr>
          <p:cNvPr id="2" name="Group 18"/>
          <p:cNvGrpSpPr>
            <a:grpSpLocks/>
          </p:cNvGrpSpPr>
          <p:nvPr/>
        </p:nvGrpSpPr>
        <p:grpSpPr bwMode="auto">
          <a:xfrm>
            <a:off x="4283968" y="1196752"/>
            <a:ext cx="381000" cy="304800"/>
            <a:chOff x="2496" y="624"/>
            <a:chExt cx="240" cy="192"/>
          </a:xfrm>
        </p:grpSpPr>
        <p:sp>
          <p:nvSpPr>
            <p:cNvPr id="10253" name="Line 5"/>
            <p:cNvSpPr>
              <a:spLocks noChangeShapeType="1"/>
            </p:cNvSpPr>
            <p:nvPr/>
          </p:nvSpPr>
          <p:spPr bwMode="auto">
            <a:xfrm>
              <a:off x="2496" y="672"/>
              <a:ext cx="240" cy="0"/>
            </a:xfrm>
            <a:prstGeom prst="line">
              <a:avLst/>
            </a:prstGeom>
            <a:noFill/>
            <a:ln w="28575">
              <a:solidFill>
                <a:srgbClr val="C00000"/>
              </a:solidFill>
              <a:round/>
              <a:headEnd/>
              <a:tailEnd/>
            </a:ln>
          </p:spPr>
          <p:txBody>
            <a:bodyPr wrap="none"/>
            <a:lstStyle/>
            <a:p>
              <a:endParaRPr lang="es-ES" sz="1600"/>
            </a:p>
          </p:txBody>
        </p:sp>
        <p:sp>
          <p:nvSpPr>
            <p:cNvPr id="10254" name="Line 6"/>
            <p:cNvSpPr>
              <a:spLocks noChangeShapeType="1"/>
            </p:cNvSpPr>
            <p:nvPr/>
          </p:nvSpPr>
          <p:spPr bwMode="auto">
            <a:xfrm>
              <a:off x="2496" y="768"/>
              <a:ext cx="240" cy="0"/>
            </a:xfrm>
            <a:prstGeom prst="line">
              <a:avLst/>
            </a:prstGeom>
            <a:noFill/>
            <a:ln w="28575">
              <a:solidFill>
                <a:srgbClr val="C00000"/>
              </a:solidFill>
              <a:round/>
              <a:headEnd/>
              <a:tailEnd/>
            </a:ln>
          </p:spPr>
          <p:txBody>
            <a:bodyPr wrap="none"/>
            <a:lstStyle/>
            <a:p>
              <a:endParaRPr lang="es-ES" sz="1600"/>
            </a:p>
          </p:txBody>
        </p:sp>
        <p:sp>
          <p:nvSpPr>
            <p:cNvPr id="10255" name="Line 7"/>
            <p:cNvSpPr>
              <a:spLocks noChangeShapeType="1"/>
            </p:cNvSpPr>
            <p:nvPr/>
          </p:nvSpPr>
          <p:spPr bwMode="auto">
            <a:xfrm flipH="1">
              <a:off x="2544" y="624"/>
              <a:ext cx="144" cy="192"/>
            </a:xfrm>
            <a:prstGeom prst="line">
              <a:avLst/>
            </a:prstGeom>
            <a:noFill/>
            <a:ln w="28575">
              <a:solidFill>
                <a:srgbClr val="C00000"/>
              </a:solidFill>
              <a:round/>
              <a:headEnd/>
              <a:tailEnd/>
            </a:ln>
          </p:spPr>
          <p:txBody>
            <a:bodyPr wrap="none"/>
            <a:lstStyle/>
            <a:p>
              <a:endParaRPr lang="es-ES" sz="1600"/>
            </a:p>
          </p:txBody>
        </p:sp>
      </p:grpSp>
      <p:grpSp>
        <p:nvGrpSpPr>
          <p:cNvPr id="3" name="Group 20"/>
          <p:cNvGrpSpPr>
            <a:grpSpLocks/>
          </p:cNvGrpSpPr>
          <p:nvPr/>
        </p:nvGrpSpPr>
        <p:grpSpPr bwMode="auto">
          <a:xfrm>
            <a:off x="1403648" y="4509120"/>
            <a:ext cx="6477000" cy="1466850"/>
            <a:chOff x="768" y="3300"/>
            <a:chExt cx="4080" cy="924"/>
          </a:xfrm>
        </p:grpSpPr>
        <p:grpSp>
          <p:nvGrpSpPr>
            <p:cNvPr id="4" name="Group 15"/>
            <p:cNvGrpSpPr>
              <a:grpSpLocks/>
            </p:cNvGrpSpPr>
            <p:nvPr/>
          </p:nvGrpSpPr>
          <p:grpSpPr bwMode="auto">
            <a:xfrm>
              <a:off x="768" y="3300"/>
              <a:ext cx="4080" cy="588"/>
              <a:chOff x="768" y="3372"/>
              <a:chExt cx="4080" cy="588"/>
            </a:xfrm>
          </p:grpSpPr>
          <p:sp>
            <p:nvSpPr>
              <p:cNvPr id="10249" name="Rectangle 9"/>
              <p:cNvSpPr>
                <a:spLocks noChangeArrowheads="1"/>
              </p:cNvSpPr>
              <p:nvPr/>
            </p:nvSpPr>
            <p:spPr bwMode="auto">
              <a:xfrm>
                <a:off x="3120" y="3372"/>
                <a:ext cx="1728" cy="312"/>
              </a:xfrm>
              <a:prstGeom prst="rect">
                <a:avLst/>
              </a:prstGeom>
              <a:solidFill>
                <a:srgbClr val="5FDCF9"/>
              </a:solidFill>
              <a:ln w="9525">
                <a:solidFill>
                  <a:srgbClr val="0000CC"/>
                </a:solidFill>
                <a:miter lim="800000"/>
                <a:headEnd/>
                <a:tailEnd/>
              </a:ln>
            </p:spPr>
            <p:txBody>
              <a:bodyPr wrap="none" anchor="ctr"/>
              <a:lstStyle/>
              <a:p>
                <a:pPr algn="ctr"/>
                <a:r>
                  <a:rPr lang="es-ES" sz="2000" dirty="0">
                    <a:solidFill>
                      <a:srgbClr val="0000CC"/>
                    </a:solidFill>
                    <a:latin typeface="Comic Sans MS" pitchFamily="66" charset="0"/>
                  </a:rPr>
                  <a:t>Estructura informal</a:t>
                </a:r>
              </a:p>
            </p:txBody>
          </p:sp>
          <p:sp>
            <p:nvSpPr>
              <p:cNvPr id="10250" name="Rectangle 12"/>
              <p:cNvSpPr>
                <a:spLocks noChangeArrowheads="1"/>
              </p:cNvSpPr>
              <p:nvPr/>
            </p:nvSpPr>
            <p:spPr bwMode="auto">
              <a:xfrm>
                <a:off x="768" y="3372"/>
                <a:ext cx="1728" cy="312"/>
              </a:xfrm>
              <a:prstGeom prst="rect">
                <a:avLst/>
              </a:prstGeom>
              <a:solidFill>
                <a:srgbClr val="5FDCF9"/>
              </a:solidFill>
              <a:ln w="9525">
                <a:solidFill>
                  <a:srgbClr val="0000CC"/>
                </a:solidFill>
                <a:miter lim="800000"/>
                <a:headEnd/>
                <a:tailEnd/>
              </a:ln>
            </p:spPr>
            <p:txBody>
              <a:bodyPr wrap="none" anchor="ctr"/>
              <a:lstStyle/>
              <a:p>
                <a:pPr algn="ctr"/>
                <a:r>
                  <a:rPr lang="es-ES" sz="2000">
                    <a:solidFill>
                      <a:srgbClr val="0000CC"/>
                    </a:solidFill>
                    <a:latin typeface="Comic Sans MS" pitchFamily="66" charset="0"/>
                  </a:rPr>
                  <a:t>Estructura formal</a:t>
                </a:r>
              </a:p>
            </p:txBody>
          </p:sp>
          <p:sp>
            <p:nvSpPr>
              <p:cNvPr id="10251" name="Rectangle 13"/>
              <p:cNvSpPr>
                <a:spLocks noChangeArrowheads="1"/>
              </p:cNvSpPr>
              <p:nvPr/>
            </p:nvSpPr>
            <p:spPr bwMode="auto">
              <a:xfrm>
                <a:off x="3120" y="3648"/>
                <a:ext cx="1728" cy="312"/>
              </a:xfrm>
              <a:prstGeom prst="rect">
                <a:avLst/>
              </a:prstGeom>
              <a:solidFill>
                <a:srgbClr val="5FDCF9"/>
              </a:solidFill>
              <a:ln w="9525">
                <a:solidFill>
                  <a:srgbClr val="0000CC"/>
                </a:solidFill>
                <a:miter lim="800000"/>
                <a:headEnd/>
                <a:tailEnd/>
              </a:ln>
            </p:spPr>
            <p:txBody>
              <a:bodyPr wrap="none" anchor="ctr"/>
              <a:lstStyle/>
              <a:p>
                <a:pPr algn="ctr"/>
                <a:r>
                  <a:rPr lang="es-ES" sz="1800">
                    <a:solidFill>
                      <a:srgbClr val="0000CC"/>
                    </a:solidFill>
                    <a:latin typeface="Comic Sans MS" pitchFamily="66" charset="0"/>
                  </a:rPr>
                  <a:t>Espontánea y no previsto</a:t>
                </a:r>
              </a:p>
            </p:txBody>
          </p:sp>
          <p:sp>
            <p:nvSpPr>
              <p:cNvPr id="10252" name="Rectangle 14"/>
              <p:cNvSpPr>
                <a:spLocks noChangeArrowheads="1"/>
              </p:cNvSpPr>
              <p:nvPr/>
            </p:nvSpPr>
            <p:spPr bwMode="auto">
              <a:xfrm>
                <a:off x="768" y="3648"/>
                <a:ext cx="1728" cy="312"/>
              </a:xfrm>
              <a:prstGeom prst="rect">
                <a:avLst/>
              </a:prstGeom>
              <a:solidFill>
                <a:srgbClr val="5FDCF9"/>
              </a:solidFill>
              <a:ln w="9525">
                <a:solidFill>
                  <a:srgbClr val="0000CC"/>
                </a:solidFill>
                <a:miter lim="800000"/>
                <a:headEnd/>
                <a:tailEnd/>
              </a:ln>
            </p:spPr>
            <p:txBody>
              <a:bodyPr wrap="none" anchor="ctr"/>
              <a:lstStyle/>
              <a:p>
                <a:pPr algn="ctr"/>
                <a:r>
                  <a:rPr lang="es-ES" sz="1800">
                    <a:solidFill>
                      <a:srgbClr val="0000CC"/>
                    </a:solidFill>
                    <a:latin typeface="Comic Sans MS" pitchFamily="66" charset="0"/>
                  </a:rPr>
                  <a:t>Voluntad de la dirección</a:t>
                </a:r>
              </a:p>
            </p:txBody>
          </p:sp>
        </p:grpSp>
        <p:sp>
          <p:nvSpPr>
            <p:cNvPr id="10247" name="Rectangle 16"/>
            <p:cNvSpPr>
              <a:spLocks noChangeArrowheads="1"/>
            </p:cNvSpPr>
            <p:nvPr/>
          </p:nvSpPr>
          <p:spPr bwMode="auto">
            <a:xfrm>
              <a:off x="2016" y="3984"/>
              <a:ext cx="1584" cy="240"/>
            </a:xfrm>
            <a:prstGeom prst="rect">
              <a:avLst/>
            </a:prstGeom>
            <a:solidFill>
              <a:srgbClr val="FFFF00"/>
            </a:solidFill>
            <a:ln w="9525">
              <a:noFill/>
              <a:miter lim="800000"/>
              <a:headEnd/>
              <a:tailEnd/>
            </a:ln>
          </p:spPr>
          <p:txBody>
            <a:bodyPr wrap="none" anchor="ctr"/>
            <a:lstStyle/>
            <a:p>
              <a:pPr algn="ctr"/>
              <a:r>
                <a:rPr lang="es-ES" sz="2000">
                  <a:solidFill>
                    <a:srgbClr val="0000CC"/>
                  </a:solidFill>
                  <a:latin typeface="Comic Sans MS" pitchFamily="66" charset="0"/>
                </a:rPr>
                <a:t>Estructura Real</a:t>
              </a:r>
            </a:p>
          </p:txBody>
        </p:sp>
        <p:sp>
          <p:nvSpPr>
            <p:cNvPr id="5137" name="AutoShape 17"/>
            <p:cNvSpPr>
              <a:spLocks noChangeArrowheads="1"/>
            </p:cNvSpPr>
            <p:nvPr/>
          </p:nvSpPr>
          <p:spPr bwMode="auto">
            <a:xfrm flipV="1">
              <a:off x="2496" y="3408"/>
              <a:ext cx="624" cy="528"/>
            </a:xfrm>
            <a:custGeom>
              <a:avLst/>
              <a:gdLst>
                <a:gd name="G0" fmla="+- 6480 0 0"/>
                <a:gd name="G1" fmla="+- 8640 0 0"/>
                <a:gd name="G2" fmla="+- 6171 0 0"/>
                <a:gd name="G3" fmla="+- 21600 0 6480"/>
                <a:gd name="G4" fmla="+- 21600 0 8640"/>
                <a:gd name="G5" fmla="*/ G0 21600 G3"/>
                <a:gd name="G6" fmla="*/ G1 21600 G3"/>
                <a:gd name="G7" fmla="*/ G2 G3 21600"/>
                <a:gd name="G8" fmla="*/ 10800 21600 G3"/>
                <a:gd name="G9" fmla="*/ G4 21600 G3"/>
                <a:gd name="G10" fmla="+- 21600 0 G7"/>
                <a:gd name="G11" fmla="+- G5 0 G8"/>
                <a:gd name="G12" fmla="+- G6 0 G8"/>
                <a:gd name="G13" fmla="*/ G12 G7 G11"/>
                <a:gd name="G14" fmla="+- 21600 0 G13"/>
                <a:gd name="G15" fmla="+- G0 0 10800"/>
                <a:gd name="G16" fmla="+- G1 0 10800"/>
                <a:gd name="G17" fmla="*/ G2 G16 G15"/>
                <a:gd name="T0" fmla="*/ 10800 w 21600"/>
                <a:gd name="T1" fmla="*/ 0 h 21600"/>
                <a:gd name="T2" fmla="*/ 0 w 21600"/>
                <a:gd name="T3" fmla="*/ 15429 h 21600"/>
                <a:gd name="T4" fmla="*/ 10800 w 21600"/>
                <a:gd name="T5" fmla="*/ 18514 h 21600"/>
                <a:gd name="T6" fmla="*/ 21600 w 21600"/>
                <a:gd name="T7" fmla="*/ 15429 h 21600"/>
                <a:gd name="T8" fmla="*/ 17694720 60000 65536"/>
                <a:gd name="T9" fmla="*/ 11796480 60000 65536"/>
                <a:gd name="T10" fmla="*/ 5898240 60000 65536"/>
                <a:gd name="T11" fmla="*/ 0 60000 65536"/>
                <a:gd name="T12" fmla="*/ G13 w 21600"/>
                <a:gd name="T13" fmla="*/ G6 h 21600"/>
                <a:gd name="T14" fmla="*/ G14 w 21600"/>
                <a:gd name="T15" fmla="*/ G9 h 21600"/>
              </a:gdLst>
              <a:ahLst/>
              <a:cxnLst>
                <a:cxn ang="T8">
                  <a:pos x="T0" y="T1"/>
                </a:cxn>
                <a:cxn ang="T9">
                  <a:pos x="T2" y="T3"/>
                </a:cxn>
                <a:cxn ang="T10">
                  <a:pos x="T4" y="T5"/>
                </a:cxn>
                <a:cxn ang="T11">
                  <a:pos x="T6" y="T7"/>
                </a:cxn>
              </a:cxnLst>
              <a:rect l="T12" t="T13" r="T14" b="T15"/>
              <a:pathLst>
                <a:path w="21600" h="21600">
                  <a:moveTo>
                    <a:pt x="10800" y="0"/>
                  </a:moveTo>
                  <a:lnTo>
                    <a:pt x="6480" y="6171"/>
                  </a:lnTo>
                  <a:lnTo>
                    <a:pt x="8640" y="6171"/>
                  </a:lnTo>
                  <a:lnTo>
                    <a:pt x="8640" y="12343"/>
                  </a:lnTo>
                  <a:lnTo>
                    <a:pt x="4320" y="12343"/>
                  </a:lnTo>
                  <a:lnTo>
                    <a:pt x="4320" y="9257"/>
                  </a:lnTo>
                  <a:lnTo>
                    <a:pt x="0" y="15429"/>
                  </a:lnTo>
                  <a:lnTo>
                    <a:pt x="4320" y="21600"/>
                  </a:lnTo>
                  <a:lnTo>
                    <a:pt x="4320" y="18514"/>
                  </a:lnTo>
                  <a:lnTo>
                    <a:pt x="17280" y="18514"/>
                  </a:lnTo>
                  <a:lnTo>
                    <a:pt x="17280" y="21600"/>
                  </a:lnTo>
                  <a:lnTo>
                    <a:pt x="21600" y="15429"/>
                  </a:lnTo>
                  <a:lnTo>
                    <a:pt x="17280" y="9257"/>
                  </a:lnTo>
                  <a:lnTo>
                    <a:pt x="17280" y="12343"/>
                  </a:lnTo>
                  <a:lnTo>
                    <a:pt x="12960" y="12343"/>
                  </a:lnTo>
                  <a:lnTo>
                    <a:pt x="12960" y="6171"/>
                  </a:lnTo>
                  <a:lnTo>
                    <a:pt x="15120" y="6171"/>
                  </a:lnTo>
                  <a:close/>
                </a:path>
              </a:pathLst>
            </a:custGeom>
            <a:gradFill rotWithShape="0">
              <a:gsLst>
                <a:gs pos="0">
                  <a:schemeClr val="folHlink"/>
                </a:gs>
                <a:gs pos="50000">
                  <a:srgbClr val="FFFF00"/>
                </a:gs>
                <a:gs pos="100000">
                  <a:schemeClr val="folHlink"/>
                </a:gs>
              </a:gsLst>
              <a:lin ang="5400000" scaled="1"/>
            </a:gradFill>
            <a:ln w="9525">
              <a:solidFill>
                <a:srgbClr val="0000CC"/>
              </a:solidFill>
              <a:miter lim="800000"/>
              <a:headEnd/>
              <a:tailEnd/>
            </a:ln>
            <a:effectLst/>
          </p:spPr>
          <p:txBody>
            <a:bodyPr rot="10800000" wrap="none" anchor="ctr"/>
            <a:lstStyle/>
            <a:p>
              <a:pPr algn="ctr">
                <a:defRPr/>
              </a:pPr>
              <a:endParaRPr lang="es-ES">
                <a:solidFill>
                  <a:srgbClr val="0000CC"/>
                </a:solidFill>
              </a:endParaRPr>
            </a:p>
          </p:txBody>
        </p:sp>
      </p:grpSp>
      <p:sp>
        <p:nvSpPr>
          <p:cNvPr id="20" name="4 Título"/>
          <p:cNvSpPr>
            <a:spLocks noGrp="1"/>
          </p:cNvSpPr>
          <p:nvPr>
            <p:ph type="title"/>
          </p:nvPr>
        </p:nvSpPr>
        <p:spPr>
          <a:xfrm>
            <a:off x="107950" y="115888"/>
            <a:ext cx="8928100" cy="720725"/>
          </a:xfrm>
        </p:spPr>
        <p:txBody>
          <a:bodyPr/>
          <a:lstStyle/>
          <a:p>
            <a:pPr algn="l"/>
            <a:r>
              <a:rPr lang="es-ES" dirty="0"/>
              <a:t>3.3. </a:t>
            </a:r>
            <a:r>
              <a:rPr lang="es-ES" sz="2600" dirty="0"/>
              <a:t>Organización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38</a:t>
            </a:fld>
            <a:endParaRPr lang="es-ES"/>
          </a:p>
        </p:txBody>
      </p:sp>
      <p:sp>
        <p:nvSpPr>
          <p:cNvPr id="11" name="Forma libre: forma 10">
            <a:extLst>
              <a:ext uri="{FF2B5EF4-FFF2-40B4-BE49-F238E27FC236}">
                <a16:creationId xmlns:a16="http://schemas.microsoft.com/office/drawing/2014/main" id="{0F0AEC21-C206-447D-8A5D-14948BB73840}"/>
              </a:ext>
            </a:extLst>
          </p:cNvPr>
          <p:cNvSpPr/>
          <p:nvPr/>
        </p:nvSpPr>
        <p:spPr>
          <a:xfrm>
            <a:off x="395536" y="1138164"/>
            <a:ext cx="2880319" cy="1073952"/>
          </a:xfrm>
          <a:custGeom>
            <a:avLst/>
            <a:gdLst>
              <a:gd name="connsiteX0" fmla="*/ 0 w 2719833"/>
              <a:gd name="connsiteY0" fmla="*/ 0 h 1087933"/>
              <a:gd name="connsiteX1" fmla="*/ 2175867 w 2719833"/>
              <a:gd name="connsiteY1" fmla="*/ 0 h 1087933"/>
              <a:gd name="connsiteX2" fmla="*/ 2719833 w 2719833"/>
              <a:gd name="connsiteY2" fmla="*/ 543967 h 1087933"/>
              <a:gd name="connsiteX3" fmla="*/ 2175867 w 2719833"/>
              <a:gd name="connsiteY3" fmla="*/ 1087933 h 1087933"/>
              <a:gd name="connsiteX4" fmla="*/ 0 w 2719833"/>
              <a:gd name="connsiteY4" fmla="*/ 1087933 h 1087933"/>
              <a:gd name="connsiteX5" fmla="*/ 543967 w 2719833"/>
              <a:gd name="connsiteY5" fmla="*/ 543967 h 1087933"/>
              <a:gd name="connsiteX6" fmla="*/ 0 w 2719833"/>
              <a:gd name="connsiteY6" fmla="*/ 0 h 108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9833" h="1087933">
                <a:moveTo>
                  <a:pt x="0" y="0"/>
                </a:moveTo>
                <a:lnTo>
                  <a:pt x="2175867" y="0"/>
                </a:lnTo>
                <a:lnTo>
                  <a:pt x="2719833" y="543967"/>
                </a:lnTo>
                <a:lnTo>
                  <a:pt x="2175867" y="1087933"/>
                </a:lnTo>
                <a:lnTo>
                  <a:pt x="0" y="1087933"/>
                </a:lnTo>
                <a:lnTo>
                  <a:pt x="543967" y="543967"/>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99974" tIns="18669" rIns="562635" bIns="18669" numCol="1" spcCol="1270" anchor="ctr" anchorCtr="0">
            <a:noAutofit/>
          </a:bodyPr>
          <a:lstStyle/>
          <a:p>
            <a:pPr marL="0" lvl="0" indent="0" algn="ctr" defTabSz="622300">
              <a:lnSpc>
                <a:spcPct val="90000"/>
              </a:lnSpc>
              <a:spcBef>
                <a:spcPct val="0"/>
              </a:spcBef>
              <a:spcAft>
                <a:spcPct val="35000"/>
              </a:spcAft>
              <a:buNone/>
            </a:pPr>
            <a:r>
              <a:rPr lang="es-ES" sz="1600" kern="1200" dirty="0">
                <a:solidFill>
                  <a:schemeClr val="tx1"/>
                </a:solidFill>
              </a:rPr>
              <a:t>PLANIFICACIÓN</a:t>
            </a:r>
          </a:p>
        </p:txBody>
      </p:sp>
      <p:sp>
        <p:nvSpPr>
          <p:cNvPr id="12" name="Forma libre: forma 11">
            <a:extLst>
              <a:ext uri="{FF2B5EF4-FFF2-40B4-BE49-F238E27FC236}">
                <a16:creationId xmlns:a16="http://schemas.microsoft.com/office/drawing/2014/main" id="{58351C8B-456B-46A3-8810-B749ED415CE1}"/>
              </a:ext>
            </a:extLst>
          </p:cNvPr>
          <p:cNvSpPr/>
          <p:nvPr/>
        </p:nvSpPr>
        <p:spPr>
          <a:xfrm>
            <a:off x="2987825" y="1138164"/>
            <a:ext cx="2880319" cy="1073952"/>
          </a:xfrm>
          <a:custGeom>
            <a:avLst/>
            <a:gdLst>
              <a:gd name="connsiteX0" fmla="*/ 0 w 2719833"/>
              <a:gd name="connsiteY0" fmla="*/ 0 h 1087933"/>
              <a:gd name="connsiteX1" fmla="*/ 2175867 w 2719833"/>
              <a:gd name="connsiteY1" fmla="*/ 0 h 1087933"/>
              <a:gd name="connsiteX2" fmla="*/ 2719833 w 2719833"/>
              <a:gd name="connsiteY2" fmla="*/ 543967 h 1087933"/>
              <a:gd name="connsiteX3" fmla="*/ 2175867 w 2719833"/>
              <a:gd name="connsiteY3" fmla="*/ 1087933 h 1087933"/>
              <a:gd name="connsiteX4" fmla="*/ 0 w 2719833"/>
              <a:gd name="connsiteY4" fmla="*/ 1087933 h 1087933"/>
              <a:gd name="connsiteX5" fmla="*/ 543967 w 2719833"/>
              <a:gd name="connsiteY5" fmla="*/ 543967 h 1087933"/>
              <a:gd name="connsiteX6" fmla="*/ 0 w 2719833"/>
              <a:gd name="connsiteY6" fmla="*/ 0 h 108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9833" h="1087933">
                <a:moveTo>
                  <a:pt x="0" y="0"/>
                </a:moveTo>
                <a:lnTo>
                  <a:pt x="2175867" y="0"/>
                </a:lnTo>
                <a:lnTo>
                  <a:pt x="2719833" y="543967"/>
                </a:lnTo>
                <a:lnTo>
                  <a:pt x="2175867" y="1087933"/>
                </a:lnTo>
                <a:lnTo>
                  <a:pt x="0" y="1087933"/>
                </a:lnTo>
                <a:lnTo>
                  <a:pt x="543967" y="543967"/>
                </a:lnTo>
                <a:lnTo>
                  <a:pt x="0" y="0"/>
                </a:lnTo>
                <a:close/>
              </a:path>
            </a:pathLst>
          </a:custGeom>
          <a:solidFill>
            <a:srgbClr val="FFC000"/>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none" lIns="599974" tIns="18669" rIns="562635" bIns="18669" numCol="1" spcCol="1270" anchor="ctr" anchorCtr="0">
            <a:noAutofit/>
          </a:bodyPr>
          <a:lstStyle/>
          <a:p>
            <a:pPr marL="0" lvl="0" indent="0" algn="ctr" defTabSz="622300">
              <a:lnSpc>
                <a:spcPct val="90000"/>
              </a:lnSpc>
              <a:spcBef>
                <a:spcPct val="0"/>
              </a:spcBef>
              <a:spcAft>
                <a:spcPct val="35000"/>
              </a:spcAft>
              <a:buNone/>
            </a:pPr>
            <a:r>
              <a:rPr lang="es-ES" sz="1600" kern="1200" dirty="0">
                <a:solidFill>
                  <a:schemeClr val="tx1"/>
                </a:solidFill>
              </a:rPr>
              <a:t>ESTRUCTURA DEFINIDA </a:t>
            </a:r>
          </a:p>
          <a:p>
            <a:pPr marL="0" lvl="0" indent="0" algn="ctr" defTabSz="622300">
              <a:lnSpc>
                <a:spcPct val="90000"/>
              </a:lnSpc>
              <a:spcBef>
                <a:spcPct val="0"/>
              </a:spcBef>
              <a:spcAft>
                <a:spcPct val="35000"/>
              </a:spcAft>
              <a:buNone/>
            </a:pPr>
            <a:r>
              <a:rPr lang="es-ES" sz="1600" kern="1200" dirty="0">
                <a:solidFill>
                  <a:schemeClr val="tx1"/>
                </a:solidFill>
              </a:rPr>
              <a:t>SEGÚN LOS </a:t>
            </a:r>
          </a:p>
          <a:p>
            <a:pPr marL="0" lvl="0" indent="0" algn="ctr" defTabSz="622300">
              <a:lnSpc>
                <a:spcPct val="90000"/>
              </a:lnSpc>
              <a:spcBef>
                <a:spcPct val="0"/>
              </a:spcBef>
              <a:spcAft>
                <a:spcPct val="35000"/>
              </a:spcAft>
              <a:buNone/>
            </a:pPr>
            <a:r>
              <a:rPr lang="es-ES" sz="1600" kern="1200" dirty="0">
                <a:solidFill>
                  <a:schemeClr val="tx1"/>
                </a:solidFill>
              </a:rPr>
              <a:t>RECURSOS DISPONIBLES</a:t>
            </a:r>
          </a:p>
        </p:txBody>
      </p:sp>
      <p:sp>
        <p:nvSpPr>
          <p:cNvPr id="13" name="Forma libre: forma 12">
            <a:extLst>
              <a:ext uri="{FF2B5EF4-FFF2-40B4-BE49-F238E27FC236}">
                <a16:creationId xmlns:a16="http://schemas.microsoft.com/office/drawing/2014/main" id="{97A222E0-F6BC-4EFC-BDBB-7E6FC6847217}"/>
              </a:ext>
            </a:extLst>
          </p:cNvPr>
          <p:cNvSpPr/>
          <p:nvPr/>
        </p:nvSpPr>
        <p:spPr>
          <a:xfrm>
            <a:off x="5580112" y="1138164"/>
            <a:ext cx="2880319" cy="1073952"/>
          </a:xfrm>
          <a:custGeom>
            <a:avLst/>
            <a:gdLst>
              <a:gd name="connsiteX0" fmla="*/ 0 w 2719833"/>
              <a:gd name="connsiteY0" fmla="*/ 0 h 1087933"/>
              <a:gd name="connsiteX1" fmla="*/ 2175867 w 2719833"/>
              <a:gd name="connsiteY1" fmla="*/ 0 h 1087933"/>
              <a:gd name="connsiteX2" fmla="*/ 2719833 w 2719833"/>
              <a:gd name="connsiteY2" fmla="*/ 543967 h 1087933"/>
              <a:gd name="connsiteX3" fmla="*/ 2175867 w 2719833"/>
              <a:gd name="connsiteY3" fmla="*/ 1087933 h 1087933"/>
              <a:gd name="connsiteX4" fmla="*/ 0 w 2719833"/>
              <a:gd name="connsiteY4" fmla="*/ 1087933 h 1087933"/>
              <a:gd name="connsiteX5" fmla="*/ 543967 w 2719833"/>
              <a:gd name="connsiteY5" fmla="*/ 543967 h 1087933"/>
              <a:gd name="connsiteX6" fmla="*/ 0 w 2719833"/>
              <a:gd name="connsiteY6" fmla="*/ 0 h 108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9833" h="1087933">
                <a:moveTo>
                  <a:pt x="0" y="0"/>
                </a:moveTo>
                <a:lnTo>
                  <a:pt x="2175867" y="0"/>
                </a:lnTo>
                <a:lnTo>
                  <a:pt x="2719833" y="543967"/>
                </a:lnTo>
                <a:lnTo>
                  <a:pt x="2175867" y="1087933"/>
                </a:lnTo>
                <a:lnTo>
                  <a:pt x="0" y="1087933"/>
                </a:lnTo>
                <a:lnTo>
                  <a:pt x="543967" y="543967"/>
                </a:lnTo>
                <a:lnTo>
                  <a:pt x="0" y="0"/>
                </a:lnTo>
                <a:close/>
              </a:path>
            </a:pathLst>
          </a:custGeom>
          <a:solidFill>
            <a:srgbClr val="00B050"/>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599974" tIns="18669" rIns="562635" bIns="18669" numCol="1" spcCol="1270" anchor="ctr" anchorCtr="0">
            <a:noAutofit/>
          </a:bodyPr>
          <a:lstStyle/>
          <a:p>
            <a:pPr marL="0" lvl="0" indent="0" algn="ctr" defTabSz="622300">
              <a:lnSpc>
                <a:spcPct val="90000"/>
              </a:lnSpc>
              <a:spcBef>
                <a:spcPct val="0"/>
              </a:spcBef>
              <a:spcAft>
                <a:spcPct val="35000"/>
              </a:spcAft>
              <a:buNone/>
            </a:pPr>
            <a:r>
              <a:rPr lang="es-ES" sz="1600" kern="1200" dirty="0">
                <a:solidFill>
                  <a:schemeClr val="tx1"/>
                </a:solidFill>
              </a:rPr>
              <a:t>CUMPLIR OBJETIVOS PREVISTOS</a:t>
            </a:r>
          </a:p>
        </p:txBody>
      </p:sp>
      <p:sp>
        <p:nvSpPr>
          <p:cNvPr id="14" name="CuadroTexto 13">
            <a:extLst>
              <a:ext uri="{FF2B5EF4-FFF2-40B4-BE49-F238E27FC236}">
                <a16:creationId xmlns:a16="http://schemas.microsoft.com/office/drawing/2014/main" id="{7E645912-5BF2-452F-947A-B7C713046366}"/>
              </a:ext>
            </a:extLst>
          </p:cNvPr>
          <p:cNvSpPr txBox="1"/>
          <p:nvPr/>
        </p:nvSpPr>
        <p:spPr>
          <a:xfrm>
            <a:off x="666012" y="2505670"/>
            <a:ext cx="7506388" cy="923330"/>
          </a:xfrm>
          <a:prstGeom prst="rect">
            <a:avLst/>
          </a:prstGeom>
          <a:solidFill>
            <a:srgbClr val="AFE7BE"/>
          </a:solidFill>
        </p:spPr>
        <p:txBody>
          <a:bodyPr wrap="square" rtlCol="0">
            <a:spAutoFit/>
          </a:bodyPr>
          <a:lstStyle/>
          <a:p>
            <a:pPr algn="just"/>
            <a:r>
              <a:rPr lang="es-ES" b="1" dirty="0">
                <a:solidFill>
                  <a:srgbClr val="C00000"/>
                </a:solidFill>
                <a:latin typeface="+mj-lt"/>
              </a:rPr>
              <a:t>DIRIGIR</a:t>
            </a:r>
            <a:r>
              <a:rPr lang="es-ES" dirty="0">
                <a:latin typeface="+mj-lt"/>
              </a:rPr>
              <a:t> consiste en integrar y coordinar los esfuerzos de  las personas que conforman la organización de tal manera que se alcancen tanto sus objetivos individuales como los de la organización.</a:t>
            </a:r>
          </a:p>
        </p:txBody>
      </p:sp>
      <p:sp>
        <p:nvSpPr>
          <p:cNvPr id="15" name="CuadroTexto 14">
            <a:extLst>
              <a:ext uri="{FF2B5EF4-FFF2-40B4-BE49-F238E27FC236}">
                <a16:creationId xmlns:a16="http://schemas.microsoft.com/office/drawing/2014/main" id="{E36EF93F-1D38-4928-BE88-76654C56B452}"/>
              </a:ext>
            </a:extLst>
          </p:cNvPr>
          <p:cNvSpPr txBox="1"/>
          <p:nvPr/>
        </p:nvSpPr>
        <p:spPr>
          <a:xfrm>
            <a:off x="395536" y="3556125"/>
            <a:ext cx="8352928" cy="1754326"/>
          </a:xfrm>
          <a:prstGeom prst="rect">
            <a:avLst/>
          </a:prstGeom>
          <a:noFill/>
        </p:spPr>
        <p:txBody>
          <a:bodyPr wrap="square" rtlCol="0">
            <a:spAutoFit/>
          </a:bodyPr>
          <a:lstStyle/>
          <a:p>
            <a:pPr algn="just"/>
            <a:r>
              <a:rPr lang="es-ES" dirty="0">
                <a:latin typeface="+mj-lt"/>
              </a:rPr>
              <a:t>El DIRECTIVO se ocupa de:</a:t>
            </a:r>
          </a:p>
          <a:p>
            <a:pPr marL="285750" indent="-285750" algn="just">
              <a:buFont typeface="Wingdings" panose="05000000000000000000" pitchFamily="2" charset="2"/>
              <a:buChar char="Ø"/>
            </a:pPr>
            <a:r>
              <a:rPr lang="es-ES" dirty="0">
                <a:latin typeface="+mj-lt"/>
              </a:rPr>
              <a:t>Elegir las funciones a realizar por cada persona que tiene a su cargo.</a:t>
            </a:r>
          </a:p>
          <a:p>
            <a:pPr marL="285750" indent="-285750" algn="just">
              <a:buFont typeface="Wingdings" panose="05000000000000000000" pitchFamily="2" charset="2"/>
              <a:buChar char="Ø"/>
            </a:pPr>
            <a:r>
              <a:rPr lang="es-ES" dirty="0">
                <a:latin typeface="+mj-lt"/>
              </a:rPr>
              <a:t>Transmitir esas funciones a los trabajadores correspondientes.</a:t>
            </a:r>
          </a:p>
          <a:p>
            <a:pPr marL="285750" indent="-285750" algn="just">
              <a:buFont typeface="Wingdings" panose="05000000000000000000" pitchFamily="2" charset="2"/>
              <a:buChar char="Ø"/>
            </a:pPr>
            <a:r>
              <a:rPr lang="es-ES" dirty="0">
                <a:latin typeface="+mj-lt"/>
              </a:rPr>
              <a:t>Dar instrucciones para el desempeño de las tareas.</a:t>
            </a:r>
          </a:p>
          <a:p>
            <a:pPr marL="285750" indent="-285750" algn="just">
              <a:buFont typeface="Wingdings" panose="05000000000000000000" pitchFamily="2" charset="2"/>
              <a:buChar char="Ø"/>
            </a:pPr>
            <a:r>
              <a:rPr lang="es-ES" dirty="0">
                <a:latin typeface="+mj-lt"/>
              </a:rPr>
              <a:t>Crear situaciones de trabajo favorables.</a:t>
            </a:r>
          </a:p>
          <a:p>
            <a:pPr marL="285750" indent="-285750" algn="just">
              <a:buFont typeface="Wingdings" panose="05000000000000000000" pitchFamily="2" charset="2"/>
              <a:buChar char="Ø"/>
            </a:pPr>
            <a:r>
              <a:rPr lang="es-ES" dirty="0">
                <a:latin typeface="+mj-lt"/>
              </a:rPr>
              <a:t>Supervisar y controlar el trabajo que realizan sus subordinados.</a:t>
            </a:r>
          </a:p>
        </p:txBody>
      </p:sp>
      <p:sp>
        <p:nvSpPr>
          <p:cNvPr id="16" name="CuadroTexto 15">
            <a:extLst>
              <a:ext uri="{FF2B5EF4-FFF2-40B4-BE49-F238E27FC236}">
                <a16:creationId xmlns:a16="http://schemas.microsoft.com/office/drawing/2014/main" id="{E4392B44-B237-4535-8008-66E54552B640}"/>
              </a:ext>
            </a:extLst>
          </p:cNvPr>
          <p:cNvSpPr txBox="1"/>
          <p:nvPr/>
        </p:nvSpPr>
        <p:spPr>
          <a:xfrm>
            <a:off x="1477626" y="5805264"/>
            <a:ext cx="5542645" cy="593432"/>
          </a:xfrm>
          <a:prstGeom prst="rect">
            <a:avLst/>
          </a:prstGeom>
          <a:noFill/>
        </p:spPr>
        <p:txBody>
          <a:bodyPr wrap="square" rtlCol="0">
            <a:spAutoFit/>
          </a:bodyPr>
          <a:lstStyle/>
          <a:p>
            <a:pPr marL="546100" lvl="1" indent="-25400" algn="just">
              <a:lnSpc>
                <a:spcPct val="80000"/>
              </a:lnSpc>
              <a:spcBef>
                <a:spcPct val="20000"/>
              </a:spcBef>
              <a:buClr>
                <a:srgbClr val="C00000"/>
              </a:buClr>
              <a:buFont typeface="Wingdings" pitchFamily="2" charset="2"/>
              <a:buChar char="ü"/>
            </a:pPr>
            <a:r>
              <a:rPr lang="es-ES" kern="0" dirty="0">
                <a:solidFill>
                  <a:srgbClr val="000000"/>
                </a:solidFill>
                <a:latin typeface="+mn-lt"/>
                <a:sym typeface="Wingdings" pitchFamily="2" charset="2"/>
              </a:rPr>
              <a:t>Coordinar los medios y actividades.</a:t>
            </a:r>
          </a:p>
          <a:p>
            <a:pPr marL="546100" lvl="1" indent="-25400" algn="just">
              <a:lnSpc>
                <a:spcPct val="80000"/>
              </a:lnSpc>
              <a:spcBef>
                <a:spcPct val="20000"/>
              </a:spcBef>
              <a:buClr>
                <a:srgbClr val="C00000"/>
              </a:buClr>
              <a:buFont typeface="Wingdings" pitchFamily="2" charset="2"/>
              <a:buChar char="ü"/>
            </a:pPr>
            <a:r>
              <a:rPr lang="es-ES" kern="0" dirty="0">
                <a:solidFill>
                  <a:srgbClr val="000000"/>
                </a:solidFill>
                <a:latin typeface="+mn-lt"/>
                <a:sym typeface="Wingdings" pitchFamily="2" charset="2"/>
              </a:rPr>
              <a:t> Liderar y motivar a los subordinados.</a:t>
            </a:r>
            <a:endParaRPr lang="es-ES" kern="0" dirty="0">
              <a:solidFill>
                <a:srgbClr val="000000"/>
              </a:solidFill>
              <a:latin typeface="+mn-lt"/>
            </a:endParaRPr>
          </a:p>
        </p:txBody>
      </p:sp>
      <p:sp>
        <p:nvSpPr>
          <p:cNvPr id="17" name="Flecha: curvada hacia la izquierda 16">
            <a:extLst>
              <a:ext uri="{FF2B5EF4-FFF2-40B4-BE49-F238E27FC236}">
                <a16:creationId xmlns:a16="http://schemas.microsoft.com/office/drawing/2014/main" id="{092EA5FB-7A3B-45DC-ACE6-4F9BB8A0724D}"/>
              </a:ext>
            </a:extLst>
          </p:cNvPr>
          <p:cNvSpPr/>
          <p:nvPr/>
        </p:nvSpPr>
        <p:spPr>
          <a:xfrm>
            <a:off x="8244409" y="1988840"/>
            <a:ext cx="504055" cy="110941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8" name="Flecha: arriba y abajo 17">
            <a:extLst>
              <a:ext uri="{FF2B5EF4-FFF2-40B4-BE49-F238E27FC236}">
                <a16:creationId xmlns:a16="http://schemas.microsoft.com/office/drawing/2014/main" id="{6DDAE952-8871-43FD-ABA0-14D083224785}"/>
              </a:ext>
            </a:extLst>
          </p:cNvPr>
          <p:cNvSpPr/>
          <p:nvPr/>
        </p:nvSpPr>
        <p:spPr>
          <a:xfrm>
            <a:off x="3961903" y="5301208"/>
            <a:ext cx="322065" cy="467113"/>
          </a:xfrm>
          <a:prstGeom prst="upDown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7 Título">
            <a:extLst>
              <a:ext uri="{FF2B5EF4-FFF2-40B4-BE49-F238E27FC236}">
                <a16:creationId xmlns:a16="http://schemas.microsoft.com/office/drawing/2014/main" id="{85EBE954-FA4F-4865-8D1A-A78D7B564DFA}"/>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como función básica administrativa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p:bldP spid="16" grpId="0"/>
      <p:bldP spid="17" grpId="0" animBg="1"/>
      <p:bldP spid="1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39</a:t>
            </a:fld>
            <a:endParaRPr lang="es-ES"/>
          </a:p>
        </p:txBody>
      </p:sp>
      <p:pic>
        <p:nvPicPr>
          <p:cNvPr id="6" name="Imagem 6"/>
          <p:cNvPicPr>
            <a:picLocks noChangeAspect="1"/>
          </p:cNvPicPr>
          <p:nvPr/>
        </p:nvPicPr>
        <p:blipFill>
          <a:blip r:embed="rId3" cstate="print"/>
          <a:stretch>
            <a:fillRect/>
          </a:stretch>
        </p:blipFill>
        <p:spPr>
          <a:xfrm>
            <a:off x="371275" y="1556792"/>
            <a:ext cx="3527608" cy="3925708"/>
          </a:xfrm>
          <a:prstGeom prst="rect">
            <a:avLst/>
          </a:prstGeom>
        </p:spPr>
      </p:pic>
      <p:sp>
        <p:nvSpPr>
          <p:cNvPr id="7" name="6 Rectángulo"/>
          <p:cNvSpPr/>
          <p:nvPr/>
        </p:nvSpPr>
        <p:spPr>
          <a:xfrm rot="20902690">
            <a:off x="3235392" y="3089750"/>
            <a:ext cx="5926622" cy="1631216"/>
          </a:xfrm>
          <a:prstGeom prst="rect">
            <a:avLst/>
          </a:prstGeom>
          <a:noFill/>
        </p:spPr>
        <p:txBody>
          <a:bodyPr wrap="none" lIns="91440" tIns="45720" rIns="91440" bIns="45720">
            <a:spAutoFit/>
          </a:bodyPr>
          <a:lstStyle/>
          <a:p>
            <a:pPr algn="ctr"/>
            <a:r>
              <a:rPr lang="es-ES" sz="50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Por qué hacemos </a:t>
            </a:r>
          </a:p>
          <a:p>
            <a:pPr algn="ctr"/>
            <a:r>
              <a:rPr lang="es-ES" sz="50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lo que hacemos???</a:t>
            </a:r>
          </a:p>
        </p:txBody>
      </p:sp>
      <p:sp>
        <p:nvSpPr>
          <p:cNvPr id="12" name="7 Título">
            <a:extLst>
              <a:ext uri="{FF2B5EF4-FFF2-40B4-BE49-F238E27FC236}">
                <a16:creationId xmlns:a16="http://schemas.microsoft.com/office/drawing/2014/main" id="{DCD7E0D6-F754-41DE-8572-27C2F57CB83D}"/>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motivación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70" decel="100000"/>
                                        <p:tgtEl>
                                          <p:spTgt spid="7"/>
                                        </p:tgtEl>
                                      </p:cBhvr>
                                    </p:animEffect>
                                    <p:animScale>
                                      <p:cBhvr>
                                        <p:cTn id="8" dur="770" decel="100000"/>
                                        <p:tgtEl>
                                          <p:spTgt spid="7"/>
                                        </p:tgtEl>
                                      </p:cBhvr>
                                      <p:from x="10000" y="10000"/>
                                      <p:to x="200000" y="450000"/>
                                    </p:animScale>
                                    <p:animScale>
                                      <p:cBhvr>
                                        <p:cTn id="9" dur="1230" accel="100000" fill="hold">
                                          <p:stCondLst>
                                            <p:cond delay="770"/>
                                          </p:stCondLst>
                                        </p:cTn>
                                        <p:tgtEl>
                                          <p:spTgt spid="7"/>
                                        </p:tgtEl>
                                      </p:cBhvr>
                                      <p:from x="200000" y="450000"/>
                                      <p:to x="100000" y="100000"/>
                                    </p:animScale>
                                    <p:set>
                                      <p:cBhvr>
                                        <p:cTn id="10" dur="770" fill="hold"/>
                                        <p:tgtEl>
                                          <p:spTgt spid="7"/>
                                        </p:tgtEl>
                                        <p:attrNameLst>
                                          <p:attrName>ppt_x</p:attrName>
                                        </p:attrNameLst>
                                      </p:cBhvr>
                                      <p:to>
                                        <p:strVal val="(0.5)"/>
                                      </p:to>
                                    </p:set>
                                    <p:anim from="(0.5)" to="(#ppt_x)" calcmode="lin" valueType="num">
                                      <p:cBhvr>
                                        <p:cTn id="11" dur="1230" accel="100000" fill="hold">
                                          <p:stCondLst>
                                            <p:cond delay="770"/>
                                          </p:stCondLst>
                                        </p:cTn>
                                        <p:tgtEl>
                                          <p:spTgt spid="7"/>
                                        </p:tgtEl>
                                        <p:attrNameLst>
                                          <p:attrName>ppt_x</p:attrName>
                                        </p:attrNameLst>
                                      </p:cBhvr>
                                    </p:anim>
                                    <p:set>
                                      <p:cBhvr>
                                        <p:cTn id="12" dur="770" fill="hold"/>
                                        <p:tgtEl>
                                          <p:spTgt spid="7"/>
                                        </p:tgtEl>
                                        <p:attrNameLst>
                                          <p:attrName>ppt_y</p:attrName>
                                        </p:attrNameLst>
                                      </p:cBhvr>
                                      <p:to>
                                        <p:strVal val="(#ppt_y+0.4)"/>
                                      </p:to>
                                    </p:set>
                                    <p:anim from="(#ppt_y+0.4)" to="(#ppt_y)" calcmode="lin" valueType="num">
                                      <p:cBhvr>
                                        <p:cTn id="13" dur="1230" accel="100000" fill="hold">
                                          <p:stCondLst>
                                            <p:cond delay="770"/>
                                          </p:stCondLst>
                                        </p:cTn>
                                        <p:tgtEl>
                                          <p:spTgt spid="7"/>
                                        </p:tgtEl>
                                        <p:attrNameLst>
                                          <p:attrName>ppt_y</p:attrName>
                                        </p:attrNameLst>
                                      </p:cBhvr>
                                    </p:anim>
                                  </p:childTnLst>
                                </p:cTn>
                              </p:par>
                            </p:childTnLst>
                          </p:cTn>
                        </p:par>
                        <p:par>
                          <p:cTn id="14" fill="hold">
                            <p:stCondLst>
                              <p:cond delay="2000"/>
                            </p:stCondLst>
                            <p:childTnLst>
                              <p:par>
                                <p:cTn id="15" presetID="31" presetClass="entr" presetSubtype="0" fill="hold" nodeType="afterEffect">
                                  <p:stCondLst>
                                    <p:cond delay="0"/>
                                  </p:stCondLst>
                                  <p:iterate type="lt">
                                    <p:tmPct val="5000"/>
                                  </p:iterate>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40</a:t>
            </a:fld>
            <a:endParaRPr lang="es-ES"/>
          </a:p>
        </p:txBody>
      </p:sp>
      <p:sp>
        <p:nvSpPr>
          <p:cNvPr id="5" name="4 CuadroTexto"/>
          <p:cNvSpPr txBox="1"/>
          <p:nvPr/>
        </p:nvSpPr>
        <p:spPr>
          <a:xfrm>
            <a:off x="4788024" y="1340768"/>
            <a:ext cx="4032002" cy="4708981"/>
          </a:xfrm>
          <a:prstGeom prst="rect">
            <a:avLst/>
          </a:prstGeom>
          <a:noFill/>
        </p:spPr>
        <p:txBody>
          <a:bodyPr wrap="square" rtlCol="0">
            <a:spAutoFit/>
          </a:bodyPr>
          <a:lstStyle/>
          <a:p>
            <a:pPr algn="just"/>
            <a:r>
              <a:rPr lang="es-ES" sz="2000" dirty="0">
                <a:latin typeface="+mn-lt"/>
              </a:rPr>
              <a:t>LA MOTIVACIÓN está constituida por todos los factores capaces de provocar, mantener y dirigir la conducta hacia un objetivo.</a:t>
            </a:r>
          </a:p>
          <a:p>
            <a:pPr algn="just"/>
            <a:endParaRPr lang="es-ES" sz="2000" dirty="0">
              <a:latin typeface="+mn-lt"/>
            </a:endParaRPr>
          </a:p>
          <a:p>
            <a:pPr algn="just"/>
            <a:endParaRPr lang="es-ES" sz="2000" dirty="0">
              <a:latin typeface="+mn-lt"/>
            </a:endParaRPr>
          </a:p>
          <a:p>
            <a:pPr algn="just"/>
            <a:endParaRPr lang="es-ES" sz="2000" dirty="0">
              <a:latin typeface="+mn-lt"/>
            </a:endParaRPr>
          </a:p>
          <a:p>
            <a:pPr algn="just"/>
            <a:endParaRPr lang="es-ES" sz="2000" dirty="0">
              <a:latin typeface="+mn-lt"/>
            </a:endParaRPr>
          </a:p>
          <a:p>
            <a:pPr algn="just"/>
            <a:r>
              <a:rPr lang="es-ES" sz="2000" dirty="0">
                <a:latin typeface="+mn-lt"/>
              </a:rPr>
              <a:t>El comportamiento humano es un </a:t>
            </a:r>
            <a:r>
              <a:rPr lang="es-ES" sz="2000" b="1" dirty="0">
                <a:solidFill>
                  <a:srgbClr val="C00000"/>
                </a:solidFill>
                <a:latin typeface="+mn-lt"/>
              </a:rPr>
              <a:t>comportamiento finalista </a:t>
            </a:r>
            <a:r>
              <a:rPr lang="es-ES" sz="2000" dirty="0">
                <a:latin typeface="+mn-lt"/>
                <a:sym typeface="Wingdings" pitchFamily="2" charset="2"/>
              </a:rPr>
              <a:t> las personas hacemos las cosas por una razón, existe un porqué o una motivación para realizar una determinada acción y no otra.</a:t>
            </a:r>
            <a:endParaRPr lang="es-ES" sz="2000" dirty="0">
              <a:latin typeface="+mn-lt"/>
            </a:endParaRPr>
          </a:p>
        </p:txBody>
      </p:sp>
      <p:pic>
        <p:nvPicPr>
          <p:cNvPr id="7" name="6 Imagen" descr="motivacion-5.jpg"/>
          <p:cNvPicPr>
            <a:picLocks noChangeAspect="1"/>
          </p:cNvPicPr>
          <p:nvPr/>
        </p:nvPicPr>
        <p:blipFill>
          <a:blip r:embed="rId3" cstate="print"/>
          <a:stretch>
            <a:fillRect/>
          </a:stretch>
        </p:blipFill>
        <p:spPr>
          <a:xfrm>
            <a:off x="827584" y="1628800"/>
            <a:ext cx="3816424" cy="3816424"/>
          </a:xfrm>
          <a:prstGeom prst="rect">
            <a:avLst/>
          </a:prstGeom>
        </p:spPr>
      </p:pic>
      <p:sp>
        <p:nvSpPr>
          <p:cNvPr id="9" name="8 Flecha abajo"/>
          <p:cNvSpPr/>
          <p:nvPr/>
        </p:nvSpPr>
        <p:spPr>
          <a:xfrm>
            <a:off x="6372200" y="3068960"/>
            <a:ext cx="720080" cy="648072"/>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7 Título">
            <a:extLst>
              <a:ext uri="{FF2B5EF4-FFF2-40B4-BE49-F238E27FC236}">
                <a16:creationId xmlns:a16="http://schemas.microsoft.com/office/drawing/2014/main" id="{7D923770-3368-40CC-9D0C-85EC9BD9AF6C}"/>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motivación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41</a:t>
            </a:fld>
            <a:endParaRPr lang="es-ES"/>
          </a:p>
        </p:txBody>
      </p:sp>
      <p:pic>
        <p:nvPicPr>
          <p:cNvPr id="5" name="4 Imagen" descr="motivacion-2.png"/>
          <p:cNvPicPr>
            <a:picLocks noChangeAspect="1"/>
          </p:cNvPicPr>
          <p:nvPr/>
        </p:nvPicPr>
        <p:blipFill>
          <a:blip r:embed="rId2" cstate="print"/>
          <a:srcRect l="21236" r="21428"/>
          <a:stretch>
            <a:fillRect/>
          </a:stretch>
        </p:blipFill>
        <p:spPr>
          <a:xfrm>
            <a:off x="5976829" y="1844824"/>
            <a:ext cx="2771635" cy="2376264"/>
          </a:xfrm>
          <a:prstGeom prst="rect">
            <a:avLst/>
          </a:prstGeom>
        </p:spPr>
      </p:pic>
      <p:sp>
        <p:nvSpPr>
          <p:cNvPr id="6" name="5 CuadroTexto"/>
          <p:cNvSpPr txBox="1"/>
          <p:nvPr/>
        </p:nvSpPr>
        <p:spPr>
          <a:xfrm>
            <a:off x="467544" y="1574790"/>
            <a:ext cx="5040560" cy="2862322"/>
          </a:xfrm>
          <a:prstGeom prst="rect">
            <a:avLst/>
          </a:prstGeom>
          <a:noFill/>
        </p:spPr>
        <p:txBody>
          <a:bodyPr wrap="square" rtlCol="0">
            <a:spAutoFit/>
          </a:bodyPr>
          <a:lstStyle/>
          <a:p>
            <a:pPr algn="just"/>
            <a:r>
              <a:rPr lang="es-ES" sz="2000" b="1" dirty="0">
                <a:solidFill>
                  <a:srgbClr val="C00000"/>
                </a:solidFill>
                <a:latin typeface="+mn-lt"/>
              </a:rPr>
              <a:t>Motivación INTRÍNSECA</a:t>
            </a:r>
          </a:p>
          <a:p>
            <a:pPr algn="just"/>
            <a:r>
              <a:rPr lang="es-ES" sz="2000" dirty="0">
                <a:latin typeface="+mn-lt"/>
              </a:rPr>
              <a:t>Proviene de los procesos internos del individuo</a:t>
            </a:r>
            <a:r>
              <a:rPr lang="es-ES" sz="2000" dirty="0">
                <a:latin typeface="+mn-lt"/>
                <a:sym typeface="Wingdings" pitchFamily="2" charset="2"/>
              </a:rPr>
              <a:t> necesidades, aprendizajes, experiencias, actitudes, emociones…</a:t>
            </a:r>
          </a:p>
          <a:p>
            <a:pPr algn="just"/>
            <a:endParaRPr lang="es-ES" sz="2000" dirty="0">
              <a:latin typeface="+mn-lt"/>
              <a:sym typeface="Wingdings" pitchFamily="2" charset="2"/>
            </a:endParaRPr>
          </a:p>
          <a:p>
            <a:pPr algn="just"/>
            <a:r>
              <a:rPr lang="es-ES" sz="2000" b="1" dirty="0">
                <a:solidFill>
                  <a:srgbClr val="C00000"/>
                </a:solidFill>
                <a:latin typeface="+mn-lt"/>
                <a:sym typeface="Wingdings" pitchFamily="2" charset="2"/>
              </a:rPr>
              <a:t>Motivación EXTRÍNSECA</a:t>
            </a:r>
          </a:p>
          <a:p>
            <a:pPr algn="just"/>
            <a:r>
              <a:rPr lang="es-ES" sz="2000" dirty="0">
                <a:latin typeface="+mn-lt"/>
                <a:sym typeface="Wingdings" pitchFamily="2" charset="2"/>
              </a:rPr>
              <a:t>Proviene de un estímulo externo que impulsa a la acción  reconocimiento, remuneración.</a:t>
            </a:r>
            <a:endParaRPr lang="es-ES" sz="2000" dirty="0">
              <a:latin typeface="+mn-lt"/>
            </a:endParaRPr>
          </a:p>
        </p:txBody>
      </p:sp>
      <p:sp>
        <p:nvSpPr>
          <p:cNvPr id="7" name="6 Rectángulo"/>
          <p:cNvSpPr/>
          <p:nvPr/>
        </p:nvSpPr>
        <p:spPr>
          <a:xfrm>
            <a:off x="1763688" y="5229200"/>
            <a:ext cx="5472608" cy="707886"/>
          </a:xfrm>
          <a:prstGeom prst="rect">
            <a:avLst/>
          </a:prstGeom>
        </p:spPr>
        <p:txBody>
          <a:bodyPr wrap="square">
            <a:spAutoFit/>
          </a:bodyPr>
          <a:lstStyle/>
          <a:p>
            <a:pPr algn="ctr"/>
            <a:r>
              <a:rPr lang="es-ES" sz="2000" b="1" i="1" dirty="0">
                <a:solidFill>
                  <a:srgbClr val="C00000"/>
                </a:solidFill>
                <a:latin typeface="+mn-lt"/>
              </a:rPr>
              <a:t>“Elige un trabajo que te guste y no tendrás que trabajar ni un día de tu vida”</a:t>
            </a:r>
            <a:r>
              <a:rPr lang="es-ES" sz="2000" b="1" dirty="0">
                <a:solidFill>
                  <a:srgbClr val="C00000"/>
                </a:solidFill>
                <a:latin typeface="+mn-lt"/>
              </a:rPr>
              <a:t> </a:t>
            </a:r>
          </a:p>
        </p:txBody>
      </p:sp>
      <p:sp>
        <p:nvSpPr>
          <p:cNvPr id="8" name="7 Rectángulo"/>
          <p:cNvSpPr/>
          <p:nvPr/>
        </p:nvSpPr>
        <p:spPr>
          <a:xfrm>
            <a:off x="6261477" y="5857527"/>
            <a:ext cx="902811" cy="307777"/>
          </a:xfrm>
          <a:prstGeom prst="rect">
            <a:avLst/>
          </a:prstGeom>
        </p:spPr>
        <p:txBody>
          <a:bodyPr wrap="none">
            <a:spAutoFit/>
          </a:bodyPr>
          <a:lstStyle/>
          <a:p>
            <a:r>
              <a:rPr lang="es-ES" sz="1400" dirty="0">
                <a:latin typeface="+mj-lt"/>
              </a:rPr>
              <a:t>Confucio</a:t>
            </a:r>
          </a:p>
        </p:txBody>
      </p:sp>
      <p:sp>
        <p:nvSpPr>
          <p:cNvPr id="10" name="7 Título">
            <a:extLst>
              <a:ext uri="{FF2B5EF4-FFF2-40B4-BE49-F238E27FC236}">
                <a16:creationId xmlns:a16="http://schemas.microsoft.com/office/drawing/2014/main" id="{51B49014-E200-47E2-89A9-443ABF45972D}"/>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motivación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42</a:t>
            </a:fld>
            <a:endParaRPr lang="es-ES"/>
          </a:p>
        </p:txBody>
      </p:sp>
      <p:grpSp>
        <p:nvGrpSpPr>
          <p:cNvPr id="2" name="Grupo 5"/>
          <p:cNvGrpSpPr/>
          <p:nvPr/>
        </p:nvGrpSpPr>
        <p:grpSpPr>
          <a:xfrm>
            <a:off x="323528" y="1383345"/>
            <a:ext cx="8401472" cy="4992929"/>
            <a:chOff x="611560" y="1540610"/>
            <a:chExt cx="8401472" cy="4992929"/>
          </a:xfrm>
        </p:grpSpPr>
        <p:grpSp>
          <p:nvGrpSpPr>
            <p:cNvPr id="5" name="Grupo 4"/>
            <p:cNvGrpSpPr/>
            <p:nvPr/>
          </p:nvGrpSpPr>
          <p:grpSpPr>
            <a:xfrm>
              <a:off x="611560" y="1540610"/>
              <a:ext cx="8401472" cy="4515966"/>
              <a:chOff x="611560" y="1540610"/>
              <a:chExt cx="8401472" cy="4515966"/>
            </a:xfrm>
          </p:grpSpPr>
          <p:pic>
            <p:nvPicPr>
              <p:cNvPr id="8" name="Picture 6" descr="Imagem relacionad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2710" y="1540610"/>
                <a:ext cx="8028380" cy="4515966"/>
              </a:xfrm>
              <a:prstGeom prst="rect">
                <a:avLst/>
              </a:prstGeom>
              <a:noFill/>
              <a:extLst>
                <a:ext uri="{909E8E84-426E-40DD-AFC4-6F175D3DCCD1}">
                  <a14:hiddenFill xmlns:a14="http://schemas.microsoft.com/office/drawing/2010/main">
                    <a:solidFill>
                      <a:srgbClr val="FFFFFF"/>
                    </a:solidFill>
                  </a14:hiddenFill>
                </a:ext>
              </a:extLst>
            </p:spPr>
          </p:pic>
          <p:sp>
            <p:nvSpPr>
              <p:cNvPr id="9" name="Rectângulo 26"/>
              <p:cNvSpPr>
                <a:spLocks noChangeArrowheads="1"/>
              </p:cNvSpPr>
              <p:nvPr/>
            </p:nvSpPr>
            <p:spPr bwMode="auto">
              <a:xfrm>
                <a:off x="611560" y="5373216"/>
                <a:ext cx="1592714"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Equilibrio</a:t>
                </a:r>
              </a:p>
            </p:txBody>
          </p:sp>
          <p:sp>
            <p:nvSpPr>
              <p:cNvPr id="10" name="Rectângulo 26"/>
              <p:cNvSpPr>
                <a:spLocks noChangeArrowheads="1"/>
              </p:cNvSpPr>
              <p:nvPr/>
            </p:nvSpPr>
            <p:spPr bwMode="auto">
              <a:xfrm>
                <a:off x="2051720" y="3518436"/>
                <a:ext cx="1296144" cy="584775"/>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Estímulo o incentivo</a:t>
                </a:r>
              </a:p>
            </p:txBody>
          </p:sp>
          <p:sp>
            <p:nvSpPr>
              <p:cNvPr id="11" name="Rectângulo 26"/>
              <p:cNvSpPr>
                <a:spLocks noChangeArrowheads="1"/>
              </p:cNvSpPr>
              <p:nvPr/>
            </p:nvSpPr>
            <p:spPr bwMode="auto">
              <a:xfrm>
                <a:off x="3131840" y="2984523"/>
                <a:ext cx="1592714"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Necesidad</a:t>
                </a:r>
              </a:p>
            </p:txBody>
          </p:sp>
          <p:sp>
            <p:nvSpPr>
              <p:cNvPr id="12" name="Rectângulo 26"/>
              <p:cNvSpPr>
                <a:spLocks noChangeArrowheads="1"/>
              </p:cNvSpPr>
              <p:nvPr/>
            </p:nvSpPr>
            <p:spPr bwMode="auto">
              <a:xfrm>
                <a:off x="5148064" y="3419312"/>
                <a:ext cx="2151856"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Tensión            </a:t>
                </a:r>
              </a:p>
            </p:txBody>
          </p:sp>
          <p:sp>
            <p:nvSpPr>
              <p:cNvPr id="13" name="Rectângulo 26"/>
              <p:cNvSpPr>
                <a:spLocks noChangeArrowheads="1"/>
              </p:cNvSpPr>
              <p:nvPr/>
            </p:nvSpPr>
            <p:spPr bwMode="auto">
              <a:xfrm>
                <a:off x="5057181" y="4838314"/>
                <a:ext cx="1850322"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Comportamiento</a:t>
                </a:r>
              </a:p>
            </p:txBody>
          </p:sp>
          <p:sp>
            <p:nvSpPr>
              <p:cNvPr id="14" name="Rectângulo 26"/>
              <p:cNvSpPr>
                <a:spLocks noChangeArrowheads="1"/>
              </p:cNvSpPr>
              <p:nvPr/>
            </p:nvSpPr>
            <p:spPr bwMode="auto">
              <a:xfrm>
                <a:off x="7420318" y="4293096"/>
                <a:ext cx="1592714"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Satisfacción</a:t>
                </a:r>
              </a:p>
            </p:txBody>
          </p:sp>
        </p:grpSp>
        <p:sp>
          <p:nvSpPr>
            <p:cNvPr id="7" name="Seta curvada à esquerda 29"/>
            <p:cNvSpPr/>
            <p:nvPr/>
          </p:nvSpPr>
          <p:spPr>
            <a:xfrm rot="5230845">
              <a:off x="4559867" y="2908555"/>
              <a:ext cx="1067335" cy="6182633"/>
            </a:xfrm>
            <a:prstGeom prst="curved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t-PT">
                <a:solidFill>
                  <a:schemeClr val="tx1"/>
                </a:solidFill>
              </a:endParaRPr>
            </a:p>
          </p:txBody>
        </p:sp>
      </p:grpSp>
      <p:sp>
        <p:nvSpPr>
          <p:cNvPr id="47" name="46 Rectángulo"/>
          <p:cNvSpPr/>
          <p:nvPr/>
        </p:nvSpPr>
        <p:spPr>
          <a:xfrm>
            <a:off x="179512" y="1043444"/>
            <a:ext cx="8892480" cy="646331"/>
          </a:xfrm>
          <a:prstGeom prst="rect">
            <a:avLst/>
          </a:prstGeom>
        </p:spPr>
        <p:txBody>
          <a:bodyPr wrap="square">
            <a:spAutoFit/>
          </a:bodyPr>
          <a:lstStyle/>
          <a:p>
            <a:pPr algn="ctr"/>
            <a:r>
              <a:rPr lang="es-ES" b="1" i="1" dirty="0">
                <a:solidFill>
                  <a:srgbClr val="C00000"/>
                </a:solidFill>
                <a:latin typeface="+mn-lt"/>
              </a:rPr>
              <a:t>MODELO DE COMPORTAMIENTO: ETAPAS DEL CICLO DE MOTIVACIÓN</a:t>
            </a:r>
          </a:p>
          <a:p>
            <a:pPr algn="ctr"/>
            <a:r>
              <a:rPr lang="es-ES" b="1" i="1" dirty="0">
                <a:solidFill>
                  <a:srgbClr val="C00000"/>
                </a:solidFill>
                <a:latin typeface="+mn-lt"/>
              </a:rPr>
              <a:t>* IGUAL PARA TODAS LAS PERSONAS *</a:t>
            </a:r>
            <a:endParaRPr lang="es-ES" b="1" dirty="0">
              <a:solidFill>
                <a:srgbClr val="C00000"/>
              </a:solidFill>
              <a:latin typeface="+mn-lt"/>
            </a:endParaRPr>
          </a:p>
        </p:txBody>
      </p:sp>
      <p:sp>
        <p:nvSpPr>
          <p:cNvPr id="48" name="47 Rectángulo"/>
          <p:cNvSpPr/>
          <p:nvPr/>
        </p:nvSpPr>
        <p:spPr>
          <a:xfrm>
            <a:off x="827584" y="6550223"/>
            <a:ext cx="2840842" cy="307777"/>
          </a:xfrm>
          <a:prstGeom prst="rect">
            <a:avLst/>
          </a:prstGeom>
        </p:spPr>
        <p:txBody>
          <a:bodyPr wrap="none">
            <a:spAutoFit/>
          </a:bodyPr>
          <a:lstStyle/>
          <a:p>
            <a:r>
              <a:rPr lang="es-ES" sz="1400" dirty="0"/>
              <a:t>Fuente: adaptado de </a:t>
            </a:r>
            <a:r>
              <a:rPr lang="es-ES" sz="1400" dirty="0" err="1"/>
              <a:t>Chiavenato</a:t>
            </a:r>
            <a:endParaRPr lang="es-ES" sz="1400" dirty="0"/>
          </a:p>
        </p:txBody>
      </p:sp>
      <p:sp>
        <p:nvSpPr>
          <p:cNvPr id="53" name="Rectângulo 26"/>
          <p:cNvSpPr>
            <a:spLocks noChangeArrowheads="1"/>
          </p:cNvSpPr>
          <p:nvPr/>
        </p:nvSpPr>
        <p:spPr bwMode="auto">
          <a:xfrm>
            <a:off x="3923928" y="5229200"/>
            <a:ext cx="1008112"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solidFill>
                  <a:srgbClr val="C00000"/>
                </a:solidFill>
                <a:latin typeface="+mj-lt"/>
                <a:cs typeface="Segoe UI" pitchFamily="34" charset="0"/>
              </a:rPr>
              <a:t>Barrera</a:t>
            </a:r>
          </a:p>
        </p:txBody>
      </p:sp>
      <p:sp>
        <p:nvSpPr>
          <p:cNvPr id="58" name="Rectângulo 26"/>
          <p:cNvSpPr>
            <a:spLocks noChangeArrowheads="1"/>
          </p:cNvSpPr>
          <p:nvPr/>
        </p:nvSpPr>
        <p:spPr bwMode="auto">
          <a:xfrm>
            <a:off x="2996207" y="5805264"/>
            <a:ext cx="1772941" cy="338554"/>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pt-PT" altLang="pt-PT" sz="1600" b="1" dirty="0">
                <a:latin typeface="+mj-lt"/>
                <a:cs typeface="Segoe UI" pitchFamily="34" charset="0"/>
              </a:rPr>
              <a:t>6.b.</a:t>
            </a:r>
            <a:r>
              <a:rPr lang="pt-PT" altLang="pt-PT" sz="1600" b="1" dirty="0">
                <a:solidFill>
                  <a:srgbClr val="C00000"/>
                </a:solidFill>
                <a:latin typeface="+mj-lt"/>
                <a:cs typeface="Segoe UI" pitchFamily="34" charset="0"/>
              </a:rPr>
              <a:t> Frustación</a:t>
            </a:r>
          </a:p>
        </p:txBody>
      </p:sp>
      <p:sp>
        <p:nvSpPr>
          <p:cNvPr id="61" name="60 Arco"/>
          <p:cNvSpPr/>
          <p:nvPr/>
        </p:nvSpPr>
        <p:spPr>
          <a:xfrm rot="16200000">
            <a:off x="3491880" y="5445225"/>
            <a:ext cx="914400" cy="914400"/>
          </a:xfrm>
          <a:prstGeom prst="arc">
            <a:avLst/>
          </a:prstGeom>
          <a:ln w="50800">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0" name="19 Arco"/>
          <p:cNvSpPr/>
          <p:nvPr/>
        </p:nvSpPr>
        <p:spPr>
          <a:xfrm rot="16200000">
            <a:off x="4355976" y="4818856"/>
            <a:ext cx="914400" cy="914400"/>
          </a:xfrm>
          <a:prstGeom prst="arc">
            <a:avLst/>
          </a:prstGeom>
          <a:ln w="50800">
            <a:prstDash val="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2" name="7 Título">
            <a:extLst>
              <a:ext uri="{FF2B5EF4-FFF2-40B4-BE49-F238E27FC236}">
                <a16:creationId xmlns:a16="http://schemas.microsoft.com/office/drawing/2014/main" id="{96857668-E95C-4428-A1D5-0E4AAA11650D}"/>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motivación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8" grpId="0" animBg="1"/>
      <p:bldP spid="61"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43</a:t>
            </a:fld>
            <a:endParaRPr lang="es-ES"/>
          </a:p>
        </p:txBody>
      </p:sp>
      <p:sp>
        <p:nvSpPr>
          <p:cNvPr id="5" name="4 CuadroTexto"/>
          <p:cNvSpPr txBox="1"/>
          <p:nvPr/>
        </p:nvSpPr>
        <p:spPr>
          <a:xfrm>
            <a:off x="4860032" y="1700808"/>
            <a:ext cx="4139952" cy="1200329"/>
          </a:xfrm>
          <a:prstGeom prst="rect">
            <a:avLst/>
          </a:prstGeom>
          <a:noFill/>
        </p:spPr>
        <p:txBody>
          <a:bodyPr wrap="square" rtlCol="0">
            <a:spAutoFit/>
          </a:bodyPr>
          <a:lstStyle/>
          <a:p>
            <a:pPr algn="just"/>
            <a:r>
              <a:rPr lang="es-ES" b="1" dirty="0">
                <a:latin typeface="+mn-lt"/>
              </a:rPr>
              <a:t>Cómo cambian los procesos de motivación de un individuo a otro? </a:t>
            </a:r>
            <a:r>
              <a:rPr lang="es-ES" b="1" dirty="0">
                <a:latin typeface="+mn-lt"/>
                <a:sym typeface="Wingdings" pitchFamily="2" charset="2"/>
              </a:rPr>
              <a:t></a:t>
            </a:r>
            <a:r>
              <a:rPr lang="es-ES" b="1" dirty="0">
                <a:solidFill>
                  <a:srgbClr val="C00000"/>
                </a:solidFill>
                <a:latin typeface="+mn-lt"/>
                <a:sym typeface="Wingdings" pitchFamily="2" charset="2"/>
              </a:rPr>
              <a:t> DIVERSIDAD DE CONDUCTAS ANTE LA MOTIVACIÓN</a:t>
            </a:r>
            <a:endParaRPr lang="es-ES" b="1" dirty="0">
              <a:solidFill>
                <a:srgbClr val="C00000"/>
              </a:solidFill>
              <a:latin typeface="+mn-lt"/>
            </a:endParaRPr>
          </a:p>
        </p:txBody>
      </p:sp>
      <p:sp>
        <p:nvSpPr>
          <p:cNvPr id="6" name="5 Rectángulo"/>
          <p:cNvSpPr/>
          <p:nvPr/>
        </p:nvSpPr>
        <p:spPr>
          <a:xfrm>
            <a:off x="2339752" y="920914"/>
            <a:ext cx="4536504" cy="707886"/>
          </a:xfrm>
          <a:prstGeom prst="rect">
            <a:avLst/>
          </a:prstGeom>
        </p:spPr>
        <p:txBody>
          <a:bodyPr wrap="square">
            <a:spAutoFit/>
          </a:bodyPr>
          <a:lstStyle/>
          <a:p>
            <a:pPr algn="ctr"/>
            <a:r>
              <a:rPr lang="es-ES" sz="2000" b="1" dirty="0">
                <a:latin typeface="+mn-lt"/>
              </a:rPr>
              <a:t>VERTIENTES DE ESTUDIO</a:t>
            </a:r>
          </a:p>
          <a:p>
            <a:pPr algn="ctr"/>
            <a:r>
              <a:rPr lang="es-ES" sz="2000" b="1" dirty="0">
                <a:latin typeface="+mn-lt"/>
              </a:rPr>
              <a:t> </a:t>
            </a:r>
            <a:r>
              <a:rPr lang="es-ES" sz="1600" b="1" dirty="0">
                <a:latin typeface="+mn-lt"/>
              </a:rPr>
              <a:t>PSICOLOGÍA DE LAS ORGANIZACIONES</a:t>
            </a:r>
          </a:p>
        </p:txBody>
      </p:sp>
      <p:sp>
        <p:nvSpPr>
          <p:cNvPr id="7" name="6 Rectángulo"/>
          <p:cNvSpPr/>
          <p:nvPr/>
        </p:nvSpPr>
        <p:spPr>
          <a:xfrm>
            <a:off x="72008" y="1724615"/>
            <a:ext cx="4283968" cy="923330"/>
          </a:xfrm>
          <a:prstGeom prst="rect">
            <a:avLst/>
          </a:prstGeom>
        </p:spPr>
        <p:txBody>
          <a:bodyPr wrap="square">
            <a:spAutoFit/>
          </a:bodyPr>
          <a:lstStyle/>
          <a:p>
            <a:pPr algn="just"/>
            <a:r>
              <a:rPr lang="es-ES" b="1" dirty="0">
                <a:latin typeface="+mn-lt"/>
              </a:rPr>
              <a:t>Qué motiva al individuo? </a:t>
            </a:r>
            <a:r>
              <a:rPr lang="es-ES" b="1" dirty="0">
                <a:latin typeface="+mn-lt"/>
                <a:sym typeface="Wingdings" pitchFamily="2" charset="2"/>
              </a:rPr>
              <a:t> </a:t>
            </a:r>
            <a:r>
              <a:rPr lang="es-ES" b="1" dirty="0">
                <a:solidFill>
                  <a:srgbClr val="C00000"/>
                </a:solidFill>
                <a:latin typeface="+mn-lt"/>
                <a:sym typeface="Wingdings" pitchFamily="2" charset="2"/>
              </a:rPr>
              <a:t>DIFERENCIA EN CUANTO A LAS NECESIDADES DEL INDIVIDUO</a:t>
            </a:r>
            <a:endParaRPr lang="es-ES" b="1" dirty="0">
              <a:solidFill>
                <a:srgbClr val="C00000"/>
              </a:solidFill>
              <a:latin typeface="+mn-lt"/>
            </a:endParaRPr>
          </a:p>
        </p:txBody>
      </p:sp>
      <p:sp>
        <p:nvSpPr>
          <p:cNvPr id="12" name="11 Flecha abajo"/>
          <p:cNvSpPr/>
          <p:nvPr/>
        </p:nvSpPr>
        <p:spPr>
          <a:xfrm>
            <a:off x="4211960" y="2888940"/>
            <a:ext cx="828092" cy="612068"/>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p:cNvSpPr/>
          <p:nvPr/>
        </p:nvSpPr>
        <p:spPr>
          <a:xfrm>
            <a:off x="1368152" y="3761744"/>
            <a:ext cx="7092280" cy="400110"/>
          </a:xfrm>
          <a:prstGeom prst="rect">
            <a:avLst/>
          </a:prstGeom>
        </p:spPr>
        <p:txBody>
          <a:bodyPr wrap="square">
            <a:spAutoFit/>
          </a:bodyPr>
          <a:lstStyle/>
          <a:p>
            <a:pPr algn="ctr"/>
            <a:r>
              <a:rPr lang="es-ES" sz="2000" b="1" dirty="0">
                <a:latin typeface="+mn-lt"/>
              </a:rPr>
              <a:t>MOTIVACIÓN EN LAS ORGANIZACIONES</a:t>
            </a:r>
          </a:p>
        </p:txBody>
      </p:sp>
      <p:sp>
        <p:nvSpPr>
          <p:cNvPr id="15" name="14 CuadroTexto"/>
          <p:cNvSpPr txBox="1"/>
          <p:nvPr/>
        </p:nvSpPr>
        <p:spPr>
          <a:xfrm>
            <a:off x="278772" y="4545696"/>
            <a:ext cx="4221220" cy="369332"/>
          </a:xfrm>
          <a:prstGeom prst="rect">
            <a:avLst/>
          </a:prstGeom>
          <a:noFill/>
        </p:spPr>
        <p:txBody>
          <a:bodyPr wrap="square" rtlCol="0">
            <a:spAutoFit/>
          </a:bodyPr>
          <a:lstStyle/>
          <a:p>
            <a:pPr algn="just"/>
            <a:r>
              <a:rPr lang="es-ES" b="1" dirty="0">
                <a:solidFill>
                  <a:srgbClr val="C00000"/>
                </a:solidFill>
                <a:latin typeface="+mn-lt"/>
                <a:sym typeface="Wingdings" pitchFamily="2" charset="2"/>
              </a:rPr>
              <a:t>TEORÍAS SOBRE EL CONTENIDO</a:t>
            </a:r>
            <a:endParaRPr lang="es-ES" b="1" dirty="0">
              <a:solidFill>
                <a:srgbClr val="C00000"/>
              </a:solidFill>
              <a:latin typeface="+mn-lt"/>
            </a:endParaRPr>
          </a:p>
        </p:txBody>
      </p:sp>
      <p:sp>
        <p:nvSpPr>
          <p:cNvPr id="16" name="15 CuadroTexto"/>
          <p:cNvSpPr txBox="1"/>
          <p:nvPr/>
        </p:nvSpPr>
        <p:spPr>
          <a:xfrm>
            <a:off x="4968552" y="4544540"/>
            <a:ext cx="3779912" cy="369332"/>
          </a:xfrm>
          <a:prstGeom prst="rect">
            <a:avLst/>
          </a:prstGeom>
          <a:noFill/>
        </p:spPr>
        <p:txBody>
          <a:bodyPr wrap="square" rtlCol="0">
            <a:spAutoFit/>
          </a:bodyPr>
          <a:lstStyle/>
          <a:p>
            <a:pPr algn="just"/>
            <a:r>
              <a:rPr lang="es-ES" b="1" dirty="0">
                <a:solidFill>
                  <a:srgbClr val="C00000"/>
                </a:solidFill>
                <a:latin typeface="+mn-lt"/>
                <a:sym typeface="Wingdings" pitchFamily="2" charset="2"/>
              </a:rPr>
              <a:t>TEORÍAS SOBRE EL PROCESO</a:t>
            </a:r>
            <a:endParaRPr lang="es-ES" b="1" dirty="0">
              <a:solidFill>
                <a:srgbClr val="C00000"/>
              </a:solidFill>
              <a:latin typeface="+mn-lt"/>
            </a:endParaRPr>
          </a:p>
        </p:txBody>
      </p:sp>
      <p:sp>
        <p:nvSpPr>
          <p:cNvPr id="17" name="16 Rectángulo"/>
          <p:cNvSpPr/>
          <p:nvPr/>
        </p:nvSpPr>
        <p:spPr>
          <a:xfrm>
            <a:off x="251520" y="5158933"/>
            <a:ext cx="4104456" cy="646331"/>
          </a:xfrm>
          <a:prstGeom prst="rect">
            <a:avLst/>
          </a:prstGeom>
        </p:spPr>
        <p:txBody>
          <a:bodyPr wrap="square">
            <a:spAutoFit/>
          </a:bodyPr>
          <a:lstStyle/>
          <a:p>
            <a:pPr algn="just"/>
            <a:r>
              <a:rPr lang="es-ES" dirty="0">
                <a:latin typeface="+mn-lt"/>
              </a:rPr>
              <a:t>Tratan de conocer qué variables influyen en el comportamiento.</a:t>
            </a:r>
          </a:p>
        </p:txBody>
      </p:sp>
      <p:sp>
        <p:nvSpPr>
          <p:cNvPr id="18" name="17 Rectángulo"/>
          <p:cNvSpPr/>
          <p:nvPr/>
        </p:nvSpPr>
        <p:spPr>
          <a:xfrm>
            <a:off x="4788024" y="4953942"/>
            <a:ext cx="4104456" cy="923330"/>
          </a:xfrm>
          <a:prstGeom prst="rect">
            <a:avLst/>
          </a:prstGeom>
        </p:spPr>
        <p:txBody>
          <a:bodyPr wrap="square">
            <a:spAutoFit/>
          </a:bodyPr>
          <a:lstStyle/>
          <a:p>
            <a:pPr algn="just"/>
            <a:r>
              <a:rPr lang="es-ES" dirty="0">
                <a:latin typeface="+mn-lt"/>
              </a:rPr>
              <a:t>Se centran en las interrelaciones entre las variables que motivan (o no) a los individuos.</a:t>
            </a:r>
          </a:p>
        </p:txBody>
      </p:sp>
      <p:cxnSp>
        <p:nvCxnSpPr>
          <p:cNvPr id="19" name="18 Conector recto de flecha"/>
          <p:cNvCxnSpPr/>
          <p:nvPr/>
        </p:nvCxnSpPr>
        <p:spPr>
          <a:xfrm flipH="1">
            <a:off x="3419872" y="4113648"/>
            <a:ext cx="648072" cy="360040"/>
          </a:xfrm>
          <a:prstGeom prst="straightConnector1">
            <a:avLst/>
          </a:prstGeom>
          <a:ln>
            <a:solidFill>
              <a:srgbClr val="C00000"/>
            </a:solidFill>
            <a:tailEnd type="arrow"/>
          </a:ln>
        </p:spPr>
        <p:style>
          <a:lnRef idx="3">
            <a:schemeClr val="accent4"/>
          </a:lnRef>
          <a:fillRef idx="0">
            <a:schemeClr val="accent4"/>
          </a:fillRef>
          <a:effectRef idx="2">
            <a:schemeClr val="accent4"/>
          </a:effectRef>
          <a:fontRef idx="minor">
            <a:schemeClr val="tx1"/>
          </a:fontRef>
        </p:style>
      </p:cxnSp>
      <p:cxnSp>
        <p:nvCxnSpPr>
          <p:cNvPr id="20" name="19 Conector recto de flecha"/>
          <p:cNvCxnSpPr/>
          <p:nvPr/>
        </p:nvCxnSpPr>
        <p:spPr>
          <a:xfrm>
            <a:off x="5148064" y="4149080"/>
            <a:ext cx="720080" cy="360040"/>
          </a:xfrm>
          <a:prstGeom prst="straightConnector1">
            <a:avLst/>
          </a:prstGeom>
          <a:ln>
            <a:solidFill>
              <a:srgbClr val="C00000"/>
            </a:solidFill>
            <a:tailEnd type="arrow"/>
          </a:ln>
        </p:spPr>
        <p:style>
          <a:lnRef idx="3">
            <a:schemeClr val="accent4"/>
          </a:lnRef>
          <a:fillRef idx="0">
            <a:schemeClr val="accent4"/>
          </a:fillRef>
          <a:effectRef idx="2">
            <a:schemeClr val="accent4"/>
          </a:effectRef>
          <a:fontRef idx="minor">
            <a:schemeClr val="tx1"/>
          </a:fontRef>
        </p:style>
      </p:cxnSp>
      <p:sp>
        <p:nvSpPr>
          <p:cNvPr id="21" name="7 Título">
            <a:extLst>
              <a:ext uri="{FF2B5EF4-FFF2-40B4-BE49-F238E27FC236}">
                <a16:creationId xmlns:a16="http://schemas.microsoft.com/office/drawing/2014/main" id="{B2E9B29D-EEFB-4820-9F16-4890DD84C15A}"/>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motivación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animBg="1"/>
      <p:bldP spid="13" grpId="0"/>
      <p:bldP spid="15" grpId="0"/>
      <p:bldP spid="16" grpId="0"/>
      <p:bldP spid="17" grpId="0"/>
      <p:bldP spid="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7 Título"/>
          <p:cNvSpPr>
            <a:spLocks noGrp="1"/>
          </p:cNvSpPr>
          <p:nvPr>
            <p:ph type="title"/>
          </p:nvPr>
        </p:nvSpPr>
        <p:spPr>
          <a:solidFill>
            <a:srgbClr val="FFD85B"/>
          </a:solidFill>
        </p:spPr>
        <p:txBody>
          <a:bodyPr/>
          <a:lstStyle/>
          <a:p>
            <a:pPr algn="l"/>
            <a:r>
              <a:rPr lang="es-ES" dirty="0">
                <a:solidFill>
                  <a:schemeClr val="tx1"/>
                </a:solidFill>
              </a:rPr>
              <a:t>   Dirección: liderazgo</a:t>
            </a:r>
          </a:p>
        </p:txBody>
      </p:sp>
      <p:sp>
        <p:nvSpPr>
          <p:cNvPr id="3" name="2 Marcador de número de diapositiva"/>
          <p:cNvSpPr>
            <a:spLocks noGrp="1"/>
          </p:cNvSpPr>
          <p:nvPr>
            <p:ph type="sldNum" sz="quarter" idx="4"/>
          </p:nvPr>
        </p:nvSpPr>
        <p:spPr/>
        <p:txBody>
          <a:bodyPr/>
          <a:lstStyle/>
          <a:p>
            <a:pPr fontAlgn="base">
              <a:spcBef>
                <a:spcPct val="0"/>
              </a:spcBef>
              <a:spcAft>
                <a:spcPct val="0"/>
              </a:spcAft>
            </a:pPr>
            <a:fld id="{3A50B82F-E44A-4FE6-8B99-53CD253DED7E}" type="slidenum">
              <a:rPr lang="es-ES" smtClean="0"/>
              <a:pPr fontAlgn="base">
                <a:spcBef>
                  <a:spcPct val="0"/>
                </a:spcBef>
                <a:spcAft>
                  <a:spcPct val="0"/>
                </a:spcAft>
              </a:pPr>
              <a:t>44</a:t>
            </a:fld>
            <a:endParaRPr lang="es-ES" dirty="0"/>
          </a:p>
        </p:txBody>
      </p:sp>
      <p:pic>
        <p:nvPicPr>
          <p:cNvPr id="6" name="Picture 2" descr="Resultado de imagem para lideranç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3262585"/>
            <a:ext cx="5123649" cy="3118743"/>
          </a:xfrm>
          <a:prstGeom prst="rect">
            <a:avLst/>
          </a:prstGeom>
          <a:noFill/>
          <a:extLst>
            <a:ext uri="{909E8E84-426E-40DD-AFC4-6F175D3DCCD1}">
              <a14:hiddenFill xmlns:a14="http://schemas.microsoft.com/office/drawing/2010/main">
                <a:solidFill>
                  <a:srgbClr val="FFFFFF"/>
                </a:solidFill>
              </a14:hiddenFill>
            </a:ext>
          </a:extLst>
        </p:spPr>
      </p:pic>
      <p:sp>
        <p:nvSpPr>
          <p:cNvPr id="7" name="6 Rectángulo"/>
          <p:cNvSpPr/>
          <p:nvPr/>
        </p:nvSpPr>
        <p:spPr>
          <a:xfrm rot="20902690">
            <a:off x="633056" y="1311286"/>
            <a:ext cx="7282763" cy="1631216"/>
          </a:xfrm>
          <a:prstGeom prst="rect">
            <a:avLst/>
          </a:prstGeom>
          <a:noFill/>
        </p:spPr>
        <p:txBody>
          <a:bodyPr wrap="none" lIns="91440" tIns="45720" rIns="91440" bIns="45720">
            <a:spAutoFit/>
          </a:bodyPr>
          <a:lstStyle/>
          <a:p>
            <a:pPr algn="ctr"/>
            <a:r>
              <a:rPr lang="es-ES" sz="50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El LÍDER…</a:t>
            </a:r>
          </a:p>
          <a:p>
            <a:pPr algn="ctr"/>
            <a:r>
              <a:rPr lang="es-ES" sz="5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NACE O SE HACE </a:t>
            </a:r>
            <a:r>
              <a:rPr lang="es-ES" sz="50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70" decel="100000"/>
                                        <p:tgtEl>
                                          <p:spTgt spid="7"/>
                                        </p:tgtEl>
                                      </p:cBhvr>
                                    </p:animEffect>
                                    <p:animScale>
                                      <p:cBhvr>
                                        <p:cTn id="8" dur="770" decel="100000"/>
                                        <p:tgtEl>
                                          <p:spTgt spid="7"/>
                                        </p:tgtEl>
                                      </p:cBhvr>
                                      <p:from x="10000" y="10000"/>
                                      <p:to x="200000" y="450000"/>
                                    </p:animScale>
                                    <p:animScale>
                                      <p:cBhvr>
                                        <p:cTn id="9" dur="1230" accel="100000" fill="hold">
                                          <p:stCondLst>
                                            <p:cond delay="770"/>
                                          </p:stCondLst>
                                        </p:cTn>
                                        <p:tgtEl>
                                          <p:spTgt spid="7"/>
                                        </p:tgtEl>
                                      </p:cBhvr>
                                      <p:from x="200000" y="450000"/>
                                      <p:to x="100000" y="100000"/>
                                    </p:animScale>
                                    <p:set>
                                      <p:cBhvr>
                                        <p:cTn id="10" dur="770" fill="hold"/>
                                        <p:tgtEl>
                                          <p:spTgt spid="7"/>
                                        </p:tgtEl>
                                        <p:attrNameLst>
                                          <p:attrName>ppt_x</p:attrName>
                                        </p:attrNameLst>
                                      </p:cBhvr>
                                      <p:to>
                                        <p:strVal val="(0.5)"/>
                                      </p:to>
                                    </p:set>
                                    <p:anim from="(0.5)" to="(#ppt_x)" calcmode="lin" valueType="num">
                                      <p:cBhvr>
                                        <p:cTn id="11" dur="1230" accel="100000" fill="hold">
                                          <p:stCondLst>
                                            <p:cond delay="770"/>
                                          </p:stCondLst>
                                        </p:cTn>
                                        <p:tgtEl>
                                          <p:spTgt spid="7"/>
                                        </p:tgtEl>
                                        <p:attrNameLst>
                                          <p:attrName>ppt_x</p:attrName>
                                        </p:attrNameLst>
                                      </p:cBhvr>
                                    </p:anim>
                                    <p:set>
                                      <p:cBhvr>
                                        <p:cTn id="12" dur="770" fill="hold"/>
                                        <p:tgtEl>
                                          <p:spTgt spid="7"/>
                                        </p:tgtEl>
                                        <p:attrNameLst>
                                          <p:attrName>ppt_y</p:attrName>
                                        </p:attrNameLst>
                                      </p:cBhvr>
                                      <p:to>
                                        <p:strVal val="(#ppt_y+0.4)"/>
                                      </p:to>
                                    </p:set>
                                    <p:anim from="(#ppt_y+0.4)" to="(#ppt_y)" calcmode="lin" valueType="num">
                                      <p:cBhvr>
                                        <p:cTn id="13" dur="1230" accel="100000" fill="hold">
                                          <p:stCondLst>
                                            <p:cond delay="770"/>
                                          </p:stCondLst>
                                        </p:cTn>
                                        <p:tgtEl>
                                          <p:spTgt spid="7"/>
                                        </p:tgtEl>
                                        <p:attrNameLst>
                                          <p:attrName>ppt_y</p:attrName>
                                        </p:attrNameLst>
                                      </p:cBhvr>
                                    </p:anim>
                                  </p:childTnLst>
                                </p:cTn>
                              </p:par>
                            </p:childTnLst>
                          </p:cTn>
                        </p:par>
                        <p:par>
                          <p:cTn id="14" fill="hold">
                            <p:stCondLst>
                              <p:cond delay="2000"/>
                            </p:stCondLst>
                            <p:childTnLst>
                              <p:par>
                                <p:cTn id="15" presetID="1" presetClass="entr" presetSubtype="0" fill="hold" nodeType="afterEffect">
                                  <p:stCondLst>
                                    <p:cond delay="100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45</a:t>
            </a:fld>
            <a:endParaRPr lang="es-ES"/>
          </a:p>
        </p:txBody>
      </p:sp>
      <p:sp>
        <p:nvSpPr>
          <p:cNvPr id="4" name="3 Rectángulo"/>
          <p:cNvSpPr/>
          <p:nvPr/>
        </p:nvSpPr>
        <p:spPr>
          <a:xfrm>
            <a:off x="467544" y="1772816"/>
            <a:ext cx="8424936" cy="2246769"/>
          </a:xfrm>
          <a:prstGeom prst="rect">
            <a:avLst/>
          </a:prstGeom>
        </p:spPr>
        <p:txBody>
          <a:bodyPr wrap="square">
            <a:spAutoFit/>
          </a:bodyPr>
          <a:lstStyle/>
          <a:p>
            <a:pPr marL="268288" indent="-268288" algn="just">
              <a:buFont typeface="Wingdings" pitchFamily="2" charset="2"/>
              <a:buChar char="Ø"/>
            </a:pPr>
            <a:r>
              <a:rPr lang="es-ES" sz="2000" dirty="0">
                <a:latin typeface="+mn-lt"/>
              </a:rPr>
              <a:t>El liderazgo es la función que ocupa una persona que se distingue del resto y es capaz de tomar decisiones acertadas para el grupo, equipo u organización que preceda, </a:t>
            </a:r>
            <a:r>
              <a:rPr lang="es-ES" sz="2000" b="1" dirty="0">
                <a:solidFill>
                  <a:srgbClr val="C00000"/>
                </a:solidFill>
                <a:latin typeface="+mn-lt"/>
              </a:rPr>
              <a:t>inspirando</a:t>
            </a:r>
            <a:r>
              <a:rPr lang="es-ES" sz="2000" dirty="0">
                <a:latin typeface="+mn-lt"/>
              </a:rPr>
              <a:t> al resto de los que participan de ese grupo a alcanzar una meta común. </a:t>
            </a:r>
          </a:p>
          <a:p>
            <a:pPr marL="268288" indent="-268288" algn="just">
              <a:buFont typeface="Wingdings" pitchFamily="2" charset="2"/>
              <a:buChar char="Ø"/>
            </a:pPr>
            <a:r>
              <a:rPr lang="es-ES" sz="2000" dirty="0">
                <a:latin typeface="+mn-lt"/>
              </a:rPr>
              <a:t>Define una influencia que se ejerce sobre las personas y que permite </a:t>
            </a:r>
            <a:r>
              <a:rPr lang="es-ES" sz="2000" b="1" dirty="0">
                <a:solidFill>
                  <a:srgbClr val="C00000"/>
                </a:solidFill>
                <a:latin typeface="+mn-lt"/>
              </a:rPr>
              <a:t>incentivarlas</a:t>
            </a:r>
            <a:r>
              <a:rPr lang="es-ES" sz="2000" dirty="0">
                <a:latin typeface="+mn-lt"/>
              </a:rPr>
              <a:t> para que </a:t>
            </a:r>
            <a:r>
              <a:rPr lang="es-ES" sz="2000" b="1" dirty="0">
                <a:solidFill>
                  <a:srgbClr val="C00000"/>
                </a:solidFill>
                <a:latin typeface="+mn-lt"/>
              </a:rPr>
              <a:t>trabajen en forma entusiasta </a:t>
            </a:r>
            <a:r>
              <a:rPr lang="es-ES" sz="2000" dirty="0">
                <a:latin typeface="+mn-lt"/>
              </a:rPr>
              <a:t>por un </a:t>
            </a:r>
            <a:r>
              <a:rPr lang="es-ES" sz="2000" b="1" dirty="0">
                <a:solidFill>
                  <a:srgbClr val="C00000"/>
                </a:solidFill>
                <a:latin typeface="+mn-lt"/>
              </a:rPr>
              <a:t>objetivo común</a:t>
            </a:r>
            <a:r>
              <a:rPr lang="es-ES" sz="2000" dirty="0">
                <a:latin typeface="+mn-lt"/>
              </a:rPr>
              <a:t>.</a:t>
            </a:r>
          </a:p>
        </p:txBody>
      </p:sp>
      <p:sp>
        <p:nvSpPr>
          <p:cNvPr id="5" name="4 CuadroTexto"/>
          <p:cNvSpPr txBox="1"/>
          <p:nvPr/>
        </p:nvSpPr>
        <p:spPr>
          <a:xfrm>
            <a:off x="395536" y="1196752"/>
            <a:ext cx="4464496" cy="400110"/>
          </a:xfrm>
          <a:prstGeom prst="rect">
            <a:avLst/>
          </a:prstGeom>
          <a:noFill/>
        </p:spPr>
        <p:txBody>
          <a:bodyPr wrap="square" rtlCol="0">
            <a:spAutoFit/>
          </a:bodyPr>
          <a:lstStyle/>
          <a:p>
            <a:r>
              <a:rPr lang="es-ES" sz="2000" b="1" dirty="0">
                <a:solidFill>
                  <a:srgbClr val="C00000"/>
                </a:solidFill>
                <a:latin typeface="+mn-lt"/>
              </a:rPr>
              <a:t>QUÉ ES EL LIDERAZGO????</a:t>
            </a:r>
          </a:p>
        </p:txBody>
      </p:sp>
      <p:sp>
        <p:nvSpPr>
          <p:cNvPr id="7" name="6 CuadroTexto"/>
          <p:cNvSpPr txBox="1"/>
          <p:nvPr/>
        </p:nvSpPr>
        <p:spPr>
          <a:xfrm>
            <a:off x="539552" y="4109010"/>
            <a:ext cx="6696744" cy="400110"/>
          </a:xfrm>
          <a:prstGeom prst="rect">
            <a:avLst/>
          </a:prstGeom>
          <a:noFill/>
        </p:spPr>
        <p:txBody>
          <a:bodyPr wrap="square" rtlCol="0">
            <a:spAutoFit/>
          </a:bodyPr>
          <a:lstStyle/>
          <a:p>
            <a:r>
              <a:rPr lang="es-ES" sz="2000" b="1" dirty="0">
                <a:solidFill>
                  <a:srgbClr val="C00000"/>
                </a:solidFill>
                <a:latin typeface="+mn-lt"/>
              </a:rPr>
              <a:t>TODOS LOS DIRECTIVOS SON LÍDERES?</a:t>
            </a:r>
          </a:p>
        </p:txBody>
      </p:sp>
      <p:sp>
        <p:nvSpPr>
          <p:cNvPr id="8" name="7 Rectángulo"/>
          <p:cNvSpPr/>
          <p:nvPr/>
        </p:nvSpPr>
        <p:spPr>
          <a:xfrm>
            <a:off x="539552" y="4653136"/>
            <a:ext cx="8424936" cy="1938992"/>
          </a:xfrm>
          <a:prstGeom prst="rect">
            <a:avLst/>
          </a:prstGeom>
        </p:spPr>
        <p:txBody>
          <a:bodyPr wrap="square">
            <a:spAutoFit/>
          </a:bodyPr>
          <a:lstStyle/>
          <a:p>
            <a:pPr marL="268288" indent="-268288" algn="just">
              <a:buFont typeface="Wingdings" pitchFamily="2" charset="2"/>
              <a:buChar char="Ø"/>
            </a:pPr>
            <a:r>
              <a:rPr lang="es-ES" sz="2000" dirty="0">
                <a:latin typeface="+mn-lt"/>
              </a:rPr>
              <a:t>Los directivos ostentan autoridad formal como base de poder para actuar sobre el comportamiento de sus subordinados.</a:t>
            </a:r>
          </a:p>
          <a:p>
            <a:pPr marL="268288" indent="-268288" algn="just">
              <a:buFont typeface="Wingdings" pitchFamily="2" charset="2"/>
              <a:buChar char="Ø"/>
            </a:pPr>
            <a:r>
              <a:rPr lang="es-ES" sz="2000" dirty="0">
                <a:latin typeface="+mn-lt"/>
              </a:rPr>
              <a:t>El líder ejerce una clase de influencia mediante la cual puede lograr que los miembros de su equipo colaboren </a:t>
            </a:r>
            <a:r>
              <a:rPr lang="es-ES" sz="2000" b="1" dirty="0">
                <a:solidFill>
                  <a:srgbClr val="C00000"/>
                </a:solidFill>
                <a:latin typeface="+mn-lt"/>
              </a:rPr>
              <a:t>voluntariamente</a:t>
            </a:r>
            <a:r>
              <a:rPr lang="es-ES" sz="2000" dirty="0">
                <a:latin typeface="+mn-lt"/>
              </a:rPr>
              <a:t> al logro de los objetivos propuestos.</a:t>
            </a:r>
          </a:p>
          <a:p>
            <a:pPr marL="268288" indent="-268288" algn="just">
              <a:buFont typeface="Wingdings" pitchFamily="2" charset="2"/>
              <a:buChar char="Ø"/>
            </a:pPr>
            <a:endParaRPr lang="es-ES" sz="2000" dirty="0">
              <a:latin typeface="+mn-lt"/>
            </a:endParaRPr>
          </a:p>
        </p:txBody>
      </p:sp>
      <p:sp>
        <p:nvSpPr>
          <p:cNvPr id="10" name="7 Título">
            <a:extLst>
              <a:ext uri="{FF2B5EF4-FFF2-40B4-BE49-F238E27FC236}">
                <a16:creationId xmlns:a16="http://schemas.microsoft.com/office/drawing/2014/main" id="{ECAAB77E-B6B0-461E-9184-A284825D9BD3}"/>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liderazgo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40179" y="849053"/>
            <a:ext cx="3414937" cy="2677656"/>
          </a:xfrm>
          <a:prstGeom prst="rect">
            <a:avLst/>
          </a:prstGeom>
          <a:solidFill>
            <a:schemeClr val="accent2">
              <a:lumMod val="40000"/>
              <a:lumOff val="60000"/>
            </a:schemeClr>
          </a:solidFill>
        </p:spPr>
        <p:txBody>
          <a:bodyPr wrap="square">
            <a:spAutoFit/>
          </a:bodyPr>
          <a:lstStyle/>
          <a:p>
            <a:pPr algn="just"/>
            <a:r>
              <a:rPr lang="es-ES" sz="1400" b="1" dirty="0">
                <a:latin typeface="+mn-lt"/>
                <a:cs typeface="Arial" panose="020B0604020202020204" pitchFamily="34" charset="0"/>
              </a:rPr>
              <a:t>Liderazgo autoritario </a:t>
            </a:r>
            <a:r>
              <a:rPr lang="es-ES" sz="1400" dirty="0">
                <a:latin typeface="+mn-lt"/>
                <a:cs typeface="Arial" panose="020B0604020202020204" pitchFamily="34" charset="0"/>
              </a:rPr>
              <a:t>es el uso de un comportamiento </a:t>
            </a:r>
            <a:r>
              <a:rPr lang="es-ES" sz="1400" b="1" dirty="0">
                <a:latin typeface="+mn-lt"/>
                <a:cs typeface="Arial" panose="020B0604020202020204" pitchFamily="34" charset="0"/>
              </a:rPr>
              <a:t>centrado en el trabajo </a:t>
            </a:r>
            <a:r>
              <a:rPr lang="es-ES" sz="1400" dirty="0">
                <a:latin typeface="+mn-lt"/>
                <a:cs typeface="Arial" panose="020B0604020202020204" pitchFamily="34" charset="0"/>
              </a:rPr>
              <a:t>que está diseñado para garantizar el cumplimiento de la tarea. </a:t>
            </a:r>
          </a:p>
          <a:p>
            <a:pPr algn="just"/>
            <a:r>
              <a:rPr lang="es-ES" sz="1400" dirty="0">
                <a:latin typeface="+mn-lt"/>
                <a:cs typeface="Arial" panose="020B0604020202020204" pitchFamily="34" charset="0"/>
              </a:rPr>
              <a:t>Por lo general, implica la comunicación unidireccional del gerente al subordinado. Tendencia gerencial hacia la falta de involucramiento con los subordinados, donde las decisiones finales están en manos de los empleados de nivel superior. (por ejemplo, Rumania).</a:t>
            </a:r>
            <a:endParaRPr lang="es-AR" sz="1400" dirty="0">
              <a:latin typeface="+mn-lt"/>
              <a:cs typeface="Arial" panose="020B0604020202020204" pitchFamily="34" charset="0"/>
            </a:endParaRPr>
          </a:p>
        </p:txBody>
      </p:sp>
      <p:sp>
        <p:nvSpPr>
          <p:cNvPr id="7" name="CuadroTexto 6"/>
          <p:cNvSpPr txBox="1"/>
          <p:nvPr/>
        </p:nvSpPr>
        <p:spPr>
          <a:xfrm>
            <a:off x="6228184" y="980728"/>
            <a:ext cx="2883587" cy="4832092"/>
          </a:xfrm>
          <a:prstGeom prst="rect">
            <a:avLst/>
          </a:prstGeom>
          <a:solidFill>
            <a:schemeClr val="accent2">
              <a:lumMod val="40000"/>
              <a:lumOff val="60000"/>
            </a:schemeClr>
          </a:solidFill>
        </p:spPr>
        <p:txBody>
          <a:bodyPr wrap="square" rtlCol="0">
            <a:spAutoFit/>
          </a:bodyPr>
          <a:lstStyle/>
          <a:p>
            <a:pPr algn="just"/>
            <a:r>
              <a:rPr lang="es-ES" sz="1400" b="1" dirty="0">
                <a:latin typeface="+mj-lt"/>
                <a:cs typeface="Arial" panose="020B0604020202020204" pitchFamily="34" charset="0"/>
              </a:rPr>
              <a:t>Liderazgo paternalista </a:t>
            </a:r>
            <a:r>
              <a:rPr lang="es-ES" sz="1400" dirty="0">
                <a:latin typeface="+mj-lt"/>
                <a:cs typeface="Arial" panose="020B0604020202020204" pitchFamily="34" charset="0"/>
              </a:rPr>
              <a:t>utiliza un comportamiento </a:t>
            </a:r>
            <a:r>
              <a:rPr lang="es-ES" sz="1400" b="1" dirty="0">
                <a:latin typeface="+mj-lt"/>
                <a:cs typeface="Arial" panose="020B0604020202020204" pitchFamily="34" charset="0"/>
              </a:rPr>
              <a:t>centrado en el trabajo junto</a:t>
            </a:r>
            <a:r>
              <a:rPr lang="es-ES" sz="1400" dirty="0">
                <a:latin typeface="+mj-lt"/>
                <a:cs typeface="Arial" panose="020B0604020202020204" pitchFamily="34" charset="0"/>
              </a:rPr>
              <a:t> con una. </a:t>
            </a:r>
            <a:r>
              <a:rPr lang="es-ES" sz="1400" b="1" dirty="0">
                <a:latin typeface="+mj-lt"/>
                <a:cs typeface="Arial" panose="020B0604020202020204" pitchFamily="34" charset="0"/>
              </a:rPr>
              <a:t>preocupación protectora centrada en el empleado. </a:t>
            </a:r>
          </a:p>
          <a:p>
            <a:pPr algn="just"/>
            <a:r>
              <a:rPr lang="es-ES" sz="1400" dirty="0">
                <a:latin typeface="+mj-lt"/>
                <a:cs typeface="Arial" panose="020B0604020202020204" pitchFamily="34" charset="0"/>
              </a:rPr>
              <a:t>Los líderes paternalistas esperan que todos trabajen duro; a cambio, a los empleados se les garantiza empleo y se les otorgan beneficios de seguridad. Por lo general, este comportamiento de liderazgo satisface algunas necesidades de los empleados y, a su vez, los subordinados tienden a exhibir lealtad y cumplimiento. La toma de decisiones está centralizada. (por ejemplo, en toda América Latina, incluidos Argentina, Bolivia, Chile y México, así como en China, Pakistán, India, Turquía y los Estados Unidos) </a:t>
            </a:r>
          </a:p>
        </p:txBody>
      </p:sp>
      <p:sp>
        <p:nvSpPr>
          <p:cNvPr id="2" name="Rectángulo 5">
            <a:extLst>
              <a:ext uri="{FF2B5EF4-FFF2-40B4-BE49-F238E27FC236}">
                <a16:creationId xmlns:a16="http://schemas.microsoft.com/office/drawing/2014/main" id="{00042324-6EA2-5B05-F87B-487B8B96E31B}"/>
              </a:ext>
            </a:extLst>
          </p:cNvPr>
          <p:cNvSpPr/>
          <p:nvPr/>
        </p:nvSpPr>
        <p:spPr>
          <a:xfrm>
            <a:off x="140179" y="4338998"/>
            <a:ext cx="5996549" cy="2462213"/>
          </a:xfrm>
          <a:prstGeom prst="rect">
            <a:avLst/>
          </a:prstGeom>
          <a:solidFill>
            <a:schemeClr val="accent2">
              <a:lumMod val="40000"/>
              <a:lumOff val="60000"/>
            </a:schemeClr>
          </a:solidFill>
        </p:spPr>
        <p:txBody>
          <a:bodyPr wrap="square">
            <a:spAutoFit/>
          </a:bodyPr>
          <a:lstStyle/>
          <a:p>
            <a:pPr algn="just"/>
            <a:r>
              <a:rPr lang="es-ES" sz="1400" b="1" dirty="0">
                <a:latin typeface="+mj-lt"/>
                <a:cs typeface="Arial" panose="020B0604020202020204" pitchFamily="34" charset="0"/>
              </a:rPr>
              <a:t>Liderazgo participativo- </a:t>
            </a:r>
            <a:r>
              <a:rPr lang="es-ES" sz="1400" dirty="0">
                <a:latin typeface="+mj-lt"/>
                <a:cs typeface="Arial" panose="020B0604020202020204" pitchFamily="34" charset="0"/>
              </a:rPr>
              <a:t>enfoques </a:t>
            </a:r>
            <a:r>
              <a:rPr lang="es-ES" sz="1400" b="1" dirty="0">
                <a:latin typeface="+mj-lt"/>
                <a:cs typeface="Arial" panose="020B0604020202020204" pitchFamily="34" charset="0"/>
              </a:rPr>
              <a:t>centrados en el trabajo y centrados en las personas.</a:t>
            </a:r>
          </a:p>
          <a:p>
            <a:pPr algn="just"/>
            <a:r>
              <a:rPr lang="es-ES" sz="1400" dirty="0">
                <a:latin typeface="+mj-lt"/>
                <a:cs typeface="Arial" panose="020B0604020202020204" pitchFamily="34" charset="0"/>
              </a:rPr>
              <a:t>Los líderes participativos suelen animar a su gente a desempeñar un papel activo asumiendo el control de su trabajo, y la autoridad suele estar muy descentralizada. Los líderes motivan a los empleados a través de consultas con los empleados alentando decisiones conjuntas o delegando responsabilidades.</a:t>
            </a:r>
          </a:p>
          <a:p>
            <a:pPr algn="just"/>
            <a:r>
              <a:rPr lang="es-ES" sz="1400" dirty="0">
                <a:latin typeface="+mj-lt"/>
                <a:cs typeface="Arial" panose="020B0604020202020204" pitchFamily="34" charset="0"/>
              </a:rPr>
              <a:t>Los empleados tienden a ser más creativos e innovadores cuando los impulsan líderes que muestran este comportamiento.</a:t>
            </a:r>
          </a:p>
          <a:p>
            <a:pPr algn="just"/>
            <a:r>
              <a:rPr lang="es-ES" sz="1400" dirty="0">
                <a:latin typeface="+mj-lt"/>
                <a:cs typeface="Arial" panose="020B0604020202020204" pitchFamily="34" charset="0"/>
              </a:rPr>
              <a:t>Ampliamente adoptado en los Estados Unidos, Inglaterra y otros países anglosajones, y también en los países escandinavos. </a:t>
            </a:r>
            <a:endParaRPr lang="es-ES" sz="1400" b="1" dirty="0">
              <a:latin typeface="+mj-lt"/>
              <a:cs typeface="Arial" panose="020B0604020202020204" pitchFamily="34" charset="0"/>
            </a:endParaRPr>
          </a:p>
        </p:txBody>
      </p:sp>
      <p:sp>
        <p:nvSpPr>
          <p:cNvPr id="3" name="object 3">
            <a:extLst>
              <a:ext uri="{FF2B5EF4-FFF2-40B4-BE49-F238E27FC236}">
                <a16:creationId xmlns:a16="http://schemas.microsoft.com/office/drawing/2014/main" id="{3342C8E8-884F-5480-4EEC-72BD35747EE2}"/>
              </a:ext>
            </a:extLst>
          </p:cNvPr>
          <p:cNvSpPr txBox="1">
            <a:spLocks/>
          </p:cNvSpPr>
          <p:nvPr/>
        </p:nvSpPr>
        <p:spPr>
          <a:xfrm>
            <a:off x="3635896" y="2272148"/>
            <a:ext cx="2295255" cy="607978"/>
          </a:xfrm>
          <a:prstGeom prst="rect">
            <a:avLst/>
          </a:prstGeom>
        </p:spPr>
        <p:txBody>
          <a:bodyPr vert="horz" wrap="square" lIns="0" tIns="7738" rIns="0" bIns="0" rtlCol="0" anchor="ctr" anchorCtr="1" compatLnSpc="1">
            <a:spAutoFit/>
          </a:bodyPr>
          <a:lstStyle>
            <a:lvl1pPr marL="0" marR="0" lvl="0" indent="0" algn="ctr" defTabSz="914400" rtl="0" fontAlgn="auto" hangingPunct="0">
              <a:lnSpc>
                <a:spcPct val="100000"/>
              </a:lnSpc>
              <a:spcBef>
                <a:spcPts val="0"/>
              </a:spcBef>
              <a:spcAft>
                <a:spcPts val="0"/>
              </a:spcAft>
              <a:buNone/>
              <a:tabLst/>
              <a:defRPr lang="es-ES" sz="2800" b="0" i="0" u="none" strike="noStrike" kern="1200" cap="none" spc="0" baseline="0">
                <a:solidFill>
                  <a:srgbClr val="000000"/>
                </a:solidFill>
                <a:uFillTx/>
                <a:latin typeface="Calibri"/>
              </a:defRPr>
            </a:lvl1pPr>
          </a:lstStyle>
          <a:p>
            <a:pPr marL="8145">
              <a:spcBef>
                <a:spcPts val="61"/>
              </a:spcBef>
            </a:pPr>
            <a:r>
              <a:rPr lang="es-ES" sz="2100" spc="-3" dirty="0">
                <a:solidFill>
                  <a:srgbClr val="C00000"/>
                </a:solidFill>
                <a:latin typeface="Arial" panose="020B0604020202020204" pitchFamily="34" charset="0"/>
                <a:cs typeface="Arial" panose="020B0604020202020204" pitchFamily="34" charset="0"/>
              </a:rPr>
              <a:t>Liderazgo </a:t>
            </a:r>
            <a:r>
              <a:rPr lang="es-ES" sz="1800" spc="-3" dirty="0">
                <a:solidFill>
                  <a:srgbClr val="C00000"/>
                </a:solidFill>
                <a:latin typeface="Arial" panose="020B0604020202020204" pitchFamily="34" charset="0"/>
                <a:cs typeface="Arial" panose="020B0604020202020204" pitchFamily="34" charset="0"/>
              </a:rPr>
              <a:t>(</a:t>
            </a:r>
            <a:r>
              <a:rPr lang="es-ES" sz="1800" spc="-3" dirty="0" err="1">
                <a:solidFill>
                  <a:srgbClr val="C00000"/>
                </a:solidFill>
                <a:latin typeface="Arial" panose="020B0604020202020204" pitchFamily="34" charset="0"/>
                <a:cs typeface="Arial" panose="020B0604020202020204" pitchFamily="34" charset="0"/>
              </a:rPr>
              <a:t>Luthans</a:t>
            </a:r>
            <a:r>
              <a:rPr lang="es-ES" sz="1800" spc="-3" dirty="0">
                <a:solidFill>
                  <a:srgbClr val="C00000"/>
                </a:solidFill>
                <a:latin typeface="Arial" panose="020B0604020202020204" pitchFamily="34" charset="0"/>
                <a:cs typeface="Arial" panose="020B0604020202020204" pitchFamily="34" charset="0"/>
              </a:rPr>
              <a:t> &amp; </a:t>
            </a:r>
            <a:r>
              <a:rPr lang="es-ES" sz="1800" spc="-3" dirty="0" err="1">
                <a:solidFill>
                  <a:srgbClr val="C00000"/>
                </a:solidFill>
                <a:latin typeface="Arial" panose="020B0604020202020204" pitchFamily="34" charset="0"/>
                <a:cs typeface="Arial" panose="020B0604020202020204" pitchFamily="34" charset="0"/>
              </a:rPr>
              <a:t>Doh</a:t>
            </a:r>
            <a:r>
              <a:rPr lang="es-ES" sz="1800" spc="-3" dirty="0">
                <a:solidFill>
                  <a:srgbClr val="C00000"/>
                </a:solidFill>
                <a:latin typeface="Arial" panose="020B0604020202020204" pitchFamily="34" charset="0"/>
                <a:cs typeface="Arial" panose="020B0604020202020204" pitchFamily="34" charset="0"/>
              </a:rPr>
              <a:t>, 2018)  </a:t>
            </a:r>
          </a:p>
        </p:txBody>
      </p:sp>
      <p:sp>
        <p:nvSpPr>
          <p:cNvPr id="5" name="7 Título">
            <a:extLst>
              <a:ext uri="{FF2B5EF4-FFF2-40B4-BE49-F238E27FC236}">
                <a16:creationId xmlns:a16="http://schemas.microsoft.com/office/drawing/2014/main" id="{EC721869-B871-ACEA-B692-E895FD214D4E}"/>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liderazgo</a:t>
            </a:r>
          </a:p>
        </p:txBody>
      </p:sp>
    </p:spTree>
    <p:extLst>
      <p:ext uri="{BB962C8B-B14F-4D97-AF65-F5344CB8AC3E}">
        <p14:creationId xmlns:p14="http://schemas.microsoft.com/office/powerpoint/2010/main" val="1173792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9"/>
          <p:cNvSpPr txBox="1"/>
          <p:nvPr/>
        </p:nvSpPr>
        <p:spPr>
          <a:xfrm>
            <a:off x="287837" y="1034452"/>
            <a:ext cx="3204044" cy="286232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lvl="0" algn="just"/>
            <a:r>
              <a:rPr lang="es-ES" sz="1500" b="1" dirty="0">
                <a:solidFill>
                  <a:srgbClr val="C00000"/>
                </a:solidFill>
                <a:latin typeface="+mn-lt"/>
              </a:rPr>
              <a:t>LIDERAZGO TRANSACCIONAL</a:t>
            </a:r>
            <a:endParaRPr lang="es-ES" sz="1500" dirty="0">
              <a:solidFill>
                <a:srgbClr val="C00000"/>
              </a:solidFill>
              <a:latin typeface="+mn-lt"/>
            </a:endParaRPr>
          </a:p>
          <a:p>
            <a:pPr lvl="0" algn="just">
              <a:buFont typeface="Arial" pitchFamily="34" charset="0"/>
              <a:buChar char="•"/>
            </a:pPr>
            <a:r>
              <a:rPr lang="es-ES" sz="1500" dirty="0">
                <a:solidFill>
                  <a:schemeClr val="tx1"/>
                </a:solidFill>
                <a:latin typeface="+mn-lt"/>
              </a:rPr>
              <a:t> </a:t>
            </a:r>
            <a:r>
              <a:rPr lang="es-ES" sz="1500" b="1" dirty="0">
                <a:solidFill>
                  <a:schemeClr val="tx1"/>
                </a:solidFill>
                <a:latin typeface="+mn-lt"/>
              </a:rPr>
              <a:t>Falta total de confianza </a:t>
            </a:r>
            <a:r>
              <a:rPr lang="es-ES" sz="1500" dirty="0">
                <a:solidFill>
                  <a:schemeClr val="tx1"/>
                </a:solidFill>
                <a:latin typeface="+mn-lt"/>
              </a:rPr>
              <a:t>en su equipo, aunque actúa con él como si le proporcionase confianza. </a:t>
            </a:r>
          </a:p>
          <a:p>
            <a:pPr lvl="0" algn="just">
              <a:buFont typeface="Arial" pitchFamily="34" charset="0"/>
              <a:buChar char="•"/>
            </a:pPr>
            <a:r>
              <a:rPr lang="es-ES" sz="1500" dirty="0">
                <a:solidFill>
                  <a:schemeClr val="tx1"/>
                </a:solidFill>
                <a:latin typeface="+mn-lt"/>
              </a:rPr>
              <a:t> Fuerte </a:t>
            </a:r>
            <a:r>
              <a:rPr lang="es-ES" sz="1500" b="1" dirty="0">
                <a:solidFill>
                  <a:schemeClr val="tx1"/>
                </a:solidFill>
                <a:latin typeface="+mn-lt"/>
              </a:rPr>
              <a:t>supervisión</a:t>
            </a:r>
            <a:r>
              <a:rPr lang="es-ES" sz="1500" dirty="0">
                <a:solidFill>
                  <a:schemeClr val="tx1"/>
                </a:solidFill>
                <a:latin typeface="+mn-lt"/>
              </a:rPr>
              <a:t>. </a:t>
            </a:r>
          </a:p>
          <a:p>
            <a:pPr lvl="0" algn="just">
              <a:buFont typeface="Arial" pitchFamily="34" charset="0"/>
              <a:buChar char="•"/>
            </a:pPr>
            <a:r>
              <a:rPr lang="es-ES" sz="1500" dirty="0">
                <a:solidFill>
                  <a:schemeClr val="tx1"/>
                </a:solidFill>
                <a:latin typeface="+mn-lt"/>
              </a:rPr>
              <a:t> Toma la mayor parte de las </a:t>
            </a:r>
            <a:r>
              <a:rPr lang="es-ES" sz="1500" b="1" dirty="0">
                <a:solidFill>
                  <a:schemeClr val="tx1"/>
                </a:solidFill>
                <a:latin typeface="+mn-lt"/>
              </a:rPr>
              <a:t>decisiones</a:t>
            </a:r>
            <a:r>
              <a:rPr lang="es-ES" sz="1500" dirty="0">
                <a:solidFill>
                  <a:schemeClr val="tx1"/>
                </a:solidFill>
                <a:latin typeface="+mn-lt"/>
              </a:rPr>
              <a:t>. Su único objetivo es que los empleados trabajen más y mejor a base de </a:t>
            </a:r>
            <a:r>
              <a:rPr lang="es-ES" sz="1500" b="1" dirty="0">
                <a:solidFill>
                  <a:schemeClr val="tx1"/>
                </a:solidFill>
                <a:latin typeface="+mn-lt"/>
              </a:rPr>
              <a:t>incentivos</a:t>
            </a:r>
            <a:r>
              <a:rPr lang="es-ES" sz="1500" dirty="0">
                <a:solidFill>
                  <a:schemeClr val="tx1"/>
                </a:solidFill>
                <a:latin typeface="+mn-lt"/>
              </a:rPr>
              <a:t>.</a:t>
            </a:r>
          </a:p>
          <a:p>
            <a:pPr lvl="0" algn="just">
              <a:buFont typeface="Arial" pitchFamily="34" charset="0"/>
              <a:buChar char="•"/>
            </a:pPr>
            <a:r>
              <a:rPr lang="es-ES" sz="1500" dirty="0">
                <a:solidFill>
                  <a:schemeClr val="tx1"/>
                </a:solidFill>
                <a:latin typeface="+mn-lt"/>
              </a:rPr>
              <a:t> Principal diferencia con el estilo autocrático: es mucho más cercano.</a:t>
            </a:r>
          </a:p>
        </p:txBody>
      </p:sp>
      <p:sp>
        <p:nvSpPr>
          <p:cNvPr id="8" name="CuadroTexto 14">
            <a:extLst>
              <a:ext uri="{FF2B5EF4-FFF2-40B4-BE49-F238E27FC236}">
                <a16:creationId xmlns:a16="http://schemas.microsoft.com/office/drawing/2014/main" id="{D97ED6C8-94C9-49E8-B2D8-274E2F421DB2}"/>
              </a:ext>
            </a:extLst>
          </p:cNvPr>
          <p:cNvSpPr txBox="1"/>
          <p:nvPr/>
        </p:nvSpPr>
        <p:spPr>
          <a:xfrm>
            <a:off x="1475656" y="4581128"/>
            <a:ext cx="6609945" cy="170816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lvl="0" algn="just"/>
            <a:r>
              <a:rPr lang="es-ES" sz="1500" b="1" dirty="0">
                <a:solidFill>
                  <a:srgbClr val="C00000"/>
                </a:solidFill>
                <a:latin typeface="+mn-lt"/>
              </a:rPr>
              <a:t>LIDERAZGO TRANSFORMACIONAL</a:t>
            </a:r>
            <a:endParaRPr lang="es-ES" sz="1500" dirty="0">
              <a:solidFill>
                <a:srgbClr val="C00000"/>
              </a:solidFill>
              <a:latin typeface="+mn-lt"/>
            </a:endParaRPr>
          </a:p>
          <a:p>
            <a:pPr lvl="0" algn="just">
              <a:buFont typeface="Arial" pitchFamily="34" charset="0"/>
              <a:buChar char="•"/>
            </a:pPr>
            <a:r>
              <a:rPr lang="es-ES" sz="1500" dirty="0">
                <a:solidFill>
                  <a:schemeClr val="tx1"/>
                </a:solidFill>
                <a:latin typeface="+mn-lt"/>
              </a:rPr>
              <a:t> Tiene su base en las </a:t>
            </a:r>
            <a:r>
              <a:rPr lang="es-ES" sz="1500" b="1" dirty="0">
                <a:solidFill>
                  <a:schemeClr val="tx1"/>
                </a:solidFill>
                <a:latin typeface="+mn-lt"/>
              </a:rPr>
              <a:t>características sociales </a:t>
            </a:r>
            <a:r>
              <a:rPr lang="es-ES" sz="1500" dirty="0">
                <a:solidFill>
                  <a:schemeClr val="tx1"/>
                </a:solidFill>
                <a:latin typeface="+mn-lt"/>
              </a:rPr>
              <a:t>del líder. </a:t>
            </a:r>
          </a:p>
          <a:p>
            <a:pPr lvl="0" algn="just">
              <a:buFont typeface="Arial" pitchFamily="34" charset="0"/>
              <a:buChar char="•"/>
            </a:pPr>
            <a:r>
              <a:rPr lang="es-ES" sz="1500" dirty="0">
                <a:solidFill>
                  <a:schemeClr val="tx1"/>
                </a:solidFill>
                <a:latin typeface="+mn-lt"/>
              </a:rPr>
              <a:t> Grandes </a:t>
            </a:r>
            <a:r>
              <a:rPr lang="es-ES" sz="1500" b="1" dirty="0">
                <a:solidFill>
                  <a:schemeClr val="tx1"/>
                </a:solidFill>
                <a:latin typeface="+mn-lt"/>
              </a:rPr>
              <a:t>habilidades de comunicación</a:t>
            </a:r>
            <a:r>
              <a:rPr lang="es-ES" sz="1500" dirty="0">
                <a:solidFill>
                  <a:schemeClr val="tx1"/>
                </a:solidFill>
                <a:latin typeface="+mn-lt"/>
              </a:rPr>
              <a:t>. </a:t>
            </a:r>
          </a:p>
          <a:p>
            <a:pPr lvl="0" algn="just">
              <a:buFont typeface="Arial" pitchFamily="34" charset="0"/>
              <a:buChar char="•"/>
            </a:pPr>
            <a:r>
              <a:rPr lang="es-ES" sz="1500" dirty="0">
                <a:solidFill>
                  <a:schemeClr val="tx1"/>
                </a:solidFill>
                <a:latin typeface="+mn-lt"/>
              </a:rPr>
              <a:t> Ve el lado positivo de las cosas. </a:t>
            </a:r>
          </a:p>
          <a:p>
            <a:pPr lvl="0" algn="just">
              <a:buFont typeface="Arial" pitchFamily="34" charset="0"/>
              <a:buChar char="•"/>
            </a:pPr>
            <a:r>
              <a:rPr lang="es-ES" sz="1500" dirty="0">
                <a:solidFill>
                  <a:schemeClr val="tx1"/>
                </a:solidFill>
                <a:latin typeface="+mn-lt"/>
              </a:rPr>
              <a:t> Habilidad de </a:t>
            </a:r>
            <a:r>
              <a:rPr lang="es-ES" sz="1500" b="1" dirty="0">
                <a:solidFill>
                  <a:schemeClr val="tx1"/>
                </a:solidFill>
                <a:latin typeface="+mn-lt"/>
              </a:rPr>
              <a:t>motivar</a:t>
            </a:r>
            <a:r>
              <a:rPr lang="es-ES" sz="1500" dirty="0">
                <a:solidFill>
                  <a:schemeClr val="tx1"/>
                </a:solidFill>
                <a:latin typeface="+mn-lt"/>
              </a:rPr>
              <a:t> al equipo hasta niveles muy altos: genera sentimientos y sensaciones positivas en los integrantes de su equipo.</a:t>
            </a:r>
          </a:p>
          <a:p>
            <a:pPr lvl="0" algn="just">
              <a:buFont typeface="Arial" pitchFamily="34" charset="0"/>
              <a:buChar char="•"/>
            </a:pPr>
            <a:r>
              <a:rPr lang="es-ES" sz="1500" dirty="0">
                <a:solidFill>
                  <a:schemeClr val="tx1"/>
                </a:solidFill>
                <a:latin typeface="+mn-lt"/>
              </a:rPr>
              <a:t> Actitud de </a:t>
            </a:r>
            <a:r>
              <a:rPr lang="es-ES" sz="1500" b="1" dirty="0">
                <a:solidFill>
                  <a:schemeClr val="tx1"/>
                </a:solidFill>
                <a:latin typeface="+mn-lt"/>
              </a:rPr>
              <a:t>disconformidad</a:t>
            </a:r>
            <a:r>
              <a:rPr lang="es-ES" sz="1500" dirty="0">
                <a:solidFill>
                  <a:schemeClr val="tx1"/>
                </a:solidFill>
                <a:latin typeface="+mn-lt"/>
              </a:rPr>
              <a:t> con lo establecido, </a:t>
            </a:r>
            <a:r>
              <a:rPr lang="es-ES" sz="1500" b="1" dirty="0">
                <a:solidFill>
                  <a:schemeClr val="tx1"/>
                </a:solidFill>
                <a:latin typeface="+mn-lt"/>
              </a:rPr>
              <a:t>gran visión </a:t>
            </a:r>
            <a:r>
              <a:rPr lang="es-ES" sz="1500" dirty="0">
                <a:solidFill>
                  <a:schemeClr val="tx1"/>
                </a:solidFill>
                <a:latin typeface="+mn-lt"/>
              </a:rPr>
              <a:t>a largo plazo</a:t>
            </a:r>
          </a:p>
        </p:txBody>
      </p:sp>
      <p:sp>
        <p:nvSpPr>
          <p:cNvPr id="9" name="CuadroTexto 15">
            <a:extLst>
              <a:ext uri="{FF2B5EF4-FFF2-40B4-BE49-F238E27FC236}">
                <a16:creationId xmlns:a16="http://schemas.microsoft.com/office/drawing/2014/main" id="{20651921-D06D-4ED5-ACB8-6E1E2B2DDC0A}"/>
              </a:ext>
            </a:extLst>
          </p:cNvPr>
          <p:cNvSpPr txBox="1"/>
          <p:nvPr/>
        </p:nvSpPr>
        <p:spPr>
          <a:xfrm>
            <a:off x="5652120" y="1196857"/>
            <a:ext cx="3240360" cy="2631490"/>
          </a:xfrm>
          <a:prstGeom prst="rect">
            <a:avLst/>
          </a:prstGeom>
          <a:noFill/>
          <a:ln w="12700">
            <a:solidFill>
              <a:srgbClr val="C00000"/>
            </a:solidFill>
          </a:ln>
        </p:spPr>
        <p:txBody>
          <a:bodyPr wrap="square" rtlCol="0">
            <a:spAutoFit/>
          </a:bodyPr>
          <a:lstStyle/>
          <a:p>
            <a:pPr lvl="0" algn="just"/>
            <a:r>
              <a:rPr lang="es-ES" sz="1500" b="1" dirty="0">
                <a:solidFill>
                  <a:srgbClr val="C00000"/>
                </a:solidFill>
                <a:latin typeface="+mn-lt"/>
              </a:rPr>
              <a:t>LIDERAZGO DELEGATIVO (O LAISSEZ FAIRE)</a:t>
            </a:r>
            <a:endParaRPr lang="es-ES" sz="1500" dirty="0">
              <a:latin typeface="+mn-lt"/>
            </a:endParaRPr>
          </a:p>
          <a:p>
            <a:pPr lvl="0" algn="just">
              <a:buFont typeface="Arial" pitchFamily="34" charset="0"/>
              <a:buChar char="•"/>
            </a:pPr>
            <a:r>
              <a:rPr lang="es-ES" sz="1500" dirty="0">
                <a:latin typeface="+mn-lt"/>
              </a:rPr>
              <a:t> Se basa en </a:t>
            </a:r>
            <a:r>
              <a:rPr lang="es-ES" sz="1500" b="1" dirty="0">
                <a:latin typeface="+mn-lt"/>
              </a:rPr>
              <a:t>“hacer y dejar hacer”.</a:t>
            </a:r>
          </a:p>
          <a:p>
            <a:pPr lvl="0" algn="just">
              <a:buFont typeface="Arial" pitchFamily="34" charset="0"/>
              <a:buChar char="•"/>
            </a:pPr>
            <a:r>
              <a:rPr lang="es-ES" sz="1500" dirty="0">
                <a:latin typeface="+mn-lt"/>
              </a:rPr>
              <a:t> Papel totalmente </a:t>
            </a:r>
            <a:r>
              <a:rPr lang="es-ES" sz="1500" b="1" dirty="0">
                <a:latin typeface="+mn-lt"/>
              </a:rPr>
              <a:t>pasivo</a:t>
            </a:r>
            <a:r>
              <a:rPr lang="es-ES" sz="1500" dirty="0">
                <a:latin typeface="+mn-lt"/>
              </a:rPr>
              <a:t> y traspasa el </a:t>
            </a:r>
            <a:r>
              <a:rPr lang="es-ES" sz="1500" b="1" dirty="0">
                <a:latin typeface="+mn-lt"/>
              </a:rPr>
              <a:t>poder</a:t>
            </a:r>
            <a:r>
              <a:rPr lang="es-ES" sz="1500" dirty="0">
                <a:latin typeface="+mn-lt"/>
              </a:rPr>
              <a:t> y las decisiones al grupo.</a:t>
            </a:r>
          </a:p>
          <a:p>
            <a:pPr lvl="0" algn="just">
              <a:buFont typeface="Arial" pitchFamily="34" charset="0"/>
              <a:buChar char="•"/>
            </a:pPr>
            <a:r>
              <a:rPr lang="es-ES" sz="1500" dirty="0">
                <a:latin typeface="+mn-lt"/>
              </a:rPr>
              <a:t> Se basa en la teoría de que un empleado con experiencia, entrenado y motivado no necesita supervisión para ser </a:t>
            </a:r>
            <a:r>
              <a:rPr lang="es-ES" sz="1500" b="1" dirty="0">
                <a:latin typeface="+mn-lt"/>
              </a:rPr>
              <a:t>productivo</a:t>
            </a:r>
            <a:r>
              <a:rPr lang="es-ES" sz="1500" dirty="0">
                <a:latin typeface="+mn-lt"/>
              </a:rPr>
              <a:t>.</a:t>
            </a:r>
          </a:p>
        </p:txBody>
      </p:sp>
      <p:sp>
        <p:nvSpPr>
          <p:cNvPr id="2" name="object 3">
            <a:extLst>
              <a:ext uri="{FF2B5EF4-FFF2-40B4-BE49-F238E27FC236}">
                <a16:creationId xmlns:a16="http://schemas.microsoft.com/office/drawing/2014/main" id="{F60B8B4C-C367-3168-8FFD-81097E27D63C}"/>
              </a:ext>
            </a:extLst>
          </p:cNvPr>
          <p:cNvSpPr txBox="1">
            <a:spLocks/>
          </p:cNvSpPr>
          <p:nvPr/>
        </p:nvSpPr>
        <p:spPr>
          <a:xfrm>
            <a:off x="3599891" y="2276872"/>
            <a:ext cx="2052229" cy="330979"/>
          </a:xfrm>
          <a:prstGeom prst="rect">
            <a:avLst/>
          </a:prstGeom>
        </p:spPr>
        <p:txBody>
          <a:bodyPr vert="horz" wrap="square" lIns="0" tIns="7738" rIns="0" bIns="0" rtlCol="0" anchor="ctr" anchorCtr="1" compatLnSpc="1">
            <a:spAutoFit/>
          </a:bodyPr>
          <a:lstStyle>
            <a:lvl1pPr marL="0" marR="0" lvl="0" indent="0" algn="ctr" defTabSz="914400" rtl="0" fontAlgn="auto" hangingPunct="0">
              <a:lnSpc>
                <a:spcPct val="100000"/>
              </a:lnSpc>
              <a:spcBef>
                <a:spcPts val="0"/>
              </a:spcBef>
              <a:spcAft>
                <a:spcPts val="0"/>
              </a:spcAft>
              <a:buNone/>
              <a:tabLst/>
              <a:defRPr lang="es-ES" sz="2800" b="0" i="0" u="none" strike="noStrike" kern="1200" cap="none" spc="0" baseline="0">
                <a:solidFill>
                  <a:srgbClr val="000000"/>
                </a:solidFill>
                <a:uFillTx/>
                <a:latin typeface="Calibri"/>
              </a:defRPr>
            </a:lvl1pPr>
          </a:lstStyle>
          <a:p>
            <a:pPr marL="8145">
              <a:spcBef>
                <a:spcPts val="61"/>
              </a:spcBef>
            </a:pPr>
            <a:r>
              <a:rPr lang="es-ES" sz="2100" spc="-3" dirty="0">
                <a:solidFill>
                  <a:srgbClr val="C00000"/>
                </a:solidFill>
                <a:latin typeface="+mn-lt"/>
                <a:cs typeface="Arial" panose="020B0604020202020204" pitchFamily="34" charset="0"/>
              </a:rPr>
              <a:t>Liderazgo </a:t>
            </a:r>
          </a:p>
        </p:txBody>
      </p:sp>
      <p:sp>
        <p:nvSpPr>
          <p:cNvPr id="4" name="7 Título">
            <a:extLst>
              <a:ext uri="{FF2B5EF4-FFF2-40B4-BE49-F238E27FC236}">
                <a16:creationId xmlns:a16="http://schemas.microsoft.com/office/drawing/2014/main" id="{9C8918B4-7A9D-241B-AFC1-E8F62B5157B6}"/>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liderazgo</a:t>
            </a:r>
          </a:p>
        </p:txBody>
      </p:sp>
    </p:spTree>
    <p:extLst>
      <p:ext uri="{BB962C8B-B14F-4D97-AF65-F5344CB8AC3E}">
        <p14:creationId xmlns:p14="http://schemas.microsoft.com/office/powerpoint/2010/main" val="254559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3DE2CDC9-5ACA-48B6-BE8A-A46E809925C2}"/>
              </a:ext>
            </a:extLst>
          </p:cNvPr>
          <p:cNvSpPr>
            <a:spLocks noGrp="1" noChangeArrowheads="1"/>
          </p:cNvSpPr>
          <p:nvPr>
            <p:ph type="body" idx="4294967295"/>
          </p:nvPr>
        </p:nvSpPr>
        <p:spPr>
          <a:xfrm>
            <a:off x="611560" y="1340768"/>
            <a:ext cx="6517382" cy="4246240"/>
          </a:xfrm>
        </p:spPr>
        <p:txBody>
          <a:bodyPr/>
          <a:lstStyle/>
          <a:p>
            <a:pPr>
              <a:buFont typeface="Wingdings" panose="05000000000000000000" pitchFamily="2" charset="2"/>
              <a:buNone/>
            </a:pPr>
            <a:r>
              <a:rPr lang="es-AR" altLang="es-ES" sz="1800" dirty="0">
                <a:cs typeface="Arial" panose="020B0604020202020204" pitchFamily="34" charset="0"/>
              </a:rPr>
              <a:t>Hay evidencia que los estilos participativos de liderazgo:</a:t>
            </a:r>
          </a:p>
          <a:p>
            <a:pPr lvl="1"/>
            <a:r>
              <a:rPr lang="es-AR" altLang="es-ES" sz="1600" dirty="0">
                <a:cs typeface="Arial" panose="020B0604020202020204" pitchFamily="34" charset="0"/>
              </a:rPr>
              <a:t>se vinculan con satisfacción del empleado</a:t>
            </a:r>
          </a:p>
          <a:p>
            <a:pPr lvl="1"/>
            <a:r>
              <a:rPr lang="es-AR" altLang="es-ES" sz="1600" dirty="0">
                <a:cs typeface="Arial" panose="020B0604020202020204" pitchFamily="34" charset="0"/>
              </a:rPr>
              <a:t> se vinculan con menor rotación y conflictos</a:t>
            </a:r>
          </a:p>
          <a:p>
            <a:pPr lvl="1"/>
            <a:r>
              <a:rPr lang="es-AR" altLang="es-ES" sz="1600" dirty="0">
                <a:cs typeface="Arial" panose="020B0604020202020204" pitchFamily="34" charset="0"/>
              </a:rPr>
              <a:t>Generan menor conflicto </a:t>
            </a:r>
            <a:r>
              <a:rPr lang="es-AR" altLang="es-ES" sz="1600" dirty="0" err="1">
                <a:cs typeface="Arial" panose="020B0604020202020204" pitchFamily="34" charset="0"/>
              </a:rPr>
              <a:t>inter-grupos</a:t>
            </a:r>
            <a:endParaRPr lang="es-AR" altLang="es-ES" sz="1600" dirty="0">
              <a:cs typeface="Arial" panose="020B0604020202020204" pitchFamily="34" charset="0"/>
            </a:endParaRPr>
          </a:p>
          <a:p>
            <a:pPr lvl="1"/>
            <a:r>
              <a:rPr lang="es-AR" altLang="es-ES" sz="1600" dirty="0">
                <a:cs typeface="Arial" panose="020B0604020202020204" pitchFamily="34" charset="0"/>
              </a:rPr>
              <a:t>Son el estilo favorito de los subordinados</a:t>
            </a:r>
          </a:p>
          <a:p>
            <a:pPr>
              <a:buFont typeface="Wingdings" panose="05000000000000000000" pitchFamily="2" charset="2"/>
              <a:buNone/>
            </a:pPr>
            <a:endParaRPr lang="es-AR" altLang="es-ES" sz="1800" dirty="0">
              <a:cs typeface="Arial" panose="020B0604020202020204" pitchFamily="34" charset="0"/>
            </a:endParaRPr>
          </a:p>
          <a:p>
            <a:pPr>
              <a:buFont typeface="Wingdings" panose="05000000000000000000" pitchFamily="2" charset="2"/>
              <a:buNone/>
            </a:pPr>
            <a:r>
              <a:rPr lang="es-AR" altLang="es-ES" sz="1800" dirty="0">
                <a:cs typeface="Arial" panose="020B0604020202020204" pitchFamily="34" charset="0"/>
              </a:rPr>
              <a:t>Algunas personas prefieren ser dirigidas (baja necesidad de autonomía </a:t>
            </a:r>
          </a:p>
          <a:p>
            <a:pPr>
              <a:buFont typeface="Wingdings" panose="05000000000000000000" pitchFamily="2" charset="2"/>
              <a:buNone/>
            </a:pPr>
            <a:r>
              <a:rPr lang="es-AR" altLang="es-ES" sz="1800" dirty="0">
                <a:cs typeface="Arial" panose="020B0604020202020204" pitchFamily="34" charset="0"/>
              </a:rPr>
              <a:t>y culturas donde la participación no está legitimada)</a:t>
            </a:r>
          </a:p>
          <a:p>
            <a:pPr>
              <a:buFont typeface="Wingdings" panose="05000000000000000000" pitchFamily="2" charset="2"/>
              <a:buNone/>
            </a:pPr>
            <a:endParaRPr lang="es-AR" altLang="es-ES" sz="800" dirty="0">
              <a:cs typeface="Arial" panose="020B0604020202020204" pitchFamily="34" charset="0"/>
            </a:endParaRPr>
          </a:p>
          <a:p>
            <a:pPr algn="just">
              <a:buFont typeface="Wingdings" panose="05000000000000000000" pitchFamily="2" charset="2"/>
              <a:buNone/>
            </a:pPr>
            <a:r>
              <a:rPr lang="es-AR" altLang="es-ES" sz="1800" dirty="0">
                <a:cs typeface="Arial" panose="020B0604020202020204" pitchFamily="34" charset="0"/>
              </a:rPr>
              <a:t>En trabajos rutinarios un estilo más estructurado lleva a mayor productividad en el corto plazo – y peor moral </a:t>
            </a:r>
          </a:p>
          <a:p>
            <a:pPr>
              <a:buFont typeface="Wingdings" panose="05000000000000000000" pitchFamily="2" charset="2"/>
              <a:buNone/>
            </a:pPr>
            <a:endParaRPr lang="es-AR" altLang="es-ES" sz="1800" dirty="0"/>
          </a:p>
          <a:p>
            <a:pPr>
              <a:buFont typeface="Wingdings" panose="05000000000000000000" pitchFamily="2" charset="2"/>
              <a:buNone/>
            </a:pPr>
            <a:r>
              <a:rPr lang="es-AR" altLang="es-ES" sz="1800" b="1" dirty="0">
                <a:solidFill>
                  <a:srgbClr val="C00000"/>
                </a:solidFill>
                <a:cs typeface="Arial" panose="020B0604020202020204" pitchFamily="34" charset="0"/>
              </a:rPr>
              <a:t>Estilo no es la respuesta, por sí sola, al liderazgo efectivo. Estilo participativo, mayor involucración, no necesariamente mayor productividad</a:t>
            </a:r>
          </a:p>
        </p:txBody>
      </p:sp>
      <p:pic>
        <p:nvPicPr>
          <p:cNvPr id="20484" name="Picture 6" descr="http://t3.gstatic.com/images?q=tbn:cJNvhHBjt1rZLM:http://www.citrusheights.net/images/j0387733.jpg">
            <a:hlinkClick r:id="rId3"/>
            <a:extLst>
              <a:ext uri="{FF2B5EF4-FFF2-40B4-BE49-F238E27FC236}">
                <a16:creationId xmlns:a16="http://schemas.microsoft.com/office/drawing/2014/main" id="{7959CC8C-8665-4D78-AE00-F37B22109B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055518"/>
            <a:ext cx="1615008" cy="1230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7 Título">
            <a:extLst>
              <a:ext uri="{FF2B5EF4-FFF2-40B4-BE49-F238E27FC236}">
                <a16:creationId xmlns:a16="http://schemas.microsoft.com/office/drawing/2014/main" id="{27F452CD-63FF-3BFD-0A5C-18E4E9D49F62}"/>
              </a:ext>
            </a:extLst>
          </p:cNvPr>
          <p:cNvSpPr>
            <a:spLocks noGrp="1"/>
          </p:cNvSpPr>
          <p:nvPr>
            <p:ph type="title"/>
          </p:nvPr>
        </p:nvSpPr>
        <p:spPr>
          <a:xfrm>
            <a:off x="107950" y="115888"/>
            <a:ext cx="8928100" cy="720725"/>
          </a:xfrm>
          <a:solidFill>
            <a:srgbClr val="FFD85B"/>
          </a:solidFill>
        </p:spPr>
        <p:txBody>
          <a:bodyPr/>
          <a:lstStyle/>
          <a:p>
            <a:pPr algn="l"/>
            <a:r>
              <a:rPr lang="es-ES" dirty="0">
                <a:solidFill>
                  <a:schemeClr val="tx1"/>
                </a:solidFill>
              </a:rPr>
              <a:t>   Dirección: liderazgo</a:t>
            </a:r>
          </a:p>
        </p:txBody>
      </p:sp>
    </p:spTree>
    <p:extLst>
      <p:ext uri="{BB962C8B-B14F-4D97-AF65-F5344CB8AC3E}">
        <p14:creationId xmlns:p14="http://schemas.microsoft.com/office/powerpoint/2010/main" val="5449882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49</a:t>
            </a:fld>
            <a:endParaRPr lang="es-ES"/>
          </a:p>
        </p:txBody>
      </p:sp>
      <p:sp>
        <p:nvSpPr>
          <p:cNvPr id="4" name="3 Rectángulo"/>
          <p:cNvSpPr/>
          <p:nvPr/>
        </p:nvSpPr>
        <p:spPr>
          <a:xfrm>
            <a:off x="755576" y="2348880"/>
            <a:ext cx="7704856" cy="2234458"/>
          </a:xfrm>
          <a:prstGeom prst="rect">
            <a:avLst/>
          </a:prstGeom>
        </p:spPr>
        <p:txBody>
          <a:bodyPr wrap="square">
            <a:spAutoFit/>
          </a:bodyPr>
          <a:lstStyle/>
          <a:p>
            <a:pPr marL="901700" indent="-901700" algn="just">
              <a:lnSpc>
                <a:spcPct val="130000"/>
              </a:lnSpc>
              <a:spcBef>
                <a:spcPct val="20000"/>
              </a:spcBef>
            </a:pPr>
            <a:r>
              <a:rPr lang="es-ES_tradnl" sz="2400" u="none" kern="0" dirty="0">
                <a:solidFill>
                  <a:srgbClr val="000000"/>
                </a:solidFill>
                <a:latin typeface="Comic Sans MS"/>
              </a:rPr>
              <a:t>3.4.1. </a:t>
            </a:r>
            <a:r>
              <a:rPr lang="es-ES_tradnl" sz="2400" kern="0" dirty="0">
                <a:solidFill>
                  <a:srgbClr val="000000"/>
                </a:solidFill>
                <a:latin typeface="Comic Sans MS"/>
              </a:rPr>
              <a:t>Reclutamiento.</a:t>
            </a:r>
            <a:endParaRPr lang="es-ES_tradnl" sz="2400" u="none" kern="0" dirty="0">
              <a:solidFill>
                <a:srgbClr val="000000"/>
              </a:solidFill>
              <a:latin typeface="Comic Sans MS"/>
            </a:endParaRPr>
          </a:p>
          <a:p>
            <a:pPr marL="901700" indent="-901700">
              <a:lnSpc>
                <a:spcPct val="130000"/>
              </a:lnSpc>
              <a:spcBef>
                <a:spcPct val="20000"/>
              </a:spcBef>
            </a:pPr>
            <a:r>
              <a:rPr lang="es-ES_tradnl" sz="2400" u="none" kern="0" dirty="0">
                <a:solidFill>
                  <a:srgbClr val="000000"/>
                </a:solidFill>
                <a:latin typeface="Comic Sans MS"/>
              </a:rPr>
              <a:t>3.4.2. Selección.</a:t>
            </a:r>
          </a:p>
          <a:p>
            <a:pPr marL="901700" indent="-901700">
              <a:lnSpc>
                <a:spcPct val="130000"/>
              </a:lnSpc>
              <a:spcBef>
                <a:spcPct val="20000"/>
              </a:spcBef>
            </a:pPr>
            <a:r>
              <a:rPr lang="es-ES_tradnl" sz="2400" kern="0" dirty="0">
                <a:solidFill>
                  <a:srgbClr val="000000"/>
                </a:solidFill>
                <a:latin typeface="Comic Sans MS"/>
              </a:rPr>
              <a:t>3.4.3. Capacitación y desarrollo.</a:t>
            </a:r>
          </a:p>
          <a:p>
            <a:pPr marL="901700" indent="-901700">
              <a:lnSpc>
                <a:spcPct val="130000"/>
              </a:lnSpc>
              <a:spcBef>
                <a:spcPct val="20000"/>
              </a:spcBef>
            </a:pPr>
            <a:r>
              <a:rPr lang="es-ES_tradnl" sz="2400" u="none" kern="0" dirty="0">
                <a:solidFill>
                  <a:srgbClr val="000000"/>
                </a:solidFill>
                <a:latin typeface="Comic Sans MS"/>
              </a:rPr>
              <a:t>3.4.4. Compensación.</a:t>
            </a:r>
          </a:p>
        </p:txBody>
      </p:sp>
      <p:sp>
        <p:nvSpPr>
          <p:cNvPr id="5" name="4 Rectángulo"/>
          <p:cNvSpPr/>
          <p:nvPr/>
        </p:nvSpPr>
        <p:spPr>
          <a:xfrm>
            <a:off x="518111" y="1484784"/>
            <a:ext cx="8374369" cy="523220"/>
          </a:xfrm>
          <a:prstGeom prst="rect">
            <a:avLst/>
          </a:prstGeom>
        </p:spPr>
        <p:txBody>
          <a:bodyPr wrap="square">
            <a:spAutoFit/>
          </a:bodyPr>
          <a:lstStyle/>
          <a:p>
            <a:pPr algn="ctr"/>
            <a:r>
              <a:rPr lang="es-ES" sz="2800" b="1" dirty="0">
                <a:solidFill>
                  <a:srgbClr val="C00000"/>
                </a:solidFill>
                <a:latin typeface="+mn-lt"/>
              </a:rPr>
              <a:t>3</a:t>
            </a:r>
            <a:r>
              <a:rPr lang="es-ES" sz="2800" b="1" u="none" dirty="0">
                <a:solidFill>
                  <a:srgbClr val="C00000"/>
                </a:solidFill>
                <a:latin typeface="+mn-lt"/>
              </a:rPr>
              <a:t>.4. </a:t>
            </a:r>
            <a:r>
              <a:rPr lang="es-ES" sz="2800" b="1" dirty="0">
                <a:solidFill>
                  <a:srgbClr val="C00000"/>
                </a:solidFill>
                <a:latin typeface="+mn-lt"/>
              </a:rPr>
              <a:t>DIRECCIÓN DE RECURSOS HUMANOS</a:t>
            </a:r>
            <a:endParaRPr lang="es-ES" sz="2800" b="1" u="none" dirty="0">
              <a:latin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2 Marcador de contenido"/>
          <p:cNvSpPr>
            <a:spLocks noGrp="1"/>
          </p:cNvSpPr>
          <p:nvPr>
            <p:ph idx="4294967295"/>
          </p:nvPr>
        </p:nvSpPr>
        <p:spPr>
          <a:xfrm>
            <a:off x="179512" y="980728"/>
            <a:ext cx="8229600" cy="5184576"/>
          </a:xfrm>
        </p:spPr>
        <p:txBody>
          <a:bodyPr/>
          <a:lstStyle/>
          <a:p>
            <a:pPr lvl="1" algn="just" eaLnBrk="1" hangingPunct="1">
              <a:buFont typeface="Verdana" pitchFamily="34" charset="0"/>
              <a:buNone/>
            </a:pPr>
            <a:endParaRPr lang="es-ES" dirty="0"/>
          </a:p>
          <a:p>
            <a:pPr marL="444500" lvl="1" indent="12700" algn="just" eaLnBrk="1" hangingPunct="1">
              <a:spcAft>
                <a:spcPts val="600"/>
              </a:spcAft>
              <a:buNone/>
            </a:pPr>
            <a:r>
              <a:rPr lang="es-ES" sz="2000" b="1" u="sng" dirty="0">
                <a:solidFill>
                  <a:srgbClr val="C00000"/>
                </a:solidFill>
              </a:rPr>
              <a:t>Concepto de Gestión Recursos Humanos</a:t>
            </a:r>
            <a:r>
              <a:rPr lang="es-ES" sz="2000" dirty="0"/>
              <a:t>: proceso por el cual una organización mantiene ocupados, por personal idóneo y de forma continuada, todos sus puestos de trabajo.</a:t>
            </a:r>
          </a:p>
          <a:p>
            <a:pPr lvl="2" algn="just"/>
            <a:r>
              <a:rPr lang="es-ES" sz="2000" dirty="0"/>
              <a:t>Área clave para el buen funcionamiento de la organización.</a:t>
            </a:r>
          </a:p>
          <a:p>
            <a:pPr lvl="2" algn="just"/>
            <a:r>
              <a:rPr lang="es-ES" sz="2000" dirty="0"/>
              <a:t>Se ocupa del estudio y análisis del mayor activo de la empresa: los empleados</a:t>
            </a:r>
          </a:p>
          <a:p>
            <a:pPr lvl="1" algn="just">
              <a:buNone/>
            </a:pPr>
            <a:endParaRPr lang="es-ES" b="1" u="sng" dirty="0">
              <a:solidFill>
                <a:srgbClr val="C00000"/>
              </a:solidFill>
            </a:endParaRPr>
          </a:p>
          <a:p>
            <a:pPr marL="444500" lvl="1" indent="12700" algn="just">
              <a:buNone/>
            </a:pPr>
            <a:r>
              <a:rPr lang="es-ES" b="1" u="sng" dirty="0">
                <a:solidFill>
                  <a:srgbClr val="C00000"/>
                </a:solidFill>
              </a:rPr>
              <a:t>Planificación de Recursos Humanos</a:t>
            </a:r>
            <a:r>
              <a:rPr lang="es-ES" dirty="0"/>
              <a:t>: proceso por el cual una organización se asegura el número suficiente de personal con la cualificación necesaria, en los puestos adecuados y en el tiempo oportuno para la realización correcta de las tareas y el logro de los mayores beneficios individuales y organizativos a corto, medio y largo plazo.</a:t>
            </a:r>
          </a:p>
          <a:p>
            <a:pPr lvl="1" algn="just" eaLnBrk="1" hangingPunct="1">
              <a:buNone/>
            </a:pPr>
            <a:endParaRPr lang="es-ES" dirty="0"/>
          </a:p>
          <a:p>
            <a:pPr eaLnBrk="1" hangingPunct="1"/>
            <a:endParaRPr lang="es-ES" dirty="0"/>
          </a:p>
        </p:txBody>
      </p:sp>
      <p:sp>
        <p:nvSpPr>
          <p:cNvPr id="4" name="3 Título"/>
          <p:cNvSpPr>
            <a:spLocks noGrp="1"/>
          </p:cNvSpPr>
          <p:nvPr>
            <p:ph type="title"/>
          </p:nvPr>
        </p:nvSpPr>
        <p:spPr/>
        <p:txBody>
          <a:bodyPr/>
          <a:lstStyle/>
          <a:p>
            <a:pPr algn="l"/>
            <a:r>
              <a:rPr lang="es-ES" dirty="0">
                <a:solidFill>
                  <a:schemeClr val="tx1"/>
                </a:solidFill>
              </a:rPr>
              <a:t>3.4. Dirección de Recursos Humanos</a:t>
            </a:r>
          </a:p>
        </p:txBody>
      </p:sp>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50</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pPr algn="l"/>
            <a:r>
              <a:rPr lang="es-ES" dirty="0">
                <a:solidFill>
                  <a:schemeClr val="tx1"/>
                </a:solidFill>
              </a:rPr>
              <a:t>3.4. Dirección de Recursos Humanos</a:t>
            </a:r>
          </a:p>
        </p:txBody>
      </p:sp>
      <p:sp>
        <p:nvSpPr>
          <p:cNvPr id="4" name="3 Marcador de número de diapositiva"/>
          <p:cNvSpPr>
            <a:spLocks noGrp="1"/>
          </p:cNvSpPr>
          <p:nvPr>
            <p:ph type="sldNum" sz="quarter" idx="4"/>
          </p:nvPr>
        </p:nvSpPr>
        <p:spPr/>
        <p:txBody>
          <a:bodyPr/>
          <a:lstStyle/>
          <a:p>
            <a:pPr>
              <a:defRPr/>
            </a:pPr>
            <a:fld id="{67796C93-1FA1-4A10-A081-817CD50A2F35}" type="slidenum">
              <a:rPr lang="es-ES" smtClean="0"/>
              <a:pPr>
                <a:defRPr/>
              </a:pPr>
              <a:t>51</a:t>
            </a:fld>
            <a:endParaRPr lang="es-ES"/>
          </a:p>
        </p:txBody>
      </p:sp>
      <p:graphicFrame>
        <p:nvGraphicFramePr>
          <p:cNvPr id="6" name="5 Tabla"/>
          <p:cNvGraphicFramePr>
            <a:graphicFrameLocks noGrp="1"/>
          </p:cNvGraphicFramePr>
          <p:nvPr>
            <p:extLst>
              <p:ext uri="{D42A27DB-BD31-4B8C-83A1-F6EECF244321}">
                <p14:modId xmlns:p14="http://schemas.microsoft.com/office/powerpoint/2010/main" val="33918458"/>
              </p:ext>
            </p:extLst>
          </p:nvPr>
        </p:nvGraphicFramePr>
        <p:xfrm>
          <a:off x="323528" y="1139270"/>
          <a:ext cx="8424936" cy="5092957"/>
        </p:xfrm>
        <a:graphic>
          <a:graphicData uri="http://schemas.openxmlformats.org/drawingml/2006/table">
            <a:tbl>
              <a:tblPr>
                <a:tableStyleId>{3C2FFA5D-87B4-456A-9821-1D502468CF0F}</a:tableStyleId>
              </a:tblPr>
              <a:tblGrid>
                <a:gridCol w="1872208">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261541">
                <a:tc>
                  <a:txBody>
                    <a:bodyPr/>
                    <a:lstStyle/>
                    <a:p>
                      <a:pPr algn="ctr" hangingPunct="0">
                        <a:spcAft>
                          <a:spcPts val="0"/>
                        </a:spcAft>
                      </a:pPr>
                      <a:r>
                        <a:rPr lang="es-ES_tradnl" sz="1600" b="1" cap="small" dirty="0"/>
                        <a:t>Fases</a:t>
                      </a:r>
                      <a:endParaRPr lang="es-ES" sz="1600" b="1" dirty="0">
                        <a:latin typeface="+mn-lt"/>
                        <a:ea typeface="Times New Roman"/>
                        <a:cs typeface="Times New Roman"/>
                      </a:endParaRPr>
                    </a:p>
                  </a:txBody>
                  <a:tcPr marL="44450" marR="44450" marT="0" marB="0" anchor="ctr"/>
                </a:tc>
                <a:tc>
                  <a:txBody>
                    <a:bodyPr/>
                    <a:lstStyle/>
                    <a:p>
                      <a:pPr algn="ctr" hangingPunct="0">
                        <a:spcAft>
                          <a:spcPts val="0"/>
                        </a:spcAft>
                      </a:pPr>
                      <a:r>
                        <a:rPr lang="es-ES_tradnl" sz="1600" b="1" cap="small" dirty="0"/>
                        <a:t>Descripción</a:t>
                      </a:r>
                      <a:endParaRPr lang="es-ES" sz="1600" b="1" dirty="0">
                        <a:latin typeface="+mn-lt"/>
                        <a:ea typeface="Times New Roman"/>
                        <a:cs typeface="Times New Roman"/>
                      </a:endParaRPr>
                    </a:p>
                  </a:txBody>
                  <a:tcPr marL="44450" marR="44450" marT="0" marB="0"/>
                </a:tc>
                <a:extLst>
                  <a:ext uri="{0D108BD9-81ED-4DB2-BD59-A6C34878D82A}">
                    <a16:rowId xmlns:a16="http://schemas.microsoft.com/office/drawing/2014/main" val="10000"/>
                  </a:ext>
                </a:extLst>
              </a:tr>
              <a:tr h="1569250">
                <a:tc>
                  <a:txBody>
                    <a:bodyPr/>
                    <a:lstStyle/>
                    <a:p>
                      <a:pPr algn="just" hangingPunct="0">
                        <a:spcAft>
                          <a:spcPts val="0"/>
                        </a:spcAft>
                      </a:pPr>
                      <a:r>
                        <a:rPr lang="es-ES_tradnl" sz="1600" b="1" dirty="0">
                          <a:solidFill>
                            <a:srgbClr val="C00000"/>
                          </a:solidFill>
                        </a:rPr>
                        <a:t>Obtención de los recursos humanos</a:t>
                      </a:r>
                      <a:endParaRPr lang="es-ES" sz="1600" b="1" dirty="0">
                        <a:solidFill>
                          <a:srgbClr val="C00000"/>
                        </a:solidFill>
                        <a:latin typeface="+mn-lt"/>
                        <a:ea typeface="Times New Roman"/>
                        <a:cs typeface="Times New Roman"/>
                      </a:endParaRPr>
                    </a:p>
                  </a:txBody>
                  <a:tcPr marL="44450" marR="44450" marT="0" marB="0" anchor="ctr"/>
                </a:tc>
                <a:tc>
                  <a:txBody>
                    <a:bodyPr/>
                    <a:lstStyle/>
                    <a:p>
                      <a:pPr algn="just" hangingPunct="0">
                        <a:spcAft>
                          <a:spcPts val="0"/>
                        </a:spcAft>
                      </a:pPr>
                      <a:r>
                        <a:rPr lang="es-ES_tradnl" sz="1600" dirty="0"/>
                        <a:t>Abarca en primer lugar, el </a:t>
                      </a:r>
                      <a:r>
                        <a:rPr lang="es-ES_tradnl" sz="1600" b="1" dirty="0"/>
                        <a:t>análisis</a:t>
                      </a:r>
                      <a:r>
                        <a:rPr lang="es-ES_tradnl" sz="1600" dirty="0"/>
                        <a:t> de puestos de trabajo y la planificación de la plantilla requerida. Una vez determinadas las necesidades de personal, el siguiente paso es </a:t>
                      </a:r>
                      <a:r>
                        <a:rPr lang="es-ES_tradnl" sz="1600" b="1" dirty="0"/>
                        <a:t>reclutar</a:t>
                      </a:r>
                      <a:r>
                        <a:rPr lang="es-ES_tradnl" sz="1600" dirty="0"/>
                        <a:t>, </a:t>
                      </a:r>
                      <a:r>
                        <a:rPr lang="es-ES_tradnl" sz="1600" b="1" dirty="0"/>
                        <a:t>seleccionar</a:t>
                      </a:r>
                      <a:r>
                        <a:rPr lang="es-ES_tradnl" sz="1600" dirty="0"/>
                        <a:t> y </a:t>
                      </a:r>
                      <a:r>
                        <a:rPr lang="es-ES_tradnl" sz="1600" b="1" dirty="0"/>
                        <a:t>orientar</a:t>
                      </a:r>
                      <a:r>
                        <a:rPr lang="es-ES_tradnl" sz="1600" dirty="0"/>
                        <a:t> al personal de nuevo ingreso de forma que se sienta identificado con la organización y con el puesto de trabajo a desempeñar.</a:t>
                      </a:r>
                      <a:endParaRPr lang="es-ES" sz="1600" dirty="0">
                        <a:latin typeface="+mn-lt"/>
                        <a:ea typeface="Times New Roman"/>
                        <a:cs typeface="Times New Roman"/>
                      </a:endParaRPr>
                    </a:p>
                  </a:txBody>
                  <a:tcPr marL="44450" marR="44450" marT="0" marB="0"/>
                </a:tc>
                <a:extLst>
                  <a:ext uri="{0D108BD9-81ED-4DB2-BD59-A6C34878D82A}">
                    <a16:rowId xmlns:a16="http://schemas.microsoft.com/office/drawing/2014/main" val="10001"/>
                  </a:ext>
                </a:extLst>
              </a:tr>
              <a:tr h="1505615">
                <a:tc>
                  <a:txBody>
                    <a:bodyPr/>
                    <a:lstStyle/>
                    <a:p>
                      <a:pPr algn="l" hangingPunct="0">
                        <a:spcAft>
                          <a:spcPts val="0"/>
                        </a:spcAft>
                      </a:pPr>
                      <a:r>
                        <a:rPr lang="es-ES_tradnl" sz="1600" b="1" dirty="0">
                          <a:solidFill>
                            <a:srgbClr val="C00000"/>
                          </a:solidFill>
                        </a:rPr>
                        <a:t>Conservación y desarrollo de los recursos humanos</a:t>
                      </a:r>
                      <a:endParaRPr lang="es-ES" sz="1600" b="1" dirty="0">
                        <a:solidFill>
                          <a:srgbClr val="C00000"/>
                        </a:solidFill>
                        <a:latin typeface="+mn-lt"/>
                        <a:ea typeface="Times New Roman"/>
                        <a:cs typeface="Times New Roman"/>
                      </a:endParaRPr>
                    </a:p>
                  </a:txBody>
                  <a:tcPr marL="44450" marR="44450" marT="0" marB="0" anchor="ctr"/>
                </a:tc>
                <a:tc>
                  <a:txBody>
                    <a:bodyPr/>
                    <a:lstStyle/>
                    <a:p>
                      <a:pPr algn="just" hangingPunct="0">
                        <a:spcAft>
                          <a:spcPts val="0"/>
                        </a:spcAft>
                      </a:pPr>
                      <a:r>
                        <a:rPr lang="es-ES_tradnl" sz="1600" dirty="0"/>
                        <a:t>Una vez el personal está involucrado, la adecuada gestión debe preparar los </a:t>
                      </a:r>
                      <a:r>
                        <a:rPr lang="es-ES_tradnl" sz="1600" b="1" dirty="0"/>
                        <a:t>planes formativos </a:t>
                      </a:r>
                      <a:r>
                        <a:rPr lang="es-ES_tradnl" sz="1600" dirty="0"/>
                        <a:t>y establecer planes de carreras o </a:t>
                      </a:r>
                      <a:r>
                        <a:rPr lang="es-ES_tradnl" sz="1600" b="1" dirty="0"/>
                        <a:t>promoción</a:t>
                      </a:r>
                      <a:r>
                        <a:rPr lang="es-ES_tradnl" sz="1600" dirty="0"/>
                        <a:t>. Esta fase se refiere también a la gestión rutinaria de los salarios, a los movimientos internos de personal y a la supervisión de los programas de seguridad, higiene y beneficios extrasalariales.</a:t>
                      </a:r>
                      <a:endParaRPr lang="es-ES" sz="1600" dirty="0">
                        <a:latin typeface="+mn-lt"/>
                        <a:ea typeface="Times New Roman"/>
                        <a:cs typeface="Times New Roman"/>
                      </a:endParaRPr>
                    </a:p>
                  </a:txBody>
                  <a:tcPr marL="44450" marR="44450" marT="0" marB="0"/>
                </a:tc>
                <a:extLst>
                  <a:ext uri="{0D108BD9-81ED-4DB2-BD59-A6C34878D82A}">
                    <a16:rowId xmlns:a16="http://schemas.microsoft.com/office/drawing/2014/main" val="10002"/>
                  </a:ext>
                </a:extLst>
              </a:tr>
              <a:tr h="1756551">
                <a:tc>
                  <a:txBody>
                    <a:bodyPr/>
                    <a:lstStyle/>
                    <a:p>
                      <a:pPr algn="l" hangingPunct="0">
                        <a:spcAft>
                          <a:spcPts val="0"/>
                        </a:spcAft>
                      </a:pPr>
                      <a:r>
                        <a:rPr lang="es-ES_tradnl" sz="1600" b="1" dirty="0">
                          <a:solidFill>
                            <a:srgbClr val="C00000"/>
                          </a:solidFill>
                        </a:rPr>
                        <a:t>Desempeño y compensación de los recursos humanos</a:t>
                      </a:r>
                      <a:endParaRPr lang="es-ES" sz="1600" b="1" dirty="0">
                        <a:solidFill>
                          <a:srgbClr val="C00000"/>
                        </a:solidFill>
                        <a:latin typeface="+mn-lt"/>
                        <a:ea typeface="Times New Roman"/>
                        <a:cs typeface="Times New Roman"/>
                      </a:endParaRPr>
                    </a:p>
                  </a:txBody>
                  <a:tcPr marL="44450" marR="44450" marT="0" marB="0" anchor="ctr"/>
                </a:tc>
                <a:tc>
                  <a:txBody>
                    <a:bodyPr/>
                    <a:lstStyle/>
                    <a:p>
                      <a:pPr algn="just" hangingPunct="0">
                        <a:spcAft>
                          <a:spcPts val="0"/>
                        </a:spcAft>
                      </a:pPr>
                      <a:r>
                        <a:rPr lang="es-ES_tradnl" sz="1600" dirty="0"/>
                        <a:t>En esta fase se trata de </a:t>
                      </a:r>
                      <a:r>
                        <a:rPr lang="es-ES_tradnl" sz="1600" b="1" dirty="0"/>
                        <a:t>evaluar el desempeño </a:t>
                      </a:r>
                      <a:r>
                        <a:rPr lang="es-ES_tradnl" sz="1600" dirty="0"/>
                        <a:t>del trabajo que realiza el personal y </a:t>
                      </a:r>
                      <a:r>
                        <a:rPr lang="es-ES_tradnl" sz="1600" b="0" dirty="0"/>
                        <a:t>de</a:t>
                      </a:r>
                      <a:r>
                        <a:rPr lang="es-ES_tradnl" sz="1600" b="1" dirty="0"/>
                        <a:t> retribuirlo adecuadamente</a:t>
                      </a:r>
                      <a:r>
                        <a:rPr lang="es-ES_tradnl" sz="1600" dirty="0"/>
                        <a:t>, tratando de conseguir la equidad interna (en cuanto a igual nivel de trabajo igual nivel salarial) y la equidad externa (tratando de que los salarios de la organización sean similares a los del mercado laboral).</a:t>
                      </a:r>
                      <a:endParaRPr lang="es-ES" sz="1600" dirty="0">
                        <a:latin typeface="+mn-lt"/>
                        <a:ea typeface="Times New Roman"/>
                        <a:cs typeface="Times New Roman"/>
                      </a:endParaRPr>
                    </a:p>
                  </a:txBody>
                  <a:tcPr marL="44450" marR="4445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r>
              <a:rPr lang="es-ES" dirty="0">
                <a:solidFill>
                  <a:schemeClr val="tx1"/>
                </a:solidFill>
              </a:rPr>
              <a:t>3.4.1. Reclutamiento</a:t>
            </a:r>
          </a:p>
        </p:txBody>
      </p:sp>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52</a:t>
            </a:fld>
            <a:endParaRPr lang="es-ES"/>
          </a:p>
        </p:txBody>
      </p:sp>
      <p:sp>
        <p:nvSpPr>
          <p:cNvPr id="4" name="Rectangle 3"/>
          <p:cNvSpPr txBox="1">
            <a:spLocks noChangeArrowheads="1"/>
          </p:cNvSpPr>
          <p:nvPr/>
        </p:nvSpPr>
        <p:spPr bwMode="auto">
          <a:xfrm>
            <a:off x="179512" y="1196752"/>
            <a:ext cx="8820472" cy="5292824"/>
          </a:xfrm>
          <a:prstGeom prst="rect">
            <a:avLst/>
          </a:prstGeom>
          <a:noFill/>
          <a:ln w="9525">
            <a:noFill/>
            <a:miter lim="800000"/>
            <a:headEnd/>
            <a:tailEnd/>
          </a:ln>
        </p:spPr>
        <p:txBody>
          <a:bodyPr vert="horz" wrap="square" lIns="91440" tIns="45720" rIns="91440" bIns="45720" numCol="2" anchor="t" anchorCtr="0" compatLnSpc="1">
            <a:prstTxWarp prst="textNoShape">
              <a:avLst/>
            </a:prstTxWarp>
            <a:noAutofit/>
          </a:bodyPr>
          <a:lstStyle/>
          <a:p>
            <a:pPr marL="171450" marR="0" lvl="0" indent="-171450" algn="just" defTabSz="914400" rtl="0" eaLnBrk="1" fontAlgn="base" latinLnBrk="0" hangingPunct="1">
              <a:lnSpc>
                <a:spcPct val="100000"/>
              </a:lnSpc>
              <a:spcBef>
                <a:spcPts val="1200"/>
              </a:spcBef>
              <a:spcAft>
                <a:spcPct val="0"/>
              </a:spcAft>
              <a:buClr>
                <a:srgbClr val="A50021"/>
              </a:buClr>
              <a:buSzTx/>
              <a:buFont typeface="Wingdings" pitchFamily="2" charset="2"/>
              <a:buChar char="q"/>
              <a:tabLst/>
              <a:defRPr/>
            </a:pPr>
            <a:r>
              <a:rPr kumimoji="0" lang="es-ES" sz="1800" b="0" i="0" u="none" strike="noStrike" kern="0" cap="none" spc="0" normalizeH="0" baseline="0" noProof="0" dirty="0">
                <a:ln>
                  <a:noFill/>
                </a:ln>
                <a:solidFill>
                  <a:srgbClr val="000000"/>
                </a:solidFill>
                <a:effectLst/>
                <a:uLnTx/>
                <a:uFillTx/>
                <a:latin typeface="+mn-lt"/>
                <a:ea typeface="+mn-ea"/>
                <a:cs typeface="+mn-cs"/>
              </a:rPr>
              <a:t> </a:t>
            </a:r>
            <a:r>
              <a:rPr kumimoji="0" lang="es-ES" sz="1800" b="1" i="0" u="sng" strike="noStrike" kern="0" cap="none" spc="0" normalizeH="0" baseline="0" noProof="0" dirty="0">
                <a:ln>
                  <a:noFill/>
                </a:ln>
                <a:solidFill>
                  <a:srgbClr val="C00000"/>
                </a:solidFill>
                <a:effectLst/>
                <a:uLnTx/>
                <a:uFillTx/>
                <a:latin typeface="+mn-lt"/>
                <a:ea typeface="+mn-ea"/>
                <a:cs typeface="+mn-cs"/>
              </a:rPr>
              <a:t>Objetivo</a:t>
            </a:r>
            <a:r>
              <a:rPr kumimoji="0" lang="es-ES" sz="1800" b="0" i="0" u="none" strike="noStrike" kern="0" cap="none" spc="0" normalizeH="0" baseline="0" noProof="0" dirty="0">
                <a:ln>
                  <a:noFill/>
                </a:ln>
                <a:solidFill>
                  <a:srgbClr val="000000"/>
                </a:solidFill>
                <a:effectLst/>
                <a:uLnTx/>
                <a:uFillTx/>
                <a:latin typeface="+mn-lt"/>
                <a:ea typeface="+mn-ea"/>
                <a:cs typeface="+mn-cs"/>
              </a:rPr>
              <a:t>: Reunir el mayor número posible de aspirantes idóneos para el puesto de trabajo a cubrir. </a:t>
            </a:r>
          </a:p>
          <a:p>
            <a:pPr marL="171450" marR="0" lvl="0" indent="-171450" algn="just" defTabSz="914400" rtl="0" eaLnBrk="1" fontAlgn="base" latinLnBrk="0" hangingPunct="1">
              <a:lnSpc>
                <a:spcPct val="100000"/>
              </a:lnSpc>
              <a:spcBef>
                <a:spcPts val="1200"/>
              </a:spcBef>
              <a:spcAft>
                <a:spcPct val="0"/>
              </a:spcAft>
              <a:buClr>
                <a:srgbClr val="A50021"/>
              </a:buClr>
              <a:buSzTx/>
              <a:buFont typeface="Wingdings" pitchFamily="2" charset="2"/>
              <a:buChar char="q"/>
              <a:tabLst/>
              <a:defRPr/>
            </a:pPr>
            <a:r>
              <a:rPr kumimoji="0" lang="es-ES" sz="1800" b="1" i="0" u="none" strike="noStrike" kern="0" cap="none" spc="0" normalizeH="0" baseline="0" noProof="0" dirty="0">
                <a:ln>
                  <a:noFill/>
                </a:ln>
                <a:solidFill>
                  <a:srgbClr val="000000"/>
                </a:solidFill>
                <a:effectLst/>
                <a:uLnTx/>
                <a:uFillTx/>
                <a:latin typeface="+mn-lt"/>
                <a:ea typeface="+mn-ea"/>
                <a:cs typeface="+mn-cs"/>
              </a:rPr>
              <a:t> Proceso mediante el cual una  organización trata de identificar los empleados potenciales que cumplan los requisitos adecuados para realizar un determinado trabajo y atraerlos en número suficiente para que sea posible una posterior selección en función de sus características y las del trabajo a desarrollar.</a:t>
            </a:r>
          </a:p>
          <a:p>
            <a:pPr marL="171450" lvl="0" indent="-171450" algn="just">
              <a:spcBef>
                <a:spcPts val="1200"/>
              </a:spcBef>
              <a:buClr>
                <a:srgbClr val="A50021"/>
              </a:buClr>
              <a:buFont typeface="Wingdings" pitchFamily="2" charset="2"/>
              <a:buChar char="q"/>
              <a:defRPr/>
            </a:pPr>
            <a:r>
              <a:rPr lang="es-ES" u="sng" kern="0" dirty="0">
                <a:solidFill>
                  <a:srgbClr val="000000"/>
                </a:solidFill>
                <a:latin typeface="Comic Sans MS"/>
              </a:rPr>
              <a:t> El reclutamiento precede a la selección y la condiciona</a:t>
            </a:r>
            <a:r>
              <a:rPr lang="es-ES" kern="0" dirty="0">
                <a:solidFill>
                  <a:srgbClr val="000000"/>
                </a:solidFill>
                <a:latin typeface="Comic Sans MS"/>
              </a:rPr>
              <a:t>, pues determina la cantidad y calidad de candidatos disponibles.</a:t>
            </a: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342900" marR="0" lvl="0" indent="-11113" algn="just" defTabSz="914400" rtl="0" eaLnBrk="1" fontAlgn="base" latinLnBrk="0" hangingPunct="1">
              <a:lnSpc>
                <a:spcPct val="100000"/>
              </a:lnSpc>
              <a:spcBef>
                <a:spcPct val="20000"/>
              </a:spcBef>
              <a:spcAft>
                <a:spcPct val="0"/>
              </a:spcAft>
              <a:buClrTx/>
              <a:buSzTx/>
              <a:buFontTx/>
              <a:buNone/>
              <a:tabLst/>
              <a:defRPr/>
            </a:pPr>
            <a:r>
              <a:rPr kumimoji="0" lang="es-ES" sz="2000" b="1" i="0" u="none" strike="noStrike" kern="0" cap="none" spc="0" normalizeH="0" baseline="0" noProof="0" dirty="0">
                <a:ln>
                  <a:noFill/>
                </a:ln>
                <a:solidFill>
                  <a:srgbClr val="C00000"/>
                </a:solidFill>
                <a:effectLst/>
                <a:uLnTx/>
                <a:uFillTx/>
                <a:latin typeface="+mn-lt"/>
                <a:ea typeface="+mn-ea"/>
                <a:cs typeface="+mn-cs"/>
              </a:rPr>
              <a:t>Fuentes de reclutamiento (según el origen del candidato):</a:t>
            </a:r>
          </a:p>
          <a:p>
            <a:pPr marL="342900" marR="0" lvl="0" indent="-11113" algn="just" defTabSz="914400" rtl="0" eaLnBrk="1" fontAlgn="base" latinLnBrk="0" hangingPunct="1">
              <a:lnSpc>
                <a:spcPct val="100000"/>
              </a:lnSpc>
              <a:spcBef>
                <a:spcPct val="20000"/>
              </a:spcBef>
              <a:spcAft>
                <a:spcPct val="0"/>
              </a:spcAft>
              <a:buClr>
                <a:srgbClr val="A50021"/>
              </a:buClr>
              <a:buSzTx/>
              <a:buFont typeface="Wingdings" pitchFamily="2" charset="2"/>
              <a:buChar char="q"/>
              <a:tabLst>
                <a:tab pos="0" algn="l"/>
              </a:tabLst>
              <a:defRPr/>
            </a:pPr>
            <a:r>
              <a:rPr kumimoji="0" lang="es-ES" sz="1800" b="0" i="0" u="sng" strike="noStrike" kern="0" cap="none" spc="0" normalizeH="0" baseline="0" noProof="0" dirty="0">
                <a:ln>
                  <a:noFill/>
                </a:ln>
                <a:solidFill>
                  <a:srgbClr val="000000"/>
                </a:solidFill>
                <a:effectLst/>
                <a:uLnTx/>
                <a:uFillTx/>
                <a:latin typeface="+mn-lt"/>
                <a:ea typeface="+mn-ea"/>
                <a:cs typeface="+mn-cs"/>
              </a:rPr>
              <a:t> </a:t>
            </a:r>
            <a:r>
              <a:rPr kumimoji="0" lang="es-ES" sz="1800" b="1" i="0" u="sng" strike="noStrike" kern="0" cap="none" spc="0" normalizeH="0" baseline="0" noProof="0" dirty="0">
                <a:ln>
                  <a:noFill/>
                </a:ln>
                <a:solidFill>
                  <a:schemeClr val="tx1"/>
                </a:solidFill>
                <a:effectLst/>
                <a:uLnTx/>
                <a:uFillTx/>
                <a:latin typeface="+mn-lt"/>
                <a:ea typeface="+mn-ea"/>
                <a:cs typeface="+mn-cs"/>
              </a:rPr>
              <a:t>Internas</a:t>
            </a:r>
          </a:p>
          <a:p>
            <a:pPr marL="627063" marR="0" lvl="1" indent="-274638"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Comunicados</a:t>
            </a:r>
            <a:r>
              <a:rPr kumimoji="0" lang="es-ES" sz="1800" b="0" i="0" u="none" strike="noStrike" kern="0" cap="none" spc="0" normalizeH="0" noProof="0" dirty="0">
                <a:ln>
                  <a:noFill/>
                </a:ln>
                <a:solidFill>
                  <a:srgbClr val="000000"/>
                </a:solidFill>
                <a:effectLst/>
                <a:uLnTx/>
                <a:uFillTx/>
                <a:latin typeface="+mn-lt"/>
              </a:rPr>
              <a:t> internos</a:t>
            </a:r>
            <a:endParaRPr kumimoji="0" lang="es-ES" sz="1800" b="0" i="0" u="none" strike="noStrike" kern="0" cap="none" spc="0" normalizeH="0" baseline="0" noProof="0" dirty="0">
              <a:ln>
                <a:noFill/>
              </a:ln>
              <a:solidFill>
                <a:srgbClr val="000000"/>
              </a:solidFill>
              <a:effectLst/>
              <a:uLnTx/>
              <a:uFillTx/>
              <a:latin typeface="+mn-lt"/>
            </a:endParaRPr>
          </a:p>
          <a:p>
            <a:pPr marL="357188" marR="0" lvl="1" indent="-4763"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 Notificación a los supervisores.</a:t>
            </a:r>
          </a:p>
          <a:p>
            <a:pPr marL="627063" marR="0" lvl="1" indent="-274638"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lang="es-ES" kern="0">
                <a:solidFill>
                  <a:srgbClr val="000000"/>
                </a:solidFill>
                <a:latin typeface="+mn-lt"/>
              </a:rPr>
              <a:t>Página web</a:t>
            </a:r>
            <a:r>
              <a:rPr kumimoji="0" lang="es-ES" sz="1800" b="0" i="0" u="none" strike="noStrike" kern="0" cap="none" spc="0" normalizeH="0" baseline="0" noProof="0">
                <a:ln>
                  <a:noFill/>
                </a:ln>
                <a:solidFill>
                  <a:srgbClr val="000000"/>
                </a:solidFill>
                <a:effectLst/>
                <a:uLnTx/>
                <a:uFillTx/>
                <a:latin typeface="+mn-lt"/>
              </a:rPr>
              <a:t>. </a:t>
            </a:r>
            <a:endParaRPr kumimoji="0" lang="es-ES" sz="1800" b="0" i="0" u="none" strike="noStrike" kern="0" cap="none" spc="0" normalizeH="0" baseline="0" noProof="0" dirty="0">
              <a:ln>
                <a:noFill/>
              </a:ln>
              <a:solidFill>
                <a:srgbClr val="000000"/>
              </a:solidFill>
              <a:effectLst/>
              <a:uLnTx/>
              <a:uFillTx/>
              <a:latin typeface="+mn-lt"/>
            </a:endParaRPr>
          </a:p>
          <a:p>
            <a:pPr marL="342900" marR="0" lvl="0" indent="-98425" algn="just" defTabSz="914400" rtl="0" eaLnBrk="1" fontAlgn="base" latinLnBrk="0" hangingPunct="1">
              <a:lnSpc>
                <a:spcPct val="100000"/>
              </a:lnSpc>
              <a:spcBef>
                <a:spcPct val="20000"/>
              </a:spcBef>
              <a:spcAft>
                <a:spcPct val="0"/>
              </a:spcAft>
              <a:buClr>
                <a:srgbClr val="A50021"/>
              </a:buClr>
              <a:buSzTx/>
              <a:buFont typeface="Wingdings" pitchFamily="2" charset="2"/>
              <a:buChar char="q"/>
              <a:tabLst/>
              <a:defRPr/>
            </a:pPr>
            <a:r>
              <a:rPr kumimoji="0" lang="es-ES" sz="1800" b="1" i="0" u="none" strike="noStrike" kern="0" cap="none" spc="0" normalizeH="0" baseline="0" noProof="0" dirty="0">
                <a:ln>
                  <a:noFill/>
                </a:ln>
                <a:solidFill>
                  <a:schemeClr val="tx1"/>
                </a:solidFill>
                <a:effectLst/>
                <a:uLnTx/>
                <a:uFillTx/>
                <a:latin typeface="+mn-lt"/>
                <a:ea typeface="+mn-ea"/>
                <a:cs typeface="+mn-cs"/>
              </a:rPr>
              <a:t> </a:t>
            </a:r>
            <a:r>
              <a:rPr kumimoji="0" lang="es-ES" sz="1800" b="1" i="0" u="sng" strike="noStrike" kern="0" cap="none" spc="0" normalizeH="0" baseline="0" noProof="0" dirty="0">
                <a:ln>
                  <a:noFill/>
                </a:ln>
                <a:solidFill>
                  <a:schemeClr val="tx1"/>
                </a:solidFill>
                <a:effectLst/>
                <a:uLnTx/>
                <a:uFillTx/>
                <a:latin typeface="+mn-lt"/>
                <a:ea typeface="+mn-ea"/>
                <a:cs typeface="+mn-cs"/>
              </a:rPr>
              <a:t>Externas</a:t>
            </a:r>
          </a:p>
          <a:p>
            <a:pPr marL="627063" marR="0" lvl="1" indent="-285750"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Candidatos propuestos por los propios empleados.</a:t>
            </a:r>
          </a:p>
          <a:p>
            <a:pPr marL="627063" marR="0" lvl="1" indent="-285750"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Anuncios en medios.</a:t>
            </a:r>
          </a:p>
          <a:p>
            <a:pPr marL="627063" marR="0" lvl="1" indent="-285750"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Agencias privadas de colocación.</a:t>
            </a:r>
          </a:p>
          <a:p>
            <a:pPr marL="627063" marR="0" lvl="1" indent="-285750"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Agencias públicas de empleo.</a:t>
            </a:r>
          </a:p>
          <a:p>
            <a:pPr marL="627063" marR="0" lvl="1" indent="-285750"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Instituciones docentes.</a:t>
            </a:r>
          </a:p>
          <a:p>
            <a:pPr marL="627063" marR="0" lvl="1" indent="-285750" algn="just" defTabSz="914400" rtl="0" eaLnBrk="1" fontAlgn="base" latinLnBrk="0" hangingPunct="1">
              <a:lnSpc>
                <a:spcPct val="100000"/>
              </a:lnSpc>
              <a:spcBef>
                <a:spcPct val="20000"/>
              </a:spcBef>
              <a:spcAft>
                <a:spcPct val="0"/>
              </a:spcAft>
              <a:buClr>
                <a:srgbClr val="A50021"/>
              </a:buClr>
              <a:buSzTx/>
              <a:buFont typeface="Wingdings" pitchFamily="2" charset="2"/>
              <a:buChar char="ü"/>
              <a:tabLst/>
              <a:defRPr/>
            </a:pPr>
            <a:r>
              <a:rPr kumimoji="0" lang="es-ES" sz="1800" b="0" i="0" u="none" strike="noStrike" kern="0" cap="none" spc="0" normalizeH="0" baseline="0" noProof="0" dirty="0">
                <a:ln>
                  <a:noFill/>
                </a:ln>
                <a:solidFill>
                  <a:srgbClr val="000000"/>
                </a:solidFill>
                <a:effectLst/>
                <a:uLnTx/>
                <a:uFillTx/>
                <a:latin typeface="+mn-lt"/>
              </a:rPr>
              <a:t>Internet.</a:t>
            </a:r>
          </a:p>
          <a:p>
            <a:pPr marL="548322" marR="0" lvl="0" indent="-27432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1800" b="0" i="0" u="none" strike="noStrike" kern="0" cap="none" spc="0" normalizeH="0" baseline="0" noProof="0" dirty="0">
              <a:ln>
                <a:noFill/>
              </a:ln>
              <a:solidFill>
                <a:srgbClr val="000000"/>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359024" y="1196752"/>
            <a:ext cx="8461448" cy="54452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marR="0" lvl="0" indent="-342900" algn="just" defTabSz="914400" rtl="0" eaLnBrk="1" fontAlgn="auto" latinLnBrk="0" hangingPunct="1">
              <a:lnSpc>
                <a:spcPct val="125000"/>
              </a:lnSpc>
              <a:spcBef>
                <a:spcPts val="0"/>
              </a:spcBef>
              <a:spcAft>
                <a:spcPts val="0"/>
              </a:spcAft>
              <a:buClr>
                <a:srgbClr val="A50021"/>
              </a:buClr>
              <a:buSzPct val="100000"/>
              <a:buFont typeface="Wingdings" pitchFamily="2" charset="2"/>
              <a:buChar char="q"/>
              <a:tabLst/>
              <a:defRPr/>
            </a:pPr>
            <a:r>
              <a:rPr kumimoji="0" lang="es-ES" sz="1900" b="1" i="0" u="none" strike="noStrike" kern="0" cap="none" spc="0" normalizeH="0" baseline="0" noProof="0" dirty="0">
                <a:ln>
                  <a:noFill/>
                </a:ln>
                <a:solidFill>
                  <a:schemeClr val="tx1"/>
                </a:solidFill>
                <a:effectLst/>
                <a:uLnTx/>
                <a:uFillTx/>
                <a:latin typeface="+mn-lt"/>
                <a:ea typeface="+mn-ea"/>
                <a:cs typeface="+mn-cs"/>
              </a:rPr>
              <a:t>Conjunto de técnicas que permiten encontrar a las personas más adecuadas para desempeñar determinados puestos </a:t>
            </a:r>
            <a:r>
              <a:rPr kumimoji="0" lang="es-ES" sz="1900" b="1"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a:t>
            </a:r>
            <a:r>
              <a:rPr kumimoji="0" lang="es-ES" sz="1900" b="0" i="0" u="none" strike="noStrike" kern="0" cap="none" spc="0" normalizeH="0" baseline="0" noProof="0" dirty="0">
                <a:ln>
                  <a:noFill/>
                </a:ln>
                <a:solidFill>
                  <a:schemeClr val="tx1"/>
                </a:solidFill>
                <a:effectLst/>
                <a:uLnTx/>
                <a:uFillTx/>
                <a:latin typeface="+mn-lt"/>
                <a:ea typeface="+mn-ea"/>
                <a:cs typeface="+mn-cs"/>
              </a:rPr>
              <a:t>proceso fundamentalmente de predicción. </a:t>
            </a:r>
          </a:p>
          <a:p>
            <a:pPr marL="342900" marR="0" lvl="0" indent="-342900" algn="just" defTabSz="914400" rtl="0" eaLnBrk="1" fontAlgn="auto" latinLnBrk="0" hangingPunct="1">
              <a:lnSpc>
                <a:spcPct val="125000"/>
              </a:lnSpc>
              <a:spcBef>
                <a:spcPts val="0"/>
              </a:spcBef>
              <a:spcAft>
                <a:spcPts val="0"/>
              </a:spcAft>
              <a:buClr>
                <a:srgbClr val="A50021"/>
              </a:buClr>
              <a:buSzPct val="100000"/>
              <a:buFont typeface="Wingdings" pitchFamily="2" charset="2"/>
              <a:buChar char="q"/>
              <a:tabLst/>
              <a:defRPr/>
            </a:pPr>
            <a:r>
              <a:rPr kumimoji="0" lang="es-ES" sz="1900" b="1" i="0" u="none" strike="noStrike" kern="0" cap="none" spc="0" normalizeH="0" baseline="0" noProof="0" dirty="0">
                <a:ln>
                  <a:noFill/>
                </a:ln>
                <a:solidFill>
                  <a:srgbClr val="C00000"/>
                </a:solidFill>
                <a:effectLst/>
                <a:uLnTx/>
                <a:uFillTx/>
                <a:latin typeface="+mn-lt"/>
                <a:ea typeface="+mn-ea"/>
                <a:cs typeface="+mn-cs"/>
              </a:rPr>
              <a:t>Técnicas</a:t>
            </a:r>
            <a:r>
              <a:rPr kumimoji="0" lang="es-ES" sz="1900" b="0" i="0" u="none" strike="noStrike" kern="0" cap="none" spc="0" normalizeH="0" baseline="0" noProof="0" dirty="0">
                <a:ln>
                  <a:noFill/>
                </a:ln>
                <a:solidFill>
                  <a:schemeClr val="tx1"/>
                </a:solidFill>
                <a:effectLst/>
                <a:uLnTx/>
                <a:uFillTx/>
                <a:latin typeface="+mn-lt"/>
                <a:ea typeface="+mn-ea"/>
                <a:cs typeface="+mn-cs"/>
              </a:rPr>
              <a:t>:</a:t>
            </a:r>
          </a:p>
          <a:p>
            <a:pPr marL="547687" marR="0" lvl="2" indent="-228600" algn="just" defTabSz="914400" rtl="0" eaLnBrk="1" fontAlgn="auto" latinLnBrk="0" hangingPunct="1">
              <a:lnSpc>
                <a:spcPct val="125000"/>
              </a:lnSpc>
              <a:spcBef>
                <a:spcPts val="0"/>
              </a:spcBef>
              <a:spcAft>
                <a:spcPts val="0"/>
              </a:spcAft>
              <a:buClr>
                <a:srgbClr val="A50021"/>
              </a:buClr>
              <a:buSzPct val="100000"/>
              <a:buFont typeface="Wingdings" pitchFamily="2" charset="2"/>
              <a:buChar char="ü"/>
              <a:tabLst/>
              <a:defRPr/>
            </a:pPr>
            <a:r>
              <a:rPr kumimoji="0" lang="es-ES" sz="1900" b="0" u="sng" strike="noStrike" kern="0" cap="none" spc="0" normalizeH="0" baseline="0" noProof="0" dirty="0">
                <a:ln>
                  <a:noFill/>
                </a:ln>
                <a:solidFill>
                  <a:schemeClr val="tx1"/>
                </a:solidFill>
                <a:effectLst/>
                <a:uLnTx/>
                <a:uFillTx/>
                <a:latin typeface="+mn-lt"/>
              </a:rPr>
              <a:t>Solicitud del empleado</a:t>
            </a:r>
            <a:r>
              <a:rPr lang="es-ES" sz="1900" kern="0" dirty="0">
                <a:latin typeface="+mn-lt"/>
              </a:rPr>
              <a:t>:</a:t>
            </a:r>
            <a:r>
              <a:rPr kumimoji="0" lang="es-ES" sz="1900" b="0" i="0" u="none" strike="noStrike" kern="0" cap="none" spc="0" normalizeH="0" baseline="0" noProof="0" dirty="0">
                <a:ln>
                  <a:noFill/>
                </a:ln>
                <a:solidFill>
                  <a:schemeClr val="tx1"/>
                </a:solidFill>
                <a:effectLst/>
                <a:uLnTx/>
                <a:uFillTx/>
                <a:latin typeface="+mn-lt"/>
              </a:rPr>
              <a:t> antes de ser convocados, proporcionan información de carácter personal en el impreso de solicitud.</a:t>
            </a:r>
          </a:p>
          <a:p>
            <a:pPr marL="547687" marR="0" lvl="2" indent="-228600" algn="just" defTabSz="914400" rtl="0" eaLnBrk="1" fontAlgn="auto" latinLnBrk="0" hangingPunct="1">
              <a:lnSpc>
                <a:spcPct val="125000"/>
              </a:lnSpc>
              <a:spcBef>
                <a:spcPts val="0"/>
              </a:spcBef>
              <a:spcAft>
                <a:spcPts val="0"/>
              </a:spcAft>
              <a:buClr>
                <a:srgbClr val="A50021"/>
              </a:buClr>
              <a:buSzPct val="100000"/>
              <a:buFont typeface="Wingdings" pitchFamily="2" charset="2"/>
              <a:buChar char="ü"/>
              <a:tabLst/>
              <a:defRPr/>
            </a:pPr>
            <a:r>
              <a:rPr lang="es-ES" sz="1900" u="sng" kern="0" dirty="0">
                <a:latin typeface="+mn-lt"/>
              </a:rPr>
              <a:t>Entrevistas de empleo</a:t>
            </a:r>
            <a:r>
              <a:rPr lang="es-ES" sz="1900" kern="0" dirty="0">
                <a:latin typeface="+mn-lt"/>
              </a:rPr>
              <a:t>:</a:t>
            </a:r>
            <a:r>
              <a:rPr kumimoji="0" lang="es-ES" sz="1900" b="0" i="0" u="none" strike="noStrike" kern="0" cap="none" spc="0" normalizeH="0" baseline="0" noProof="0" dirty="0">
                <a:ln>
                  <a:noFill/>
                </a:ln>
                <a:solidFill>
                  <a:schemeClr val="tx1"/>
                </a:solidFill>
                <a:effectLst/>
                <a:uLnTx/>
                <a:uFillTx/>
                <a:latin typeface="+mn-lt"/>
              </a:rPr>
              <a:t> ampliar la información de la solicitud.</a:t>
            </a:r>
          </a:p>
          <a:p>
            <a:pPr marL="547687" marR="0" lvl="2" indent="-228600" algn="just" defTabSz="914400" rtl="0" eaLnBrk="1" fontAlgn="auto" latinLnBrk="0" hangingPunct="1">
              <a:lnSpc>
                <a:spcPct val="125000"/>
              </a:lnSpc>
              <a:spcBef>
                <a:spcPts val="0"/>
              </a:spcBef>
              <a:spcAft>
                <a:spcPts val="0"/>
              </a:spcAft>
              <a:buClr>
                <a:srgbClr val="A50021"/>
              </a:buClr>
              <a:buSzPct val="100000"/>
              <a:buFont typeface="Wingdings" pitchFamily="2" charset="2"/>
              <a:buChar char="ü"/>
              <a:tabLst/>
              <a:defRPr/>
            </a:pPr>
            <a:r>
              <a:rPr lang="es-ES" sz="1900" u="sng" kern="0" dirty="0">
                <a:latin typeface="+mn-lt"/>
              </a:rPr>
              <a:t>Pruebas de admisión (exámenes)</a:t>
            </a:r>
            <a:r>
              <a:rPr lang="es-ES" sz="1900" kern="0" dirty="0">
                <a:latin typeface="+mn-lt"/>
              </a:rPr>
              <a:t>: </a:t>
            </a:r>
            <a:r>
              <a:rPr kumimoji="0" lang="es-ES" sz="1900" b="0" i="0" u="none" strike="noStrike" kern="0" cap="none" spc="0" normalizeH="0" baseline="0" noProof="0" dirty="0">
                <a:ln>
                  <a:noFill/>
                </a:ln>
                <a:solidFill>
                  <a:schemeClr val="tx1"/>
                </a:solidFill>
                <a:effectLst/>
                <a:uLnTx/>
                <a:uFillTx/>
                <a:latin typeface="+mn-lt"/>
              </a:rPr>
              <a:t>prueba objetiva que determina lo que es capaz de hacer pero no lo que hará, no permite evaluar todos los aspectos de una persona. Debe ser fiable y válida.</a:t>
            </a:r>
          </a:p>
          <a:p>
            <a:pPr marL="547687" marR="0" lvl="2" indent="-228600" algn="just" defTabSz="914400" rtl="0" eaLnBrk="1" fontAlgn="auto" latinLnBrk="0" hangingPunct="1">
              <a:lnSpc>
                <a:spcPct val="125000"/>
              </a:lnSpc>
              <a:spcBef>
                <a:spcPts val="0"/>
              </a:spcBef>
              <a:spcAft>
                <a:spcPts val="0"/>
              </a:spcAft>
              <a:buClr>
                <a:srgbClr val="A50021"/>
              </a:buClr>
              <a:buSzPct val="100000"/>
              <a:buFont typeface="Wingdings" pitchFamily="2" charset="2"/>
              <a:buChar char="ü"/>
              <a:tabLst/>
              <a:defRPr/>
            </a:pPr>
            <a:r>
              <a:rPr lang="es-ES" sz="1900" u="sng" kern="0" dirty="0">
                <a:latin typeface="+mn-lt"/>
              </a:rPr>
              <a:t>Comprobación de referencias.</a:t>
            </a:r>
          </a:p>
          <a:p>
            <a:pPr marL="342900" marR="0" lvl="0" indent="-342900" algn="just" defTabSz="914400" rtl="0" eaLnBrk="1" fontAlgn="base" latinLnBrk="0" hangingPunct="1">
              <a:lnSpc>
                <a:spcPct val="125000"/>
              </a:lnSpc>
              <a:spcBef>
                <a:spcPts val="0"/>
              </a:spcBef>
              <a:spcAft>
                <a:spcPts val="0"/>
              </a:spcAft>
              <a:buClr>
                <a:srgbClr val="A50021"/>
              </a:buClr>
              <a:buSzPct val="100000"/>
              <a:buFont typeface="Wingdings" pitchFamily="2" charset="2"/>
              <a:buChar char="q"/>
              <a:tabLst/>
              <a:defRPr/>
            </a:pPr>
            <a:r>
              <a:rPr kumimoji="0" lang="es-ES" sz="1900" b="1" i="0" u="none" strike="noStrike" kern="0" cap="none" spc="0" normalizeH="0" baseline="0" noProof="0" dirty="0">
                <a:ln>
                  <a:noFill/>
                </a:ln>
                <a:solidFill>
                  <a:schemeClr val="tx1"/>
                </a:solidFill>
                <a:effectLst/>
                <a:uLnTx/>
                <a:uFillTx/>
                <a:latin typeface="+mn-lt"/>
                <a:ea typeface="+mn-ea"/>
                <a:cs typeface="+mn-cs"/>
              </a:rPr>
              <a:t>Asignación de puestos: </a:t>
            </a:r>
            <a:r>
              <a:rPr kumimoji="0" lang="es-ES" sz="1900" b="0" i="0" u="none" strike="noStrike" kern="0" cap="none" spc="0" normalizeH="0" baseline="0" noProof="0" dirty="0">
                <a:ln>
                  <a:noFill/>
                </a:ln>
                <a:solidFill>
                  <a:schemeClr val="tx1"/>
                </a:solidFill>
                <a:effectLst/>
                <a:uLnTx/>
                <a:uFillTx/>
                <a:latin typeface="+mn-lt"/>
                <a:ea typeface="+mn-ea"/>
                <a:cs typeface="+mn-cs"/>
              </a:rPr>
              <a:t>Una vez seleccionados los candidatos adecuados, estos deben ser asignados a los puestos para los que fueron contratados.</a:t>
            </a:r>
          </a:p>
        </p:txBody>
      </p:sp>
      <p:sp>
        <p:nvSpPr>
          <p:cNvPr id="5" name="4 Título"/>
          <p:cNvSpPr>
            <a:spLocks noGrp="1"/>
          </p:cNvSpPr>
          <p:nvPr>
            <p:ph type="title"/>
          </p:nvPr>
        </p:nvSpPr>
        <p:spPr/>
        <p:txBody>
          <a:bodyPr/>
          <a:lstStyle/>
          <a:p>
            <a:pPr algn="l"/>
            <a:r>
              <a:rPr lang="es-ES" dirty="0">
                <a:solidFill>
                  <a:schemeClr val="tx1"/>
                </a:solidFill>
              </a:rPr>
              <a:t>3.4.2. Selección y asignación de puestos</a:t>
            </a:r>
          </a:p>
        </p:txBody>
      </p:sp>
      <p:sp>
        <p:nvSpPr>
          <p:cNvPr id="6" name="5 Marcador de número de diapositiva"/>
          <p:cNvSpPr>
            <a:spLocks noGrp="1"/>
          </p:cNvSpPr>
          <p:nvPr>
            <p:ph type="sldNum" sz="quarter" idx="4"/>
          </p:nvPr>
        </p:nvSpPr>
        <p:spPr/>
        <p:txBody>
          <a:bodyPr/>
          <a:lstStyle/>
          <a:p>
            <a:pPr>
              <a:defRPr/>
            </a:pPr>
            <a:fld id="{031E6992-B48E-4E13-A9CD-F20B6AAC6FC2}" type="slidenum">
              <a:rPr lang="es-ES" smtClean="0"/>
              <a:pPr>
                <a:defRPr/>
              </a:pPr>
              <a:t>53</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pPr algn="l"/>
            <a:r>
              <a:rPr lang="es-ES" dirty="0">
                <a:solidFill>
                  <a:schemeClr val="tx1"/>
                </a:solidFill>
              </a:rPr>
              <a:t>3.4.3. Capacitación y desarrollo</a:t>
            </a:r>
          </a:p>
        </p:txBody>
      </p:sp>
      <p:sp>
        <p:nvSpPr>
          <p:cNvPr id="6" name="Rectangle 3"/>
          <p:cNvSpPr txBox="1">
            <a:spLocks noChangeArrowheads="1"/>
          </p:cNvSpPr>
          <p:nvPr/>
        </p:nvSpPr>
        <p:spPr bwMode="auto">
          <a:xfrm>
            <a:off x="179512" y="1052736"/>
            <a:ext cx="8784976" cy="20162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1" indent="-285750" algn="just" defTabSz="914400" rtl="0" eaLnBrk="1" fontAlgn="base" latinLnBrk="0" hangingPunct="1">
              <a:lnSpc>
                <a:spcPct val="90000"/>
              </a:lnSpc>
              <a:spcBef>
                <a:spcPct val="20000"/>
              </a:spcBef>
              <a:spcAft>
                <a:spcPct val="0"/>
              </a:spcAft>
              <a:buClr>
                <a:srgbClr val="A50021"/>
              </a:buClr>
              <a:buSzTx/>
              <a:buFont typeface="Wingdings" pitchFamily="2" charset="2"/>
              <a:buChar char="q"/>
              <a:tabLst/>
              <a:defRPr/>
            </a:pPr>
            <a:r>
              <a:rPr kumimoji="0" lang="es-ES" sz="2000" b="1" i="0" u="none" strike="noStrike" kern="0" cap="none" spc="0" normalizeH="0" baseline="0" noProof="0" dirty="0">
                <a:ln>
                  <a:noFill/>
                </a:ln>
                <a:solidFill>
                  <a:schemeClr val="tx1"/>
                </a:solidFill>
                <a:effectLst/>
                <a:uLnTx/>
                <a:uFillTx/>
                <a:latin typeface="+mn-lt"/>
              </a:rPr>
              <a:t>Procesos continuos de formación que permiten lograr niveles elevados de rendimiento desde el primer día de trabajo.</a:t>
            </a:r>
          </a:p>
          <a:p>
            <a:pPr marL="730250" lvl="2" indent="-285750" algn="just">
              <a:lnSpc>
                <a:spcPct val="90000"/>
              </a:lnSpc>
              <a:spcBef>
                <a:spcPct val="20000"/>
              </a:spcBef>
              <a:buClr>
                <a:srgbClr val="A50021"/>
              </a:buClr>
              <a:buFont typeface="Wingdings" pitchFamily="2" charset="2"/>
              <a:buChar char="ü"/>
            </a:pPr>
            <a:r>
              <a:rPr lang="es-ES" sz="2000" u="sng" kern="0" dirty="0">
                <a:latin typeface="+mn-lt"/>
              </a:rPr>
              <a:t>Capacitación</a:t>
            </a:r>
            <a:r>
              <a:rPr lang="es-ES" sz="2000" kern="0" dirty="0">
                <a:latin typeface="+mn-lt"/>
              </a:rPr>
              <a:t>: se asocia a acciones formativas de trabajadores de nivel operativo.</a:t>
            </a:r>
          </a:p>
          <a:p>
            <a:pPr marL="730250" lvl="2" indent="-285750" algn="just">
              <a:lnSpc>
                <a:spcPct val="90000"/>
              </a:lnSpc>
              <a:spcBef>
                <a:spcPct val="20000"/>
              </a:spcBef>
              <a:buClr>
                <a:srgbClr val="A50021"/>
              </a:buClr>
              <a:buFont typeface="Wingdings" pitchFamily="2" charset="2"/>
              <a:buChar char="ü"/>
            </a:pPr>
            <a:r>
              <a:rPr kumimoji="0" lang="es-ES" sz="2000" i="0" u="sng" strike="noStrike" kern="0" cap="none" spc="0" normalizeH="0" baseline="0" noProof="0" dirty="0">
                <a:ln>
                  <a:noFill/>
                </a:ln>
                <a:solidFill>
                  <a:schemeClr val="tx1"/>
                </a:solidFill>
                <a:effectLst/>
                <a:uLnTx/>
                <a:uFillTx/>
                <a:latin typeface="+mn-lt"/>
              </a:rPr>
              <a:t>Desarrollo</a:t>
            </a:r>
            <a:r>
              <a:rPr kumimoji="0" lang="es-ES" sz="2000" i="0" u="none" strike="noStrike" kern="0" cap="none" spc="0" normalizeH="0" baseline="0" noProof="0" dirty="0">
                <a:ln>
                  <a:noFill/>
                </a:ln>
                <a:solidFill>
                  <a:schemeClr val="tx1"/>
                </a:solidFill>
                <a:effectLst/>
                <a:uLnTx/>
                <a:uFillTx/>
                <a:latin typeface="+mn-lt"/>
              </a:rPr>
              <a:t>:</a:t>
            </a:r>
            <a:r>
              <a:rPr kumimoji="0" lang="es-ES" sz="2000" i="0" u="none" strike="noStrike" kern="0" cap="none" spc="0" normalizeH="0" noProof="0" dirty="0">
                <a:ln>
                  <a:noFill/>
                </a:ln>
                <a:solidFill>
                  <a:schemeClr val="tx1"/>
                </a:solidFill>
                <a:effectLst/>
                <a:uLnTx/>
                <a:uFillTx/>
                <a:latin typeface="+mn-lt"/>
              </a:rPr>
              <a:t> se asocia al personal de gerencia.</a:t>
            </a:r>
            <a:endParaRPr kumimoji="0" lang="es-ES" sz="2000" b="1" i="0" u="none" strike="noStrike" kern="0" cap="none" spc="0" normalizeH="0" baseline="0" noProof="0" dirty="0">
              <a:ln>
                <a:noFill/>
              </a:ln>
              <a:solidFill>
                <a:schemeClr val="tx1"/>
              </a:solidFill>
              <a:effectLst/>
              <a:uLnTx/>
              <a:uFillTx/>
              <a:latin typeface="+mn-lt"/>
            </a:endParaRPr>
          </a:p>
          <a:p>
            <a:pPr marL="273050" marR="0" lvl="1" indent="-285750" algn="just" defTabSz="914400" rtl="0" eaLnBrk="1" fontAlgn="base" latinLnBrk="0" hangingPunct="1">
              <a:lnSpc>
                <a:spcPct val="90000"/>
              </a:lnSpc>
              <a:spcBef>
                <a:spcPct val="20000"/>
              </a:spcBef>
              <a:spcAft>
                <a:spcPct val="0"/>
              </a:spcAft>
              <a:buClr>
                <a:srgbClr val="A50021"/>
              </a:buClr>
              <a:buSzTx/>
              <a:buFont typeface="Wingdings" pitchFamily="2" charset="2"/>
              <a:buChar char="q"/>
              <a:tabLst/>
              <a:defRPr/>
            </a:pPr>
            <a:r>
              <a:rPr kumimoji="0" lang="es-ES" sz="2000" b="0" i="0" u="none" strike="noStrike" kern="0" cap="none" spc="0" normalizeH="0" baseline="0" noProof="0" dirty="0">
                <a:ln>
                  <a:noFill/>
                </a:ln>
                <a:solidFill>
                  <a:schemeClr val="tx1"/>
                </a:solidFill>
                <a:effectLst/>
                <a:uLnTx/>
                <a:uFillTx/>
                <a:latin typeface="+mn-lt"/>
              </a:rPr>
              <a:t>Dos momentos en la actuación:</a:t>
            </a:r>
          </a:p>
          <a:p>
            <a:pPr marL="273050" marR="0" lvl="1" indent="-285750" algn="just" defTabSz="914400" rtl="0" eaLnBrk="1" fontAlgn="base" latinLnBrk="0" hangingPunct="1">
              <a:lnSpc>
                <a:spcPct val="90000"/>
              </a:lnSpc>
              <a:spcBef>
                <a:spcPct val="20000"/>
              </a:spcBef>
              <a:spcAft>
                <a:spcPct val="0"/>
              </a:spcAft>
              <a:buClr>
                <a:srgbClr val="A50021"/>
              </a:buClr>
              <a:buSzTx/>
              <a:buFontTx/>
              <a:buNone/>
              <a:tabLst/>
              <a:defRPr/>
            </a:pPr>
            <a:endParaRPr kumimoji="0" lang="es-ES" sz="2000" b="0" i="0" u="none" strike="noStrike" kern="0" cap="none" spc="0" normalizeH="0" baseline="0" noProof="0" dirty="0">
              <a:ln>
                <a:noFill/>
              </a:ln>
              <a:solidFill>
                <a:schemeClr val="tx1"/>
              </a:solidFill>
              <a:effectLst/>
              <a:uLnTx/>
              <a:uFillTx/>
              <a:latin typeface="+mn-lt"/>
            </a:endParaRPr>
          </a:p>
        </p:txBody>
      </p:sp>
      <p:graphicFrame>
        <p:nvGraphicFramePr>
          <p:cNvPr id="7" name="Group 49"/>
          <p:cNvGraphicFramePr>
            <a:graphicFrameLocks/>
          </p:cNvGraphicFramePr>
          <p:nvPr/>
        </p:nvGraphicFramePr>
        <p:xfrm>
          <a:off x="755576" y="3205312"/>
          <a:ext cx="7920880" cy="3178493"/>
        </p:xfrm>
        <a:graphic>
          <a:graphicData uri="http://schemas.openxmlformats.org/drawingml/2006/table">
            <a:tbl>
              <a:tblPr firstRow="1" firstCol="1" bandRow="1">
                <a:tableStyleId>{616DA210-FB5B-4158-B5E0-FEB733F419BA}</a:tableStyleId>
              </a:tblPr>
              <a:tblGrid>
                <a:gridCol w="2228551">
                  <a:extLst>
                    <a:ext uri="{9D8B030D-6E8A-4147-A177-3AD203B41FA5}">
                      <a16:colId xmlns:a16="http://schemas.microsoft.com/office/drawing/2014/main" val="20000"/>
                    </a:ext>
                  </a:extLst>
                </a:gridCol>
                <a:gridCol w="5692329">
                  <a:extLst>
                    <a:ext uri="{9D8B030D-6E8A-4147-A177-3AD203B41FA5}">
                      <a16:colId xmlns:a16="http://schemas.microsoft.com/office/drawing/2014/main" val="20001"/>
                    </a:ext>
                  </a:extLst>
                </a:gridCol>
              </a:tblGrid>
              <a:tr h="259397">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0" lang="es-ES_tradnl" sz="1800" u="none" strike="noStrike" cap="none" normalizeH="0" baseline="0" dirty="0">
                          <a:ln>
                            <a:noFill/>
                          </a:ln>
                          <a:solidFill>
                            <a:schemeClr val="tx1"/>
                          </a:solidFill>
                          <a:effectLst/>
                        </a:rPr>
                        <a:t>MOMENTO</a:t>
                      </a:r>
                      <a:endParaRPr kumimoji="0" lang="es-ES_tradnl" sz="1800" b="1" i="0" u="none" strike="noStrike" cap="none" normalizeH="0" baseline="0" dirty="0">
                        <a:ln>
                          <a:noFill/>
                        </a:ln>
                        <a:solidFill>
                          <a:schemeClr val="tx1"/>
                        </a:solidFill>
                        <a:effectLst/>
                        <a:latin typeface="+mn-lt"/>
                        <a:cs typeface="Times New Roman" pitchFamily="18" charset="0"/>
                      </a:endParaRPr>
                    </a:p>
                  </a:txBody>
                  <a:tcPr horzOverflow="overflow"/>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0" lang="es-ES_tradnl" sz="1800" u="none" strike="noStrike" cap="none" normalizeH="0" baseline="0" dirty="0">
                          <a:ln>
                            <a:noFill/>
                          </a:ln>
                          <a:solidFill>
                            <a:schemeClr val="tx1"/>
                          </a:solidFill>
                          <a:effectLst/>
                        </a:rPr>
                        <a:t>VALOR DE LA FORMACIÓN</a:t>
                      </a:r>
                      <a:endParaRPr kumimoji="0" lang="es-ES_tradnl" sz="1800" b="1" i="0" u="none" strike="noStrike" cap="none" normalizeH="0" baseline="0" dirty="0">
                        <a:ln>
                          <a:noFill/>
                        </a:ln>
                        <a:solidFill>
                          <a:schemeClr val="tx1"/>
                        </a:solidFill>
                        <a:effectLst/>
                        <a:latin typeface="+mn-lt"/>
                        <a:cs typeface="Times New Roman" pitchFamily="18" charset="0"/>
                      </a:endParaRPr>
                    </a:p>
                  </a:txBody>
                  <a:tcPr horzOverflow="overflow"/>
                </a:tc>
                <a:extLst>
                  <a:ext uri="{0D108BD9-81ED-4DB2-BD59-A6C34878D82A}">
                    <a16:rowId xmlns:a16="http://schemas.microsoft.com/office/drawing/2014/main" val="10000"/>
                  </a:ext>
                </a:extLst>
              </a:tr>
              <a:tr h="890087">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0" lang="es-ES_tradnl" sz="1800" u="none" strike="noStrike" cap="none" normalizeH="0" baseline="0" dirty="0">
                          <a:ln>
                            <a:noFill/>
                          </a:ln>
                          <a:solidFill>
                            <a:schemeClr val="tx1"/>
                          </a:solidFill>
                          <a:effectLst/>
                        </a:rPr>
                        <a:t>En el momento de la incorporación</a:t>
                      </a:r>
                      <a:endParaRPr kumimoji="0" lang="es-ES_tradnl" sz="1800" b="1" i="0" u="none" strike="noStrike" cap="none" normalizeH="0" baseline="0" dirty="0">
                        <a:ln>
                          <a:noFill/>
                        </a:ln>
                        <a:solidFill>
                          <a:schemeClr val="tx1"/>
                        </a:solidFill>
                        <a:effectLst/>
                        <a:latin typeface="+mn-lt"/>
                      </a:endParaRPr>
                    </a:p>
                  </a:txBody>
                  <a:tcPr anchor="ct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tab pos="676275" algn="l"/>
                        </a:tabLst>
                      </a:pPr>
                      <a:r>
                        <a:rPr kumimoji="0" lang="es-ES_tradnl" sz="1600" u="none" strike="noStrike" cap="none" normalizeH="0" baseline="0" dirty="0">
                          <a:ln>
                            <a:noFill/>
                          </a:ln>
                          <a:solidFill>
                            <a:schemeClr val="tx1"/>
                          </a:solidFill>
                          <a:effectLst/>
                        </a:rPr>
                        <a:t>La formación inicial resulta un valioso instrumento para conseguir la completa adecuación al puesto pero, además, es un elemento que facilita la incorporación y adaptación del personal en la empresa.</a:t>
                      </a:r>
                      <a:endParaRPr kumimoji="0" lang="es-ES_tradnl" sz="1600" b="1" i="0" u="none" strike="noStrike" cap="none" normalizeH="0" baseline="0" dirty="0">
                        <a:ln>
                          <a:noFill/>
                        </a:ln>
                        <a:solidFill>
                          <a:schemeClr val="tx1"/>
                        </a:solidFill>
                        <a:effectLst/>
                        <a:latin typeface="+mn-lt"/>
                      </a:endParaRPr>
                    </a:p>
                  </a:txBody>
                  <a:tcPr anchor="ctr" horzOverflow="overflow"/>
                </a:tc>
                <a:extLst>
                  <a:ext uri="{0D108BD9-81ED-4DB2-BD59-A6C34878D82A}">
                    <a16:rowId xmlns:a16="http://schemas.microsoft.com/office/drawing/2014/main" val="10001"/>
                  </a:ext>
                </a:extLst>
              </a:tr>
              <a:tr h="1296984">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0" lang="es-ES_tradnl" sz="1800" u="none" strike="noStrike" cap="none" normalizeH="0" baseline="0" dirty="0">
                          <a:ln>
                            <a:noFill/>
                          </a:ln>
                          <a:solidFill>
                            <a:schemeClr val="tx1"/>
                          </a:solidFill>
                          <a:effectLst/>
                        </a:rPr>
                        <a:t>En el momento de la actuación</a:t>
                      </a:r>
                      <a:endParaRPr kumimoji="0" lang="es-ES_tradnl" sz="1800" b="1" i="0" u="none" strike="noStrike" cap="none" normalizeH="0" baseline="0" dirty="0">
                        <a:ln>
                          <a:noFill/>
                        </a:ln>
                        <a:solidFill>
                          <a:schemeClr val="tx1"/>
                        </a:solidFill>
                        <a:effectLst/>
                        <a:latin typeface="+mn-lt"/>
                      </a:endParaRPr>
                    </a:p>
                  </a:txBody>
                  <a:tcPr anchor="ct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600" u="none" strike="noStrike" cap="none" normalizeH="0" baseline="0" dirty="0">
                          <a:ln>
                            <a:noFill/>
                          </a:ln>
                          <a:solidFill>
                            <a:schemeClr val="tx1"/>
                          </a:solidFill>
                          <a:effectLst/>
                        </a:rPr>
                        <a:t>El objetivo de la formación puede ser mejorar el funcionamiento actual de una organización que no requiera modificaciones estructurales. Se trata de preparar al personal para hacerlo mejor, pero no necesariamente tareas distintas. Es esencial que exista una estrecha vinculación entre la formación y los sistemas de evaluación.</a:t>
                      </a:r>
                      <a:endParaRPr kumimoji="0" lang="es-ES_tradnl" sz="1600" b="1" i="0" u="none" strike="noStrike" cap="none" normalizeH="0" baseline="0" dirty="0">
                        <a:ln>
                          <a:noFill/>
                        </a:ln>
                        <a:solidFill>
                          <a:schemeClr val="tx1"/>
                        </a:solidFill>
                        <a:effectLst/>
                        <a:latin typeface="+mn-lt"/>
                      </a:endParaRPr>
                    </a:p>
                  </a:txBody>
                  <a:tcPr anchor="ctr" horzOverflow="overflow"/>
                </a:tc>
                <a:extLst>
                  <a:ext uri="{0D108BD9-81ED-4DB2-BD59-A6C34878D82A}">
                    <a16:rowId xmlns:a16="http://schemas.microsoft.com/office/drawing/2014/main" val="10002"/>
                  </a:ext>
                </a:extLst>
              </a:tr>
            </a:tbl>
          </a:graphicData>
        </a:graphic>
      </p:graphicFrame>
      <p:sp>
        <p:nvSpPr>
          <p:cNvPr id="8" name="7 Marcador de número de diapositiva"/>
          <p:cNvSpPr>
            <a:spLocks noGrp="1"/>
          </p:cNvSpPr>
          <p:nvPr>
            <p:ph type="sldNum" sz="quarter" idx="4"/>
          </p:nvPr>
        </p:nvSpPr>
        <p:spPr/>
        <p:txBody>
          <a:bodyPr/>
          <a:lstStyle/>
          <a:p>
            <a:pPr>
              <a:defRPr/>
            </a:pPr>
            <a:fld id="{031E6992-B48E-4E13-A9CD-F20B6AAC6FC2}" type="slidenum">
              <a:rPr lang="es-ES" smtClean="0"/>
              <a:pPr>
                <a:defRPr/>
              </a:pPr>
              <a:t>54</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r>
              <a:rPr lang="es-ES" dirty="0">
                <a:solidFill>
                  <a:schemeClr val="tx1"/>
                </a:solidFill>
              </a:rPr>
              <a:t>3.4.3. Capacitación y desarrollo</a:t>
            </a:r>
          </a:p>
        </p:txBody>
      </p:sp>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55</a:t>
            </a:fld>
            <a:endParaRPr lang="es-ES"/>
          </a:p>
        </p:txBody>
      </p:sp>
      <p:sp>
        <p:nvSpPr>
          <p:cNvPr id="5" name="Rectangle 3"/>
          <p:cNvSpPr txBox="1">
            <a:spLocks noChangeArrowheads="1"/>
          </p:cNvSpPr>
          <p:nvPr/>
        </p:nvSpPr>
        <p:spPr bwMode="auto">
          <a:xfrm>
            <a:off x="216024" y="1052736"/>
            <a:ext cx="8820472" cy="5256584"/>
          </a:xfrm>
          <a:prstGeom prst="rect">
            <a:avLst/>
          </a:prstGeom>
          <a:noFill/>
          <a:ln w="9525">
            <a:noFill/>
            <a:miter lim="800000"/>
            <a:headEnd/>
            <a:tailEnd/>
          </a:ln>
        </p:spPr>
        <p:txBody>
          <a:bodyPr vert="horz" wrap="square" lIns="91440" tIns="45720" rIns="91440" bIns="45720" numCol="2" anchor="t" anchorCtr="0" compatLnSpc="1">
            <a:prstTxWarp prst="textNoShape">
              <a:avLst/>
            </a:prstTxWarp>
            <a:noAutofit/>
          </a:bodyPr>
          <a:lstStyle/>
          <a:p>
            <a:pPr marL="171450" marR="0" lvl="0" indent="-171450" algn="just" defTabSz="914400" rtl="0" eaLnBrk="1" fontAlgn="base" latinLnBrk="0" hangingPunct="1">
              <a:lnSpc>
                <a:spcPct val="100000"/>
              </a:lnSpc>
              <a:spcBef>
                <a:spcPts val="1200"/>
              </a:spcBef>
              <a:spcAft>
                <a:spcPct val="0"/>
              </a:spcAft>
              <a:buClr>
                <a:srgbClr val="A50021"/>
              </a:buClr>
              <a:buSzTx/>
              <a:buFont typeface="Wingdings" pitchFamily="2" charset="2"/>
              <a:buChar char="q"/>
              <a:tabLst/>
              <a:defRPr/>
            </a:pPr>
            <a:r>
              <a:rPr kumimoji="0" lang="es-ES" sz="1800" i="0" strike="noStrike" kern="0" cap="none" spc="0" normalizeH="0" baseline="0" noProof="0" dirty="0">
                <a:ln>
                  <a:noFill/>
                </a:ln>
                <a:effectLst/>
                <a:uLnTx/>
                <a:uFillTx/>
                <a:latin typeface="+mn-lt"/>
                <a:ea typeface="+mn-ea"/>
                <a:cs typeface="+mn-cs"/>
              </a:rPr>
              <a:t> El objetivo de la formación es</a:t>
            </a:r>
            <a:r>
              <a:rPr kumimoji="0" lang="es-ES" sz="1800" i="0" strike="noStrike" kern="0" cap="none" spc="0" normalizeH="0" noProof="0" dirty="0">
                <a:ln>
                  <a:noFill/>
                </a:ln>
                <a:effectLst/>
                <a:uLnTx/>
                <a:uFillTx/>
                <a:latin typeface="+mn-lt"/>
                <a:ea typeface="+mn-ea"/>
                <a:cs typeface="+mn-cs"/>
              </a:rPr>
              <a:t> mejorar las destrezas que una persona tiene que utilizar en su trabajo.</a:t>
            </a:r>
            <a:endParaRPr kumimoji="0" lang="es-ES" sz="1800" i="0" strike="noStrike" kern="0" cap="none" spc="0" normalizeH="0" baseline="0" noProof="0" dirty="0">
              <a:ln>
                <a:noFill/>
              </a:ln>
              <a:effectLst/>
              <a:uLnTx/>
              <a:uFillTx/>
              <a:latin typeface="+mn-lt"/>
              <a:ea typeface="+mn-ea"/>
              <a:cs typeface="+mn-cs"/>
            </a:endParaRPr>
          </a:p>
          <a:p>
            <a:pPr marL="171450" indent="-171450" algn="just">
              <a:spcBef>
                <a:spcPts val="1200"/>
              </a:spcBef>
              <a:buClr>
                <a:srgbClr val="A50021"/>
              </a:buClr>
              <a:buFont typeface="Wingdings" pitchFamily="2" charset="2"/>
              <a:buChar char="q"/>
              <a:defRPr/>
            </a:pPr>
            <a:r>
              <a:rPr kumimoji="0" lang="es-ES" sz="1800" b="1" i="0" u="none" strike="noStrike" kern="0" cap="none" spc="0" normalizeH="0" baseline="0" noProof="0" dirty="0">
                <a:ln>
                  <a:noFill/>
                </a:ln>
                <a:solidFill>
                  <a:srgbClr val="000000"/>
                </a:solidFill>
                <a:effectLst/>
                <a:uLnTx/>
                <a:uFillTx/>
                <a:latin typeface="+mn-lt"/>
                <a:ea typeface="+mn-ea"/>
                <a:cs typeface="+mn-cs"/>
              </a:rPr>
              <a:t> </a:t>
            </a:r>
            <a:r>
              <a:rPr lang="es-ES" kern="0" dirty="0">
                <a:solidFill>
                  <a:srgbClr val="000000"/>
                </a:solidFill>
                <a:latin typeface="Comic Sans MS"/>
              </a:rPr>
              <a:t>Un plan de formación es eficaz cuando:</a:t>
            </a:r>
            <a:endParaRPr kumimoji="0" lang="es-ES" sz="1800" b="1" i="0" u="none" strike="noStrike" kern="0" cap="none" spc="0" normalizeH="0" baseline="0" noProof="0" dirty="0">
              <a:ln>
                <a:noFill/>
              </a:ln>
              <a:solidFill>
                <a:srgbClr val="000000"/>
              </a:solidFill>
              <a:effectLst/>
              <a:uLnTx/>
              <a:uFillTx/>
              <a:latin typeface="+mn-lt"/>
              <a:ea typeface="+mn-ea"/>
              <a:cs typeface="+mn-cs"/>
            </a:endParaRPr>
          </a:p>
          <a:p>
            <a:pPr marL="547688" lvl="3" indent="-273050" algn="just">
              <a:lnSpc>
                <a:spcPct val="90000"/>
              </a:lnSpc>
              <a:spcBef>
                <a:spcPct val="20000"/>
              </a:spcBef>
              <a:buClr>
                <a:srgbClr val="A50021"/>
              </a:buClr>
              <a:buFont typeface="Wingdings" pitchFamily="2" charset="2"/>
              <a:buChar char="ü"/>
              <a:defRPr/>
            </a:pPr>
            <a:r>
              <a:rPr lang="es-ES" kern="0" dirty="0">
                <a:solidFill>
                  <a:srgbClr val="000000"/>
                </a:solidFill>
                <a:latin typeface="Comic Sans MS"/>
              </a:rPr>
              <a:t>Se basa en las necesidades individuales y de la organización.</a:t>
            </a:r>
          </a:p>
          <a:p>
            <a:pPr marL="547688" lvl="3" indent="-273050" algn="just">
              <a:lnSpc>
                <a:spcPct val="90000"/>
              </a:lnSpc>
              <a:spcBef>
                <a:spcPct val="20000"/>
              </a:spcBef>
              <a:buClr>
                <a:srgbClr val="A50021"/>
              </a:buClr>
              <a:buFont typeface="Wingdings" pitchFamily="2" charset="2"/>
              <a:buChar char="ü"/>
              <a:defRPr/>
            </a:pPr>
            <a:r>
              <a:rPr lang="es-ES" kern="0" dirty="0">
                <a:solidFill>
                  <a:srgbClr val="000000"/>
                </a:solidFill>
                <a:latin typeface="Comic Sans MS"/>
              </a:rPr>
              <a:t>Se vincula la acción formativa con problema a resolver.</a:t>
            </a:r>
          </a:p>
          <a:p>
            <a:pPr marL="547688" lvl="3" indent="-273050" algn="just">
              <a:lnSpc>
                <a:spcPct val="90000"/>
              </a:lnSpc>
              <a:spcBef>
                <a:spcPct val="20000"/>
              </a:spcBef>
              <a:buClr>
                <a:srgbClr val="A50021"/>
              </a:buClr>
              <a:buFont typeface="Wingdings" pitchFamily="2" charset="2"/>
              <a:buChar char="ü"/>
              <a:defRPr/>
            </a:pPr>
            <a:r>
              <a:rPr lang="es-ES" kern="0" dirty="0">
                <a:solidFill>
                  <a:srgbClr val="000000"/>
                </a:solidFill>
                <a:latin typeface="Comic Sans MS"/>
              </a:rPr>
              <a:t>Se basa en teorías de aprendizaje adecuado.</a:t>
            </a: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lang="es-ES" sz="2000" kern="0" dirty="0">
              <a:solidFill>
                <a:srgbClr val="000000"/>
              </a:solidFill>
              <a:latin typeface="+mn-lt"/>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lang="es-ES" sz="2000" kern="0" dirty="0">
              <a:solidFill>
                <a:srgbClr val="000000"/>
              </a:solidFill>
              <a:latin typeface="+mn-lt"/>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342900" lvl="0" indent="-11113" algn="just">
              <a:spcBef>
                <a:spcPct val="20000"/>
              </a:spcBef>
            </a:pPr>
            <a:r>
              <a:rPr lang="es-ES" sz="2000" b="1" kern="0" dirty="0">
                <a:solidFill>
                  <a:srgbClr val="C00000"/>
                </a:solidFill>
                <a:latin typeface="Comic Sans MS"/>
              </a:rPr>
              <a:t>Etapas del proceso de formación:</a:t>
            </a:r>
          </a:p>
          <a:p>
            <a:pPr marL="838200" lvl="1" indent="-381000" algn="just">
              <a:spcBef>
                <a:spcPts val="600"/>
              </a:spcBef>
              <a:spcAft>
                <a:spcPts val="600"/>
              </a:spcAft>
              <a:buClr>
                <a:srgbClr val="000000"/>
              </a:buClr>
              <a:buFont typeface="Wingdings" pitchFamily="2" charset="2"/>
              <a:buAutoNum type="arabicPeriod"/>
              <a:defRPr/>
            </a:pPr>
            <a:r>
              <a:rPr lang="es-ES" kern="0" dirty="0">
                <a:solidFill>
                  <a:srgbClr val="000000"/>
                </a:solidFill>
                <a:latin typeface="Comic Sans MS"/>
              </a:rPr>
              <a:t>Identificación de las necesidades de formación: diagnóstico en el que se trata de identificar los problemas o áreas de mejora de los RRHH. dentro de la organización. </a:t>
            </a:r>
          </a:p>
          <a:p>
            <a:pPr marL="838200" lvl="1" indent="-381000" algn="just">
              <a:spcBef>
                <a:spcPts val="600"/>
              </a:spcBef>
              <a:spcAft>
                <a:spcPts val="600"/>
              </a:spcAft>
              <a:buClr>
                <a:srgbClr val="000000"/>
              </a:buClr>
              <a:buFont typeface="Wingdings" pitchFamily="2" charset="2"/>
              <a:buAutoNum type="arabicPeriod"/>
              <a:defRPr/>
            </a:pPr>
            <a:r>
              <a:rPr lang="es-ES" kern="0" dirty="0">
                <a:solidFill>
                  <a:srgbClr val="000000"/>
                </a:solidFill>
                <a:latin typeface="Comic Sans MS"/>
              </a:rPr>
              <a:t>Elección del método en función de las características del personal a formar (edad, posición y antigüedad) y el objetivo final de la formación (aptitudes o conocimientos).</a:t>
            </a:r>
          </a:p>
          <a:p>
            <a:pPr marL="838200" lvl="1" indent="-381000" algn="just">
              <a:spcBef>
                <a:spcPts val="600"/>
              </a:spcBef>
              <a:spcAft>
                <a:spcPts val="600"/>
              </a:spcAft>
              <a:buClr>
                <a:srgbClr val="000000"/>
              </a:buClr>
              <a:buFont typeface="Wingdings" pitchFamily="2" charset="2"/>
              <a:buAutoNum type="arabicPeriod"/>
              <a:defRPr/>
            </a:pPr>
            <a:r>
              <a:rPr lang="es-ES" kern="0" dirty="0">
                <a:solidFill>
                  <a:srgbClr val="000000"/>
                </a:solidFill>
                <a:latin typeface="Comic Sans MS"/>
              </a:rPr>
              <a:t> Evaluación de la formación.</a:t>
            </a:r>
          </a:p>
          <a:p>
            <a:pPr marL="548322" marR="0" lvl="0" indent="-27432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b="0" i="0" u="none" strike="noStrike" kern="0" cap="none" spc="0" normalizeH="0" baseline="0" noProof="0" dirty="0">
              <a:ln>
                <a:noFill/>
              </a:ln>
              <a:solidFill>
                <a:srgbClr val="000000"/>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pPr algn="l"/>
            <a:r>
              <a:rPr lang="es-ES" dirty="0">
                <a:solidFill>
                  <a:schemeClr val="tx1"/>
                </a:solidFill>
              </a:rPr>
              <a:t>3.4.4. Compensación</a:t>
            </a:r>
          </a:p>
        </p:txBody>
      </p:sp>
      <p:sp>
        <p:nvSpPr>
          <p:cNvPr id="5" name="Rectangle 3"/>
          <p:cNvSpPr txBox="1">
            <a:spLocks noChangeArrowheads="1"/>
          </p:cNvSpPr>
          <p:nvPr/>
        </p:nvSpPr>
        <p:spPr bwMode="auto">
          <a:xfrm>
            <a:off x="539552" y="1340768"/>
            <a:ext cx="8229600" cy="4860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5750" lvl="0" indent="-285750" algn="just">
              <a:spcBef>
                <a:spcPct val="20000"/>
              </a:spcBef>
              <a:buClr>
                <a:srgbClr val="C00000"/>
              </a:buClr>
              <a:buFont typeface="Wingdings" pitchFamily="2" charset="2"/>
              <a:buChar char="q"/>
            </a:pPr>
            <a:r>
              <a:rPr lang="es-ES" sz="2000" kern="0" dirty="0">
                <a:solidFill>
                  <a:srgbClr val="000000"/>
                </a:solidFill>
                <a:latin typeface="Comic Sans MS"/>
              </a:rPr>
              <a:t>Entendemos por </a:t>
            </a:r>
            <a:r>
              <a:rPr lang="es-ES" sz="2000" b="1" kern="0" dirty="0">
                <a:solidFill>
                  <a:srgbClr val="C00000"/>
                </a:solidFill>
                <a:latin typeface="Comic Sans MS"/>
              </a:rPr>
              <a:t>compensación</a:t>
            </a:r>
            <a:r>
              <a:rPr lang="es-ES" sz="2000" kern="0" dirty="0">
                <a:solidFill>
                  <a:srgbClr val="000000"/>
                </a:solidFill>
                <a:latin typeface="Comic Sans MS"/>
              </a:rPr>
              <a:t> el conjunto de contraprestaciones por el ejercicio profesional de una actividad.</a:t>
            </a:r>
          </a:p>
          <a:p>
            <a:pPr marL="285750" indent="-285750" algn="just">
              <a:spcBef>
                <a:spcPct val="20000"/>
              </a:spcBef>
              <a:buClr>
                <a:srgbClr val="C00000"/>
              </a:buClr>
              <a:buFont typeface="Wingdings" pitchFamily="2" charset="2"/>
              <a:buChar char="q"/>
            </a:pPr>
            <a:r>
              <a:rPr kumimoji="0" lang="es-ES" sz="2000" b="0" i="0" u="sng" strike="noStrike" kern="0" cap="none" spc="0" normalizeH="0" baseline="0" noProof="0" dirty="0">
                <a:ln>
                  <a:noFill/>
                </a:ln>
                <a:solidFill>
                  <a:schemeClr val="tx1"/>
                </a:solidFill>
                <a:effectLst/>
                <a:uLnTx/>
                <a:uFillTx/>
                <a:latin typeface="+mn-lt"/>
              </a:rPr>
              <a:t>Política retributiva</a:t>
            </a:r>
            <a:r>
              <a:rPr kumimoji="0" lang="es-ES" sz="2000" b="0" i="0" u="none" strike="noStrike" kern="0" cap="none" spc="0" normalizeH="0" baseline="0" noProof="0" dirty="0">
                <a:ln>
                  <a:noFill/>
                </a:ln>
                <a:solidFill>
                  <a:schemeClr val="tx1"/>
                </a:solidFill>
                <a:effectLst/>
                <a:uLnTx/>
                <a:uFillTx/>
                <a:latin typeface="+mn-lt"/>
              </a:rPr>
              <a:t>: uno de los principales instrumentos</a:t>
            </a:r>
            <a:r>
              <a:rPr kumimoji="0" lang="es-ES" sz="2000" b="0" i="0" u="none" strike="noStrike" kern="0" cap="none" spc="0" normalizeH="0" noProof="0" dirty="0">
                <a:ln>
                  <a:noFill/>
                </a:ln>
                <a:solidFill>
                  <a:schemeClr val="tx1"/>
                </a:solidFill>
                <a:effectLst/>
                <a:uLnTx/>
                <a:uFillTx/>
                <a:latin typeface="+mn-lt"/>
              </a:rPr>
              <a:t> en la gestión de los Recursos Humanos para:</a:t>
            </a:r>
          </a:p>
          <a:p>
            <a:pPr marL="742950" lvl="1" indent="-285750" algn="just">
              <a:spcBef>
                <a:spcPct val="20000"/>
              </a:spcBef>
              <a:buClr>
                <a:srgbClr val="C00000"/>
              </a:buClr>
              <a:buFont typeface="Wingdings" pitchFamily="2" charset="2"/>
              <a:buChar char="ü"/>
            </a:pPr>
            <a:r>
              <a:rPr kumimoji="0" lang="es-ES" sz="2000" b="0" i="0" u="none" strike="noStrike" kern="0" cap="none" spc="0" normalizeH="0" baseline="0" noProof="0" dirty="0">
                <a:ln>
                  <a:noFill/>
                </a:ln>
                <a:solidFill>
                  <a:schemeClr val="tx1"/>
                </a:solidFill>
                <a:effectLst/>
                <a:uLnTx/>
                <a:uFillTx/>
                <a:latin typeface="+mn-lt"/>
              </a:rPr>
              <a:t>Conseguir los mejores profesionales.</a:t>
            </a:r>
          </a:p>
          <a:p>
            <a:pPr marL="742950" lvl="1" indent="-285750" algn="just">
              <a:spcBef>
                <a:spcPct val="20000"/>
              </a:spcBef>
              <a:buClr>
                <a:srgbClr val="C00000"/>
              </a:buClr>
              <a:buFont typeface="Wingdings" pitchFamily="2" charset="2"/>
              <a:buChar char="ü"/>
            </a:pPr>
            <a:r>
              <a:rPr lang="es-ES" sz="2000" kern="0" dirty="0">
                <a:latin typeface="+mn-lt"/>
              </a:rPr>
              <a:t>R</a:t>
            </a:r>
            <a:r>
              <a:rPr kumimoji="0" lang="es-ES" sz="2000" b="0" i="0" u="none" strike="noStrike" kern="0" cap="none" spc="0" normalizeH="0" baseline="0" noProof="0" dirty="0" err="1">
                <a:ln>
                  <a:noFill/>
                </a:ln>
                <a:solidFill>
                  <a:schemeClr val="tx1"/>
                </a:solidFill>
                <a:effectLst/>
                <a:uLnTx/>
                <a:uFillTx/>
                <a:latin typeface="+mn-lt"/>
              </a:rPr>
              <a:t>etener</a:t>
            </a:r>
            <a:r>
              <a:rPr kumimoji="0" lang="es-ES" sz="2000" b="0" i="0" u="none" strike="noStrike" kern="0" cap="none" spc="0" normalizeH="0" baseline="0" noProof="0" dirty="0">
                <a:ln>
                  <a:noFill/>
                </a:ln>
                <a:solidFill>
                  <a:schemeClr val="tx1"/>
                </a:solidFill>
                <a:effectLst/>
                <a:uLnTx/>
                <a:uFillTx/>
                <a:latin typeface="+mn-lt"/>
              </a:rPr>
              <a:t> al personal valioso.</a:t>
            </a:r>
          </a:p>
          <a:p>
            <a:pPr marL="742950" lvl="1" indent="-285750" algn="just">
              <a:spcBef>
                <a:spcPct val="20000"/>
              </a:spcBef>
              <a:buClr>
                <a:srgbClr val="C00000"/>
              </a:buClr>
              <a:buFont typeface="Wingdings" pitchFamily="2" charset="2"/>
              <a:buChar char="ü"/>
            </a:pPr>
            <a:r>
              <a:rPr kumimoji="0" lang="es-ES" sz="2000" b="0" i="0" u="none" strike="noStrike" kern="0" cap="none" spc="0" normalizeH="0" baseline="0" noProof="0" dirty="0">
                <a:ln>
                  <a:noFill/>
                </a:ln>
                <a:solidFill>
                  <a:schemeClr val="tx1"/>
                </a:solidFill>
                <a:effectLst/>
                <a:uLnTx/>
                <a:uFillTx/>
                <a:latin typeface="+mn-lt"/>
              </a:rPr>
              <a:t>Aumentar el grado de satisfacción de los empleados.</a:t>
            </a:r>
          </a:p>
          <a:p>
            <a:pPr marL="742950" lvl="1" indent="-285750" algn="just">
              <a:spcBef>
                <a:spcPct val="20000"/>
              </a:spcBef>
              <a:buClr>
                <a:srgbClr val="C00000"/>
              </a:buClr>
              <a:buFont typeface="Wingdings" pitchFamily="2" charset="2"/>
              <a:buChar char="ü"/>
            </a:pPr>
            <a:r>
              <a:rPr kumimoji="0" lang="es-ES" sz="2000" b="0" i="0" u="none" strike="noStrike" kern="0" cap="none" spc="0" normalizeH="0" baseline="0" noProof="0" dirty="0">
                <a:ln>
                  <a:noFill/>
                </a:ln>
                <a:solidFill>
                  <a:schemeClr val="tx1"/>
                </a:solidFill>
                <a:effectLst/>
                <a:uLnTx/>
                <a:uFillTx/>
                <a:latin typeface="+mn-lt"/>
              </a:rPr>
              <a:t>Reforzar la cultura corporativa.</a:t>
            </a:r>
          </a:p>
          <a:p>
            <a:pPr marL="742950" lvl="1" indent="-285750" algn="just">
              <a:spcBef>
                <a:spcPct val="20000"/>
              </a:spcBef>
              <a:buClr>
                <a:srgbClr val="C00000"/>
              </a:buClr>
              <a:buFont typeface="Wingdings" pitchFamily="2" charset="2"/>
              <a:buChar char="ü"/>
            </a:pPr>
            <a:r>
              <a:rPr kumimoji="0" lang="es-ES" sz="2000" b="0" i="0" u="none" strike="noStrike" kern="0" cap="none" spc="0" normalizeH="0" baseline="0" noProof="0" dirty="0">
                <a:ln>
                  <a:noFill/>
                </a:ln>
                <a:solidFill>
                  <a:schemeClr val="tx1"/>
                </a:solidFill>
                <a:effectLst/>
                <a:uLnTx/>
                <a:uFillTx/>
                <a:latin typeface="+mn-lt"/>
              </a:rPr>
              <a:t>Fomentar el desarrollo de las capacidades de los empleados.</a:t>
            </a:r>
          </a:p>
          <a:p>
            <a:pPr marL="285750" indent="-285750" algn="just">
              <a:spcBef>
                <a:spcPct val="20000"/>
              </a:spcBef>
              <a:buClr>
                <a:srgbClr val="C00000"/>
              </a:buClr>
              <a:buFont typeface="Wingdings" pitchFamily="2" charset="2"/>
              <a:buChar char="q"/>
            </a:pPr>
            <a:r>
              <a:rPr kumimoji="0" lang="es-ES" sz="2000" b="0" i="0" u="none" strike="noStrike" kern="0" cap="none" spc="0" normalizeH="0" baseline="0" noProof="0" dirty="0">
                <a:ln>
                  <a:noFill/>
                </a:ln>
                <a:solidFill>
                  <a:schemeClr val="tx1"/>
                </a:solidFill>
                <a:effectLst/>
                <a:uLnTx/>
                <a:uFillTx/>
                <a:latin typeface="+mn-lt"/>
              </a:rPr>
              <a:t>La estructura salarial debe intentar alcanzar la </a:t>
            </a:r>
            <a:r>
              <a:rPr kumimoji="0" lang="es-ES" sz="2000" b="1" i="0" u="none" strike="noStrike" kern="0" cap="none" spc="0" normalizeH="0" baseline="0" noProof="0" dirty="0">
                <a:ln>
                  <a:noFill/>
                </a:ln>
                <a:solidFill>
                  <a:schemeClr val="tx1"/>
                </a:solidFill>
                <a:effectLst/>
                <a:uLnTx/>
                <a:uFillTx/>
                <a:latin typeface="+mn-lt"/>
              </a:rPr>
              <a:t>equidad interna y externa.</a:t>
            </a:r>
          </a:p>
          <a:p>
            <a:pPr marL="285750" indent="-285750" algn="just">
              <a:spcBef>
                <a:spcPct val="20000"/>
              </a:spcBef>
              <a:buClr>
                <a:srgbClr val="C00000"/>
              </a:buClr>
              <a:buFont typeface="Wingdings" pitchFamily="2" charset="2"/>
              <a:buChar char="q"/>
            </a:pPr>
            <a:r>
              <a:rPr kumimoji="0" lang="es-ES" sz="2000" b="0" i="0" u="none" strike="noStrike" kern="0" cap="none" spc="0" normalizeH="0" baseline="0" noProof="0" dirty="0">
                <a:ln>
                  <a:noFill/>
                </a:ln>
                <a:solidFill>
                  <a:schemeClr val="tx1"/>
                </a:solidFill>
                <a:effectLst/>
                <a:uLnTx/>
                <a:uFillTx/>
                <a:latin typeface="+mn-lt"/>
              </a:rPr>
              <a:t>Los empleados no solo perciben compensaciones monetarias.</a:t>
            </a:r>
          </a:p>
        </p:txBody>
      </p:sp>
      <p:sp>
        <p:nvSpPr>
          <p:cNvPr id="6" name="5 Marcador de número de diapositiva"/>
          <p:cNvSpPr>
            <a:spLocks noGrp="1"/>
          </p:cNvSpPr>
          <p:nvPr>
            <p:ph type="sldNum" sz="quarter" idx="4"/>
          </p:nvPr>
        </p:nvSpPr>
        <p:spPr/>
        <p:txBody>
          <a:bodyPr/>
          <a:lstStyle/>
          <a:p>
            <a:pPr>
              <a:defRPr/>
            </a:pPr>
            <a:fld id="{031E6992-B48E-4E13-A9CD-F20B6AAC6FC2}" type="slidenum">
              <a:rPr lang="es-ES" smtClean="0"/>
              <a:pPr>
                <a:defRPr/>
              </a:pPr>
              <a:t>56</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a:prstGeom prst="rect">
            <a:avLst/>
          </a:prstGeom>
        </p:spPr>
        <p:txBody>
          <a:bodyPr/>
          <a:lstStyle/>
          <a:p>
            <a:pPr>
              <a:defRPr/>
            </a:pPr>
            <a:fld id="{031E6992-B48E-4E13-A9CD-F20B6AAC6FC2}" type="slidenum">
              <a:rPr lang="es-ES" smtClean="0"/>
              <a:pPr>
                <a:defRPr/>
              </a:pPr>
              <a:t>57</a:t>
            </a:fld>
            <a:endParaRPr lang="es-ES"/>
          </a:p>
        </p:txBody>
      </p:sp>
      <p:sp>
        <p:nvSpPr>
          <p:cNvPr id="9" name="Line 65"/>
          <p:cNvSpPr>
            <a:spLocks noChangeShapeType="1"/>
          </p:cNvSpPr>
          <p:nvPr/>
        </p:nvSpPr>
        <p:spPr bwMode="ltGray">
          <a:xfrm>
            <a:off x="193675" y="228600"/>
            <a:ext cx="0" cy="2851150"/>
          </a:xfrm>
          <a:prstGeom prst="line">
            <a:avLst/>
          </a:prstGeom>
          <a:noFill/>
          <a:ln w="38100">
            <a:solidFill>
              <a:schemeClr val="tx2">
                <a:lumMod val="65000"/>
                <a:lumOff val="35000"/>
              </a:schemeClr>
            </a:solidFill>
            <a:round/>
            <a:headEnd/>
            <a:tailEnd/>
          </a:ln>
          <a:effectLst/>
        </p:spPr>
        <p:txBody>
          <a:bodyPr wrap="none" anchor="ctr"/>
          <a:lstStyle/>
          <a:p>
            <a:pPr>
              <a:defRPr/>
            </a:pPr>
            <a:endParaRPr lang="en-US">
              <a:latin typeface="Tahoma" pitchFamily="34" charset="0"/>
            </a:endParaRPr>
          </a:p>
        </p:txBody>
      </p:sp>
      <p:sp>
        <p:nvSpPr>
          <p:cNvPr id="11" name="Arc 66"/>
          <p:cNvSpPr>
            <a:spLocks/>
          </p:cNvSpPr>
          <p:nvPr/>
        </p:nvSpPr>
        <p:spPr bwMode="ltGray">
          <a:xfrm rot="16200000" flipH="1">
            <a:off x="66675" y="706437"/>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38100">
            <a:solidFill>
              <a:schemeClr val="tx2">
                <a:lumMod val="65000"/>
                <a:lumOff val="35000"/>
              </a:schemeClr>
            </a:solidFill>
            <a:round/>
            <a:headEnd/>
            <a:tailEnd/>
          </a:ln>
          <a:effectLst/>
        </p:spPr>
        <p:txBody>
          <a:bodyPr wrap="none" anchor="ctr"/>
          <a:lstStyle/>
          <a:p>
            <a:pPr>
              <a:defRPr/>
            </a:pPr>
            <a:endParaRPr lang="en-US">
              <a:latin typeface="Tahoma" pitchFamily="34" charset="0"/>
            </a:endParaRPr>
          </a:p>
        </p:txBody>
      </p:sp>
      <p:sp>
        <p:nvSpPr>
          <p:cNvPr id="12" name="11 Rectángulo"/>
          <p:cNvSpPr/>
          <p:nvPr/>
        </p:nvSpPr>
        <p:spPr>
          <a:xfrm>
            <a:off x="755576" y="2348880"/>
            <a:ext cx="7704856" cy="1680460"/>
          </a:xfrm>
          <a:prstGeom prst="rect">
            <a:avLst/>
          </a:prstGeom>
        </p:spPr>
        <p:txBody>
          <a:bodyPr wrap="square">
            <a:spAutoFit/>
          </a:bodyPr>
          <a:lstStyle/>
          <a:p>
            <a:pPr marL="901700" indent="-901700" algn="just">
              <a:lnSpc>
                <a:spcPct val="130000"/>
              </a:lnSpc>
              <a:spcBef>
                <a:spcPct val="20000"/>
              </a:spcBef>
            </a:pPr>
            <a:r>
              <a:rPr lang="es-ES_tradnl" sz="2400" u="none" kern="0" dirty="0">
                <a:solidFill>
                  <a:srgbClr val="000000"/>
                </a:solidFill>
                <a:latin typeface="Comic Sans MS"/>
              </a:rPr>
              <a:t>3.5.1. </a:t>
            </a:r>
            <a:r>
              <a:rPr lang="es-ES_tradnl" sz="2400" kern="0" dirty="0">
                <a:solidFill>
                  <a:srgbClr val="000000"/>
                </a:solidFill>
                <a:latin typeface="Comic Sans MS"/>
              </a:rPr>
              <a:t>Justificación e importancia</a:t>
            </a:r>
            <a:endParaRPr lang="es-ES_tradnl" sz="2400" u="none" kern="0" dirty="0">
              <a:solidFill>
                <a:srgbClr val="000000"/>
              </a:solidFill>
              <a:latin typeface="Comic Sans MS"/>
            </a:endParaRPr>
          </a:p>
          <a:p>
            <a:pPr marL="901700" indent="-901700">
              <a:lnSpc>
                <a:spcPct val="130000"/>
              </a:lnSpc>
              <a:spcBef>
                <a:spcPct val="20000"/>
              </a:spcBef>
            </a:pPr>
            <a:r>
              <a:rPr lang="es-ES_tradnl" sz="2400" u="none" kern="0" dirty="0">
                <a:solidFill>
                  <a:srgbClr val="000000"/>
                </a:solidFill>
                <a:latin typeface="Comic Sans MS"/>
              </a:rPr>
              <a:t>3.5.2. Definición</a:t>
            </a:r>
          </a:p>
          <a:p>
            <a:pPr marL="901700" indent="-901700">
              <a:lnSpc>
                <a:spcPct val="130000"/>
              </a:lnSpc>
              <a:spcBef>
                <a:spcPct val="20000"/>
              </a:spcBef>
            </a:pPr>
            <a:r>
              <a:rPr lang="es-ES_tradnl" sz="2400" kern="0" dirty="0">
                <a:solidFill>
                  <a:srgbClr val="000000"/>
                </a:solidFill>
                <a:latin typeface="Comic Sans MS"/>
              </a:rPr>
              <a:t>3.5.3. Tipos</a:t>
            </a:r>
          </a:p>
        </p:txBody>
      </p:sp>
      <p:sp>
        <p:nvSpPr>
          <p:cNvPr id="13" name="12 Rectángulo"/>
          <p:cNvSpPr/>
          <p:nvPr/>
        </p:nvSpPr>
        <p:spPr>
          <a:xfrm>
            <a:off x="518111" y="1484784"/>
            <a:ext cx="8374369" cy="523220"/>
          </a:xfrm>
          <a:prstGeom prst="rect">
            <a:avLst/>
          </a:prstGeom>
        </p:spPr>
        <p:txBody>
          <a:bodyPr wrap="square">
            <a:spAutoFit/>
          </a:bodyPr>
          <a:lstStyle/>
          <a:p>
            <a:pPr algn="ctr"/>
            <a:r>
              <a:rPr lang="es-ES" sz="2800" b="1" dirty="0">
                <a:solidFill>
                  <a:srgbClr val="C00000"/>
                </a:solidFill>
                <a:latin typeface="+mn-lt"/>
              </a:rPr>
              <a:t>3</a:t>
            </a:r>
            <a:r>
              <a:rPr lang="es-ES" sz="2800" b="1" u="none" dirty="0">
                <a:solidFill>
                  <a:srgbClr val="C00000"/>
                </a:solidFill>
                <a:latin typeface="+mn-lt"/>
              </a:rPr>
              <a:t>.5. </a:t>
            </a:r>
            <a:r>
              <a:rPr lang="es-ES" sz="2800" b="1" dirty="0">
                <a:solidFill>
                  <a:srgbClr val="C00000"/>
                </a:solidFill>
                <a:latin typeface="+mn-lt"/>
              </a:rPr>
              <a:t>CONTROL</a:t>
            </a:r>
            <a:endParaRPr lang="es-ES" sz="2800" b="1" u="none" dirty="0">
              <a:latin typeface="+mn-l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pPr algn="l"/>
            <a:r>
              <a:rPr lang="es-ES" dirty="0"/>
              <a:t>3.5.1. Justificación e importancia</a:t>
            </a:r>
          </a:p>
        </p:txBody>
      </p:sp>
      <p:sp>
        <p:nvSpPr>
          <p:cNvPr id="6" name="5 Marcador de número de diapositiva"/>
          <p:cNvSpPr>
            <a:spLocks noGrp="1"/>
          </p:cNvSpPr>
          <p:nvPr>
            <p:ph type="sldNum" sz="quarter" idx="4"/>
          </p:nvPr>
        </p:nvSpPr>
        <p:spPr/>
        <p:txBody>
          <a:bodyPr/>
          <a:lstStyle/>
          <a:p>
            <a:pPr>
              <a:defRPr/>
            </a:pPr>
            <a:fld id="{031E6992-B48E-4E13-A9CD-F20B6AAC6FC2}" type="slidenum">
              <a:rPr lang="es-ES" smtClean="0"/>
              <a:pPr>
                <a:defRPr/>
              </a:pPr>
              <a:t>58</a:t>
            </a:fld>
            <a:endParaRPr lang="es-ES"/>
          </a:p>
        </p:txBody>
      </p:sp>
      <p:sp>
        <p:nvSpPr>
          <p:cNvPr id="7" name="Rectangle 3">
            <a:extLst>
              <a:ext uri="{FF2B5EF4-FFF2-40B4-BE49-F238E27FC236}">
                <a16:creationId xmlns:a16="http://schemas.microsoft.com/office/drawing/2014/main" id="{130A6BAF-1596-4D31-A897-8ADD2C7B975B}"/>
              </a:ext>
            </a:extLst>
          </p:cNvPr>
          <p:cNvSpPr txBox="1">
            <a:spLocks noChangeArrowheads="1"/>
          </p:cNvSpPr>
          <p:nvPr/>
        </p:nvSpPr>
        <p:spPr bwMode="auto">
          <a:xfrm>
            <a:off x="539552" y="980728"/>
            <a:ext cx="8229600" cy="51845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400">
                <a:solidFill>
                  <a:schemeClr val="tx1"/>
                </a:solidFill>
                <a:latin typeface="+mn-lt"/>
              </a:defRPr>
            </a:lvl5pPr>
            <a:lvl6pPr marL="2514600" indent="-228600" algn="l" rtl="0" eaLnBrk="1" fontAlgn="base" hangingPunct="1">
              <a:spcBef>
                <a:spcPct val="20000"/>
              </a:spcBef>
              <a:spcAft>
                <a:spcPct val="0"/>
              </a:spcAft>
              <a:buChar char="»"/>
              <a:defRPr sz="1400">
                <a:solidFill>
                  <a:schemeClr val="tx1"/>
                </a:solidFill>
                <a:latin typeface="+mn-lt"/>
              </a:defRPr>
            </a:lvl6pPr>
            <a:lvl7pPr marL="2971800" indent="-228600" algn="l" rtl="0" eaLnBrk="1" fontAlgn="base" hangingPunct="1">
              <a:spcBef>
                <a:spcPct val="20000"/>
              </a:spcBef>
              <a:spcAft>
                <a:spcPct val="0"/>
              </a:spcAft>
              <a:buChar char="»"/>
              <a:defRPr sz="1400">
                <a:solidFill>
                  <a:schemeClr val="tx1"/>
                </a:solidFill>
                <a:latin typeface="+mn-lt"/>
              </a:defRPr>
            </a:lvl7pPr>
            <a:lvl8pPr marL="3429000" indent="-228600" algn="l" rtl="0" eaLnBrk="1" fontAlgn="base" hangingPunct="1">
              <a:spcBef>
                <a:spcPct val="20000"/>
              </a:spcBef>
              <a:spcAft>
                <a:spcPct val="0"/>
              </a:spcAft>
              <a:buChar char="»"/>
              <a:defRPr sz="1400">
                <a:solidFill>
                  <a:schemeClr val="tx1"/>
                </a:solidFill>
                <a:latin typeface="+mn-lt"/>
              </a:defRPr>
            </a:lvl8pPr>
            <a:lvl9pPr marL="3886200" indent="-228600" algn="l" rtl="0" eaLnBrk="1" fontAlgn="base" hangingPunct="1">
              <a:spcBef>
                <a:spcPct val="20000"/>
              </a:spcBef>
              <a:spcAft>
                <a:spcPct val="0"/>
              </a:spcAft>
              <a:buChar char="»"/>
              <a:defRPr sz="1400">
                <a:solidFill>
                  <a:schemeClr val="tx1"/>
                </a:solidFill>
                <a:latin typeface="+mn-lt"/>
              </a:defRPr>
            </a:lvl9pPr>
          </a:lstStyle>
          <a:p>
            <a:pPr algn="just">
              <a:buClr>
                <a:srgbClr val="C00000"/>
              </a:buClr>
              <a:buFont typeface="Wingdings" pitchFamily="2" charset="2"/>
              <a:buChar char="q"/>
            </a:pPr>
            <a:r>
              <a:rPr lang="es-ES" sz="2000" kern="0" dirty="0"/>
              <a:t>Eslabón final de las funciones directivas ya que contrasta el cumplimiento de los objetivos previamente planteados.</a:t>
            </a:r>
          </a:p>
          <a:p>
            <a:pPr algn="just">
              <a:buClr>
                <a:srgbClr val="C00000"/>
              </a:buClr>
              <a:buFont typeface="Wingdings" pitchFamily="2" charset="2"/>
              <a:buChar char="q"/>
            </a:pPr>
            <a:r>
              <a:rPr lang="es-ES" sz="2000" kern="0" dirty="0"/>
              <a:t>El control, tras supervisar la ejecución de las actividades y el logro de los objetivos, reorienta el futuro de la empresa en la medida que sea necesario.</a:t>
            </a:r>
          </a:p>
          <a:p>
            <a:pPr algn="just">
              <a:buClr>
                <a:srgbClr val="C00000"/>
              </a:buClr>
              <a:buFont typeface="Wingdings" pitchFamily="2" charset="2"/>
              <a:buChar char="q"/>
            </a:pPr>
            <a:r>
              <a:rPr lang="es-ES" sz="2000" kern="0" dirty="0"/>
              <a:t>La información es el elemento central del proceso de control: permite detectar errores y corregirlos.</a:t>
            </a:r>
          </a:p>
          <a:p>
            <a:pPr algn="just">
              <a:buClr>
                <a:srgbClr val="C00000"/>
              </a:buClr>
              <a:buFont typeface="Wingdings" pitchFamily="2" charset="2"/>
              <a:buChar char="q"/>
            </a:pPr>
            <a:r>
              <a:rPr lang="es-ES" sz="2000" kern="0" dirty="0"/>
              <a:t>En ocasiones el control genera rechazo de los individuos, se considera una intromisión en su privacidad. </a:t>
            </a:r>
          </a:p>
          <a:p>
            <a:pPr algn="just">
              <a:buClr>
                <a:srgbClr val="C00000"/>
              </a:buClr>
              <a:buFontTx/>
              <a:buNone/>
            </a:pPr>
            <a:endParaRPr lang="es-ES" sz="2000" kern="0" dirty="0"/>
          </a:p>
          <a:p>
            <a:pPr marL="0" indent="0" algn="ctr">
              <a:buClr>
                <a:srgbClr val="C00000"/>
              </a:buClr>
              <a:buFontTx/>
              <a:buNone/>
            </a:pPr>
            <a:r>
              <a:rPr lang="es-ES" sz="2000" kern="0" dirty="0"/>
              <a:t>Fayol (1916): </a:t>
            </a:r>
            <a:r>
              <a:rPr lang="es-ES" sz="2000" kern="0" dirty="0">
                <a:solidFill>
                  <a:srgbClr val="C00000"/>
                </a:solidFill>
              </a:rPr>
              <a:t>“el control en una empresa consiste en verificar si todo se realiza conforme al programa adoptado, a las órdenes impartidas y a los principios admitidos. Tiene la finalidad de señalar las faltas y los errores, a fin de que se puedan reparar y evitar su repetición. Se aplica a todo, a las cosas, a las personas y a los actos”</a:t>
            </a:r>
          </a:p>
          <a:p>
            <a:endParaRPr lang="es-ES" sz="1600" kern="0" dirty="0"/>
          </a:p>
          <a:p>
            <a:pPr lvl="1"/>
            <a:endParaRPr lang="es-E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pPr algn="l"/>
            <a:r>
              <a:rPr lang="es-ES" dirty="0"/>
              <a:t>3.5.2. Definición</a:t>
            </a:r>
          </a:p>
        </p:txBody>
      </p:sp>
      <p:sp>
        <p:nvSpPr>
          <p:cNvPr id="6" name="Rectangle 3"/>
          <p:cNvSpPr txBox="1">
            <a:spLocks noChangeArrowheads="1"/>
          </p:cNvSpPr>
          <p:nvPr/>
        </p:nvSpPr>
        <p:spPr bwMode="auto">
          <a:xfrm>
            <a:off x="215578" y="1052736"/>
            <a:ext cx="8820472" cy="5256584"/>
          </a:xfrm>
          <a:prstGeom prst="rect">
            <a:avLst/>
          </a:prstGeom>
          <a:noFill/>
          <a:ln w="9525">
            <a:noFill/>
            <a:miter lim="800000"/>
            <a:headEnd/>
            <a:tailEnd/>
          </a:ln>
        </p:spPr>
        <p:txBody>
          <a:bodyPr vert="horz" wrap="square" lIns="91440" tIns="45720" rIns="91440" bIns="45720" numCol="2" anchor="t" anchorCtr="0" compatLnSpc="1">
            <a:prstTxWarp prst="textNoShape">
              <a:avLst/>
            </a:prstTxWarp>
            <a:noAutofit/>
          </a:bodyPr>
          <a:lstStyle/>
          <a:p>
            <a:pPr marL="171450" indent="-171450" algn="just">
              <a:spcBef>
                <a:spcPts val="1200"/>
              </a:spcBef>
              <a:buClr>
                <a:srgbClr val="A50021"/>
              </a:buClr>
              <a:buFont typeface="Wingdings" pitchFamily="2" charset="2"/>
              <a:buChar char="q"/>
              <a:defRPr/>
            </a:pPr>
            <a:r>
              <a:rPr lang="es-ES" kern="0" dirty="0">
                <a:latin typeface="+mn-lt"/>
              </a:rPr>
              <a:t> Control es el </a:t>
            </a:r>
            <a:r>
              <a:rPr lang="es-ES" kern="0" dirty="0">
                <a:solidFill>
                  <a:srgbClr val="000000"/>
                </a:solidFill>
                <a:latin typeface="+mn-lt"/>
              </a:rPr>
              <a:t>proceso de supervisión de las actividades con el fin de asegurar que se realicen de acuerdo a lo planificado y corregir todas las desviaciones significativas.</a:t>
            </a:r>
            <a:endParaRPr kumimoji="0" lang="es-ES" i="0" strike="noStrike" kern="0" cap="none" spc="0" normalizeH="0" baseline="0" noProof="0" dirty="0">
              <a:ln>
                <a:noFill/>
              </a:ln>
              <a:effectLst/>
              <a:uLnTx/>
              <a:uFillTx/>
              <a:latin typeface="+mn-lt"/>
              <a:ea typeface="+mn-ea"/>
              <a:cs typeface="+mn-cs"/>
            </a:endParaRPr>
          </a:p>
          <a:p>
            <a:pPr marL="547688" lvl="3" indent="-273050" algn="just">
              <a:lnSpc>
                <a:spcPct val="90000"/>
              </a:lnSpc>
              <a:spcBef>
                <a:spcPct val="20000"/>
              </a:spcBef>
              <a:buClr>
                <a:srgbClr val="A50021"/>
              </a:buClr>
              <a:buFont typeface="Wingdings" pitchFamily="2" charset="2"/>
              <a:buChar char="ü"/>
              <a:defRPr/>
            </a:pPr>
            <a:r>
              <a:rPr lang="es-ES" kern="0" dirty="0">
                <a:solidFill>
                  <a:srgbClr val="000000"/>
                </a:solidFill>
                <a:latin typeface="Comic Sans MS"/>
              </a:rPr>
              <a:t>La dirección se asegura del correcto cumplimiento de los planes.</a:t>
            </a:r>
          </a:p>
          <a:p>
            <a:pPr marL="547688" lvl="3" indent="-273050" algn="just">
              <a:lnSpc>
                <a:spcPct val="90000"/>
              </a:lnSpc>
              <a:spcBef>
                <a:spcPct val="20000"/>
              </a:spcBef>
              <a:buClr>
                <a:srgbClr val="A50021"/>
              </a:buClr>
              <a:buFont typeface="Wingdings" pitchFamily="2" charset="2"/>
              <a:buChar char="ü"/>
              <a:defRPr/>
            </a:pPr>
            <a:r>
              <a:rPr lang="es-ES" kern="0" dirty="0">
                <a:solidFill>
                  <a:srgbClr val="000000"/>
                </a:solidFill>
                <a:latin typeface="Comic Sans MS"/>
              </a:rPr>
              <a:t>Es necesario medir, analizar y evaluar los resultados de la ejecución de las distintas actividades.</a:t>
            </a:r>
          </a:p>
          <a:p>
            <a:pPr marL="547688" lvl="3" indent="-273050" algn="just">
              <a:lnSpc>
                <a:spcPct val="90000"/>
              </a:lnSpc>
              <a:spcBef>
                <a:spcPct val="20000"/>
              </a:spcBef>
              <a:buClr>
                <a:srgbClr val="A50021"/>
              </a:buClr>
              <a:buFont typeface="Wingdings" pitchFamily="2" charset="2"/>
              <a:buChar char="ü"/>
              <a:defRPr/>
            </a:pPr>
            <a:r>
              <a:rPr lang="es-ES" kern="0" dirty="0">
                <a:solidFill>
                  <a:srgbClr val="000000"/>
                </a:solidFill>
                <a:latin typeface="Comic Sans MS"/>
              </a:rPr>
              <a:t>La planificación y el control están estrechamente interrelacionados: la planificación es la referencia básica para el control.</a:t>
            </a: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lang="es-ES" sz="2000" kern="0" dirty="0">
              <a:solidFill>
                <a:srgbClr val="000000"/>
              </a:solidFill>
              <a:latin typeface="+mn-lt"/>
            </a:endParaRPr>
          </a:p>
          <a:p>
            <a:pPr marL="171450" marR="0" lvl="0" indent="-171450" algn="just" defTabSz="914400" rtl="0" eaLnBrk="1" fontAlgn="base" latinLnBrk="0" hangingPunct="1">
              <a:lnSpc>
                <a:spcPct val="90000"/>
              </a:lnSpc>
              <a:spcBef>
                <a:spcPct val="20000"/>
              </a:spcBef>
              <a:spcAft>
                <a:spcPct val="0"/>
              </a:spcAft>
              <a:buClr>
                <a:srgbClr val="A50021"/>
              </a:buClr>
              <a:buSzTx/>
              <a:tabLst/>
              <a:defRPr/>
            </a:pPr>
            <a:endParaRPr lang="es-ES" sz="2000" kern="0" dirty="0">
              <a:solidFill>
                <a:srgbClr val="000000"/>
              </a:solidFill>
              <a:latin typeface="+mn-lt"/>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lang="es-ES" sz="2000" kern="0" dirty="0">
              <a:solidFill>
                <a:srgbClr val="000000"/>
              </a:solidFill>
              <a:latin typeface="+mn-lt"/>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lang="es-ES" sz="2000" kern="0" dirty="0">
              <a:solidFill>
                <a:srgbClr val="000000"/>
              </a:solidFill>
              <a:latin typeface="+mn-lt"/>
            </a:endParaRPr>
          </a:p>
          <a:p>
            <a:pPr marL="171450" marR="0" lvl="0" indent="-17145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sz="2000" b="0" i="0" u="none" strike="noStrike" kern="0" cap="none" spc="0" normalizeH="0" baseline="0" noProof="0" dirty="0">
              <a:ln>
                <a:noFill/>
              </a:ln>
              <a:solidFill>
                <a:srgbClr val="000000"/>
              </a:solidFill>
              <a:effectLst/>
              <a:uLnTx/>
              <a:uFillTx/>
              <a:latin typeface="+mn-lt"/>
              <a:ea typeface="+mn-ea"/>
              <a:cs typeface="+mn-cs"/>
            </a:endParaRPr>
          </a:p>
          <a:p>
            <a:pPr marL="342900" lvl="0" indent="-11113" algn="just">
              <a:spcBef>
                <a:spcPct val="20000"/>
              </a:spcBef>
            </a:pPr>
            <a:r>
              <a:rPr lang="es-ES" sz="2000" b="1" kern="0" dirty="0">
                <a:solidFill>
                  <a:srgbClr val="C00000"/>
                </a:solidFill>
                <a:latin typeface="Comic Sans MS"/>
              </a:rPr>
              <a:t>Fases del proceso de control:</a:t>
            </a:r>
          </a:p>
          <a:p>
            <a:pPr marL="838200" lvl="1" indent="-381000" algn="just">
              <a:spcBef>
                <a:spcPts val="600"/>
              </a:spcBef>
              <a:spcAft>
                <a:spcPts val="600"/>
              </a:spcAft>
              <a:buClr>
                <a:srgbClr val="000000"/>
              </a:buClr>
              <a:buFont typeface="Wingdings" pitchFamily="2" charset="2"/>
              <a:buAutoNum type="arabicPeriod"/>
              <a:defRPr/>
            </a:pPr>
            <a:r>
              <a:rPr lang="es-ES" kern="0" dirty="0">
                <a:solidFill>
                  <a:srgbClr val="000000"/>
                </a:solidFill>
                <a:latin typeface="Comic Sans MS"/>
              </a:rPr>
              <a:t>Medición del rendimiento. Tres métodos alternativos:</a:t>
            </a:r>
          </a:p>
          <a:p>
            <a:pPr marL="1257300" lvl="2" indent="-342900" algn="just">
              <a:lnSpc>
                <a:spcPct val="90000"/>
              </a:lnSpc>
              <a:spcBef>
                <a:spcPct val="20000"/>
              </a:spcBef>
              <a:buSzPct val="100000"/>
              <a:buFont typeface="Wingdings" pitchFamily="2" charset="2"/>
              <a:buChar char="§"/>
            </a:pPr>
            <a:r>
              <a:rPr lang="es-ES" sz="1600" kern="0" dirty="0">
                <a:solidFill>
                  <a:srgbClr val="000000"/>
                </a:solidFill>
                <a:latin typeface="Comic Sans MS"/>
              </a:rPr>
              <a:t>Observación personal.</a:t>
            </a:r>
          </a:p>
          <a:p>
            <a:pPr marL="1257300" lvl="2" indent="-342900" algn="just">
              <a:lnSpc>
                <a:spcPct val="90000"/>
              </a:lnSpc>
              <a:spcBef>
                <a:spcPct val="20000"/>
              </a:spcBef>
              <a:buSzPct val="100000"/>
              <a:buFont typeface="Wingdings" pitchFamily="2" charset="2"/>
              <a:buChar char="§"/>
            </a:pPr>
            <a:r>
              <a:rPr lang="es-ES" sz="1600" kern="0" dirty="0">
                <a:solidFill>
                  <a:srgbClr val="000000"/>
                </a:solidFill>
                <a:latin typeface="Comic Sans MS"/>
              </a:rPr>
              <a:t>Informes estadísticos.</a:t>
            </a:r>
          </a:p>
          <a:p>
            <a:pPr marL="1257300" lvl="2" indent="-342900">
              <a:lnSpc>
                <a:spcPct val="90000"/>
              </a:lnSpc>
              <a:spcBef>
                <a:spcPct val="20000"/>
              </a:spcBef>
              <a:buSzPct val="100000"/>
              <a:buFont typeface="Wingdings" pitchFamily="2" charset="2"/>
              <a:buChar char="§"/>
            </a:pPr>
            <a:r>
              <a:rPr lang="es-ES" sz="1600" kern="0" dirty="0">
                <a:solidFill>
                  <a:srgbClr val="000000"/>
                </a:solidFill>
                <a:latin typeface="Comic Sans MS"/>
              </a:rPr>
              <a:t>Informes verbales (reuniones, conferencias, diálogos) e informes escritos.</a:t>
            </a:r>
          </a:p>
          <a:p>
            <a:pPr marL="838200" lvl="1" indent="-381000" algn="just">
              <a:spcBef>
                <a:spcPts val="600"/>
              </a:spcBef>
              <a:spcAft>
                <a:spcPts val="600"/>
              </a:spcAft>
              <a:buClr>
                <a:srgbClr val="000000"/>
              </a:buClr>
              <a:buFont typeface="+mj-lt"/>
              <a:buAutoNum type="arabicPeriod" startAt="2"/>
              <a:defRPr/>
            </a:pPr>
            <a:r>
              <a:rPr lang="es-ES" kern="0" dirty="0">
                <a:solidFill>
                  <a:srgbClr val="000000"/>
                </a:solidFill>
                <a:latin typeface="Comic Sans MS"/>
              </a:rPr>
              <a:t>Comparación entre el rendimiento real y el planificado.</a:t>
            </a:r>
          </a:p>
          <a:p>
            <a:pPr marL="838200" lvl="1" indent="-381000" algn="just">
              <a:spcBef>
                <a:spcPts val="600"/>
              </a:spcBef>
              <a:spcAft>
                <a:spcPts val="600"/>
              </a:spcAft>
              <a:buClr>
                <a:srgbClr val="000000"/>
              </a:buClr>
              <a:buFont typeface="Wingdings" pitchFamily="2" charset="2"/>
              <a:buAutoNum type="arabicPeriod" startAt="2"/>
              <a:defRPr/>
            </a:pPr>
            <a:r>
              <a:rPr lang="es-ES" kern="0" dirty="0">
                <a:solidFill>
                  <a:srgbClr val="000000"/>
                </a:solidFill>
                <a:latin typeface="Comic Sans MS"/>
              </a:rPr>
              <a:t>Aplicación de las acciones correctoras en caso necesario. Opciones:</a:t>
            </a:r>
          </a:p>
          <a:p>
            <a:pPr marL="1295400" lvl="2" indent="-381000" algn="just">
              <a:spcBef>
                <a:spcPts val="0"/>
              </a:spcBef>
              <a:spcAft>
                <a:spcPts val="0"/>
              </a:spcAft>
              <a:buClr>
                <a:srgbClr val="000000"/>
              </a:buClr>
              <a:buFont typeface="Wingdings" pitchFamily="2" charset="2"/>
              <a:buChar char="§"/>
              <a:defRPr/>
            </a:pPr>
            <a:r>
              <a:rPr lang="es-ES" sz="1600" kern="0" dirty="0">
                <a:solidFill>
                  <a:srgbClr val="000000"/>
                </a:solidFill>
                <a:latin typeface="Comic Sans MS"/>
              </a:rPr>
              <a:t>No hacer nada.</a:t>
            </a:r>
          </a:p>
          <a:p>
            <a:pPr marL="1295400" lvl="2" indent="-381000" algn="just">
              <a:spcBef>
                <a:spcPts val="0"/>
              </a:spcBef>
              <a:spcAft>
                <a:spcPts val="0"/>
              </a:spcAft>
              <a:buClr>
                <a:srgbClr val="000000"/>
              </a:buClr>
              <a:buFont typeface="Wingdings" pitchFamily="2" charset="2"/>
              <a:buChar char="§"/>
              <a:defRPr/>
            </a:pPr>
            <a:r>
              <a:rPr lang="es-ES" sz="1600" kern="0" dirty="0">
                <a:solidFill>
                  <a:srgbClr val="000000"/>
                </a:solidFill>
                <a:latin typeface="Comic Sans MS"/>
              </a:rPr>
              <a:t>Tratar de corregir el rendimiento real.</a:t>
            </a:r>
          </a:p>
          <a:p>
            <a:pPr marL="1295400" lvl="2" indent="-381000" algn="just">
              <a:spcBef>
                <a:spcPts val="0"/>
              </a:spcBef>
              <a:spcAft>
                <a:spcPts val="0"/>
              </a:spcAft>
              <a:buClr>
                <a:srgbClr val="000000"/>
              </a:buClr>
              <a:buFont typeface="Wingdings" pitchFamily="2" charset="2"/>
              <a:buChar char="§"/>
              <a:defRPr/>
            </a:pPr>
            <a:r>
              <a:rPr lang="es-ES" sz="1600" kern="0" dirty="0">
                <a:solidFill>
                  <a:srgbClr val="000000"/>
                </a:solidFill>
                <a:latin typeface="Comic Sans MS"/>
              </a:rPr>
              <a:t>Revisar los estándares definidos: son metas realistas</a:t>
            </a:r>
            <a:r>
              <a:rPr lang="es-ES" kern="0" dirty="0">
                <a:solidFill>
                  <a:srgbClr val="000000"/>
                </a:solidFill>
                <a:latin typeface="Comic Sans MS"/>
              </a:rPr>
              <a:t> ???</a:t>
            </a:r>
          </a:p>
          <a:p>
            <a:pPr marL="548322" marR="0" lvl="0" indent="-274320" algn="just" defTabSz="914400" rtl="0" eaLnBrk="1" fontAlgn="base" latinLnBrk="0" hangingPunct="1">
              <a:lnSpc>
                <a:spcPct val="90000"/>
              </a:lnSpc>
              <a:spcBef>
                <a:spcPct val="20000"/>
              </a:spcBef>
              <a:spcAft>
                <a:spcPct val="0"/>
              </a:spcAft>
              <a:buClr>
                <a:srgbClr val="A50021"/>
              </a:buClr>
              <a:buSzTx/>
              <a:buFont typeface="Wingdings" pitchFamily="2" charset="2"/>
              <a:buChar char="Ø"/>
              <a:tabLst/>
              <a:defRPr/>
            </a:pPr>
            <a:endParaRPr kumimoji="0" lang="es-ES" b="0" i="0" u="none" strike="noStrike" kern="0" cap="none" spc="0" normalizeH="0" baseline="0" noProof="0" dirty="0">
              <a:ln>
                <a:noFill/>
              </a:ln>
              <a:solidFill>
                <a:srgbClr val="000000"/>
              </a:solidFill>
              <a:effectLst/>
              <a:uLnTx/>
              <a:uFillTx/>
              <a:latin typeface="+mn-lt"/>
              <a:ea typeface="+mn-ea"/>
              <a:cs typeface="+mn-cs"/>
            </a:endParaRPr>
          </a:p>
        </p:txBody>
      </p:sp>
      <p:sp>
        <p:nvSpPr>
          <p:cNvPr id="7" name="6 Marcador de número de diapositiva"/>
          <p:cNvSpPr>
            <a:spLocks noGrp="1"/>
          </p:cNvSpPr>
          <p:nvPr>
            <p:ph type="sldNum" sz="quarter" idx="4"/>
          </p:nvPr>
        </p:nvSpPr>
        <p:spPr/>
        <p:txBody>
          <a:bodyPr/>
          <a:lstStyle/>
          <a:p>
            <a:pPr>
              <a:defRPr/>
            </a:pPr>
            <a:fld id="{031E6992-B48E-4E13-A9CD-F20B6AAC6FC2}" type="slidenum">
              <a:rPr lang="es-ES" smtClean="0"/>
              <a:pPr>
                <a:defRPr/>
              </a:pPr>
              <a:t>59</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4294967295"/>
          </p:nvPr>
        </p:nvSpPr>
        <p:spPr>
          <a:xfrm>
            <a:off x="446856" y="764704"/>
            <a:ext cx="8229600" cy="5544616"/>
          </a:xfrm>
        </p:spPr>
        <p:txBody>
          <a:bodyPr rtlCol="0">
            <a:noAutofit/>
          </a:bodyPr>
          <a:lstStyle/>
          <a:p>
            <a:pPr marL="838200" lvl="1" indent="-381000" algn="just" eaLnBrk="1" fontAlgn="auto" hangingPunct="1">
              <a:lnSpc>
                <a:spcPct val="80000"/>
              </a:lnSpc>
              <a:spcAft>
                <a:spcPts val="0"/>
              </a:spcAft>
              <a:buNone/>
              <a:defRPr/>
            </a:pPr>
            <a:endParaRPr lang="es-ES" sz="1800" b="1" u="sng" dirty="0"/>
          </a:p>
          <a:p>
            <a:pPr marL="438150" indent="-381000" algn="just" fontAlgn="auto">
              <a:lnSpc>
                <a:spcPct val="80000"/>
              </a:lnSpc>
              <a:spcAft>
                <a:spcPts val="0"/>
              </a:spcAft>
              <a:buNone/>
              <a:defRPr/>
            </a:pPr>
            <a:r>
              <a:rPr lang="es-ES" sz="1800" dirty="0"/>
              <a:t>Según el momento en el que se ejerce:</a:t>
            </a:r>
          </a:p>
          <a:p>
            <a:pPr marL="457200" algn="just" fontAlgn="auto">
              <a:lnSpc>
                <a:spcPct val="110000"/>
              </a:lnSpc>
              <a:spcBef>
                <a:spcPts val="1200"/>
              </a:spcBef>
              <a:spcAft>
                <a:spcPts val="0"/>
              </a:spcAft>
              <a:buClr>
                <a:srgbClr val="C00000"/>
              </a:buClr>
              <a:buFont typeface="Wingdings" pitchFamily="2" charset="2"/>
              <a:buChar char="q"/>
              <a:defRPr/>
            </a:pPr>
            <a:r>
              <a:rPr lang="es-ES" sz="1800" b="1" u="sng" dirty="0">
                <a:solidFill>
                  <a:srgbClr val="C00000"/>
                </a:solidFill>
              </a:rPr>
              <a:t>Control concurrente</a:t>
            </a:r>
            <a:r>
              <a:rPr lang="es-ES" sz="1800" dirty="0"/>
              <a:t>, en el momento de ejecución de la actividad, permite agilizar las soluciones y reducir los costes. </a:t>
            </a:r>
          </a:p>
          <a:p>
            <a:pPr marL="1257300" lvl="2" indent="-342900" algn="just" fontAlgn="auto">
              <a:lnSpc>
                <a:spcPct val="110000"/>
              </a:lnSpc>
              <a:spcBef>
                <a:spcPts val="1200"/>
              </a:spcBef>
              <a:spcAft>
                <a:spcPts val="0"/>
              </a:spcAft>
              <a:buClr>
                <a:srgbClr val="C00000"/>
              </a:buClr>
              <a:buFont typeface="Wingdings" pitchFamily="2" charset="2"/>
              <a:buChar char="ü"/>
              <a:defRPr/>
            </a:pPr>
            <a:r>
              <a:rPr lang="es-ES" sz="1800" dirty="0"/>
              <a:t>Ejemplo: revisiones periódicas del funcionamiento de una planta de producción.</a:t>
            </a:r>
          </a:p>
          <a:p>
            <a:pPr marL="457200" algn="just" fontAlgn="auto">
              <a:spcBef>
                <a:spcPts val="1200"/>
              </a:spcBef>
              <a:spcAft>
                <a:spcPts val="0"/>
              </a:spcAft>
              <a:buClr>
                <a:srgbClr val="C00000"/>
              </a:buClr>
              <a:buFont typeface="Wingdings" pitchFamily="2" charset="2"/>
              <a:buChar char="q"/>
              <a:defRPr/>
            </a:pPr>
            <a:r>
              <a:rPr lang="es-ES" sz="1800" b="1" u="sng" dirty="0">
                <a:solidFill>
                  <a:srgbClr val="C00000"/>
                </a:solidFill>
              </a:rPr>
              <a:t>Control preventivo</a:t>
            </a:r>
            <a:r>
              <a:rPr lang="es-ES" sz="1800" dirty="0"/>
              <a:t>, antes de la ejecución de la actividad. Es el que ha demostrado mayores efectos positivos ya que intenta prevenir la aparición de problemas. </a:t>
            </a:r>
          </a:p>
          <a:p>
            <a:pPr marL="1257300" lvl="2" indent="-342900" algn="just" fontAlgn="auto">
              <a:spcBef>
                <a:spcPts val="1200"/>
              </a:spcBef>
              <a:spcAft>
                <a:spcPts val="0"/>
              </a:spcAft>
              <a:buClr>
                <a:srgbClr val="C00000"/>
              </a:buClr>
              <a:buFont typeface="Wingdings" pitchFamily="2" charset="2"/>
              <a:buChar char="ü"/>
              <a:defRPr/>
            </a:pPr>
            <a:r>
              <a:rPr lang="es-ES" sz="1800" dirty="0"/>
              <a:t>Ejemplo: en una cadena de montaje, comprobar el funcionamiento de las máquinas antes de comenzar con el proceso de producción.</a:t>
            </a:r>
            <a:endParaRPr lang="es-ES" sz="1800" u="sng" dirty="0"/>
          </a:p>
          <a:p>
            <a:pPr marL="457200" algn="just" fontAlgn="auto">
              <a:lnSpc>
                <a:spcPct val="120000"/>
              </a:lnSpc>
              <a:spcBef>
                <a:spcPts val="1200"/>
              </a:spcBef>
              <a:spcAft>
                <a:spcPts val="0"/>
              </a:spcAft>
              <a:buClr>
                <a:srgbClr val="C00000"/>
              </a:buClr>
              <a:buFont typeface="Wingdings" pitchFamily="2" charset="2"/>
              <a:buChar char="q"/>
              <a:defRPr/>
            </a:pPr>
            <a:r>
              <a:rPr lang="es-ES" sz="1800" b="1" u="sng" dirty="0">
                <a:solidFill>
                  <a:srgbClr val="C00000"/>
                </a:solidFill>
              </a:rPr>
              <a:t>Control correctivo</a:t>
            </a:r>
            <a:r>
              <a:rPr lang="es-ES" sz="1800" dirty="0"/>
              <a:t>, después de realizada la actividad, se notifica la deficiencia cuando el daño está hecho y sus consecuencias se han dejado sentir. </a:t>
            </a:r>
          </a:p>
          <a:p>
            <a:pPr marL="1257300" lvl="2" indent="-342900" algn="just" fontAlgn="auto">
              <a:lnSpc>
                <a:spcPct val="120000"/>
              </a:lnSpc>
              <a:spcBef>
                <a:spcPts val="1200"/>
              </a:spcBef>
              <a:spcAft>
                <a:spcPts val="0"/>
              </a:spcAft>
              <a:buClr>
                <a:srgbClr val="C00000"/>
              </a:buClr>
              <a:buFont typeface="Wingdings" pitchFamily="2" charset="2"/>
              <a:buChar char="ü"/>
              <a:defRPr/>
            </a:pPr>
            <a:r>
              <a:rPr lang="es-ES" sz="1800" dirty="0"/>
              <a:t>Ejemplo: tras la queja de un cliente, revisar el producto.</a:t>
            </a:r>
          </a:p>
          <a:p>
            <a:pPr marL="448056" indent="-384048" eaLnBrk="1" fontAlgn="auto" hangingPunct="1">
              <a:spcAft>
                <a:spcPts val="0"/>
              </a:spcAft>
              <a:buFont typeface="Wingdings 2"/>
              <a:buNone/>
              <a:defRPr/>
            </a:pPr>
            <a:endParaRPr lang="es-ES" sz="1800" dirty="0"/>
          </a:p>
        </p:txBody>
      </p:sp>
      <p:sp>
        <p:nvSpPr>
          <p:cNvPr id="4" name="3 Título"/>
          <p:cNvSpPr>
            <a:spLocks noGrp="1"/>
          </p:cNvSpPr>
          <p:nvPr>
            <p:ph type="title"/>
          </p:nvPr>
        </p:nvSpPr>
        <p:spPr/>
        <p:txBody>
          <a:bodyPr/>
          <a:lstStyle/>
          <a:p>
            <a:pPr algn="l"/>
            <a:r>
              <a:rPr lang="es-ES" dirty="0"/>
              <a:t>3.5.3. Tipos de control</a:t>
            </a:r>
          </a:p>
        </p:txBody>
      </p:sp>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60</a:t>
            </a:fld>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73437F70-6940-454B-AF65-ADF1F5BC8888}"/>
              </a:ext>
            </a:extLst>
          </p:cNvPr>
          <p:cNvSpPr>
            <a:spLocks noGrp="1"/>
          </p:cNvSpPr>
          <p:nvPr>
            <p:ph type="title"/>
          </p:nvPr>
        </p:nvSpPr>
        <p:spPr/>
        <p:txBody>
          <a:bodyPr>
            <a:normAutofit/>
          </a:bodyPr>
          <a:lstStyle/>
          <a:p>
            <a:pPr marL="363141">
              <a:defRPr/>
            </a:pPr>
            <a:r>
              <a:rPr lang="es-ES" sz="2000" dirty="0"/>
              <a:t>3.5.3. Tipos de control. El cuadro de mando</a:t>
            </a:r>
            <a:endParaRPr lang="es-ES" sz="1950" spc="-4" dirty="0">
              <a:solidFill>
                <a:schemeClr val="accent1"/>
              </a:solidFill>
            </a:endParaRPr>
          </a:p>
        </p:txBody>
      </p:sp>
      <p:sp>
        <p:nvSpPr>
          <p:cNvPr id="4" name="Marcador de número de diapositiva 3">
            <a:extLst>
              <a:ext uri="{FF2B5EF4-FFF2-40B4-BE49-F238E27FC236}">
                <a16:creationId xmlns:a16="http://schemas.microsoft.com/office/drawing/2014/main" id="{1398EF68-2BDD-4B9F-8579-CC3161840B80}"/>
              </a:ext>
            </a:extLst>
          </p:cNvPr>
          <p:cNvSpPr>
            <a:spLocks noGrp="1"/>
          </p:cNvSpPr>
          <p:nvPr>
            <p:ph type="sldNum" sz="quarter" idx="4"/>
          </p:nvPr>
        </p:nvSpPr>
        <p:spPr/>
        <p:txBody>
          <a:bodyPr/>
          <a:lstStyle/>
          <a:p>
            <a:fld id="{D57F1E4F-1CFF-5643-939E-217C01CDF565}" type="slidenum">
              <a:rPr lang="en-US" smtClean="0"/>
              <a:pPr/>
              <a:t>61</a:t>
            </a:fld>
            <a:endParaRPr lang="en-US" dirty="0"/>
          </a:p>
        </p:txBody>
      </p:sp>
      <p:sp>
        <p:nvSpPr>
          <p:cNvPr id="48131" name="2 Marcador de contenido">
            <a:extLst>
              <a:ext uri="{FF2B5EF4-FFF2-40B4-BE49-F238E27FC236}">
                <a16:creationId xmlns:a16="http://schemas.microsoft.com/office/drawing/2014/main" id="{37CB01AE-5AB6-4207-8589-D6EB318E02D7}"/>
              </a:ext>
            </a:extLst>
          </p:cNvPr>
          <p:cNvSpPr>
            <a:spLocks noGrp="1"/>
          </p:cNvSpPr>
          <p:nvPr>
            <p:ph idx="4294967295"/>
          </p:nvPr>
        </p:nvSpPr>
        <p:spPr>
          <a:xfrm>
            <a:off x="659606" y="1076052"/>
            <a:ext cx="7824787" cy="5184775"/>
          </a:xfrm>
        </p:spPr>
        <p:txBody>
          <a:bodyPr/>
          <a:lstStyle/>
          <a:p>
            <a:pPr>
              <a:defRPr/>
            </a:pPr>
            <a:r>
              <a:rPr lang="es-ES" sz="1600" dirty="0"/>
              <a:t>Es un resumen de la información importante para la gestión de la empresa</a:t>
            </a:r>
          </a:p>
          <a:p>
            <a:pPr>
              <a:defRPr/>
            </a:pPr>
            <a:r>
              <a:rPr lang="es-ES" sz="1600" dirty="0"/>
              <a:t>Contiene objetivos, indicadores (magnitud que muestra el estado de un proceso) y metas (valor que ha de alcanzar el indicador para lograr el objetivo)</a:t>
            </a:r>
          </a:p>
          <a:p>
            <a:pPr>
              <a:defRPr/>
            </a:pPr>
            <a:r>
              <a:rPr lang="es-ES" sz="1600" dirty="0"/>
              <a:t>Permite ver la evolución para realizar el seguimiento</a:t>
            </a:r>
          </a:p>
          <a:p>
            <a:pPr marL="673894" lvl="2" indent="-342900" algn="just">
              <a:spcBef>
                <a:spcPts val="0"/>
              </a:spcBef>
              <a:spcAft>
                <a:spcPts val="0"/>
              </a:spcAft>
              <a:buClr>
                <a:srgbClr val="C00000"/>
              </a:buClr>
              <a:buFont typeface="Wingdings" panose="05000000000000000000" pitchFamily="2" charset="2"/>
              <a:buChar char="§"/>
              <a:defRPr/>
            </a:pPr>
            <a:endParaRPr lang="es-ES" altLang="es-ES" sz="2000" dirty="0"/>
          </a:p>
          <a:p>
            <a:pPr marL="673894" lvl="2" indent="-342900" algn="just">
              <a:spcBef>
                <a:spcPts val="0"/>
              </a:spcBef>
              <a:spcAft>
                <a:spcPts val="0"/>
              </a:spcAft>
              <a:buClr>
                <a:srgbClr val="C00000"/>
              </a:buClr>
              <a:buFontTx/>
              <a:buChar char="-"/>
              <a:defRPr/>
            </a:pPr>
            <a:endParaRPr lang="es-ES" altLang="es-ES" b="1" dirty="0">
              <a:solidFill>
                <a:srgbClr val="C00000"/>
              </a:solidFill>
            </a:endParaRPr>
          </a:p>
          <a:p>
            <a:pPr marL="673894" lvl="2" indent="-342900" algn="just">
              <a:spcBef>
                <a:spcPts val="0"/>
              </a:spcBef>
              <a:spcAft>
                <a:spcPts val="0"/>
              </a:spcAft>
              <a:buClr>
                <a:srgbClr val="C00000"/>
              </a:buClr>
              <a:buFont typeface="Wingdings" panose="05000000000000000000" pitchFamily="2" charset="2"/>
              <a:buChar char="§"/>
              <a:defRPr/>
            </a:pPr>
            <a:endParaRPr lang="es-ES" altLang="es-ES" sz="2000" dirty="0"/>
          </a:p>
          <a:p>
            <a:pPr marL="588169" lvl="2" indent="-257175" algn="just">
              <a:spcBef>
                <a:spcPts val="0"/>
              </a:spcBef>
              <a:spcAft>
                <a:spcPts val="0"/>
              </a:spcAft>
              <a:buClr>
                <a:srgbClr val="C00000"/>
              </a:buClr>
              <a:buFont typeface="Wingdings" pitchFamily="2" charset="2"/>
              <a:buChar char="§"/>
              <a:defRPr/>
            </a:pPr>
            <a:endParaRPr lang="es-ES" altLang="es-ES" sz="2000" dirty="0"/>
          </a:p>
          <a:p>
            <a:pPr marL="335756" indent="-286941">
              <a:buNone/>
              <a:defRPr/>
            </a:pPr>
            <a:endParaRPr lang="es-ES" altLang="es-ES" sz="2800" dirty="0"/>
          </a:p>
        </p:txBody>
      </p:sp>
      <p:graphicFrame>
        <p:nvGraphicFramePr>
          <p:cNvPr id="3" name="2 Tabla">
            <a:extLst>
              <a:ext uri="{FF2B5EF4-FFF2-40B4-BE49-F238E27FC236}">
                <a16:creationId xmlns:a16="http://schemas.microsoft.com/office/drawing/2014/main" id="{09A9733D-1724-4961-8EFE-DD288DCBBDDB}"/>
              </a:ext>
            </a:extLst>
          </p:cNvPr>
          <p:cNvGraphicFramePr>
            <a:graphicFrameLocks noGrp="1"/>
          </p:cNvGraphicFramePr>
          <p:nvPr>
            <p:extLst>
              <p:ext uri="{D42A27DB-BD31-4B8C-83A1-F6EECF244321}">
                <p14:modId xmlns:p14="http://schemas.microsoft.com/office/powerpoint/2010/main" val="1210536411"/>
              </p:ext>
            </p:extLst>
          </p:nvPr>
        </p:nvGraphicFramePr>
        <p:xfrm>
          <a:off x="1147764" y="2564904"/>
          <a:ext cx="7096645" cy="3028908"/>
        </p:xfrm>
        <a:graphic>
          <a:graphicData uri="http://schemas.openxmlformats.org/drawingml/2006/table">
            <a:tbl>
              <a:tblPr firstRow="1" bandRow="1">
                <a:tableStyleId>{21E4AEA4-8DFA-4A89-87EB-49C32662AFE0}</a:tableStyleId>
              </a:tblPr>
              <a:tblGrid>
                <a:gridCol w="2304894">
                  <a:extLst>
                    <a:ext uri="{9D8B030D-6E8A-4147-A177-3AD203B41FA5}">
                      <a16:colId xmlns:a16="http://schemas.microsoft.com/office/drawing/2014/main" val="20000"/>
                    </a:ext>
                  </a:extLst>
                </a:gridCol>
                <a:gridCol w="1455722">
                  <a:extLst>
                    <a:ext uri="{9D8B030D-6E8A-4147-A177-3AD203B41FA5}">
                      <a16:colId xmlns:a16="http://schemas.microsoft.com/office/drawing/2014/main" val="20001"/>
                    </a:ext>
                  </a:extLst>
                </a:gridCol>
                <a:gridCol w="1152447">
                  <a:extLst>
                    <a:ext uri="{9D8B030D-6E8A-4147-A177-3AD203B41FA5}">
                      <a16:colId xmlns:a16="http://schemas.microsoft.com/office/drawing/2014/main" val="20002"/>
                    </a:ext>
                  </a:extLst>
                </a:gridCol>
                <a:gridCol w="545896">
                  <a:extLst>
                    <a:ext uri="{9D8B030D-6E8A-4147-A177-3AD203B41FA5}">
                      <a16:colId xmlns:a16="http://schemas.microsoft.com/office/drawing/2014/main" val="20003"/>
                    </a:ext>
                  </a:extLst>
                </a:gridCol>
                <a:gridCol w="545896">
                  <a:extLst>
                    <a:ext uri="{9D8B030D-6E8A-4147-A177-3AD203B41FA5}">
                      <a16:colId xmlns:a16="http://schemas.microsoft.com/office/drawing/2014/main" val="20004"/>
                    </a:ext>
                  </a:extLst>
                </a:gridCol>
                <a:gridCol w="545896">
                  <a:extLst>
                    <a:ext uri="{9D8B030D-6E8A-4147-A177-3AD203B41FA5}">
                      <a16:colId xmlns:a16="http://schemas.microsoft.com/office/drawing/2014/main" val="20005"/>
                    </a:ext>
                  </a:extLst>
                </a:gridCol>
                <a:gridCol w="545894">
                  <a:extLst>
                    <a:ext uri="{9D8B030D-6E8A-4147-A177-3AD203B41FA5}">
                      <a16:colId xmlns:a16="http://schemas.microsoft.com/office/drawing/2014/main" val="20006"/>
                    </a:ext>
                  </a:extLst>
                </a:gridCol>
              </a:tblGrid>
              <a:tr h="309563">
                <a:tc rowSpan="2">
                  <a:txBody>
                    <a:bodyPr/>
                    <a:lstStyle/>
                    <a:p>
                      <a:pPr algn="ctr"/>
                      <a:r>
                        <a:rPr lang="es-ES" sz="1400" dirty="0"/>
                        <a:t>OBJETIVO</a:t>
                      </a:r>
                    </a:p>
                  </a:txBody>
                  <a:tcPr marL="68579" marR="68579" marT="34265" marB="34265" anchor="ctr"/>
                </a:tc>
                <a:tc rowSpan="2">
                  <a:txBody>
                    <a:bodyPr/>
                    <a:lstStyle/>
                    <a:p>
                      <a:pPr algn="ctr"/>
                      <a:r>
                        <a:rPr lang="es-ES" sz="1400" dirty="0"/>
                        <a:t>INDICADOR</a:t>
                      </a:r>
                    </a:p>
                  </a:txBody>
                  <a:tcPr marL="68579" marR="68579" marT="34265" marB="34265" anchor="ctr"/>
                </a:tc>
                <a:tc rowSpan="2">
                  <a:txBody>
                    <a:bodyPr/>
                    <a:lstStyle/>
                    <a:p>
                      <a:pPr algn="ctr"/>
                      <a:r>
                        <a:rPr lang="es-ES" sz="1400" dirty="0"/>
                        <a:t>META (*)</a:t>
                      </a:r>
                    </a:p>
                  </a:txBody>
                  <a:tcPr marL="68579" marR="68579" marT="34265" marB="34265" anchor="ctr"/>
                </a:tc>
                <a:tc gridSpan="4">
                  <a:txBody>
                    <a:bodyPr/>
                    <a:lstStyle/>
                    <a:p>
                      <a:pPr algn="ctr"/>
                      <a:r>
                        <a:rPr lang="es-ES" sz="1400" dirty="0"/>
                        <a:t>EVOLUCIÓN</a:t>
                      </a:r>
                    </a:p>
                  </a:txBody>
                  <a:tcPr marL="68579" marR="68579" marT="34265" marB="34265" anchor="ctr"/>
                </a:tc>
                <a:tc hMerge="1">
                  <a:txBody>
                    <a:bodyPr/>
                    <a:lstStyle/>
                    <a:p>
                      <a:endParaRPr lang="es-ES" dirty="0"/>
                    </a:p>
                  </a:txBody>
                  <a:tcPr/>
                </a:tc>
                <a:tc hMerge="1">
                  <a:txBody>
                    <a:bodyPr/>
                    <a:lstStyle/>
                    <a:p>
                      <a:endParaRPr lang="es-ES" dirty="0"/>
                    </a:p>
                  </a:txBody>
                  <a:tcPr/>
                </a:tc>
                <a:tc hMerge="1">
                  <a:txBody>
                    <a:bodyPr/>
                    <a:lstStyle/>
                    <a:p>
                      <a:endParaRPr lang="es-ES" dirty="0"/>
                    </a:p>
                  </a:txBody>
                  <a:tcPr/>
                </a:tc>
                <a:extLst>
                  <a:ext uri="{0D108BD9-81ED-4DB2-BD59-A6C34878D82A}">
                    <a16:rowId xmlns:a16="http://schemas.microsoft.com/office/drawing/2014/main" val="10000"/>
                  </a:ext>
                </a:extLst>
              </a:tr>
              <a:tr h="309563">
                <a:tc vMerge="1">
                  <a:txBody>
                    <a:bodyPr/>
                    <a:lstStyle/>
                    <a:p>
                      <a:endParaRPr lang="es-ES" dirty="0"/>
                    </a:p>
                  </a:txBody>
                  <a:tcPr>
                    <a:solidFill>
                      <a:schemeClr val="accent1">
                        <a:lumMod val="75000"/>
                      </a:schemeClr>
                    </a:solidFill>
                  </a:tcPr>
                </a:tc>
                <a:tc vMerge="1">
                  <a:txBody>
                    <a:bodyPr/>
                    <a:lstStyle/>
                    <a:p>
                      <a:endParaRPr lang="es-ES" dirty="0"/>
                    </a:p>
                  </a:txBody>
                  <a:tcPr>
                    <a:solidFill>
                      <a:schemeClr val="accent1">
                        <a:lumMod val="75000"/>
                      </a:schemeClr>
                    </a:solidFill>
                  </a:tcPr>
                </a:tc>
                <a:tc vMerge="1">
                  <a:txBody>
                    <a:bodyPr/>
                    <a:lstStyle/>
                    <a:p>
                      <a:endParaRPr lang="es-ES" dirty="0"/>
                    </a:p>
                  </a:txBody>
                  <a:tcPr>
                    <a:solidFill>
                      <a:schemeClr val="accent1">
                        <a:lumMod val="75000"/>
                      </a:schemeClr>
                    </a:solidFill>
                  </a:tcPr>
                </a:tc>
                <a:tc>
                  <a:txBody>
                    <a:bodyPr/>
                    <a:lstStyle/>
                    <a:p>
                      <a:pPr algn="ctr"/>
                      <a:r>
                        <a:rPr lang="es-ES" sz="1400" b="1" dirty="0">
                          <a:solidFill>
                            <a:schemeClr val="bg1"/>
                          </a:solidFill>
                        </a:rPr>
                        <a:t>T1</a:t>
                      </a:r>
                    </a:p>
                  </a:txBody>
                  <a:tcPr marL="68579" marR="68579" marT="34265" marB="34265"/>
                </a:tc>
                <a:tc>
                  <a:txBody>
                    <a:bodyPr/>
                    <a:lstStyle/>
                    <a:p>
                      <a:pPr algn="ctr"/>
                      <a:r>
                        <a:rPr lang="es-ES" sz="1400" b="1" dirty="0">
                          <a:solidFill>
                            <a:schemeClr val="bg1"/>
                          </a:solidFill>
                        </a:rPr>
                        <a:t>T2</a:t>
                      </a:r>
                    </a:p>
                  </a:txBody>
                  <a:tcPr marL="68579" marR="68579" marT="34265" marB="34265"/>
                </a:tc>
                <a:tc>
                  <a:txBody>
                    <a:bodyPr/>
                    <a:lstStyle/>
                    <a:p>
                      <a:pPr algn="ctr"/>
                      <a:r>
                        <a:rPr lang="es-ES" sz="1400" b="1" dirty="0">
                          <a:solidFill>
                            <a:schemeClr val="bg1"/>
                          </a:solidFill>
                        </a:rPr>
                        <a:t>T3</a:t>
                      </a:r>
                    </a:p>
                  </a:txBody>
                  <a:tcPr marL="68579" marR="68579" marT="34265" marB="34265"/>
                </a:tc>
                <a:tc>
                  <a:txBody>
                    <a:bodyPr/>
                    <a:lstStyle/>
                    <a:p>
                      <a:pPr algn="ctr"/>
                      <a:r>
                        <a:rPr lang="es-ES" sz="1400" b="1" dirty="0">
                          <a:solidFill>
                            <a:schemeClr val="bg1"/>
                          </a:solidFill>
                        </a:rPr>
                        <a:t>T4</a:t>
                      </a:r>
                    </a:p>
                  </a:txBody>
                  <a:tcPr marL="68579" marR="68579" marT="34265" marB="34265"/>
                </a:tc>
                <a:extLst>
                  <a:ext uri="{0D108BD9-81ED-4DB2-BD59-A6C34878D82A}">
                    <a16:rowId xmlns:a16="http://schemas.microsoft.com/office/drawing/2014/main" val="10001"/>
                  </a:ext>
                </a:extLst>
              </a:tr>
              <a:tr h="543869">
                <a:tc>
                  <a:txBody>
                    <a:bodyPr/>
                    <a:lstStyle/>
                    <a:p>
                      <a:r>
                        <a:rPr lang="es-ES" sz="1400" b="1" dirty="0"/>
                        <a:t>Aumentar las ventas</a:t>
                      </a:r>
                    </a:p>
                  </a:txBody>
                  <a:tcPr marL="68579" marR="68579" marT="34265" marB="34265"/>
                </a:tc>
                <a:tc>
                  <a:txBody>
                    <a:bodyPr/>
                    <a:lstStyle/>
                    <a:p>
                      <a:pPr algn="l"/>
                      <a:r>
                        <a:rPr lang="es-ES" sz="1400" b="1" dirty="0"/>
                        <a:t>Cifra de ventas</a:t>
                      </a:r>
                    </a:p>
                  </a:txBody>
                  <a:tcPr marL="68579" marR="68579" marT="34265" marB="34265"/>
                </a:tc>
                <a:tc>
                  <a:txBody>
                    <a:bodyPr/>
                    <a:lstStyle/>
                    <a:p>
                      <a:pPr algn="ctr"/>
                      <a:r>
                        <a:rPr lang="es-ES" sz="1400" b="1" dirty="0"/>
                        <a:t>+ 20%</a:t>
                      </a:r>
                    </a:p>
                  </a:txBody>
                  <a:tcPr marL="68579" marR="68579" marT="34265" marB="34265"/>
                </a:tc>
                <a:tc>
                  <a:txBody>
                    <a:bodyPr/>
                    <a:lstStyle/>
                    <a:p>
                      <a:endParaRPr lang="es-ES" sz="1400" b="1" dirty="0"/>
                    </a:p>
                  </a:txBody>
                  <a:tcPr marL="68579" marR="68579" marT="34265" marB="34265"/>
                </a:tc>
                <a:tc>
                  <a:txBody>
                    <a:bodyPr/>
                    <a:lstStyle/>
                    <a:p>
                      <a:endParaRPr lang="es-ES" sz="1400" b="1"/>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extLst>
                  <a:ext uri="{0D108BD9-81ED-4DB2-BD59-A6C34878D82A}">
                    <a16:rowId xmlns:a16="http://schemas.microsoft.com/office/drawing/2014/main" val="10002"/>
                  </a:ext>
                </a:extLst>
              </a:tr>
              <a:tr h="778175">
                <a:tc>
                  <a:txBody>
                    <a:bodyPr/>
                    <a:lstStyle/>
                    <a:p>
                      <a:r>
                        <a:rPr lang="es-ES" sz="1400" b="1" dirty="0"/>
                        <a:t>Aumentar la participación en el mercado</a:t>
                      </a:r>
                    </a:p>
                  </a:txBody>
                  <a:tcPr marL="68579" marR="68579" marT="34265" marB="34265"/>
                </a:tc>
                <a:tc>
                  <a:txBody>
                    <a:bodyPr/>
                    <a:lstStyle/>
                    <a:p>
                      <a:pPr algn="l"/>
                      <a:r>
                        <a:rPr lang="es-ES" sz="1400" b="1" dirty="0"/>
                        <a:t>Cuota de mercado</a:t>
                      </a:r>
                    </a:p>
                  </a:txBody>
                  <a:tcPr marL="68579" marR="68579" marT="34265" marB="34265"/>
                </a:tc>
                <a:tc>
                  <a:txBody>
                    <a:bodyPr/>
                    <a:lstStyle/>
                    <a:p>
                      <a:pPr algn="ctr"/>
                      <a:r>
                        <a:rPr lang="es-ES" sz="1400" b="1" dirty="0"/>
                        <a:t>+3%</a:t>
                      </a:r>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extLst>
                  <a:ext uri="{0D108BD9-81ED-4DB2-BD59-A6C34878D82A}">
                    <a16:rowId xmlns:a16="http://schemas.microsoft.com/office/drawing/2014/main" val="10003"/>
                  </a:ext>
                </a:extLst>
              </a:tr>
              <a:tr h="543869">
                <a:tc>
                  <a:txBody>
                    <a:bodyPr/>
                    <a:lstStyle/>
                    <a:p>
                      <a:r>
                        <a:rPr lang="es-ES" sz="1400" b="1" dirty="0"/>
                        <a:t>Reducir tiempos de proceso</a:t>
                      </a:r>
                    </a:p>
                  </a:txBody>
                  <a:tcPr marL="68579" marR="68579" marT="34265" marB="34265"/>
                </a:tc>
                <a:tc>
                  <a:txBody>
                    <a:bodyPr/>
                    <a:lstStyle/>
                    <a:p>
                      <a:pPr algn="l"/>
                      <a:r>
                        <a:rPr lang="es-ES" sz="1400" b="1" dirty="0"/>
                        <a:t>Tiempos de ciclo</a:t>
                      </a:r>
                    </a:p>
                  </a:txBody>
                  <a:tcPr marL="68579" marR="68579" marT="34265" marB="34265"/>
                </a:tc>
                <a:tc>
                  <a:txBody>
                    <a:bodyPr/>
                    <a:lstStyle/>
                    <a:p>
                      <a:pPr algn="ctr"/>
                      <a:r>
                        <a:rPr lang="es-ES" sz="1400" b="1" dirty="0"/>
                        <a:t>-12%</a:t>
                      </a:r>
                    </a:p>
                  </a:txBody>
                  <a:tcPr marL="68579" marR="68579" marT="34265" marB="34265"/>
                </a:tc>
                <a:tc>
                  <a:txBody>
                    <a:bodyPr/>
                    <a:lstStyle/>
                    <a:p>
                      <a:endParaRPr lang="es-ES" sz="1400" b="1"/>
                    </a:p>
                  </a:txBody>
                  <a:tcPr marL="68579" marR="68579" marT="34265" marB="34265"/>
                </a:tc>
                <a:tc>
                  <a:txBody>
                    <a:bodyPr/>
                    <a:lstStyle/>
                    <a:p>
                      <a:endParaRPr lang="es-ES" sz="1400" b="1"/>
                    </a:p>
                  </a:txBody>
                  <a:tcPr marL="68579" marR="68579" marT="34265" marB="34265"/>
                </a:tc>
                <a:tc>
                  <a:txBody>
                    <a:bodyPr/>
                    <a:lstStyle/>
                    <a:p>
                      <a:endParaRPr lang="es-ES" sz="1400" b="1"/>
                    </a:p>
                  </a:txBody>
                  <a:tcPr marL="68579" marR="68579" marT="34265" marB="34265"/>
                </a:tc>
                <a:tc>
                  <a:txBody>
                    <a:bodyPr/>
                    <a:lstStyle/>
                    <a:p>
                      <a:endParaRPr lang="es-ES" sz="1400" b="1" dirty="0"/>
                    </a:p>
                  </a:txBody>
                  <a:tcPr marL="68579" marR="68579" marT="34265" marB="34265"/>
                </a:tc>
                <a:extLst>
                  <a:ext uri="{0D108BD9-81ED-4DB2-BD59-A6C34878D82A}">
                    <a16:rowId xmlns:a16="http://schemas.microsoft.com/office/drawing/2014/main" val="10004"/>
                  </a:ext>
                </a:extLst>
              </a:tr>
              <a:tr h="543869">
                <a:tc>
                  <a:txBody>
                    <a:bodyPr/>
                    <a:lstStyle/>
                    <a:p>
                      <a:r>
                        <a:rPr lang="es-ES" sz="1400" b="1" dirty="0"/>
                        <a:t>Mejorar la calidad de los productos</a:t>
                      </a:r>
                    </a:p>
                  </a:txBody>
                  <a:tcPr marL="68579" marR="68579" marT="34265" marB="34265"/>
                </a:tc>
                <a:tc>
                  <a:txBody>
                    <a:bodyPr/>
                    <a:lstStyle/>
                    <a:p>
                      <a:pPr algn="l"/>
                      <a:r>
                        <a:rPr lang="es-ES" sz="1400" b="1" dirty="0"/>
                        <a:t>Tasa de defectos</a:t>
                      </a:r>
                    </a:p>
                  </a:txBody>
                  <a:tcPr marL="68579" marR="68579" marT="34265" marB="34265"/>
                </a:tc>
                <a:tc>
                  <a:txBody>
                    <a:bodyPr/>
                    <a:lstStyle/>
                    <a:p>
                      <a:pPr algn="ctr"/>
                      <a:r>
                        <a:rPr lang="es-ES" sz="1400" b="1" dirty="0"/>
                        <a:t>-7%</a:t>
                      </a:r>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tc>
                  <a:txBody>
                    <a:bodyPr/>
                    <a:lstStyle/>
                    <a:p>
                      <a:endParaRPr lang="es-ES" sz="1400" b="1" dirty="0"/>
                    </a:p>
                  </a:txBody>
                  <a:tcPr marL="68579" marR="68579" marT="34265" marB="34265"/>
                </a:tc>
                <a:extLst>
                  <a:ext uri="{0D108BD9-81ED-4DB2-BD59-A6C34878D82A}">
                    <a16:rowId xmlns:a16="http://schemas.microsoft.com/office/drawing/2014/main" val="10005"/>
                  </a:ext>
                </a:extLst>
              </a:tr>
            </a:tbl>
          </a:graphicData>
        </a:graphic>
      </p:graphicFrame>
      <p:sp>
        <p:nvSpPr>
          <p:cNvPr id="6" name="5 CuadroTexto">
            <a:extLst>
              <a:ext uri="{FF2B5EF4-FFF2-40B4-BE49-F238E27FC236}">
                <a16:creationId xmlns:a16="http://schemas.microsoft.com/office/drawing/2014/main" id="{CAC4E044-29FE-4BC0-9886-BDFA6B200C8D}"/>
              </a:ext>
            </a:extLst>
          </p:cNvPr>
          <p:cNvSpPr txBox="1"/>
          <p:nvPr/>
        </p:nvSpPr>
        <p:spPr>
          <a:xfrm>
            <a:off x="1763688" y="5891495"/>
            <a:ext cx="4767331" cy="369332"/>
          </a:xfrm>
          <a:prstGeom prst="rect">
            <a:avLst/>
          </a:prstGeom>
          <a:noFill/>
        </p:spPr>
        <p:txBody>
          <a:bodyPr wrap="none">
            <a:spAutoFit/>
          </a:bodyPr>
          <a:lstStyle/>
          <a:p>
            <a:pPr eaLnBrk="1" hangingPunct="1">
              <a:defRPr/>
            </a:pPr>
            <a:r>
              <a:rPr lang="es-ES" dirty="0">
                <a:cs typeface="Arial" charset="0"/>
              </a:rPr>
              <a:t>(*) Valores sobre el año anterior; T: Trimestre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1 Título">
            <a:extLst>
              <a:ext uri="{FF2B5EF4-FFF2-40B4-BE49-F238E27FC236}">
                <a16:creationId xmlns:a16="http://schemas.microsoft.com/office/drawing/2014/main" id="{8A7BC0AE-9900-439C-A06C-863CD38F709D}"/>
              </a:ext>
            </a:extLst>
          </p:cNvPr>
          <p:cNvSpPr>
            <a:spLocks noGrp="1"/>
          </p:cNvSpPr>
          <p:nvPr>
            <p:ph type="title"/>
          </p:nvPr>
        </p:nvSpPr>
        <p:spPr/>
        <p:txBody>
          <a:bodyPr>
            <a:normAutofit/>
          </a:bodyPr>
          <a:lstStyle/>
          <a:p>
            <a:pPr marL="363141"/>
            <a:r>
              <a:rPr lang="es-ES" sz="1800" dirty="0"/>
              <a:t>3.5.3. Tipos de control. Ejemplo de cuadro de mando</a:t>
            </a:r>
            <a:endParaRPr lang="es-ES" altLang="es-ES" sz="1725" spc="-4" dirty="0">
              <a:solidFill>
                <a:schemeClr val="accent1"/>
              </a:solidFill>
            </a:endParaRPr>
          </a:p>
        </p:txBody>
      </p:sp>
      <p:sp>
        <p:nvSpPr>
          <p:cNvPr id="2" name="Marcador de número de diapositiva 1">
            <a:extLst>
              <a:ext uri="{FF2B5EF4-FFF2-40B4-BE49-F238E27FC236}">
                <a16:creationId xmlns:a16="http://schemas.microsoft.com/office/drawing/2014/main" id="{83AC301E-BF5C-409E-8CFA-4AFE3E566BE0}"/>
              </a:ext>
            </a:extLst>
          </p:cNvPr>
          <p:cNvSpPr>
            <a:spLocks noGrp="1"/>
          </p:cNvSpPr>
          <p:nvPr>
            <p:ph type="sldNum" sz="quarter" idx="4"/>
          </p:nvPr>
        </p:nvSpPr>
        <p:spPr/>
        <p:txBody>
          <a:bodyPr/>
          <a:lstStyle/>
          <a:p>
            <a:fld id="{D57F1E4F-1CFF-5643-939E-217C01CDF565}" type="slidenum">
              <a:rPr lang="en-US" smtClean="0"/>
              <a:pPr/>
              <a:t>62</a:t>
            </a:fld>
            <a:endParaRPr lang="en-US" dirty="0"/>
          </a:p>
        </p:txBody>
      </p:sp>
      <p:pic>
        <p:nvPicPr>
          <p:cNvPr id="216067" name="Picture 2" descr="Resultado de imagen de cuadro de control de mando FCC">
            <a:extLst>
              <a:ext uri="{FF2B5EF4-FFF2-40B4-BE49-F238E27FC236}">
                <a16:creationId xmlns:a16="http://schemas.microsoft.com/office/drawing/2014/main" id="{57CBBBC4-B27E-4A0B-B256-4570EE9D4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212395"/>
            <a:ext cx="8809543" cy="5019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ema1">
  <a:themeElements>
    <a:clrScheme name="minimal_urjc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Personalizado 1">
      <a:majorFont>
        <a:latin typeface="Comic Sans MS"/>
        <a:ea typeface=""/>
        <a:cs typeface=""/>
      </a:majorFont>
      <a:minorFont>
        <a:latin typeface="Comic Sans MS"/>
        <a:ea typeface=""/>
        <a:cs typeface=""/>
      </a:minorFont>
    </a:fontScheme>
    <a:fmtScheme name="Vértice">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inimal_urjc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inimal_urjc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inimal_urjc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inimal_urjc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inimal_urjc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inimal_urjc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inimal_urjc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inimal_urjc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inimal_urjc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inimal_urjc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inimal_urjc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inimal_urjc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Tema1</Template>
  <TotalTime>3190</TotalTime>
  <Words>32438</Words>
  <Application>Microsoft Office PowerPoint</Application>
  <PresentationFormat>Presentación en pantalla (4:3)</PresentationFormat>
  <Paragraphs>1669</Paragraphs>
  <Slides>62</Slides>
  <Notes>54</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62</vt:i4>
      </vt:variant>
    </vt:vector>
  </HeadingPairs>
  <TitlesOfParts>
    <vt:vector size="72" baseType="lpstr">
      <vt:lpstr>Arial</vt:lpstr>
      <vt:lpstr>Arial Narrow</vt:lpstr>
      <vt:lpstr>Calibri</vt:lpstr>
      <vt:lpstr>Comic Sans MS</vt:lpstr>
      <vt:lpstr>Perpetua</vt:lpstr>
      <vt:lpstr>Tahoma</vt:lpstr>
      <vt:lpstr>Verdana</vt:lpstr>
      <vt:lpstr>Wingdings</vt:lpstr>
      <vt:lpstr>Wingdings 2</vt:lpstr>
      <vt:lpstr>Tema1</vt:lpstr>
      <vt:lpstr>INTRODUCCIÓN A LA EMPRESA I Curso 2023-2024</vt:lpstr>
      <vt:lpstr>TEMA 3: OBJETIVOS DOCENTES</vt:lpstr>
      <vt:lpstr>TEMA 3: FUNCIONES DE LA DIRECCIÓN</vt:lpstr>
      <vt:lpstr>Presentación de PowerPoint</vt:lpstr>
      <vt:lpstr>3.1. Escuelas de pensamiento administrativo</vt:lpstr>
      <vt:lpstr>3.1. Escuelas de pensamiento administrativo</vt:lpstr>
      <vt:lpstr>3.1. Escuelas de pensamiento administrativo</vt:lpstr>
      <vt:lpstr>3.1.1. Perspectiva clásica</vt:lpstr>
      <vt:lpstr>3.1.1. Perspectiva clásica</vt:lpstr>
      <vt:lpstr>3.1.1. Perspectiva clásica</vt:lpstr>
      <vt:lpstr>3.1.1. Perspectiva clásica: Resumen</vt:lpstr>
      <vt:lpstr>3.1.2. Perspectiva del comportamiento</vt:lpstr>
      <vt:lpstr>3.1.2. Perspectiva del comportamiento</vt:lpstr>
      <vt:lpstr>3.1.2. Perspectiva del comportamiento</vt:lpstr>
      <vt:lpstr>3.1.2. Perspectiva del comportamiento: Resumen</vt:lpstr>
      <vt:lpstr>3.1.3. Perspectivas actuales</vt:lpstr>
      <vt:lpstr>3.1.3. Perspectivas actuales</vt:lpstr>
      <vt:lpstr>PRODUCCIÓN AJUSTADA O MANUFACTURA ESBELTA (LEAN MANUFACTURING) </vt:lpstr>
      <vt:lpstr>3.1.3. Perspectivas actuales</vt:lpstr>
      <vt:lpstr>3.1.3. Perspectivas actuales</vt:lpstr>
      <vt:lpstr>3.1.3. Perspectivas actuales</vt:lpstr>
      <vt:lpstr>3.1.3. Perspectivas actuales</vt:lpstr>
      <vt:lpstr>3.1.3. Perspectivas actuales. La cuarta revolución industrial</vt:lpstr>
      <vt:lpstr>3.1.3. Perspectivas actuales</vt:lpstr>
      <vt:lpstr>3.1.3. Perspectivas actuales</vt:lpstr>
      <vt:lpstr>3.1.3. Perspectivas actuales</vt:lpstr>
      <vt:lpstr>3.1.3. Perspectivas actuales</vt:lpstr>
      <vt:lpstr>Presentación de PowerPoint</vt:lpstr>
      <vt:lpstr> Funciones de la administración </vt:lpstr>
      <vt:lpstr>3.2.1. Planificación: justificación e importancia</vt:lpstr>
      <vt:lpstr>3.2.2. Planificación: definición y fases</vt:lpstr>
      <vt:lpstr>3.2.2. Planificación: definición y fases</vt:lpstr>
      <vt:lpstr>3.2.3. Planificación: tipos</vt:lpstr>
      <vt:lpstr>3.2.3. Planificación: tipos</vt:lpstr>
      <vt:lpstr>Presentación de PowerPoint</vt:lpstr>
      <vt:lpstr>3.3. Organización</vt:lpstr>
      <vt:lpstr>3.3. Organización</vt:lpstr>
      <vt:lpstr>   Dirección como función básica administrativa</vt:lpstr>
      <vt:lpstr>   Dirección: motivación</vt:lpstr>
      <vt:lpstr>   Dirección: motivación</vt:lpstr>
      <vt:lpstr>   Dirección: motivación</vt:lpstr>
      <vt:lpstr>   Dirección: motivación</vt:lpstr>
      <vt:lpstr>   Dirección: motivación</vt:lpstr>
      <vt:lpstr>   Dirección: liderazgo</vt:lpstr>
      <vt:lpstr>   Dirección: liderazgo</vt:lpstr>
      <vt:lpstr>   Dirección: liderazgo</vt:lpstr>
      <vt:lpstr>   Dirección: liderazgo</vt:lpstr>
      <vt:lpstr>   Dirección: liderazgo</vt:lpstr>
      <vt:lpstr>Presentación de PowerPoint</vt:lpstr>
      <vt:lpstr>3.4. Dirección de Recursos Humanos</vt:lpstr>
      <vt:lpstr>3.4. Dirección de Recursos Humanos</vt:lpstr>
      <vt:lpstr>3.4.1. Reclutamiento</vt:lpstr>
      <vt:lpstr>3.4.2. Selección y asignación de puestos</vt:lpstr>
      <vt:lpstr>3.4.3. Capacitación y desarrollo</vt:lpstr>
      <vt:lpstr>3.4.3. Capacitación y desarrollo</vt:lpstr>
      <vt:lpstr>3.4.4. Compensación</vt:lpstr>
      <vt:lpstr>Presentación de PowerPoint</vt:lpstr>
      <vt:lpstr>3.5.1. Justificación e importancia</vt:lpstr>
      <vt:lpstr>3.5.2. Definición</vt:lpstr>
      <vt:lpstr>3.5.3. Tipos de control</vt:lpstr>
      <vt:lpstr>3.5.3. Tipos de control. El cuadro de mando</vt:lpstr>
      <vt:lpstr>3.5.3. Tipos de control. Ejemplo de cuadro de mando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5: FUNCIONES DE LA DIRECCIÓN</dc:title>
  <dc:creator>Cristina</dc:creator>
  <cp:lastModifiedBy>María Elena Fernández Gascueña</cp:lastModifiedBy>
  <cp:revision>275</cp:revision>
  <dcterms:created xsi:type="dcterms:W3CDTF">2009-11-07T12:20:23Z</dcterms:created>
  <dcterms:modified xsi:type="dcterms:W3CDTF">2023-10-31T13:49:21Z</dcterms:modified>
</cp:coreProperties>
</file>