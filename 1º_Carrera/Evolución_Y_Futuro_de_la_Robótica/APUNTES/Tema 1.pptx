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0" d="100"/>
          <a:sy n="80" d="100"/>
        </p:scale>
        <p:origin x="60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1ECE-8877-41CB-AFC1-E8A4F161CDCE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51F8A-D4D0-4C6B-B4D2-B597C2F0699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6928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1ECE-8877-41CB-AFC1-E8A4F161CDCE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51F8A-D4D0-4C6B-B4D2-B597C2F0699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3199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1ECE-8877-41CB-AFC1-E8A4F161CDCE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51F8A-D4D0-4C6B-B4D2-B597C2F0699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347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1ECE-8877-41CB-AFC1-E8A4F161CDCE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51F8A-D4D0-4C6B-B4D2-B597C2F0699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0647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1ECE-8877-41CB-AFC1-E8A4F161CDCE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51F8A-D4D0-4C6B-B4D2-B597C2F0699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9619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1ECE-8877-41CB-AFC1-E8A4F161CDCE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51F8A-D4D0-4C6B-B4D2-B597C2F0699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2648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1ECE-8877-41CB-AFC1-E8A4F161CDCE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51F8A-D4D0-4C6B-B4D2-B597C2F0699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6526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1ECE-8877-41CB-AFC1-E8A4F161CDCE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51F8A-D4D0-4C6B-B4D2-B597C2F0699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0575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1ECE-8877-41CB-AFC1-E8A4F161CDCE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51F8A-D4D0-4C6B-B4D2-B597C2F0699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2170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1ECE-8877-41CB-AFC1-E8A4F161CDCE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51F8A-D4D0-4C6B-B4D2-B597C2F0699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2385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81ECE-8877-41CB-AFC1-E8A4F161CDCE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E51F8A-D4D0-4C6B-B4D2-B597C2F0699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6786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81ECE-8877-41CB-AFC1-E8A4F161CDCE}" type="datetimeFigureOut">
              <a:rPr lang="es-ES" smtClean="0"/>
              <a:t>19/03/2026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51F8A-D4D0-4C6B-B4D2-B597C2F0699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6723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3600" b="1" dirty="0" smtClean="0"/>
              <a:t>Tema 1: Conceptos básicos en la evolución de la robótica </a:t>
            </a:r>
            <a:br>
              <a:rPr lang="es-ES" sz="3600" b="1" dirty="0" smtClean="0"/>
            </a:br>
            <a:endParaRPr lang="es-ES" sz="36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567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142999" y="1111469"/>
            <a:ext cx="9278007" cy="4663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Leyendas, mitos e historia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endParaRPr lang="es-E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Leyendas: hazañas 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ejemplares y modélicas de un </a:t>
            </a:r>
            <a:r>
              <a:rPr lang="es-E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personaje o una comunidad, con una cierta base real pero que incorpora elementos fantásticos con el paso del </a:t>
            </a:r>
            <a:r>
              <a:rPr lang="es-E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tiempo. Ejemplo: la leyenda del Cid.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Mitos: </a:t>
            </a:r>
            <a:r>
              <a:rPr lang="es-E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relatos 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sobre valores e identidad de una </a:t>
            </a:r>
            <a:r>
              <a:rPr lang="es-E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comunidad y explicaciones de fenómenos </a:t>
            </a:r>
            <a:r>
              <a:rPr lang="es-E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naturales; sobre el origen del mundo y sobre las acciones de dioses y héroes relevantes para una comunidad</a:t>
            </a:r>
            <a:r>
              <a:rPr lang="es-E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Ejemplos: mito de Pigmalión y mito de </a:t>
            </a:r>
            <a:r>
              <a:rPr lang="es-E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Prometeo.</a:t>
            </a:r>
            <a:endParaRPr lang="es-E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Historia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s-E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descripción e interpretación 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acontecimientos basados en evidencias y testimonios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s-E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Ejemplo: historia de la vida y escritos de Herón de Alejandría.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s-ES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Consulta </a:t>
            </a:r>
            <a:r>
              <a:rPr lang="es-E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la DRAE.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Consulta (explicación breve): </a:t>
            </a:r>
            <a:r>
              <a:rPr lang="es-ES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https://www.youtube.com/watch?v=iu_TZ9eMgkQ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s-E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812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>
            <p:extLst/>
          </p:nvPr>
        </p:nvGraphicFramePr>
        <p:xfrm>
          <a:off x="3397468" y="134009"/>
          <a:ext cx="7496504" cy="62148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98540">
                  <a:extLst>
                    <a:ext uri="{9D8B030D-6E8A-4147-A177-3AD203B41FA5}">
                      <a16:colId xmlns:a16="http://schemas.microsoft.com/office/drawing/2014/main" val="2661626354"/>
                    </a:ext>
                  </a:extLst>
                </a:gridCol>
                <a:gridCol w="2498540">
                  <a:extLst>
                    <a:ext uri="{9D8B030D-6E8A-4147-A177-3AD203B41FA5}">
                      <a16:colId xmlns:a16="http://schemas.microsoft.com/office/drawing/2014/main" val="2721751928"/>
                    </a:ext>
                  </a:extLst>
                </a:gridCol>
                <a:gridCol w="2499424">
                  <a:extLst>
                    <a:ext uri="{9D8B030D-6E8A-4147-A177-3AD203B41FA5}">
                      <a16:colId xmlns:a16="http://schemas.microsoft.com/office/drawing/2014/main" val="3376752084"/>
                    </a:ext>
                  </a:extLst>
                </a:gridCol>
              </a:tblGrid>
              <a:tr h="2106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Concepto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363" marR="5736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Definición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363" marR="5736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 smtClean="0">
                          <a:effectLst/>
                        </a:rPr>
                        <a:t>Ejemplos y datos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363" marR="57363" marT="0" marB="0"/>
                </a:tc>
                <a:extLst>
                  <a:ext uri="{0D108BD9-81ED-4DB2-BD59-A6C34878D82A}">
                    <a16:rowId xmlns:a16="http://schemas.microsoft.com/office/drawing/2014/main" val="3369911587"/>
                  </a:ext>
                </a:extLst>
              </a:tr>
              <a:tr h="16852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Autómata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363" marR="5736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Diseños artificiales que tienen el principio del movimiento en el mecanismo que contienen.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También es una máquina que imita la figura y movimientos de un ser animado.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363" marR="5736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r>
                        <a:rPr lang="es-ES" sz="1400" dirty="0" smtClean="0">
                          <a:effectLst/>
                        </a:rPr>
                        <a:t>[Talos]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363" marR="57363" marT="0" marB="0"/>
                </a:tc>
                <a:extLst>
                  <a:ext uri="{0D108BD9-81ED-4DB2-BD59-A6C34878D82A}">
                    <a16:rowId xmlns:a16="http://schemas.microsoft.com/office/drawing/2014/main" val="3129859258"/>
                  </a:ext>
                </a:extLst>
              </a:tr>
              <a:tr h="14746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Androide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363" marR="5736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Un androide se define como aquel autómata </a:t>
                      </a:r>
                      <a:r>
                        <a:rPr lang="es-ES" sz="1400" dirty="0" smtClean="0">
                          <a:effectLst/>
                        </a:rPr>
                        <a:t>y </a:t>
                      </a:r>
                      <a:r>
                        <a:rPr lang="es-ES" sz="1400" smtClean="0">
                          <a:effectLst/>
                        </a:rPr>
                        <a:t>también robot de </a:t>
                      </a:r>
                      <a:r>
                        <a:rPr lang="es-ES" sz="1400" dirty="0">
                          <a:effectLst/>
                        </a:rPr>
                        <a:t>apariencia </a:t>
                      </a:r>
                      <a:r>
                        <a:rPr lang="es-ES" sz="1400" dirty="0" smtClean="0">
                          <a:effectLst/>
                        </a:rPr>
                        <a:t>humana</a:t>
                      </a:r>
                      <a:r>
                        <a:rPr lang="es-ES" sz="1400" baseline="0" dirty="0" smtClean="0">
                          <a:effectLst/>
                        </a:rPr>
                        <a:t> </a:t>
                      </a:r>
                      <a:r>
                        <a:rPr lang="es-ES" sz="1400" dirty="0" smtClean="0">
                          <a:effectLst/>
                        </a:rPr>
                        <a:t>que </a:t>
                      </a:r>
                      <a:r>
                        <a:rPr lang="es-ES" sz="1400" dirty="0">
                          <a:effectLst/>
                        </a:rPr>
                        <a:t>está compuesto íntegramente por elementos artificiales. Término para evitar sesgos: humanoide.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363" marR="5736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363" marR="57363" marT="0" marB="0"/>
                </a:tc>
                <a:extLst>
                  <a:ext uri="{0D108BD9-81ED-4DB2-BD59-A6C34878D82A}">
                    <a16:rowId xmlns:a16="http://schemas.microsoft.com/office/drawing/2014/main" val="2030503857"/>
                  </a:ext>
                </a:extLst>
              </a:tr>
              <a:tr h="10533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Robot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363" marR="5736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Mecanismo diseñado-programado para reemplazar al humano en tareas laboriosas o peligrosas. </a:t>
                      </a:r>
                      <a:r>
                        <a:rPr lang="es-ES" sz="1400" dirty="0" smtClean="0">
                          <a:effectLst/>
                        </a:rPr>
                        <a:t>Interactúa</a:t>
                      </a:r>
                      <a:r>
                        <a:rPr lang="es-ES" sz="1400" baseline="0" dirty="0" smtClean="0">
                          <a:effectLst/>
                        </a:rPr>
                        <a:t> con el entorno.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363" marR="5736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363" marR="57363" marT="0" marB="0"/>
                </a:tc>
                <a:extLst>
                  <a:ext uri="{0D108BD9-81ED-4DB2-BD59-A6C34878D82A}">
                    <a16:rowId xmlns:a16="http://schemas.microsoft.com/office/drawing/2014/main" val="3915169888"/>
                  </a:ext>
                </a:extLst>
              </a:tr>
              <a:tr h="147461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Ciborg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363" marR="5736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Un ciborg es un organismo cibernético compuesto por partes orgánicas y componentes biomecánicos. La palabra "ciborg" es una abreviatura de "cybernetic organism" en inglés.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363" marR="5736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 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363" marR="57363" marT="0" marB="0"/>
                </a:tc>
                <a:extLst>
                  <a:ext uri="{0D108BD9-81ED-4DB2-BD59-A6C34878D82A}">
                    <a16:rowId xmlns:a16="http://schemas.microsoft.com/office/drawing/2014/main" val="621402889"/>
                  </a:ext>
                </a:extLst>
              </a:tr>
              <a:tr h="2106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 </a:t>
                      </a:r>
                      <a:endParaRPr lang="es-E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363" marR="5736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 </a:t>
                      </a:r>
                      <a:endParaRPr lang="es-ES" sz="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363" marR="57363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900" dirty="0">
                          <a:effectLst/>
                        </a:rPr>
                        <a:t> </a:t>
                      </a:r>
                      <a:endParaRPr lang="es-ES" sz="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363" marR="57363" marT="0" marB="0"/>
                </a:tc>
                <a:extLst>
                  <a:ext uri="{0D108BD9-81ED-4DB2-BD59-A6C34878D82A}">
                    <a16:rowId xmlns:a16="http://schemas.microsoft.com/office/drawing/2014/main" val="4178207357"/>
                  </a:ext>
                </a:extLst>
              </a:tr>
            </a:tbl>
          </a:graphicData>
        </a:graphic>
      </p:graphicFrame>
      <p:sp>
        <p:nvSpPr>
          <p:cNvPr id="3" name="CuadroTexto 2"/>
          <p:cNvSpPr txBox="1"/>
          <p:nvPr/>
        </p:nvSpPr>
        <p:spPr>
          <a:xfrm>
            <a:off x="346841" y="457200"/>
            <a:ext cx="2104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Conceptos fundamentales</a:t>
            </a:r>
            <a:endParaRPr lang="es-E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433552" y="2286000"/>
            <a:ext cx="20179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La difusión de estos diseños y prototipos promovió los debates sobre las diferencias entre máquinas y seres humanos.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71342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135118" y="94593"/>
            <a:ext cx="10105696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 smtClean="0">
                <a:solidFill>
                  <a:schemeClr val="accent2"/>
                </a:solidFill>
              </a:rPr>
              <a:t>APLICACIÓN: A </a:t>
            </a:r>
            <a:r>
              <a:rPr lang="es-ES" sz="2000" dirty="0" smtClean="0">
                <a:solidFill>
                  <a:schemeClr val="accent2"/>
                </a:solidFill>
              </a:rPr>
              <a:t>qué categoría (</a:t>
            </a:r>
            <a:r>
              <a:rPr lang="es-ES" sz="2000" dirty="0">
                <a:solidFill>
                  <a:schemeClr val="accent2"/>
                </a:solidFill>
              </a:rPr>
              <a:t>a</a:t>
            </a:r>
            <a:r>
              <a:rPr lang="es-ES" sz="2000" dirty="0" smtClean="0">
                <a:solidFill>
                  <a:schemeClr val="accent2"/>
                </a:solidFill>
              </a:rPr>
              <a:t>. autómata, b. androide, c. ciborg o d. robot) corresponde cada una de las descripciones y ejemplos:</a:t>
            </a:r>
          </a:p>
          <a:p>
            <a:endParaRPr lang="es-ES" dirty="0"/>
          </a:p>
          <a:p>
            <a:r>
              <a:rPr lang="es-ES" u="sng" dirty="0" smtClean="0"/>
              <a:t>Descripciones</a:t>
            </a:r>
          </a:p>
          <a:p>
            <a:endParaRPr lang="es-ES" dirty="0"/>
          </a:p>
          <a:p>
            <a:r>
              <a:rPr lang="es-ES" dirty="0" smtClean="0"/>
              <a:t>1. </a:t>
            </a:r>
            <a:r>
              <a:rPr lang="es-ES" dirty="0"/>
              <a:t>Robot diseñado para imitar la apariencia y comportamiento humano, promoviendo una interacción más natural con las personas</a:t>
            </a:r>
            <a:r>
              <a:rPr lang="es-ES" dirty="0" smtClean="0"/>
              <a:t>. [2]</a:t>
            </a:r>
            <a:endParaRPr lang="es-ES" dirty="0"/>
          </a:p>
          <a:p>
            <a:r>
              <a:rPr lang="es-ES" dirty="0" smtClean="0"/>
              <a:t>2. </a:t>
            </a:r>
            <a:r>
              <a:rPr lang="es-ES" dirty="0"/>
              <a:t>Ser que combina elementos biológicos y tecnológicos, donde parte de su cuerpo es orgánico y otra parte es mecánica o electrónica</a:t>
            </a:r>
            <a:r>
              <a:rPr lang="es-ES" dirty="0" smtClean="0"/>
              <a:t>. [3]</a:t>
            </a:r>
            <a:endParaRPr lang="es-ES" dirty="0"/>
          </a:p>
          <a:p>
            <a:pPr lvl="0"/>
            <a:r>
              <a:rPr lang="es-ES" dirty="0" smtClean="0"/>
              <a:t>3. </a:t>
            </a:r>
            <a:r>
              <a:rPr lang="es-ES" dirty="0"/>
              <a:t>Máquina programable capaz de llevar a cabo tareas automáticamente, que puede o no parecerse a un humano, y que es utilizada en diversas industrias</a:t>
            </a:r>
            <a:r>
              <a:rPr lang="es-ES" dirty="0" smtClean="0"/>
              <a:t>. [4]</a:t>
            </a:r>
            <a:endParaRPr lang="es-ES" dirty="0" smtClean="0"/>
          </a:p>
          <a:p>
            <a:r>
              <a:rPr lang="es-ES" dirty="0" smtClean="0"/>
              <a:t>4. </a:t>
            </a:r>
            <a:r>
              <a:rPr lang="es-ES" dirty="0"/>
              <a:t>Dispositivo que sigue un conjunto predefinido de instrucciones para realizar tareas específicas sin intervención humana</a:t>
            </a:r>
            <a:r>
              <a:rPr lang="es-ES" dirty="0" smtClean="0"/>
              <a:t>.[1]</a:t>
            </a:r>
            <a:endParaRPr lang="es-ES" dirty="0"/>
          </a:p>
          <a:p>
            <a:pPr lvl="0"/>
            <a:endParaRPr lang="es-ES" dirty="0" smtClean="0"/>
          </a:p>
          <a:p>
            <a:pPr lvl="0"/>
            <a:r>
              <a:rPr lang="es-ES" u="sng" dirty="0" smtClean="0"/>
              <a:t>Ejemplos</a:t>
            </a:r>
            <a:endParaRPr lang="es-ES" u="sng" dirty="0"/>
          </a:p>
          <a:p>
            <a:endParaRPr lang="es-ES" dirty="0" smtClean="0"/>
          </a:p>
          <a:p>
            <a:pPr lvl="0"/>
            <a:r>
              <a:rPr lang="es-ES" dirty="0" smtClean="0"/>
              <a:t>1. Una </a:t>
            </a:r>
            <a:r>
              <a:rPr lang="es-ES" dirty="0"/>
              <a:t>máquina tragamonedas que funciona de manera automática.</a:t>
            </a:r>
          </a:p>
          <a:p>
            <a:pPr lvl="0"/>
            <a:r>
              <a:rPr lang="es-ES" dirty="0" smtClean="0"/>
              <a:t>2. Dispositivo mecánico o electromecánico con </a:t>
            </a:r>
            <a:r>
              <a:rPr lang="es-ES" dirty="0"/>
              <a:t>apariencia humana que puede mantener una conversación como si fuera una persona</a:t>
            </a:r>
            <a:r>
              <a:rPr lang="es-ES" dirty="0" smtClean="0"/>
              <a:t>.</a:t>
            </a:r>
          </a:p>
          <a:p>
            <a:pPr lvl="0"/>
            <a:r>
              <a:rPr lang="es-ES" dirty="0" smtClean="0"/>
              <a:t>3. Un </a:t>
            </a:r>
            <a:r>
              <a:rPr lang="es-ES" dirty="0"/>
              <a:t>humano que tiene un brazo biónico que le ayuda a realizar tareas diarias.</a:t>
            </a:r>
          </a:p>
          <a:p>
            <a:pPr lvl="0"/>
            <a:r>
              <a:rPr lang="es-ES" dirty="0" smtClean="0"/>
              <a:t>4. “Brazo” automático programable dispuesto </a:t>
            </a:r>
            <a:r>
              <a:rPr lang="es-ES" dirty="0"/>
              <a:t>en una línea de ensamblaje que trabaja en la fabricación de automóviles.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204508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477</Words>
  <Application>Microsoft Office PowerPoint</Application>
  <PresentationFormat>Panorámica</PresentationFormat>
  <Paragraphs>45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Tema de Office</vt:lpstr>
      <vt:lpstr>Tema 1: Conceptos básicos en la evolución de la robótica  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1: Conceptos básicos en la evolución de la robótica  </dc:title>
  <dc:creator>Usuario de Windows</dc:creator>
  <cp:lastModifiedBy>Usuario de Windows</cp:lastModifiedBy>
  <cp:revision>5</cp:revision>
  <dcterms:created xsi:type="dcterms:W3CDTF">2026-02-11T10:27:44Z</dcterms:created>
  <dcterms:modified xsi:type="dcterms:W3CDTF">2026-03-19T07:11:46Z</dcterms:modified>
</cp:coreProperties>
</file>