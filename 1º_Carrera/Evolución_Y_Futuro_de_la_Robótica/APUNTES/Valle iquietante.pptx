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4" autoAdjust="0"/>
    <p:restoredTop sz="94660"/>
  </p:normalViewPr>
  <p:slideViewPr>
    <p:cSldViewPr snapToGrid="0">
      <p:cViewPr varScale="1">
        <p:scale>
          <a:sx n="77" d="100"/>
          <a:sy n="77" d="100"/>
        </p:scale>
        <p:origin x="8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2D80-692B-4086-8740-BBD095885E63}" type="datetimeFigureOut">
              <a:rPr lang="es-ES" smtClean="0"/>
              <a:t>20/03/2025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6C17A-C4B8-47D8-A791-E6ED2A1B17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514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2D80-692B-4086-8740-BBD095885E63}" type="datetimeFigureOut">
              <a:rPr lang="es-ES" smtClean="0"/>
              <a:t>20/03/2025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6C17A-C4B8-47D8-A791-E6ED2A1B17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6349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2D80-692B-4086-8740-BBD095885E63}" type="datetimeFigureOut">
              <a:rPr lang="es-ES" smtClean="0"/>
              <a:t>20/03/2025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6C17A-C4B8-47D8-A791-E6ED2A1B17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807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2D80-692B-4086-8740-BBD095885E63}" type="datetimeFigureOut">
              <a:rPr lang="es-ES" smtClean="0"/>
              <a:t>20/03/2025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6C17A-C4B8-47D8-A791-E6ED2A1B17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623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2D80-692B-4086-8740-BBD095885E63}" type="datetimeFigureOut">
              <a:rPr lang="es-ES" smtClean="0"/>
              <a:t>20/03/2025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6C17A-C4B8-47D8-A791-E6ED2A1B17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3290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2D80-692B-4086-8740-BBD095885E63}" type="datetimeFigureOut">
              <a:rPr lang="es-ES" smtClean="0"/>
              <a:t>20/03/2025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6C17A-C4B8-47D8-A791-E6ED2A1B17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752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2D80-692B-4086-8740-BBD095885E63}" type="datetimeFigureOut">
              <a:rPr lang="es-ES" smtClean="0"/>
              <a:t>20/03/2025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6C17A-C4B8-47D8-A791-E6ED2A1B17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1708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2D80-692B-4086-8740-BBD095885E63}" type="datetimeFigureOut">
              <a:rPr lang="es-ES" smtClean="0"/>
              <a:t>20/03/2025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6C17A-C4B8-47D8-A791-E6ED2A1B17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6208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2D80-692B-4086-8740-BBD095885E63}" type="datetimeFigureOut">
              <a:rPr lang="es-ES" smtClean="0"/>
              <a:t>20/03/2025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6C17A-C4B8-47D8-A791-E6ED2A1B17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259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2D80-692B-4086-8740-BBD095885E63}" type="datetimeFigureOut">
              <a:rPr lang="es-ES" smtClean="0"/>
              <a:t>20/03/2025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6C17A-C4B8-47D8-A791-E6ED2A1B17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592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2D80-692B-4086-8740-BBD095885E63}" type="datetimeFigureOut">
              <a:rPr lang="es-ES" smtClean="0"/>
              <a:t>20/03/2025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6C17A-C4B8-47D8-A791-E6ED2A1B17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392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2D80-692B-4086-8740-BBD095885E63}" type="datetimeFigureOut">
              <a:rPr lang="es-ES" smtClean="0"/>
              <a:t>20/03/2025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6C17A-C4B8-47D8-A791-E6ED2A1B17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22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717964" y="692727"/>
            <a:ext cx="89223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Entre las reacciones e </a:t>
            </a:r>
            <a:r>
              <a:rPr lang="es-ES" b="1" dirty="0" smtClean="0"/>
              <a:t>impresiones que experimenta una persona ante un autómata o un robot </a:t>
            </a:r>
            <a:r>
              <a:rPr lang="es-ES" b="1" dirty="0" smtClean="0"/>
              <a:t>destaca la experiencia de </a:t>
            </a:r>
            <a:r>
              <a:rPr lang="es-ES" b="1" dirty="0"/>
              <a:t>l</a:t>
            </a:r>
            <a:r>
              <a:rPr lang="es-ES" b="1" dirty="0" smtClean="0"/>
              <a:t>o siniestro y sus sinónimos. Sobre esta experiencia destaca el concepto de “valle inquietante”</a:t>
            </a:r>
            <a:r>
              <a:rPr lang="es-ES" dirty="0" smtClean="0"/>
              <a:t>:</a:t>
            </a:r>
          </a:p>
          <a:p>
            <a:endParaRPr lang="es-ES" dirty="0"/>
          </a:p>
          <a:p>
            <a:endParaRPr lang="es-ES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El nacimiento de la teoría del valle inquietante se </a:t>
            </a:r>
            <a:r>
              <a:rPr lang="es-ES" dirty="0" smtClean="0"/>
              <a:t>debe </a:t>
            </a:r>
            <a:r>
              <a:rPr lang="es-ES" dirty="0"/>
              <a:t>a </a:t>
            </a:r>
            <a:r>
              <a:rPr lang="es-ES" dirty="0" err="1"/>
              <a:t>Masahiro</a:t>
            </a:r>
            <a:r>
              <a:rPr lang="es-ES" dirty="0"/>
              <a:t> </a:t>
            </a:r>
            <a:r>
              <a:rPr lang="es-ES" dirty="0" err="1"/>
              <a:t>Mori</a:t>
            </a:r>
            <a:r>
              <a:rPr lang="es-ES" dirty="0"/>
              <a:t>, un experto</a:t>
            </a:r>
          </a:p>
          <a:p>
            <a:pPr lvl="1"/>
            <a:r>
              <a:rPr lang="es-ES" dirty="0" smtClean="0"/>
              <a:t>en </a:t>
            </a:r>
            <a:r>
              <a:rPr lang="es-ES" dirty="0"/>
              <a:t>robótica de origen japonés. </a:t>
            </a:r>
            <a:r>
              <a:rPr lang="es-ES" dirty="0" smtClean="0"/>
              <a:t>En 1970 en </a:t>
            </a:r>
            <a:r>
              <a:rPr lang="es-ES" dirty="0"/>
              <a:t>un </a:t>
            </a:r>
            <a:r>
              <a:rPr lang="es-ES" dirty="0" smtClean="0"/>
              <a:t>ensayo explicaba </a:t>
            </a:r>
            <a:r>
              <a:rPr lang="es-ES" dirty="0"/>
              <a:t>que </a:t>
            </a:r>
            <a:r>
              <a:rPr lang="es-ES" dirty="0" smtClean="0"/>
              <a:t>los robots </a:t>
            </a:r>
            <a:r>
              <a:rPr lang="es-ES" dirty="0"/>
              <a:t>son agradables cuando se dotan de cualidades similares a las de los humanos, </a:t>
            </a:r>
            <a:r>
              <a:rPr lang="es-ES" dirty="0" smtClean="0"/>
              <a:t>sin embargo</a:t>
            </a:r>
            <a:r>
              <a:rPr lang="es-ES" dirty="0"/>
              <a:t>, al alcanzar un gran parecido a nosotros, emerge un miedo natural a ellos.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s-ES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 smtClean="0"/>
              <a:t>El concepto responde </a:t>
            </a:r>
            <a:r>
              <a:rPr lang="es-ES" dirty="0"/>
              <a:t>a una metáfora sobre el proceso </a:t>
            </a:r>
            <a:r>
              <a:rPr lang="es-ES" dirty="0" smtClean="0"/>
              <a:t>que experimenta </a:t>
            </a:r>
            <a:r>
              <a:rPr lang="es-ES" dirty="0"/>
              <a:t>una persona ante el encuentro con estos seres humanoides.</a:t>
            </a:r>
            <a:endParaRPr lang="es-ES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L</a:t>
            </a:r>
            <a:r>
              <a:rPr lang="es-ES" dirty="0" smtClean="0"/>
              <a:t>a </a:t>
            </a:r>
            <a:r>
              <a:rPr lang="es-ES" dirty="0"/>
              <a:t>teoría de </a:t>
            </a:r>
            <a:r>
              <a:rPr lang="es-ES" dirty="0" err="1" smtClean="0"/>
              <a:t>Mori</a:t>
            </a:r>
            <a:r>
              <a:rPr lang="es-ES" dirty="0" smtClean="0"/>
              <a:t> </a:t>
            </a:r>
            <a:r>
              <a:rPr lang="es-ES" dirty="0" smtClean="0"/>
              <a:t>(véase el gráfico) apunta </a:t>
            </a:r>
            <a:r>
              <a:rPr lang="es-ES" dirty="0"/>
              <a:t>hacia la formación de un “valle” </a:t>
            </a:r>
            <a:r>
              <a:rPr lang="es-ES" dirty="0" smtClean="0"/>
              <a:t>en la </a:t>
            </a:r>
            <a:r>
              <a:rPr lang="es-ES" dirty="0"/>
              <a:t>afinidad que sentimos con algo que se aproxima, por sus características, a nosotros. Dicho </a:t>
            </a:r>
            <a:r>
              <a:rPr lang="es-ES" dirty="0" smtClean="0"/>
              <a:t>de otra </a:t>
            </a:r>
            <a:r>
              <a:rPr lang="es-ES" dirty="0"/>
              <a:t>manera, el aumento de los rasgos humanos, en algo que no lo es, nos genera </a:t>
            </a:r>
            <a:r>
              <a:rPr lang="es-ES" dirty="0" smtClean="0"/>
              <a:t>una sensación </a:t>
            </a:r>
            <a:r>
              <a:rPr lang="es-ES" dirty="0"/>
              <a:t>de extrañeza </a:t>
            </a:r>
            <a:r>
              <a:rPr lang="es-ES" dirty="0" smtClean="0"/>
              <a:t>hacia “algo” que se aleja de </a:t>
            </a:r>
            <a:r>
              <a:rPr lang="es-ES" dirty="0"/>
              <a:t>nuestra simpatía </a:t>
            </a:r>
            <a:r>
              <a:rPr lang="es-ES" dirty="0" smtClean="0"/>
              <a:t>y agrado.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226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945140"/>
            <a:ext cx="5715000" cy="5133975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1028498" y="345859"/>
            <a:ext cx="584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/>
              <a:t>Gráfica de la teoría del </a:t>
            </a:r>
            <a:r>
              <a:rPr lang="es-ES" b="1" dirty="0" smtClean="0"/>
              <a:t>Valle Inquietante </a:t>
            </a:r>
            <a:r>
              <a:rPr lang="es-ES" b="1" dirty="0"/>
              <a:t>de </a:t>
            </a:r>
            <a:r>
              <a:rPr lang="es-ES" b="1" dirty="0" err="1"/>
              <a:t>Masahiro</a:t>
            </a:r>
            <a:r>
              <a:rPr lang="es-ES" b="1" dirty="0"/>
              <a:t> </a:t>
            </a:r>
            <a:r>
              <a:rPr lang="es-ES" b="1" dirty="0" err="1"/>
              <a:t>Mori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973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Panorámica</PresentationFormat>
  <Paragraphs>10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Usuario de Windows</cp:lastModifiedBy>
  <cp:revision>1</cp:revision>
  <dcterms:created xsi:type="dcterms:W3CDTF">2025-03-20T11:41:03Z</dcterms:created>
  <dcterms:modified xsi:type="dcterms:W3CDTF">2025-03-20T11:41:42Z</dcterms:modified>
</cp:coreProperties>
</file>