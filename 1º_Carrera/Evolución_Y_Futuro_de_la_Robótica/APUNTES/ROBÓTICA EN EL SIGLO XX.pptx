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0" d="100"/>
          <a:sy n="80" d="100"/>
        </p:scale>
        <p:origin x="60" y="1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8D0A59-E46A-452A-974B-D2F6935508F4}" type="datetimeFigureOut">
              <a:rPr lang="es-ES" smtClean="0"/>
              <a:t>10/04/2025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A97648-8B62-48B2-BFBB-7AD1C64C9D9B}" type="slidenum">
              <a:rPr lang="es-ES" smtClean="0"/>
              <a:t>‹Nº›</a:t>
            </a:fld>
            <a:endParaRPr lang="es-ES"/>
          </a:p>
        </p:txBody>
      </p:sp>
    </p:spTree>
    <p:extLst>
      <p:ext uri="{BB962C8B-B14F-4D97-AF65-F5344CB8AC3E}">
        <p14:creationId xmlns:p14="http://schemas.microsoft.com/office/powerpoint/2010/main" val="4203898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7D37FE0A-5AA0-4512-BECD-0BAEBFF1F811}" type="slidenum">
              <a:rPr lang="es-ES" smtClean="0"/>
              <a:t>3</a:t>
            </a:fld>
            <a:endParaRPr lang="es-ES"/>
          </a:p>
        </p:txBody>
      </p:sp>
    </p:spTree>
    <p:extLst>
      <p:ext uri="{BB962C8B-B14F-4D97-AF65-F5344CB8AC3E}">
        <p14:creationId xmlns:p14="http://schemas.microsoft.com/office/powerpoint/2010/main" val="595037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ES"/>
          </a:p>
        </p:txBody>
      </p:sp>
      <p:sp>
        <p:nvSpPr>
          <p:cNvPr id="4" name="Marcador de fecha 3"/>
          <p:cNvSpPr>
            <a:spLocks noGrp="1"/>
          </p:cNvSpPr>
          <p:nvPr>
            <p:ph type="dt" sz="half" idx="10"/>
          </p:nvPr>
        </p:nvSpPr>
        <p:spPr/>
        <p:txBody>
          <a:bodyPr/>
          <a:lstStyle/>
          <a:p>
            <a:fld id="{30DBB1C0-8BA3-45D4-BE62-881C146A3230}" type="datetimeFigureOut">
              <a:rPr lang="es-ES" smtClean="0"/>
              <a:t>10/04/2025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8146C8C-1F90-4D98-BB56-2DBC1747891A}" type="slidenum">
              <a:rPr lang="es-ES" smtClean="0"/>
              <a:t>‹Nº›</a:t>
            </a:fld>
            <a:endParaRPr lang="es-ES"/>
          </a:p>
        </p:txBody>
      </p:sp>
    </p:spTree>
    <p:extLst>
      <p:ext uri="{BB962C8B-B14F-4D97-AF65-F5344CB8AC3E}">
        <p14:creationId xmlns:p14="http://schemas.microsoft.com/office/powerpoint/2010/main" val="256333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30DBB1C0-8BA3-45D4-BE62-881C146A3230}" type="datetimeFigureOut">
              <a:rPr lang="es-ES" smtClean="0"/>
              <a:t>10/04/2025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8146C8C-1F90-4D98-BB56-2DBC1747891A}" type="slidenum">
              <a:rPr lang="es-ES" smtClean="0"/>
              <a:t>‹Nº›</a:t>
            </a:fld>
            <a:endParaRPr lang="es-ES"/>
          </a:p>
        </p:txBody>
      </p:sp>
    </p:spTree>
    <p:extLst>
      <p:ext uri="{BB962C8B-B14F-4D97-AF65-F5344CB8AC3E}">
        <p14:creationId xmlns:p14="http://schemas.microsoft.com/office/powerpoint/2010/main" val="237303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30DBB1C0-8BA3-45D4-BE62-881C146A3230}" type="datetimeFigureOut">
              <a:rPr lang="es-ES" smtClean="0"/>
              <a:t>10/04/2025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8146C8C-1F90-4D98-BB56-2DBC1747891A}" type="slidenum">
              <a:rPr lang="es-ES" smtClean="0"/>
              <a:t>‹Nº›</a:t>
            </a:fld>
            <a:endParaRPr lang="es-ES"/>
          </a:p>
        </p:txBody>
      </p:sp>
    </p:spTree>
    <p:extLst>
      <p:ext uri="{BB962C8B-B14F-4D97-AF65-F5344CB8AC3E}">
        <p14:creationId xmlns:p14="http://schemas.microsoft.com/office/powerpoint/2010/main" val="533497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30DBB1C0-8BA3-45D4-BE62-881C146A3230}" type="datetimeFigureOut">
              <a:rPr lang="es-ES" smtClean="0"/>
              <a:t>10/04/2025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8146C8C-1F90-4D98-BB56-2DBC1747891A}" type="slidenum">
              <a:rPr lang="es-ES" smtClean="0"/>
              <a:t>‹Nº›</a:t>
            </a:fld>
            <a:endParaRPr lang="es-ES"/>
          </a:p>
        </p:txBody>
      </p:sp>
    </p:spTree>
    <p:extLst>
      <p:ext uri="{BB962C8B-B14F-4D97-AF65-F5344CB8AC3E}">
        <p14:creationId xmlns:p14="http://schemas.microsoft.com/office/powerpoint/2010/main" val="1149267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30DBB1C0-8BA3-45D4-BE62-881C146A3230}" type="datetimeFigureOut">
              <a:rPr lang="es-ES" smtClean="0"/>
              <a:t>10/04/2025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D8146C8C-1F90-4D98-BB56-2DBC1747891A}" type="slidenum">
              <a:rPr lang="es-ES" smtClean="0"/>
              <a:t>‹Nº›</a:t>
            </a:fld>
            <a:endParaRPr lang="es-ES"/>
          </a:p>
        </p:txBody>
      </p:sp>
    </p:spTree>
    <p:extLst>
      <p:ext uri="{BB962C8B-B14F-4D97-AF65-F5344CB8AC3E}">
        <p14:creationId xmlns:p14="http://schemas.microsoft.com/office/powerpoint/2010/main" val="1502367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30DBB1C0-8BA3-45D4-BE62-881C146A3230}" type="datetimeFigureOut">
              <a:rPr lang="es-ES" smtClean="0"/>
              <a:t>10/04/2025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D8146C8C-1F90-4D98-BB56-2DBC1747891A}" type="slidenum">
              <a:rPr lang="es-ES" smtClean="0"/>
              <a:t>‹Nº›</a:t>
            </a:fld>
            <a:endParaRPr lang="es-ES"/>
          </a:p>
        </p:txBody>
      </p:sp>
    </p:spTree>
    <p:extLst>
      <p:ext uri="{BB962C8B-B14F-4D97-AF65-F5344CB8AC3E}">
        <p14:creationId xmlns:p14="http://schemas.microsoft.com/office/powerpoint/2010/main" val="4134368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0DBB1C0-8BA3-45D4-BE62-881C146A3230}" type="datetimeFigureOut">
              <a:rPr lang="es-ES" smtClean="0"/>
              <a:t>10/04/2025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D8146C8C-1F90-4D98-BB56-2DBC1747891A}" type="slidenum">
              <a:rPr lang="es-ES" smtClean="0"/>
              <a:t>‹Nº›</a:t>
            </a:fld>
            <a:endParaRPr lang="es-ES"/>
          </a:p>
        </p:txBody>
      </p:sp>
    </p:spTree>
    <p:extLst>
      <p:ext uri="{BB962C8B-B14F-4D97-AF65-F5344CB8AC3E}">
        <p14:creationId xmlns:p14="http://schemas.microsoft.com/office/powerpoint/2010/main" val="1509235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30DBB1C0-8BA3-45D4-BE62-881C146A3230}" type="datetimeFigureOut">
              <a:rPr lang="es-ES" smtClean="0"/>
              <a:t>10/04/2025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8146C8C-1F90-4D98-BB56-2DBC1747891A}" type="slidenum">
              <a:rPr lang="es-ES" smtClean="0"/>
              <a:t>‹Nº›</a:t>
            </a:fld>
            <a:endParaRPr lang="es-ES"/>
          </a:p>
        </p:txBody>
      </p:sp>
    </p:spTree>
    <p:extLst>
      <p:ext uri="{BB962C8B-B14F-4D97-AF65-F5344CB8AC3E}">
        <p14:creationId xmlns:p14="http://schemas.microsoft.com/office/powerpoint/2010/main" val="764196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30DBB1C0-8BA3-45D4-BE62-881C146A3230}" type="datetimeFigureOut">
              <a:rPr lang="es-ES" smtClean="0"/>
              <a:t>10/04/2025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8146C8C-1F90-4D98-BB56-2DBC1747891A}" type="slidenum">
              <a:rPr lang="es-ES" smtClean="0"/>
              <a:t>‹Nº›</a:t>
            </a:fld>
            <a:endParaRPr lang="es-ES"/>
          </a:p>
        </p:txBody>
      </p:sp>
    </p:spTree>
    <p:extLst>
      <p:ext uri="{BB962C8B-B14F-4D97-AF65-F5344CB8AC3E}">
        <p14:creationId xmlns:p14="http://schemas.microsoft.com/office/powerpoint/2010/main" val="168063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30DBB1C0-8BA3-45D4-BE62-881C146A3230}" type="datetimeFigureOut">
              <a:rPr lang="es-ES" smtClean="0"/>
              <a:t>10/04/2025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8146C8C-1F90-4D98-BB56-2DBC1747891A}" type="slidenum">
              <a:rPr lang="es-ES" smtClean="0"/>
              <a:t>‹Nº›</a:t>
            </a:fld>
            <a:endParaRPr lang="es-ES"/>
          </a:p>
        </p:txBody>
      </p:sp>
    </p:spTree>
    <p:extLst>
      <p:ext uri="{BB962C8B-B14F-4D97-AF65-F5344CB8AC3E}">
        <p14:creationId xmlns:p14="http://schemas.microsoft.com/office/powerpoint/2010/main" val="3441096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30DBB1C0-8BA3-45D4-BE62-881C146A3230}" type="datetimeFigureOut">
              <a:rPr lang="es-ES" smtClean="0"/>
              <a:t>10/04/2025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8146C8C-1F90-4D98-BB56-2DBC1747891A}" type="slidenum">
              <a:rPr lang="es-ES" smtClean="0"/>
              <a:t>‹Nº›</a:t>
            </a:fld>
            <a:endParaRPr lang="es-ES"/>
          </a:p>
        </p:txBody>
      </p:sp>
    </p:spTree>
    <p:extLst>
      <p:ext uri="{BB962C8B-B14F-4D97-AF65-F5344CB8AC3E}">
        <p14:creationId xmlns:p14="http://schemas.microsoft.com/office/powerpoint/2010/main" val="847936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DBB1C0-8BA3-45D4-BE62-881C146A3230}" type="datetimeFigureOut">
              <a:rPr lang="es-ES" smtClean="0"/>
              <a:t>10/04/2025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46C8C-1F90-4D98-BB56-2DBC1747891A}" type="slidenum">
              <a:rPr lang="es-ES" smtClean="0"/>
              <a:t>‹Nº›</a:t>
            </a:fld>
            <a:endParaRPr lang="es-ES"/>
          </a:p>
        </p:txBody>
      </p:sp>
    </p:spTree>
    <p:extLst>
      <p:ext uri="{BB962C8B-B14F-4D97-AF65-F5344CB8AC3E}">
        <p14:creationId xmlns:p14="http://schemas.microsoft.com/office/powerpoint/2010/main" val="2395151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hyperlink" Target="https://www.youtube.com/watch?v=RY93w-XWfe4" TargetMode="Externa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Juk72R8bcSk" TargetMode="External"/><Relationship Id="rId2" Type="http://schemas.openxmlformats.org/officeDocument/2006/relationships/hyperlink" Target="https://www.youtube.com/watch?v=-Xl2c91pWGc" TargetMode="External"/><Relationship Id="rId1" Type="http://schemas.openxmlformats.org/officeDocument/2006/relationships/slideLayout" Target="../slideLayouts/slideLayout8.xml"/><Relationship Id="rId5" Type="http://schemas.openxmlformats.org/officeDocument/2006/relationships/image" Target="../media/image8.jp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hyperlink" Target="https://www.youtube.com/watch?v=uAIUO4EmhMo" TargetMode="External"/><Relationship Id="rId1" Type="http://schemas.openxmlformats.org/officeDocument/2006/relationships/slideLayout" Target="../slideLayouts/slideLayout8.xml"/><Relationship Id="rId4" Type="http://schemas.openxmlformats.org/officeDocument/2006/relationships/hyperlink" Target="https://thenewstack.io/remembering-shakey-first-intelligent-robo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pPr algn="l"/>
            <a:r>
              <a:rPr lang="es-ES" sz="2800" b="1" dirty="0" smtClean="0"/>
              <a:t>Tema 3: Autómatas y robótica en el siglo XX. Tendencias generales. Ficción y realidad</a:t>
            </a:r>
            <a:br>
              <a:rPr lang="es-ES" sz="2800" b="1" dirty="0" smtClean="0"/>
            </a:br>
            <a:endParaRPr lang="es-ES" sz="2800" dirty="0"/>
          </a:p>
        </p:txBody>
      </p:sp>
      <p:sp>
        <p:nvSpPr>
          <p:cNvPr id="3" name="Subtítulo 2"/>
          <p:cNvSpPr>
            <a:spLocks noGrp="1"/>
          </p:cNvSpPr>
          <p:nvPr>
            <p:ph type="subTitle" idx="1"/>
          </p:nvPr>
        </p:nvSpPr>
        <p:spPr/>
        <p:txBody>
          <a:bodyPr/>
          <a:lstStyle/>
          <a:p>
            <a:pPr algn="l"/>
            <a:r>
              <a:rPr lang="es-ES" b="1" dirty="0"/>
              <a:t>3.1. </a:t>
            </a:r>
            <a:r>
              <a:rPr lang="es-ES" b="1" smtClean="0"/>
              <a:t>Ficción. Robótica </a:t>
            </a:r>
            <a:r>
              <a:rPr lang="es-ES" b="1" dirty="0"/>
              <a:t>en literatura y cine del siglo </a:t>
            </a:r>
            <a:r>
              <a:rPr lang="es-ES" b="1" dirty="0" smtClean="0"/>
              <a:t>XX</a:t>
            </a:r>
          </a:p>
          <a:p>
            <a:pPr algn="l"/>
            <a:r>
              <a:rPr lang="es-ES" b="1" dirty="0" smtClean="0"/>
              <a:t>3.2</a:t>
            </a:r>
            <a:r>
              <a:rPr lang="es-ES" b="1" dirty="0"/>
              <a:t>. Ensayos y prototipos</a:t>
            </a:r>
            <a:endParaRPr lang="es-ES" dirty="0"/>
          </a:p>
          <a:p>
            <a:endParaRPr lang="es-ES" dirty="0"/>
          </a:p>
        </p:txBody>
      </p:sp>
    </p:spTree>
    <p:extLst>
      <p:ext uri="{BB962C8B-B14F-4D97-AF65-F5344CB8AC3E}">
        <p14:creationId xmlns:p14="http://schemas.microsoft.com/office/powerpoint/2010/main" val="793723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729" y="311593"/>
            <a:ext cx="10515600" cy="650875"/>
          </a:xfrm>
        </p:spPr>
        <p:txBody>
          <a:bodyPr>
            <a:normAutofit/>
          </a:bodyPr>
          <a:lstStyle/>
          <a:p>
            <a:r>
              <a:rPr lang="es-ES" sz="2800" b="1" dirty="0" smtClean="0"/>
              <a:t>3.1. </a:t>
            </a:r>
            <a:r>
              <a:rPr lang="es-ES" sz="2800" b="1" dirty="0" smtClean="0"/>
              <a:t>Robótica en literatura y cine del</a:t>
            </a:r>
            <a:r>
              <a:rPr lang="es-ES" sz="2800" b="1" dirty="0" smtClean="0"/>
              <a:t> </a:t>
            </a:r>
            <a:r>
              <a:rPr lang="es-ES" sz="2800" b="1" dirty="0" smtClean="0"/>
              <a:t>siglo XX</a:t>
            </a:r>
            <a:endParaRPr lang="es-ES" sz="2800" b="1" dirty="0"/>
          </a:p>
        </p:txBody>
      </p:sp>
      <p:sp>
        <p:nvSpPr>
          <p:cNvPr id="7" name="Marcador de texto 6"/>
          <p:cNvSpPr>
            <a:spLocks noGrp="1"/>
          </p:cNvSpPr>
          <p:nvPr>
            <p:ph type="body" sz="half" idx="4294967295"/>
          </p:nvPr>
        </p:nvSpPr>
        <p:spPr>
          <a:xfrm>
            <a:off x="17886" y="1020517"/>
            <a:ext cx="6078114" cy="5837483"/>
          </a:xfrm>
        </p:spPr>
        <p:txBody>
          <a:bodyPr>
            <a:normAutofit fontScale="25000" lnSpcReduction="20000"/>
          </a:bodyPr>
          <a:lstStyle/>
          <a:p>
            <a:pPr marL="285750" indent="-285750">
              <a:buFont typeface="Arial" panose="020B0604020202020204" pitchFamily="34" charset="0"/>
              <a:buChar char="•"/>
            </a:pPr>
            <a:r>
              <a:rPr lang="es-ES" sz="6800" dirty="0" smtClean="0"/>
              <a:t>Pieza teatral de </a:t>
            </a:r>
            <a:r>
              <a:rPr lang="es-ES" sz="6800" dirty="0" err="1" smtClean="0"/>
              <a:t>Karel</a:t>
            </a:r>
            <a:r>
              <a:rPr lang="es-ES" sz="6800" dirty="0" smtClean="0"/>
              <a:t> </a:t>
            </a:r>
            <a:r>
              <a:rPr lang="es-ES" sz="6800" dirty="0" err="1" smtClean="0"/>
              <a:t>Capek</a:t>
            </a:r>
            <a:r>
              <a:rPr lang="es-ES" sz="6800" dirty="0" smtClean="0"/>
              <a:t>, RUR (</a:t>
            </a:r>
            <a:r>
              <a:rPr lang="es-ES" sz="6800" dirty="0" err="1" smtClean="0"/>
              <a:t>Rossum’s</a:t>
            </a:r>
            <a:r>
              <a:rPr lang="es-ES" sz="6800" dirty="0" smtClean="0"/>
              <a:t> Universal Robots, 1921)</a:t>
            </a:r>
          </a:p>
          <a:p>
            <a:pPr marL="285750" indent="-285750">
              <a:buFont typeface="Arial" panose="020B0604020202020204" pitchFamily="34" charset="0"/>
              <a:buChar char="•"/>
            </a:pPr>
            <a:r>
              <a:rPr lang="es-ES" sz="6800" dirty="0" smtClean="0"/>
              <a:t>Primer uso del término “robot”</a:t>
            </a:r>
          </a:p>
          <a:p>
            <a:pPr marL="457200" lvl="1" indent="0">
              <a:buNone/>
            </a:pPr>
            <a:r>
              <a:rPr lang="es-ES" sz="6800" dirty="0" smtClean="0"/>
              <a:t>La palabra “robot” fue inventada por Josef </a:t>
            </a:r>
            <a:r>
              <a:rPr lang="es-ES" sz="6800" dirty="0" err="1" smtClean="0"/>
              <a:t>Capek</a:t>
            </a:r>
            <a:r>
              <a:rPr lang="es-ES" sz="6800" dirty="0" smtClean="0"/>
              <a:t> para designar a los obreros industriales de la obra RUR. Derivaba de “</a:t>
            </a:r>
            <a:r>
              <a:rPr lang="es-ES" sz="6800" dirty="0" err="1" smtClean="0"/>
              <a:t>robota</a:t>
            </a:r>
            <a:r>
              <a:rPr lang="es-ES" sz="6800" dirty="0" smtClean="0"/>
              <a:t>”, que significa trabajos forzados, servidumbre y esclavitud.</a:t>
            </a:r>
          </a:p>
          <a:p>
            <a:pPr marL="285750" indent="-285750">
              <a:buFont typeface="Arial" panose="020B0604020202020204" pitchFamily="34" charset="0"/>
              <a:buChar char="•"/>
            </a:pPr>
            <a:r>
              <a:rPr lang="es-ES" sz="6800" dirty="0" smtClean="0"/>
              <a:t>¿Cómo están constituidos los robots?</a:t>
            </a:r>
          </a:p>
          <a:p>
            <a:pPr marL="457200" lvl="1" indent="0">
              <a:buNone/>
            </a:pPr>
            <a:r>
              <a:rPr lang="es-ES" sz="6800" dirty="0" smtClean="0"/>
              <a:t>Su fundamento técnico: son el resultado de una síntesis química.</a:t>
            </a:r>
          </a:p>
          <a:p>
            <a:pPr marL="457200" lvl="1" indent="0">
              <a:buNone/>
            </a:pPr>
            <a:r>
              <a:rPr lang="es-ES" sz="6800" dirty="0" smtClean="0"/>
              <a:t>Hechos de materia viviente, pero son seres artificiales a los que se ha eliminado cualquier cosa inútil para el trabajo, como los sentimientos y las emociones.</a:t>
            </a:r>
          </a:p>
          <a:p>
            <a:pPr marL="285750" indent="-285750">
              <a:buFont typeface="Arial" panose="020B0604020202020204" pitchFamily="34" charset="0"/>
              <a:buChar char="•"/>
            </a:pPr>
            <a:r>
              <a:rPr lang="es-ES" sz="6800" dirty="0" smtClean="0"/>
              <a:t>¿Cuál es su finalidad?</a:t>
            </a:r>
          </a:p>
          <a:p>
            <a:pPr marL="457200" lvl="1" indent="0">
              <a:buNone/>
            </a:pPr>
            <a:r>
              <a:rPr lang="es-ES" sz="6800" dirty="0" smtClean="0"/>
              <a:t>Contar con el trabajador universal con el mínimo de necesidades. </a:t>
            </a:r>
          </a:p>
          <a:p>
            <a:pPr marL="285750" indent="-285750">
              <a:buFont typeface="Arial" panose="020B0604020202020204" pitchFamily="34" charset="0"/>
              <a:buChar char="•"/>
            </a:pPr>
            <a:r>
              <a:rPr lang="es-ES" sz="6800" dirty="0" smtClean="0"/>
              <a:t>¿Cómo conviven e interaccionan con los humanos? ¿Qué es lo que representan dentro de la obra? </a:t>
            </a:r>
          </a:p>
          <a:p>
            <a:pPr marL="457200" lvl="1" indent="0">
              <a:buNone/>
            </a:pPr>
            <a:r>
              <a:rPr lang="es-ES" sz="6800" dirty="0"/>
              <a:t>E</a:t>
            </a:r>
            <a:r>
              <a:rPr lang="es-ES" sz="6800" dirty="0" smtClean="0"/>
              <a:t>lena </a:t>
            </a:r>
            <a:r>
              <a:rPr lang="es-ES" sz="6800" dirty="0" err="1" smtClean="0"/>
              <a:t>Ray</a:t>
            </a:r>
            <a:r>
              <a:rPr lang="es-ES" sz="6800" dirty="0" smtClean="0"/>
              <a:t> es hija de un empresario y representante de la Liga de la Humanidad, que defiende que los “robots” tienen alma y desea su liberación. Después de informarse sobre la historia de la fábrica </a:t>
            </a:r>
            <a:r>
              <a:rPr lang="es-ES" sz="6800" dirty="0" err="1" smtClean="0"/>
              <a:t>Rossum</a:t>
            </a:r>
            <a:r>
              <a:rPr lang="es-ES" sz="6800" dirty="0" smtClean="0"/>
              <a:t>, y de conocer un nuevo modelo más avanzado, </a:t>
            </a:r>
            <a:r>
              <a:rPr lang="es-ES" sz="6800" dirty="0" err="1" smtClean="0"/>
              <a:t>Radius</a:t>
            </a:r>
            <a:r>
              <a:rPr lang="es-ES" sz="6800" dirty="0" smtClean="0"/>
              <a:t>, se recibe la noticia de la rebelión, que comienza “Robots de todo el mundo…” . Se apoderan del mundo y exterminan la raza humana. (Representan al proletariado que toma conciencia de sí). </a:t>
            </a:r>
          </a:p>
          <a:p>
            <a:pPr marL="0" indent="0">
              <a:buNone/>
            </a:pPr>
            <a:endParaRPr lang="es-ES" sz="2400" dirty="0" smtClean="0"/>
          </a:p>
          <a:p>
            <a:pPr marL="0" indent="0">
              <a:buNone/>
            </a:pPr>
            <a:endParaRPr lang="es-ES" sz="2400" dirty="0"/>
          </a:p>
          <a:p>
            <a:pPr marL="0" indent="0">
              <a:buNone/>
            </a:pPr>
            <a:r>
              <a:rPr lang="es-ES" sz="2400" dirty="0" smtClean="0"/>
              <a:t> (</a:t>
            </a:r>
            <a:r>
              <a:rPr lang="es-ES" sz="2400" dirty="0" err="1" smtClean="0"/>
              <a:t>Castelfranchi</a:t>
            </a:r>
            <a:r>
              <a:rPr lang="es-ES" sz="2400" dirty="0" smtClean="0"/>
              <a:t> y Stock, 2002, 160-162]</a:t>
            </a:r>
          </a:p>
          <a:p>
            <a:pPr marL="0" indent="0">
              <a:buNone/>
            </a:pPr>
            <a:endParaRPr lang="es-ES" dirty="0" smtClean="0"/>
          </a:p>
          <a:p>
            <a:endParaRPr lang="es-ES" dirty="0" smtClean="0"/>
          </a:p>
          <a:p>
            <a:endParaRPr lang="es-ES" dirty="0" smtClean="0"/>
          </a:p>
          <a:p>
            <a:pPr marL="285750" indent="-285750">
              <a:buFont typeface="Arial" panose="020B0604020202020204" pitchFamily="34" charset="0"/>
              <a:buChar char="•"/>
            </a:pPr>
            <a:endParaRPr lang="es-ES" dirty="0"/>
          </a:p>
        </p:txBody>
      </p:sp>
      <p:pic>
        <p:nvPicPr>
          <p:cNvPr id="11" name="Imagen 10"/>
          <p:cNvPicPr>
            <a:picLocks noChangeAspect="1"/>
          </p:cNvPicPr>
          <p:nvPr/>
        </p:nvPicPr>
        <p:blipFill>
          <a:blip r:embed="rId2"/>
          <a:stretch>
            <a:fillRect/>
          </a:stretch>
        </p:blipFill>
        <p:spPr>
          <a:xfrm>
            <a:off x="8956592" y="1411903"/>
            <a:ext cx="2650128" cy="4193497"/>
          </a:xfrm>
          <a:prstGeom prst="rect">
            <a:avLst/>
          </a:prstGeom>
        </p:spPr>
      </p:pic>
      <p:sp>
        <p:nvSpPr>
          <p:cNvPr id="12" name="CuadroTexto 11"/>
          <p:cNvSpPr txBox="1"/>
          <p:nvPr/>
        </p:nvSpPr>
        <p:spPr>
          <a:xfrm>
            <a:off x="9557467" y="5663449"/>
            <a:ext cx="2281362" cy="246221"/>
          </a:xfrm>
          <a:prstGeom prst="rect">
            <a:avLst/>
          </a:prstGeom>
          <a:noFill/>
        </p:spPr>
        <p:txBody>
          <a:bodyPr wrap="square" rtlCol="0">
            <a:spAutoFit/>
          </a:bodyPr>
          <a:lstStyle/>
          <a:p>
            <a:r>
              <a:rPr lang="es-ES" sz="1000" dirty="0" smtClean="0"/>
              <a:t>Cartel de la obra, 1936 </a:t>
            </a:r>
            <a:endParaRPr lang="es-ES" sz="1000" dirty="0"/>
          </a:p>
        </p:txBody>
      </p:sp>
      <p:pic>
        <p:nvPicPr>
          <p:cNvPr id="13" name="Imagen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5548" y="1500808"/>
            <a:ext cx="2888400" cy="2252952"/>
          </a:xfrm>
          <a:prstGeom prst="rect">
            <a:avLst/>
          </a:prstGeom>
        </p:spPr>
      </p:pic>
      <p:sp>
        <p:nvSpPr>
          <p:cNvPr id="14" name="CuadroTexto 13"/>
          <p:cNvSpPr txBox="1"/>
          <p:nvPr/>
        </p:nvSpPr>
        <p:spPr>
          <a:xfrm>
            <a:off x="6496216" y="3975652"/>
            <a:ext cx="1526650" cy="553998"/>
          </a:xfrm>
          <a:prstGeom prst="rect">
            <a:avLst/>
          </a:prstGeom>
          <a:noFill/>
        </p:spPr>
        <p:txBody>
          <a:bodyPr wrap="square" rtlCol="0">
            <a:spAutoFit/>
          </a:bodyPr>
          <a:lstStyle/>
          <a:p>
            <a:r>
              <a:rPr lang="es-ES" sz="1000" dirty="0" smtClean="0"/>
              <a:t>Rebelión de los robots en la obra en una representación de 1922</a:t>
            </a:r>
            <a:endParaRPr lang="es-ES" sz="1000" dirty="0"/>
          </a:p>
        </p:txBody>
      </p:sp>
    </p:spTree>
    <p:extLst>
      <p:ext uri="{BB962C8B-B14F-4D97-AF65-F5344CB8AC3E}">
        <p14:creationId xmlns:p14="http://schemas.microsoft.com/office/powerpoint/2010/main" val="33218378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9787" y="457200"/>
            <a:ext cx="3932237" cy="1004455"/>
          </a:xfrm>
        </p:spPr>
        <p:txBody>
          <a:bodyPr>
            <a:normAutofit/>
          </a:bodyPr>
          <a:lstStyle/>
          <a:p>
            <a:r>
              <a:rPr lang="es-ES" sz="2800" b="1" dirty="0" smtClean="0"/>
              <a:t>Metrópolis. Rebeliones con otros significados</a:t>
            </a:r>
            <a:endParaRPr lang="es-ES" sz="2800" b="1" dirty="0"/>
          </a:p>
        </p:txBody>
      </p:sp>
      <p:pic>
        <p:nvPicPr>
          <p:cNvPr id="5" name="Marcador de contenido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092786" y="592372"/>
            <a:ext cx="3676650" cy="3810000"/>
          </a:xfrm>
        </p:spPr>
      </p:pic>
      <p:sp>
        <p:nvSpPr>
          <p:cNvPr id="4" name="Marcador de texto 3"/>
          <p:cNvSpPr>
            <a:spLocks noGrp="1"/>
          </p:cNvSpPr>
          <p:nvPr>
            <p:ph type="body" sz="half" idx="2"/>
          </p:nvPr>
        </p:nvSpPr>
        <p:spPr>
          <a:xfrm>
            <a:off x="839788" y="1461655"/>
            <a:ext cx="4194030" cy="5133109"/>
          </a:xfrm>
        </p:spPr>
        <p:txBody>
          <a:bodyPr>
            <a:normAutofit fontScale="47500" lnSpcReduction="20000"/>
          </a:bodyPr>
          <a:lstStyle/>
          <a:p>
            <a:pPr marL="342900" indent="-342900">
              <a:buFont typeface="Wingdings" panose="05000000000000000000" pitchFamily="2" charset="2"/>
              <a:buChar char="§"/>
            </a:pPr>
            <a:r>
              <a:rPr lang="es-ES" sz="2900" dirty="0" smtClean="0"/>
              <a:t>El director es Fritz </a:t>
            </a:r>
            <a:r>
              <a:rPr lang="es-ES" sz="2900" dirty="0" err="1" smtClean="0"/>
              <a:t>Lang</a:t>
            </a:r>
            <a:r>
              <a:rPr lang="es-ES" sz="2900" dirty="0" smtClean="0"/>
              <a:t> y se estrenó en el año </a:t>
            </a:r>
            <a:r>
              <a:rPr lang="es-ES" sz="3400" dirty="0" smtClean="0"/>
              <a:t>1927.</a:t>
            </a:r>
          </a:p>
          <a:p>
            <a:pPr marL="342900" indent="-342900">
              <a:buFont typeface="Wingdings" panose="05000000000000000000" pitchFamily="2" charset="2"/>
              <a:buChar char="§"/>
            </a:pPr>
            <a:r>
              <a:rPr lang="es-ES" sz="3400" dirty="0" smtClean="0"/>
              <a:t>¿Cuál es el origen del robot humanoide ? </a:t>
            </a:r>
          </a:p>
          <a:p>
            <a:pPr lvl="1"/>
            <a:r>
              <a:rPr lang="es-ES" sz="3400" dirty="0" err="1" smtClean="0"/>
              <a:t>Fredersen</a:t>
            </a:r>
            <a:r>
              <a:rPr lang="es-ES" sz="3400" dirty="0" smtClean="0"/>
              <a:t>, patrón y dictador de la inmensa ciudad fábrica encarga al científico </a:t>
            </a:r>
            <a:r>
              <a:rPr lang="es-ES" sz="3400" dirty="0" err="1" smtClean="0"/>
              <a:t>Rothwang</a:t>
            </a:r>
            <a:r>
              <a:rPr lang="es-ES" sz="3400" dirty="0" smtClean="0"/>
              <a:t> que construya un robot idéntico a María (quien está intentando unir las dos mitades de la ciudad, la de los trabajadores, que viven en el subsuelo y la de la élite y los pensadores que viven en la superficie). </a:t>
            </a:r>
          </a:p>
          <a:p>
            <a:pPr marL="342900" indent="-342900">
              <a:buFont typeface="Wingdings" panose="05000000000000000000" pitchFamily="2" charset="2"/>
              <a:buChar char="§"/>
            </a:pPr>
            <a:r>
              <a:rPr lang="es-ES" sz="3400" dirty="0" smtClean="0"/>
              <a:t>¿Cuál es la finalidad del robot?</a:t>
            </a:r>
          </a:p>
          <a:p>
            <a:pPr lvl="1"/>
            <a:r>
              <a:rPr lang="es-ES" sz="3400" dirty="0" smtClean="0"/>
              <a:t>Enfrentar los trabajadores unos con otros y facilitar así la represión posterior.</a:t>
            </a:r>
          </a:p>
          <a:p>
            <a:pPr marL="342900" indent="-342900">
              <a:buFont typeface="Wingdings" panose="05000000000000000000" pitchFamily="2" charset="2"/>
              <a:buChar char="§"/>
            </a:pPr>
            <a:r>
              <a:rPr lang="es-ES" sz="3400" dirty="0" smtClean="0"/>
              <a:t>¿Qué representa el robot dentro de la historia, teniendo en cuenta además su destino?</a:t>
            </a:r>
          </a:p>
          <a:p>
            <a:pPr lvl="1"/>
            <a:r>
              <a:rPr lang="es-ES" sz="3400" dirty="0" smtClean="0"/>
              <a:t>La robot María, a la que siguen ciegamente, es vista después como un agente del mal, y el científico que lo construye como el científico loco cuya creación sobrepasa los límites de la moral.  </a:t>
            </a:r>
          </a:p>
          <a:p>
            <a:pPr lvl="1"/>
            <a:r>
              <a:rPr lang="es-ES" sz="3400" dirty="0" smtClean="0"/>
              <a:t>Solo el amor podrá unir las dos partes de la ciudad, vinculando el cerebro y la fuerza.</a:t>
            </a:r>
          </a:p>
          <a:p>
            <a:endParaRPr lang="es-ES" sz="2900" dirty="0" smtClean="0"/>
          </a:p>
          <a:p>
            <a:pPr marL="285750" indent="-285750">
              <a:buFont typeface="Arial" panose="020B0604020202020204" pitchFamily="34" charset="0"/>
              <a:buChar char="•"/>
            </a:pPr>
            <a:endParaRPr lang="es-ES" dirty="0" smtClean="0"/>
          </a:p>
        </p:txBody>
      </p:sp>
      <p:sp>
        <p:nvSpPr>
          <p:cNvPr id="6" name="CuadroTexto 5"/>
          <p:cNvSpPr txBox="1"/>
          <p:nvPr/>
        </p:nvSpPr>
        <p:spPr>
          <a:xfrm>
            <a:off x="8945216" y="4564049"/>
            <a:ext cx="2639833" cy="307777"/>
          </a:xfrm>
          <a:prstGeom prst="rect">
            <a:avLst/>
          </a:prstGeom>
          <a:noFill/>
        </p:spPr>
        <p:txBody>
          <a:bodyPr wrap="square" rtlCol="0">
            <a:spAutoFit/>
          </a:bodyPr>
          <a:lstStyle/>
          <a:p>
            <a:r>
              <a:rPr lang="es-ES" sz="1400" dirty="0" smtClean="0"/>
              <a:t>Anuncio brasileño de 1930</a:t>
            </a:r>
            <a:endParaRPr lang="es-ES" sz="1400" dirty="0"/>
          </a:p>
        </p:txBody>
      </p:sp>
      <p:pic>
        <p:nvPicPr>
          <p:cNvPr id="7" name="Imagen 6"/>
          <p:cNvPicPr>
            <a:picLocks noChangeAspect="1"/>
          </p:cNvPicPr>
          <p:nvPr/>
        </p:nvPicPr>
        <p:blipFill>
          <a:blip r:embed="rId4"/>
          <a:stretch>
            <a:fillRect/>
          </a:stretch>
        </p:blipFill>
        <p:spPr>
          <a:xfrm>
            <a:off x="5223938" y="457200"/>
            <a:ext cx="2868847" cy="4668908"/>
          </a:xfrm>
          <a:prstGeom prst="rect">
            <a:avLst/>
          </a:prstGeom>
        </p:spPr>
      </p:pic>
      <p:sp>
        <p:nvSpPr>
          <p:cNvPr id="8" name="CuadroTexto 7"/>
          <p:cNvSpPr txBox="1"/>
          <p:nvPr/>
        </p:nvSpPr>
        <p:spPr>
          <a:xfrm flipH="1">
            <a:off x="5518204" y="5279666"/>
            <a:ext cx="2574581" cy="307777"/>
          </a:xfrm>
          <a:prstGeom prst="rect">
            <a:avLst/>
          </a:prstGeom>
          <a:noFill/>
        </p:spPr>
        <p:txBody>
          <a:bodyPr wrap="square" rtlCol="0">
            <a:spAutoFit/>
          </a:bodyPr>
          <a:lstStyle/>
          <a:p>
            <a:r>
              <a:rPr lang="es-ES" sz="1400" dirty="0" smtClean="0"/>
              <a:t>María, la </a:t>
            </a:r>
            <a:r>
              <a:rPr lang="es-ES" sz="1400" dirty="0" err="1" smtClean="0"/>
              <a:t>fembot</a:t>
            </a:r>
            <a:r>
              <a:rPr lang="es-ES" sz="1400" dirty="0" smtClean="0"/>
              <a:t> de la película</a:t>
            </a:r>
            <a:endParaRPr lang="es-ES" sz="1400" dirty="0"/>
          </a:p>
        </p:txBody>
      </p:sp>
    </p:spTree>
    <p:extLst>
      <p:ext uri="{BB962C8B-B14F-4D97-AF65-F5344CB8AC3E}">
        <p14:creationId xmlns:p14="http://schemas.microsoft.com/office/powerpoint/2010/main" val="34952383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32152" y="332511"/>
            <a:ext cx="5045954" cy="939800"/>
          </a:xfrm>
        </p:spPr>
        <p:txBody>
          <a:bodyPr>
            <a:normAutofit/>
          </a:bodyPr>
          <a:lstStyle/>
          <a:p>
            <a:r>
              <a:rPr lang="es-ES" sz="2800" b="1" dirty="0" err="1" smtClean="0"/>
              <a:t>Asimov</a:t>
            </a:r>
            <a:r>
              <a:rPr lang="es-ES" sz="2800" b="1" dirty="0" smtClean="0"/>
              <a:t>, la robótica amable y optimista</a:t>
            </a:r>
            <a:endParaRPr lang="es-ES" sz="2800" b="1" dirty="0"/>
          </a:p>
        </p:txBody>
      </p:sp>
      <p:pic>
        <p:nvPicPr>
          <p:cNvPr id="5" name="Marcador de contenido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502086" y="651881"/>
            <a:ext cx="3651730" cy="4868973"/>
          </a:xfrm>
        </p:spPr>
      </p:pic>
      <p:sp>
        <p:nvSpPr>
          <p:cNvPr id="4" name="Marcador de texto 3"/>
          <p:cNvSpPr>
            <a:spLocks noGrp="1"/>
          </p:cNvSpPr>
          <p:nvPr>
            <p:ph type="body" sz="half" idx="2"/>
          </p:nvPr>
        </p:nvSpPr>
        <p:spPr>
          <a:xfrm>
            <a:off x="839788" y="1475116"/>
            <a:ext cx="5138318" cy="5382884"/>
          </a:xfrm>
        </p:spPr>
        <p:txBody>
          <a:bodyPr>
            <a:normAutofit fontScale="62500" lnSpcReduction="20000"/>
          </a:bodyPr>
          <a:lstStyle/>
          <a:p>
            <a:pPr marL="457200" indent="-457200">
              <a:buFont typeface="Wingdings" panose="05000000000000000000" pitchFamily="2" charset="2"/>
              <a:buChar char="§"/>
            </a:pPr>
            <a:r>
              <a:rPr lang="es-ES" sz="2900" dirty="0" smtClean="0"/>
              <a:t>Las ideas de </a:t>
            </a:r>
            <a:r>
              <a:rPr lang="es-ES" sz="2900" dirty="0" err="1" smtClean="0"/>
              <a:t>Asimov</a:t>
            </a:r>
            <a:r>
              <a:rPr lang="es-ES" sz="2900" dirty="0" smtClean="0"/>
              <a:t> sobre la ciencia y la técnica</a:t>
            </a:r>
          </a:p>
          <a:p>
            <a:pPr marL="457200" indent="-457200">
              <a:buFont typeface="Wingdings" panose="05000000000000000000" pitchFamily="2" charset="2"/>
              <a:buChar char="§"/>
            </a:pPr>
            <a:r>
              <a:rPr lang="es-ES" sz="2900" dirty="0" err="1" smtClean="0"/>
              <a:t>Asimov</a:t>
            </a:r>
            <a:r>
              <a:rPr lang="es-ES" sz="2900" dirty="0" smtClean="0"/>
              <a:t> encarnaba la confianza optimista en el progreso de la ciencia y la técnica. Pensaba que los robots estaban al servicio del ser humano y que podían contribuir a su bienestar y mejora. </a:t>
            </a:r>
          </a:p>
          <a:p>
            <a:pPr marL="457200" indent="-457200">
              <a:buFont typeface="Wingdings" panose="05000000000000000000" pitchFamily="2" charset="2"/>
              <a:buChar char="§"/>
            </a:pPr>
            <a:r>
              <a:rPr lang="es-ES" sz="2900" dirty="0" smtClean="0"/>
              <a:t>Los relatos de </a:t>
            </a:r>
            <a:r>
              <a:rPr lang="es-ES" sz="2900" dirty="0" err="1" smtClean="0"/>
              <a:t>Asimov</a:t>
            </a:r>
            <a:endParaRPr lang="es-ES" sz="2900" dirty="0"/>
          </a:p>
          <a:p>
            <a:pPr marL="457200" indent="-457200">
              <a:buFont typeface="Wingdings" panose="05000000000000000000" pitchFamily="2" charset="2"/>
              <a:buChar char="§"/>
            </a:pPr>
            <a:r>
              <a:rPr lang="es-ES" sz="2900" dirty="0" smtClean="0"/>
              <a:t>Escribió numerosos relatos (y algunas novelas) sobre robots. Aquí solo señalamos algunos ejemplos:</a:t>
            </a:r>
          </a:p>
          <a:p>
            <a:pPr marL="457200" indent="-457200">
              <a:buFont typeface="Wingdings" panose="05000000000000000000" pitchFamily="2" charset="2"/>
              <a:buChar char="§"/>
            </a:pPr>
            <a:r>
              <a:rPr lang="es-ES" sz="2900" dirty="0" err="1"/>
              <a:t>Robbie</a:t>
            </a:r>
            <a:r>
              <a:rPr lang="es-ES" sz="2900" dirty="0"/>
              <a:t> (1940); </a:t>
            </a:r>
            <a:r>
              <a:rPr lang="es-ES" sz="2900" dirty="0" smtClean="0"/>
              <a:t>Sally (1953); Primera ley (1956); El hombre del bicentenario (1976).  </a:t>
            </a:r>
          </a:p>
          <a:p>
            <a:pPr marL="457200" indent="-457200">
              <a:buFont typeface="Wingdings" panose="05000000000000000000" pitchFamily="2" charset="2"/>
              <a:buChar char="§"/>
            </a:pPr>
            <a:r>
              <a:rPr lang="es-ES" sz="2900" dirty="0" smtClean="0"/>
              <a:t>Las tres leyes de la robótica</a:t>
            </a:r>
          </a:p>
          <a:p>
            <a:pPr lvl="1"/>
            <a:r>
              <a:rPr lang="es-ES" sz="2700" dirty="0" smtClean="0"/>
              <a:t>Al menos, sin entrar en otros análisis más detallados, se puede observar alguna inconsistencia en “producir daño” y en consentir que un humano “sufra daño”. ¿Qué significa “daño”? ¿Todos los seres humanos entienden lo mismo por “daño”? Es fundamental que un término tenga un significado unívoco para que un sistema automático lo interprete adecuadamente. </a:t>
            </a:r>
            <a:r>
              <a:rPr lang="es-ES" sz="2700" dirty="0" err="1" smtClean="0"/>
              <a:t>Asimov</a:t>
            </a:r>
            <a:r>
              <a:rPr lang="es-ES" sz="2700" dirty="0" smtClean="0"/>
              <a:t> mismo plantea estas cuestiones en el relato “Primera ley” (1956).</a:t>
            </a:r>
          </a:p>
          <a:p>
            <a:endParaRPr lang="es-ES" sz="2600" dirty="0" smtClean="0"/>
          </a:p>
          <a:p>
            <a:endParaRPr lang="es-ES" sz="2000" dirty="0"/>
          </a:p>
          <a:p>
            <a:pPr marL="285750" indent="-285750">
              <a:buFont typeface="Arial" panose="020B0604020202020204" pitchFamily="34" charset="0"/>
              <a:buChar char="•"/>
            </a:pPr>
            <a:endParaRPr lang="es-ES" sz="2000" dirty="0"/>
          </a:p>
        </p:txBody>
      </p:sp>
      <p:sp>
        <p:nvSpPr>
          <p:cNvPr id="6" name="CuadroTexto 5"/>
          <p:cNvSpPr txBox="1"/>
          <p:nvPr/>
        </p:nvSpPr>
        <p:spPr>
          <a:xfrm>
            <a:off x="7760473" y="5709037"/>
            <a:ext cx="1470991" cy="369332"/>
          </a:xfrm>
          <a:prstGeom prst="rect">
            <a:avLst/>
          </a:prstGeom>
          <a:noFill/>
        </p:spPr>
        <p:txBody>
          <a:bodyPr wrap="square" rtlCol="0">
            <a:spAutoFit/>
          </a:bodyPr>
          <a:lstStyle/>
          <a:p>
            <a:r>
              <a:rPr lang="es-ES" dirty="0" smtClean="0"/>
              <a:t>Yo</a:t>
            </a:r>
            <a:r>
              <a:rPr lang="es-ES" smtClean="0"/>
              <a:t>, robot</a:t>
            </a:r>
            <a:endParaRPr lang="es-ES"/>
          </a:p>
        </p:txBody>
      </p:sp>
    </p:spTree>
    <p:extLst>
      <p:ext uri="{BB962C8B-B14F-4D97-AF65-F5344CB8AC3E}">
        <p14:creationId xmlns:p14="http://schemas.microsoft.com/office/powerpoint/2010/main" val="2113209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62151" y="698740"/>
            <a:ext cx="4327435" cy="862642"/>
          </a:xfrm>
        </p:spPr>
        <p:txBody>
          <a:bodyPr/>
          <a:lstStyle/>
          <a:p>
            <a:r>
              <a:rPr lang="es-ES" b="1" dirty="0"/>
              <a:t>3.2. Ensayos y prototipos</a:t>
            </a:r>
            <a:br>
              <a:rPr lang="es-ES" b="1" dirty="0"/>
            </a:br>
            <a:r>
              <a:rPr lang="es-ES" sz="2400" b="1" dirty="0" smtClean="0"/>
              <a:t>3.2.1. </a:t>
            </a:r>
            <a:r>
              <a:rPr lang="es-ES" sz="2400" dirty="0" smtClean="0"/>
              <a:t>Primeros </a:t>
            </a:r>
            <a:r>
              <a:rPr lang="es-ES" sz="2400" dirty="0"/>
              <a:t>seres cibernéticos</a:t>
            </a:r>
          </a:p>
        </p:txBody>
      </p:sp>
      <p:sp>
        <p:nvSpPr>
          <p:cNvPr id="4" name="Marcador de texto 3"/>
          <p:cNvSpPr>
            <a:spLocks noGrp="1"/>
          </p:cNvSpPr>
          <p:nvPr>
            <p:ph type="body" sz="half" idx="2"/>
          </p:nvPr>
        </p:nvSpPr>
        <p:spPr>
          <a:xfrm>
            <a:off x="1020942" y="1640306"/>
            <a:ext cx="3932237" cy="3811588"/>
          </a:xfrm>
        </p:spPr>
        <p:txBody>
          <a:bodyPr>
            <a:normAutofit fontScale="47500" lnSpcReduction="20000"/>
          </a:bodyPr>
          <a:lstStyle/>
          <a:p>
            <a:r>
              <a:rPr lang="es-ES" sz="2000" dirty="0"/>
              <a:t>3.2.1.1. J. </a:t>
            </a:r>
            <a:r>
              <a:rPr lang="es-ES" sz="2000" dirty="0" err="1"/>
              <a:t>Loeb</a:t>
            </a:r>
            <a:r>
              <a:rPr lang="es-ES" sz="2000" dirty="0"/>
              <a:t>. ¿Qué son los tropismos? Ideas sobre los animales</a:t>
            </a:r>
            <a:r>
              <a:rPr lang="es-ES" sz="2000" dirty="0" smtClean="0"/>
              <a:t>.</a:t>
            </a:r>
          </a:p>
          <a:p>
            <a:r>
              <a:rPr lang="es-ES" sz="2000" dirty="0" smtClean="0"/>
              <a:t>Jacques </a:t>
            </a:r>
            <a:r>
              <a:rPr lang="es-ES" sz="2000" dirty="0" err="1" smtClean="0"/>
              <a:t>Loeb</a:t>
            </a:r>
            <a:r>
              <a:rPr lang="es-ES" sz="2000" dirty="0" smtClean="0"/>
              <a:t> investigó a principios del siglo XX los fenómenos conocidos como “tropismos”: la capacidad instintiva de muchos organismos sencillos de dirigirse hacia las fuentes de luz o de calor. Su comportamiento no era fruto del razonamiento, sino de automatismos químicos o mecánicos-  </a:t>
            </a:r>
            <a:r>
              <a:rPr lang="es-ES" sz="2000" dirty="0"/>
              <a:t/>
            </a:r>
            <a:br>
              <a:rPr lang="es-ES" sz="2000" dirty="0"/>
            </a:br>
            <a:r>
              <a:rPr lang="es-ES" sz="2000" dirty="0" smtClean="0"/>
              <a:t>3.2.1.2</a:t>
            </a:r>
            <a:r>
              <a:rPr lang="es-ES" sz="2000" dirty="0"/>
              <a:t>. El perro eléctrico ¿Por qué se llamaba </a:t>
            </a:r>
            <a:r>
              <a:rPr lang="es-ES" sz="2000" dirty="0" err="1"/>
              <a:t>Seleno</a:t>
            </a:r>
            <a:r>
              <a:rPr lang="es-ES" sz="2000" dirty="0" smtClean="0"/>
              <a:t>?</a:t>
            </a:r>
          </a:p>
          <a:p>
            <a:r>
              <a:rPr lang="es-ES" sz="2000" dirty="0" smtClean="0"/>
              <a:t>En 1912 siguiendo las ideas anteriores, </a:t>
            </a:r>
            <a:r>
              <a:rPr lang="es-ES" sz="2000" dirty="0" err="1" smtClean="0"/>
              <a:t>Hammond</a:t>
            </a:r>
            <a:r>
              <a:rPr lang="es-ES" sz="2000" dirty="0" smtClean="0"/>
              <a:t> y </a:t>
            </a:r>
            <a:r>
              <a:rPr lang="es-ES" sz="2000" dirty="0" err="1" smtClean="0"/>
              <a:t>Miesner</a:t>
            </a:r>
            <a:r>
              <a:rPr lang="es-ES" sz="2000" dirty="0" smtClean="0"/>
              <a:t> diseñaron el primer perro eléctrico. Consistía en una caja con dos “ojos” formado de fotocélulas de selenio, unidas a los dos motores de las ruedas motrices. </a:t>
            </a:r>
            <a:endParaRPr lang="es-ES" sz="2000" dirty="0"/>
          </a:p>
          <a:p>
            <a:r>
              <a:rPr lang="es-ES" sz="2000" dirty="0" smtClean="0"/>
              <a:t>3.2.1.3</a:t>
            </a:r>
            <a:r>
              <a:rPr lang="es-ES" sz="2000" dirty="0"/>
              <a:t>. Proyectiles teledirigidos</a:t>
            </a:r>
            <a:r>
              <a:rPr lang="es-ES" sz="2000" dirty="0" smtClean="0"/>
              <a:t>. (Debe señalarse algún rasgo general)</a:t>
            </a:r>
          </a:p>
          <a:p>
            <a:r>
              <a:rPr lang="es-ES" sz="2000" dirty="0" smtClean="0"/>
              <a:t>En 1915, la idea de la sensibilidad a las fuentes de luz fue aplicada al diseño de proyectiles, que se dirigían a una fuente que intentaba iluminarlos para destruirlos. </a:t>
            </a:r>
            <a:endParaRPr lang="es-ES" sz="2000" dirty="0"/>
          </a:p>
          <a:p>
            <a:r>
              <a:rPr lang="es-ES" sz="2000" dirty="0" smtClean="0"/>
              <a:t>3.2.1.4</a:t>
            </a:r>
            <a:r>
              <a:rPr lang="es-ES" sz="2000" dirty="0"/>
              <a:t>. Tortugas electrónicas</a:t>
            </a:r>
            <a:r>
              <a:rPr lang="es-ES" sz="2000" dirty="0" smtClean="0"/>
              <a:t>. </a:t>
            </a:r>
            <a:r>
              <a:rPr lang="es-ES" sz="2000" dirty="0"/>
              <a:t>(Debe señalarse algún rasgo general</a:t>
            </a:r>
            <a:r>
              <a:rPr lang="es-ES" sz="2000" dirty="0" smtClean="0"/>
              <a:t>)</a:t>
            </a:r>
          </a:p>
          <a:p>
            <a:r>
              <a:rPr lang="es-ES" sz="2000" dirty="0" smtClean="0"/>
              <a:t>En la posguerra, con la disponibilidad de componentes eléctricos más baratos se diseñaron dispositivos basados en la percepción del mundo exterior y en el principio del “</a:t>
            </a:r>
            <a:r>
              <a:rPr lang="es-ES" sz="2000" dirty="0" err="1" smtClean="0"/>
              <a:t>feedback</a:t>
            </a:r>
            <a:r>
              <a:rPr lang="es-ES" sz="2000" dirty="0" smtClean="0"/>
              <a:t>”. En 1948 un </a:t>
            </a:r>
            <a:r>
              <a:rPr lang="es-ES" sz="2000" dirty="0" err="1" smtClean="0"/>
              <a:t>neurofísico</a:t>
            </a:r>
            <a:r>
              <a:rPr lang="es-ES" sz="2000" dirty="0" smtClean="0"/>
              <a:t> (Grey Walter) comenzó la fabricación de “tortugas electrónicas”. Las primeras se llamaron </a:t>
            </a:r>
            <a:r>
              <a:rPr lang="es-ES" sz="2000" dirty="0" err="1" smtClean="0"/>
              <a:t>Elsie</a:t>
            </a:r>
            <a:r>
              <a:rPr lang="es-ES" sz="2000" dirty="0" smtClean="0"/>
              <a:t> y Elmer. </a:t>
            </a:r>
            <a:endParaRPr lang="es-ES" sz="2000" dirty="0"/>
          </a:p>
          <a:p>
            <a:r>
              <a:rPr lang="es-ES" sz="2000" dirty="0" smtClean="0"/>
              <a:t>[</a:t>
            </a:r>
            <a:r>
              <a:rPr lang="es-ES" sz="2000" dirty="0" err="1" smtClean="0"/>
              <a:t>Castelfranchi</a:t>
            </a:r>
            <a:r>
              <a:rPr lang="es-ES" sz="2000" dirty="0" smtClean="0"/>
              <a:t> y Stock, 2002, 164-166 y 173-175 y 214]</a:t>
            </a:r>
          </a:p>
          <a:p>
            <a:r>
              <a:rPr lang="es-ES" sz="2000" dirty="0">
                <a:hlinkClick r:id="rId2"/>
              </a:rPr>
              <a:t>https://</a:t>
            </a:r>
            <a:r>
              <a:rPr lang="es-ES" sz="2000" dirty="0" smtClean="0">
                <a:hlinkClick r:id="rId2"/>
              </a:rPr>
              <a:t>www.youtube.com/watch?v=RY93w-XWfe4</a:t>
            </a:r>
            <a:r>
              <a:rPr lang="es-ES" sz="2000" dirty="0" smtClean="0"/>
              <a:t> [Electric </a:t>
            </a:r>
            <a:r>
              <a:rPr lang="es-ES" sz="2000" dirty="0" err="1" smtClean="0"/>
              <a:t>dog</a:t>
            </a:r>
            <a:r>
              <a:rPr lang="es-ES" sz="2000" dirty="0" smtClean="0"/>
              <a:t>]</a:t>
            </a:r>
          </a:p>
          <a:p>
            <a:pPr marL="285750" indent="-285750">
              <a:buFont typeface="Arial" panose="020B0604020202020204" pitchFamily="34" charset="0"/>
              <a:buChar char="•"/>
            </a:pPr>
            <a:endParaRPr lang="es-ES" sz="2000" dirty="0"/>
          </a:p>
        </p:txBody>
      </p:sp>
      <p:pic>
        <p:nvPicPr>
          <p:cNvPr id="8" name="Imagen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32546" y="457200"/>
            <a:ext cx="5773499" cy="4811773"/>
          </a:xfrm>
          <a:prstGeom prst="rect">
            <a:avLst/>
          </a:prstGeom>
        </p:spPr>
      </p:pic>
      <p:sp>
        <p:nvSpPr>
          <p:cNvPr id="9" name="CuadroTexto 8"/>
          <p:cNvSpPr txBox="1"/>
          <p:nvPr/>
        </p:nvSpPr>
        <p:spPr>
          <a:xfrm>
            <a:off x="6840747" y="5451894"/>
            <a:ext cx="4166559" cy="307777"/>
          </a:xfrm>
          <a:prstGeom prst="rect">
            <a:avLst/>
          </a:prstGeom>
          <a:noFill/>
        </p:spPr>
        <p:txBody>
          <a:bodyPr wrap="square" rtlCol="0">
            <a:spAutoFit/>
          </a:bodyPr>
          <a:lstStyle/>
          <a:p>
            <a:r>
              <a:rPr lang="es-ES" sz="1400" dirty="0" err="1" smtClean="0"/>
              <a:t>Scientific</a:t>
            </a:r>
            <a:r>
              <a:rPr lang="es-ES" sz="1400" dirty="0" smtClean="0"/>
              <a:t> American, 14 de junio, 1919</a:t>
            </a:r>
            <a:endParaRPr lang="es-ES" sz="1400" dirty="0"/>
          </a:p>
        </p:txBody>
      </p:sp>
    </p:spTree>
    <p:extLst>
      <p:ext uri="{BB962C8B-B14F-4D97-AF65-F5344CB8AC3E}">
        <p14:creationId xmlns:p14="http://schemas.microsoft.com/office/powerpoint/2010/main" val="523642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62151" y="698740"/>
            <a:ext cx="4327435" cy="862642"/>
          </a:xfrm>
        </p:spPr>
        <p:txBody>
          <a:bodyPr/>
          <a:lstStyle/>
          <a:p>
            <a:r>
              <a:rPr lang="es-ES" b="1" dirty="0"/>
              <a:t>3.2. Ensayos y prototipos</a:t>
            </a:r>
            <a:br>
              <a:rPr lang="es-ES" b="1" dirty="0"/>
            </a:br>
            <a:r>
              <a:rPr lang="es-ES" sz="2400" b="1" dirty="0" smtClean="0"/>
              <a:t>3.2.2. </a:t>
            </a:r>
            <a:r>
              <a:rPr lang="es-ES" sz="2400" dirty="0" smtClean="0"/>
              <a:t>Primeros robots</a:t>
            </a:r>
            <a:endParaRPr lang="es-ES" sz="2400" dirty="0"/>
          </a:p>
        </p:txBody>
      </p:sp>
      <p:sp>
        <p:nvSpPr>
          <p:cNvPr id="4" name="Marcador de texto 3"/>
          <p:cNvSpPr>
            <a:spLocks noGrp="1"/>
          </p:cNvSpPr>
          <p:nvPr>
            <p:ph type="body" sz="half" idx="2"/>
          </p:nvPr>
        </p:nvSpPr>
        <p:spPr>
          <a:xfrm>
            <a:off x="884538" y="1749623"/>
            <a:ext cx="3932237" cy="3811588"/>
          </a:xfrm>
        </p:spPr>
        <p:txBody>
          <a:bodyPr>
            <a:normAutofit fontScale="55000" lnSpcReduction="20000"/>
          </a:bodyPr>
          <a:lstStyle/>
          <a:p>
            <a:r>
              <a:rPr lang="es-ES" sz="2000" dirty="0" smtClean="0"/>
              <a:t>3.2.2.1</a:t>
            </a:r>
            <a:r>
              <a:rPr lang="es-ES" sz="2000" dirty="0"/>
              <a:t>. </a:t>
            </a:r>
            <a:r>
              <a:rPr lang="es-ES" sz="2000" dirty="0" smtClean="0"/>
              <a:t>Robots industriales: la historia de </a:t>
            </a:r>
            <a:r>
              <a:rPr lang="es-ES" sz="2000" dirty="0" err="1" smtClean="0"/>
              <a:t>Unimation</a:t>
            </a:r>
            <a:r>
              <a:rPr lang="es-ES" sz="2000" dirty="0" smtClean="0"/>
              <a:t>. </a:t>
            </a:r>
          </a:p>
          <a:p>
            <a:r>
              <a:rPr lang="es-ES" sz="2000" dirty="0" smtClean="0"/>
              <a:t>Fue en los años 1950 cuando se puede afirmar que se creó el primer robot industrial funcional y programable, consistente en un brazo mecánico. Su autor fue George </a:t>
            </a:r>
            <a:r>
              <a:rPr lang="es-ES" sz="2000" dirty="0" err="1" smtClean="0"/>
              <a:t>Devol</a:t>
            </a:r>
            <a:r>
              <a:rPr lang="es-ES" sz="2000" dirty="0" smtClean="0"/>
              <a:t>, que se unió a un ingeniero y empresario, y juntos fundaron UNIMATION </a:t>
            </a:r>
            <a:r>
              <a:rPr lang="es-ES" sz="2000" dirty="0" err="1" smtClean="0"/>
              <a:t>Inc</a:t>
            </a:r>
            <a:r>
              <a:rPr lang="es-ES" sz="2000" dirty="0" smtClean="0"/>
              <a:t>, la primera fábrica de robots de </a:t>
            </a:r>
            <a:r>
              <a:rPr lang="es-ES" sz="2000" dirty="0"/>
              <a:t>la historia </a:t>
            </a:r>
            <a:r>
              <a:rPr lang="es-ES" sz="2000" dirty="0" smtClean="0"/>
              <a:t>(en Danbury</a:t>
            </a:r>
            <a:r>
              <a:rPr lang="es-ES" sz="2000" dirty="0"/>
              <a:t>, Connecticut, Estados </a:t>
            </a:r>
            <a:r>
              <a:rPr lang="es-ES" sz="2000" dirty="0" smtClean="0"/>
              <a:t>Unidos). Primero, el brazo llamado UNIMATE se maniobraba a mano y el robot memorizaba cada paso. Después, reproducía la secuencia por sí solo indefinidamente.</a:t>
            </a:r>
          </a:p>
          <a:p>
            <a:r>
              <a:rPr lang="es-ES" sz="2000" dirty="0" smtClean="0"/>
              <a:t>Más tarde se crearon robots más versátiles. En 1978 apareció PUMA (máquina universal programable para el montaje), capaz de montar pequeñas piezas de motores. </a:t>
            </a:r>
          </a:p>
          <a:p>
            <a:r>
              <a:rPr lang="es-ES" sz="2000" dirty="0" smtClean="0"/>
              <a:t>Aunque habían nacido en Estados Unidos, en 1980 Japón lideraba la producción industrial de los robots. En 1985 los robots japoneses eran cerca de 70.000; los de Estados Unidos 45.000 y los europeos 60.000.</a:t>
            </a:r>
          </a:p>
          <a:p>
            <a:r>
              <a:rPr lang="es-ES" sz="2000" dirty="0" smtClean="0"/>
              <a:t>Los robots significaron un cambio muy importante en la concepción de las fábricas y su mecanización. </a:t>
            </a:r>
            <a:r>
              <a:rPr lang="es-ES" sz="2000" dirty="0"/>
              <a:t/>
            </a:r>
            <a:br>
              <a:rPr lang="es-ES" sz="2000" dirty="0"/>
            </a:br>
            <a:endParaRPr lang="es-ES" sz="2000" dirty="0"/>
          </a:p>
          <a:p>
            <a:r>
              <a:rPr lang="es-ES" sz="2000" dirty="0" smtClean="0"/>
              <a:t>[</a:t>
            </a:r>
            <a:r>
              <a:rPr lang="es-ES" sz="2000" dirty="0" err="1" smtClean="0"/>
              <a:t>Castelfranchi</a:t>
            </a:r>
            <a:r>
              <a:rPr lang="es-ES" sz="2000" dirty="0" smtClean="0"/>
              <a:t> y Stock, 2002, 175-177 y 215]</a:t>
            </a:r>
          </a:p>
          <a:p>
            <a:r>
              <a:rPr lang="es-ES" sz="2000" dirty="0">
                <a:hlinkClick r:id="rId2"/>
              </a:rPr>
              <a:t>https://www.youtube.com/watch?v=-</a:t>
            </a:r>
            <a:r>
              <a:rPr lang="es-ES" sz="2000" dirty="0" smtClean="0">
                <a:hlinkClick r:id="rId2"/>
              </a:rPr>
              <a:t>Xl2c91pWGc</a:t>
            </a:r>
            <a:endParaRPr lang="es-ES" sz="2000" dirty="0" smtClean="0"/>
          </a:p>
          <a:p>
            <a:r>
              <a:rPr lang="es-ES" sz="2000" dirty="0">
                <a:hlinkClick r:id="rId3"/>
              </a:rPr>
              <a:t>https://</a:t>
            </a:r>
            <a:r>
              <a:rPr lang="es-ES" sz="2000" dirty="0" smtClean="0">
                <a:hlinkClick r:id="rId3"/>
              </a:rPr>
              <a:t>www.youtube.com/watch?v=Juk72R8bcSk</a:t>
            </a:r>
            <a:endParaRPr lang="es-ES" sz="2000" dirty="0" smtClean="0"/>
          </a:p>
          <a:p>
            <a:pPr marL="285750" indent="-285750">
              <a:buFont typeface="Arial" panose="020B0604020202020204" pitchFamily="34" charset="0"/>
              <a:buChar char="•"/>
            </a:pPr>
            <a:endParaRPr lang="es-ES" sz="2000" dirty="0" smtClean="0"/>
          </a:p>
          <a:p>
            <a:pPr marL="285750" indent="-285750">
              <a:buFont typeface="Arial" panose="020B0604020202020204" pitchFamily="34" charset="0"/>
              <a:buChar char="•"/>
            </a:pPr>
            <a:endParaRPr lang="es-ES" sz="2000" dirty="0"/>
          </a:p>
        </p:txBody>
      </p:sp>
      <p:pic>
        <p:nvPicPr>
          <p:cNvPr id="5" name="Imagen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71970" y="553682"/>
            <a:ext cx="3918083" cy="3007435"/>
          </a:xfrm>
          <a:prstGeom prst="rect">
            <a:avLst/>
          </a:prstGeom>
        </p:spPr>
      </p:pic>
      <p:sp>
        <p:nvSpPr>
          <p:cNvPr id="6" name="CuadroTexto 5"/>
          <p:cNvSpPr txBox="1"/>
          <p:nvPr/>
        </p:nvSpPr>
        <p:spPr>
          <a:xfrm>
            <a:off x="7677510" y="3655417"/>
            <a:ext cx="3579962" cy="307777"/>
          </a:xfrm>
          <a:prstGeom prst="rect">
            <a:avLst/>
          </a:prstGeom>
          <a:noFill/>
        </p:spPr>
        <p:txBody>
          <a:bodyPr wrap="square" rtlCol="0">
            <a:spAutoFit/>
          </a:bodyPr>
          <a:lstStyle/>
          <a:p>
            <a:r>
              <a:rPr lang="es-ES" sz="1400" dirty="0" smtClean="0"/>
              <a:t>Diseño basado en </a:t>
            </a:r>
            <a:r>
              <a:rPr lang="es-ES" sz="1400" dirty="0" err="1" smtClean="0"/>
              <a:t>Unimate</a:t>
            </a:r>
            <a:r>
              <a:rPr lang="es-ES" sz="1400" dirty="0" smtClean="0"/>
              <a:t> robot</a:t>
            </a:r>
            <a:endParaRPr lang="es-ES" sz="1400" dirty="0"/>
          </a:p>
        </p:txBody>
      </p:sp>
      <p:pic>
        <p:nvPicPr>
          <p:cNvPr id="7" name="Imagen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16775" y="1970823"/>
            <a:ext cx="2617043" cy="3032498"/>
          </a:xfrm>
          <a:prstGeom prst="rect">
            <a:avLst/>
          </a:prstGeom>
        </p:spPr>
      </p:pic>
      <p:sp>
        <p:nvSpPr>
          <p:cNvPr id="10" name="CuadroTexto 9"/>
          <p:cNvSpPr txBox="1"/>
          <p:nvPr/>
        </p:nvSpPr>
        <p:spPr>
          <a:xfrm>
            <a:off x="4934309" y="5184475"/>
            <a:ext cx="2544259" cy="523220"/>
          </a:xfrm>
          <a:prstGeom prst="rect">
            <a:avLst/>
          </a:prstGeom>
          <a:noFill/>
        </p:spPr>
        <p:txBody>
          <a:bodyPr wrap="square" rtlCol="0">
            <a:spAutoFit/>
          </a:bodyPr>
          <a:lstStyle/>
          <a:p>
            <a:r>
              <a:rPr lang="es-ES" sz="1400" dirty="0" err="1" smtClean="0"/>
              <a:t>Unimate</a:t>
            </a:r>
            <a:r>
              <a:rPr lang="es-ES" sz="1400" dirty="0" smtClean="0"/>
              <a:t> 500 PUMA (1983) </a:t>
            </a:r>
            <a:r>
              <a:rPr lang="es-ES" sz="1400" dirty="0" err="1" smtClean="0"/>
              <a:t>Deutsches</a:t>
            </a:r>
            <a:r>
              <a:rPr lang="es-ES" sz="1400" dirty="0" smtClean="0"/>
              <a:t> </a:t>
            </a:r>
            <a:r>
              <a:rPr lang="es-ES" sz="1400" dirty="0" err="1" smtClean="0"/>
              <a:t>Museum</a:t>
            </a:r>
            <a:r>
              <a:rPr lang="es-ES" sz="1400" dirty="0" smtClean="0"/>
              <a:t>, Alemania</a:t>
            </a:r>
            <a:endParaRPr lang="es-ES" sz="1400" dirty="0"/>
          </a:p>
        </p:txBody>
      </p:sp>
    </p:spTree>
    <p:extLst>
      <p:ext uri="{BB962C8B-B14F-4D97-AF65-F5344CB8AC3E}">
        <p14:creationId xmlns:p14="http://schemas.microsoft.com/office/powerpoint/2010/main" val="3253120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62151" y="698740"/>
            <a:ext cx="4327435" cy="862642"/>
          </a:xfrm>
        </p:spPr>
        <p:txBody>
          <a:bodyPr/>
          <a:lstStyle/>
          <a:p>
            <a:r>
              <a:rPr lang="es-ES" b="1" dirty="0"/>
              <a:t>3.2. Ensayos y prototipos</a:t>
            </a:r>
            <a:br>
              <a:rPr lang="es-ES" b="1" dirty="0"/>
            </a:br>
            <a:r>
              <a:rPr lang="es-ES" sz="2400" b="1" dirty="0" smtClean="0"/>
              <a:t>3.2.2.2 Robots e IA </a:t>
            </a:r>
            <a:endParaRPr lang="es-ES" sz="2400" dirty="0"/>
          </a:p>
        </p:txBody>
      </p:sp>
      <p:sp>
        <p:nvSpPr>
          <p:cNvPr id="4" name="Marcador de texto 3"/>
          <p:cNvSpPr>
            <a:spLocks noGrp="1"/>
          </p:cNvSpPr>
          <p:nvPr>
            <p:ph type="body" sz="half" idx="2"/>
          </p:nvPr>
        </p:nvSpPr>
        <p:spPr>
          <a:xfrm>
            <a:off x="831161" y="1738221"/>
            <a:ext cx="3932237" cy="4205377"/>
          </a:xfrm>
        </p:spPr>
        <p:txBody>
          <a:bodyPr>
            <a:normAutofit fontScale="62500" lnSpcReduction="20000"/>
          </a:bodyPr>
          <a:lstStyle/>
          <a:p>
            <a:r>
              <a:rPr lang="es-ES" sz="2000" dirty="0" smtClean="0"/>
              <a:t>Primeras aplicaciones de IA a la robótica. Lugar de nacimiento y primeros modelos, sobre todo, “</a:t>
            </a:r>
            <a:r>
              <a:rPr lang="es-ES" sz="2000" dirty="0" err="1" smtClean="0"/>
              <a:t>Shakey</a:t>
            </a:r>
            <a:r>
              <a:rPr lang="es-ES" sz="2000" dirty="0" smtClean="0"/>
              <a:t>”.</a:t>
            </a:r>
            <a:r>
              <a:rPr lang="es-ES" sz="2000" dirty="0"/>
              <a:t/>
            </a:r>
            <a:br>
              <a:rPr lang="es-ES" sz="2000" dirty="0"/>
            </a:br>
            <a:endParaRPr lang="es-ES" sz="2000" dirty="0"/>
          </a:p>
          <a:p>
            <a:r>
              <a:rPr lang="es-ES" sz="2000" dirty="0" smtClean="0"/>
              <a:t>En 1956 en </a:t>
            </a:r>
            <a:r>
              <a:rPr lang="es-ES" sz="2000" dirty="0" err="1" smtClean="0"/>
              <a:t>Dartmouth</a:t>
            </a:r>
            <a:r>
              <a:rPr lang="es-ES" sz="2000" dirty="0" smtClean="0"/>
              <a:t> </a:t>
            </a:r>
            <a:r>
              <a:rPr lang="es-ES" sz="2000" dirty="0" err="1" smtClean="0"/>
              <a:t>College</a:t>
            </a:r>
            <a:r>
              <a:rPr lang="es-ES" sz="2000" dirty="0" smtClean="0"/>
              <a:t> (New </a:t>
            </a:r>
            <a:r>
              <a:rPr lang="es-ES" sz="2000" dirty="0" err="1" smtClean="0"/>
              <a:t>Hamphsire</a:t>
            </a:r>
            <a:r>
              <a:rPr lang="es-ES" sz="2000" dirty="0" smtClean="0"/>
              <a:t>) se fundaba la IA. </a:t>
            </a:r>
          </a:p>
          <a:p>
            <a:r>
              <a:rPr lang="es-ES" sz="2000" dirty="0" smtClean="0"/>
              <a:t>Fue a finales de los años 1960 cuando en el MIT de la Universidad de Stanford se construyó un robot que tenía una cámara para ver y un “software” inteligente. </a:t>
            </a:r>
          </a:p>
          <a:p>
            <a:r>
              <a:rPr lang="es-ES" sz="2000" dirty="0" smtClean="0"/>
              <a:t>En el Stanford </a:t>
            </a:r>
            <a:r>
              <a:rPr lang="es-ES" sz="2000" dirty="0" err="1" smtClean="0"/>
              <a:t>Research</a:t>
            </a:r>
            <a:r>
              <a:rPr lang="es-ES" sz="2000" dirty="0" smtClean="0"/>
              <a:t> </a:t>
            </a:r>
            <a:r>
              <a:rPr lang="es-ES" sz="2000" dirty="0" err="1" smtClean="0"/>
              <a:t>Institute</a:t>
            </a:r>
            <a:r>
              <a:rPr lang="es-ES" sz="2000" dirty="0" smtClean="0"/>
              <a:t>, surgido poco después, se diseño y fabricó el primer robot móvil dotado de una cámara y teledirigido por un ordenador. Se limitaba a moverse intentando no chocarse contra un muro o una persona. Se llamó </a:t>
            </a:r>
            <a:r>
              <a:rPr lang="es-ES" sz="2000" dirty="0" err="1" smtClean="0"/>
              <a:t>Shakey</a:t>
            </a:r>
            <a:r>
              <a:rPr lang="es-ES" sz="2000" dirty="0" smtClean="0"/>
              <a:t>, que significaba “tambaleante”. Era un prototipo todavía inseguro, pero contenía programas de reconocimiento de imágenes, de resolución de problemas y de representación del mundo exterior.   </a:t>
            </a:r>
            <a:endParaRPr lang="es-ES" sz="2000" dirty="0"/>
          </a:p>
          <a:p>
            <a:r>
              <a:rPr lang="es-ES" sz="2000" dirty="0" smtClean="0"/>
              <a:t>[</a:t>
            </a:r>
            <a:r>
              <a:rPr lang="es-ES" sz="2000" dirty="0" err="1" smtClean="0"/>
              <a:t>Castelfranchi</a:t>
            </a:r>
            <a:r>
              <a:rPr lang="es-ES" sz="2000" dirty="0" smtClean="0"/>
              <a:t> y Stock, 2002, 177 y 215]</a:t>
            </a:r>
          </a:p>
          <a:p>
            <a:r>
              <a:rPr lang="es-ES" sz="2000" dirty="0">
                <a:hlinkClick r:id="rId2"/>
              </a:rPr>
              <a:t>https://</a:t>
            </a:r>
            <a:r>
              <a:rPr lang="es-ES" sz="2000" dirty="0" smtClean="0">
                <a:hlinkClick r:id="rId2"/>
              </a:rPr>
              <a:t>www.youtube.com/watch?v=uAIUO4EmhMo</a:t>
            </a:r>
            <a:endParaRPr lang="es-ES" sz="2000" dirty="0" smtClean="0"/>
          </a:p>
          <a:p>
            <a:r>
              <a:rPr lang="es-ES" sz="2000" dirty="0" smtClean="0"/>
              <a:t>[</a:t>
            </a:r>
            <a:r>
              <a:rPr lang="es-ES" sz="1400" dirty="0" smtClean="0"/>
              <a:t>Sánchez, Cristina (11 de abril de 2017). </a:t>
            </a:r>
            <a:r>
              <a:rPr lang="es-ES" sz="1400" dirty="0" err="1" smtClean="0"/>
              <a:t>Shakey</a:t>
            </a:r>
            <a:r>
              <a:rPr lang="es-ES" sz="1400" dirty="0"/>
              <a:t>, el primer robot inteligente de la historia y el abuelo del coche </a:t>
            </a:r>
            <a:r>
              <a:rPr lang="es-ES" sz="1400" dirty="0" smtClean="0"/>
              <a:t>autónomo</a:t>
            </a:r>
            <a:r>
              <a:rPr lang="es-ES" sz="1400" dirty="0"/>
              <a:t>, elDiario.es, </a:t>
            </a:r>
            <a:r>
              <a:rPr lang="es-ES" sz="1400" dirty="0" smtClean="0"/>
              <a:t>en https</a:t>
            </a:r>
            <a:r>
              <a:rPr lang="es-ES" sz="1400" dirty="0"/>
              <a:t>://</a:t>
            </a:r>
            <a:r>
              <a:rPr lang="es-ES" sz="1400" dirty="0" smtClean="0"/>
              <a:t>www.eldiario.es/hojaderouter/tecnologia/shakey-robot-inteligencia-artificial-coche-autonomo_1_3466717.html</a:t>
            </a:r>
            <a:r>
              <a:rPr lang="es-ES" sz="2000" dirty="0" smtClean="0"/>
              <a:t>]</a:t>
            </a:r>
            <a:endParaRPr lang="es-ES" sz="2000" dirty="0"/>
          </a:p>
          <a:p>
            <a:pPr marL="285750" indent="-285750">
              <a:buFont typeface="Arial" panose="020B0604020202020204" pitchFamily="34" charset="0"/>
              <a:buChar char="•"/>
            </a:pPr>
            <a:endParaRPr lang="es-ES" sz="2000" dirty="0" smtClean="0"/>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5574" y="814822"/>
            <a:ext cx="4197829" cy="3148372"/>
          </a:xfrm>
          <a:prstGeom prst="rect">
            <a:avLst/>
          </a:prstGeom>
        </p:spPr>
      </p:pic>
      <p:sp>
        <p:nvSpPr>
          <p:cNvPr id="5" name="CuadroTexto 4"/>
          <p:cNvSpPr txBox="1"/>
          <p:nvPr/>
        </p:nvSpPr>
        <p:spPr>
          <a:xfrm>
            <a:off x="6645574" y="4097547"/>
            <a:ext cx="4318600" cy="954107"/>
          </a:xfrm>
          <a:prstGeom prst="rect">
            <a:avLst/>
          </a:prstGeom>
          <a:noFill/>
        </p:spPr>
        <p:txBody>
          <a:bodyPr wrap="square" rtlCol="0">
            <a:spAutoFit/>
          </a:bodyPr>
          <a:lstStyle/>
          <a:p>
            <a:r>
              <a:rPr lang="es-ES" sz="1400" dirty="0" err="1" smtClean="0"/>
              <a:t>Shakey</a:t>
            </a:r>
            <a:r>
              <a:rPr lang="es-ES" sz="1400" dirty="0" smtClean="0"/>
              <a:t>, primer robot con IA</a:t>
            </a:r>
            <a:r>
              <a:rPr lang="es-ES" sz="1400" dirty="0"/>
              <a:t>, en </a:t>
            </a:r>
            <a:r>
              <a:rPr lang="es-ES" sz="1400" dirty="0" err="1" smtClean="0"/>
              <a:t>Thenewstack</a:t>
            </a:r>
            <a:r>
              <a:rPr lang="es-ES" sz="1400" dirty="0" smtClean="0"/>
              <a:t>, </a:t>
            </a:r>
            <a:r>
              <a:rPr lang="es-ES" sz="1400" dirty="0" smtClean="0">
                <a:hlinkClick r:id="rId4"/>
              </a:rPr>
              <a:t>https</a:t>
            </a:r>
            <a:r>
              <a:rPr lang="es-ES" sz="1400" dirty="0">
                <a:hlinkClick r:id="rId4"/>
              </a:rPr>
              <a:t>://thenewstack.io/remembering-shakey-first-intelligent-robot</a:t>
            </a:r>
            <a:r>
              <a:rPr lang="es-ES" sz="1400" dirty="0" smtClean="0">
                <a:hlinkClick r:id="rId4"/>
              </a:rPr>
              <a:t>/</a:t>
            </a:r>
            <a:endParaRPr lang="es-ES" sz="1400" dirty="0" smtClean="0"/>
          </a:p>
          <a:p>
            <a:r>
              <a:rPr lang="es-ES" sz="1400" dirty="0" smtClean="0"/>
              <a:t>Interesante video sobre su construcción (1972)</a:t>
            </a:r>
            <a:endParaRPr lang="es-ES" sz="1400" dirty="0"/>
          </a:p>
        </p:txBody>
      </p:sp>
    </p:spTree>
    <p:extLst>
      <p:ext uri="{BB962C8B-B14F-4D97-AF65-F5344CB8AC3E}">
        <p14:creationId xmlns:p14="http://schemas.microsoft.com/office/powerpoint/2010/main" val="117853070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1008</Words>
  <Application>Microsoft Office PowerPoint</Application>
  <PresentationFormat>Panorámica</PresentationFormat>
  <Paragraphs>75</Paragraphs>
  <Slides>7</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Arial</vt:lpstr>
      <vt:lpstr>Calibri</vt:lpstr>
      <vt:lpstr>Calibri Light</vt:lpstr>
      <vt:lpstr>Wingdings</vt:lpstr>
      <vt:lpstr>Tema de Office</vt:lpstr>
      <vt:lpstr>Tema 3: Autómatas y robótica en el siglo XX. Tendencias generales. Ficción y realidad </vt:lpstr>
      <vt:lpstr>3.1. Robótica en literatura y cine del siglo XX</vt:lpstr>
      <vt:lpstr>Metrópolis. Rebeliones con otros significados</vt:lpstr>
      <vt:lpstr>Asimov, la robótica amable y optimista</vt:lpstr>
      <vt:lpstr>3.2. Ensayos y prototipos 3.2.1. Primeros seres cibernéticos</vt:lpstr>
      <vt:lpstr>3.2. Ensayos y prototipos 3.2.2. Primeros robots</vt:lpstr>
      <vt:lpstr>3.2. Ensayos y prototipos 3.2.2.2 Robots e IA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ROBÓTICA EN EL SIGLO XX</dc:title>
  <dc:creator>Usuario de Windows</dc:creator>
  <cp:lastModifiedBy>Usuario de Windows</cp:lastModifiedBy>
  <cp:revision>2</cp:revision>
  <dcterms:created xsi:type="dcterms:W3CDTF">2025-04-10T06:53:25Z</dcterms:created>
  <dcterms:modified xsi:type="dcterms:W3CDTF">2025-04-10T06:55:40Z</dcterms:modified>
</cp:coreProperties>
</file>